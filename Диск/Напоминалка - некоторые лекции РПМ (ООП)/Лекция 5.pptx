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27"/>
  </p:notesMasterIdLst>
  <p:sldIdLst>
    <p:sldId id="256" r:id="rId2"/>
    <p:sldId id="262" r:id="rId3"/>
    <p:sldId id="263" r:id="rId4"/>
    <p:sldId id="264" r:id="rId5"/>
    <p:sldId id="265" r:id="rId6"/>
    <p:sldId id="257" r:id="rId7"/>
    <p:sldId id="258" r:id="rId8"/>
    <p:sldId id="259" r:id="rId9"/>
    <p:sldId id="260" r:id="rId10"/>
    <p:sldId id="261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03.02.2025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03.02.2025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03.02.2025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03.02.2025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54" y="1778929"/>
            <a:ext cx="9934576" cy="2098226"/>
          </a:xfrm>
        </p:spPr>
        <p:txBody>
          <a:bodyPr/>
          <a:lstStyle/>
          <a:p>
            <a:r>
              <a:rPr lang="ru-RU" sz="6000" dirty="0"/>
              <a:t>Лекция 5  </a:t>
            </a:r>
            <a:br>
              <a:rPr lang="ru-RU" sz="6000" dirty="0"/>
            </a:br>
            <a:r>
              <a:rPr lang="ru-RU" sz="4000" dirty="0"/>
              <a:t>Перегрузка методов. Индексаторы. Определение операторов.</a:t>
            </a:r>
            <a:br>
              <a:rPr lang="ru-RU" sz="4000" dirty="0"/>
            </a:br>
            <a:r>
              <a:rPr lang="ru-RU" sz="4000" dirty="0"/>
              <a:t>Структуры. Перечисления. 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программных модулей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34EE1-18DB-4367-8BD3-DAAAAA52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E834EC-2BF4-4B4F-8E14-091F523F9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Иногда возникает необходимость создать один и тот же метод, но с разным набором параметров. И в зависимости от имеющихся параметров применять определенную версию метода. Такая возможность еще называется </a:t>
            </a:r>
            <a:r>
              <a:rPr lang="ru-RU" b="1" dirty="0"/>
              <a:t>перегрузкой методов </a:t>
            </a:r>
            <a:r>
              <a:rPr lang="ru-RU" dirty="0"/>
              <a:t>(</a:t>
            </a:r>
            <a:r>
              <a:rPr lang="ru-RU" dirty="0" err="1"/>
              <a:t>method</a:t>
            </a:r>
            <a:r>
              <a:rPr lang="ru-RU" dirty="0"/>
              <a:t> </a:t>
            </a:r>
            <a:r>
              <a:rPr lang="ru-RU" dirty="0" err="1"/>
              <a:t>overloading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И в языке C# можно создавать в классе несколько методов с одним и тем же именем, но разной </a:t>
            </a:r>
            <a:r>
              <a:rPr lang="ru-RU" b="1" dirty="0"/>
              <a:t>сигнатурой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этом изменение только выходного параметра функции не приведет к перегрузке. (Речь идет о </a:t>
            </a:r>
            <a:r>
              <a:rPr lang="en-US" dirty="0"/>
              <a:t>return, </a:t>
            </a:r>
            <a:r>
              <a:rPr lang="ru-RU" dirty="0"/>
              <a:t>не об </a:t>
            </a:r>
            <a:r>
              <a:rPr lang="en-US" dirty="0"/>
              <a:t>out)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EA7BFB-714B-4338-99A3-4722D861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50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FDE29-32BA-4172-B220-0610D60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Сигнатура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27262-6898-4279-977F-D9FFFC6F8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Сигнатура складывается из следующих аспектов:</a:t>
            </a:r>
          </a:p>
          <a:p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Имя метода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Количество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Типы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Порядок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Модификаторы параметров</a:t>
            </a:r>
          </a:p>
          <a:p>
            <a:endParaRPr lang="ru-RU" dirty="0"/>
          </a:p>
          <a:p>
            <a:r>
              <a:rPr lang="ru-RU" dirty="0"/>
              <a:t>Но названия параметров в сигнатуру НЕ входят.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9F5EB0-35F7-4AD3-B9FB-603DB589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64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EC4F6-7842-4C43-8D27-BD85C099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9F8724-57DC-4641-BF97-DD0A110F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 перегрузка метода как раз заключается в том, что методы имеют разную сигнатуру, в которой совпадает только название метода. </a:t>
            </a:r>
          </a:p>
          <a:p>
            <a:endParaRPr lang="ru-RU" dirty="0"/>
          </a:p>
          <a:p>
            <a:r>
              <a:rPr lang="ru-RU" dirty="0"/>
              <a:t>То есть методы должны отличаться по: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Количеству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Типу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Порядку параметров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Модификаторам параметров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98FA9-C341-4742-B794-D71DFC79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33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41C04-34C0-4F65-ACB3-5E639090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84CB1-038D-4745-88D4-7C656E80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en-US" dirty="0"/>
              <a:t>class Calculator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void Add(int a, int b)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int result = a + b;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($"Result is {result}");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void Add(int a, int b, int c)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int result = a + b + c;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($"Result is {result}");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int Add(int a, int b, int c, int d)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int result = a + b + c + d;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($"Result is {result}");</a:t>
            </a:r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void Add(double a, double b)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double result = a + b;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($"Result is {result}");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AED2C1-0721-4537-B42A-47BD898C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99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Индексаторы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Индексаторы</a:t>
            </a:r>
            <a:r>
              <a:rPr lang="ru-RU" dirty="0"/>
              <a:t> позволяют индексировать объекты и обращаться к данным по индексу. Фактически с помощью индексаторов мы можем работать с объектами как с массивами. По форме они напоминают свойства со стандартными блоками </a:t>
            </a:r>
            <a:r>
              <a:rPr lang="ru-RU" dirty="0" err="1"/>
              <a:t>get</a:t>
            </a:r>
            <a:r>
              <a:rPr lang="ru-RU" dirty="0"/>
              <a:t> и </a:t>
            </a:r>
            <a:r>
              <a:rPr lang="ru-RU" dirty="0" err="1"/>
              <a:t>set</a:t>
            </a:r>
            <a:r>
              <a:rPr lang="ru-RU" dirty="0"/>
              <a:t>, которые возвращают и присваивают значение.</a:t>
            </a:r>
          </a:p>
          <a:p>
            <a:r>
              <a:rPr lang="ru-RU" dirty="0"/>
              <a:t>В отличие от свойств индексатор </a:t>
            </a:r>
            <a:r>
              <a:rPr lang="ru-RU" b="1" dirty="0"/>
              <a:t>не имеет названия</a:t>
            </a:r>
            <a:r>
              <a:rPr lang="ru-RU" dirty="0"/>
              <a:t>. Вместо него указывается ключевое слово </a:t>
            </a:r>
            <a:r>
              <a:rPr lang="ru-RU" b="1" dirty="0" err="1"/>
              <a:t>this</a:t>
            </a:r>
            <a:r>
              <a:rPr lang="ru-RU" dirty="0"/>
              <a:t>, после которого в квадратных скобках идут параметры. Индексатор должен иметь как минимум один параметр.</a:t>
            </a:r>
          </a:p>
          <a:p>
            <a:r>
              <a:rPr lang="ru-RU" dirty="0"/>
              <a:t>Как и свойства, могут иметь только </a:t>
            </a:r>
            <a:r>
              <a:rPr lang="en-US" dirty="0"/>
              <a:t>get</a:t>
            </a:r>
            <a:r>
              <a:rPr lang="ru-RU" dirty="0"/>
              <a:t> или </a:t>
            </a:r>
            <a:r>
              <a:rPr lang="en-US" dirty="0"/>
              <a:t>set</a:t>
            </a:r>
            <a:r>
              <a:rPr lang="ru-RU" dirty="0"/>
              <a:t>, быть </a:t>
            </a:r>
            <a:r>
              <a:rPr lang="ru-RU" dirty="0" err="1"/>
              <a:t>переопредлены</a:t>
            </a:r>
            <a:r>
              <a:rPr lang="ru-RU" dirty="0"/>
              <a:t> или перегружены.</a:t>
            </a:r>
          </a:p>
          <a:p>
            <a:r>
              <a:rPr lang="ru-RU" b="1" dirty="0" err="1"/>
              <a:t>возвращаемый_тип</a:t>
            </a:r>
            <a:r>
              <a:rPr lang="ru-RU" b="1" dirty="0"/>
              <a:t> </a:t>
            </a:r>
            <a:r>
              <a:rPr lang="ru-RU" b="1" dirty="0" err="1"/>
              <a:t>this</a:t>
            </a:r>
            <a:r>
              <a:rPr lang="ru-RU" b="1" dirty="0"/>
              <a:t> [Тип параметр1, ...]</a:t>
            </a:r>
          </a:p>
          <a:p>
            <a:r>
              <a:rPr lang="ru-RU" b="1" dirty="0"/>
              <a:t>{</a:t>
            </a:r>
          </a:p>
          <a:p>
            <a:r>
              <a:rPr lang="ru-RU" b="1" dirty="0"/>
              <a:t>    </a:t>
            </a:r>
            <a:r>
              <a:rPr lang="ru-RU" b="1" dirty="0" err="1"/>
              <a:t>get</a:t>
            </a:r>
            <a:r>
              <a:rPr lang="ru-RU" b="1" dirty="0"/>
              <a:t> { ... }</a:t>
            </a:r>
          </a:p>
          <a:p>
            <a:r>
              <a:rPr lang="ru-RU" b="1" dirty="0"/>
              <a:t>    </a:t>
            </a:r>
            <a:r>
              <a:rPr lang="ru-RU" b="1" dirty="0" err="1"/>
              <a:t>set</a:t>
            </a:r>
            <a:r>
              <a:rPr lang="ru-RU" b="1" dirty="0"/>
              <a:t> { ... }</a:t>
            </a:r>
          </a:p>
          <a:p>
            <a:r>
              <a:rPr lang="ru-RU" b="1" dirty="0"/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11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76834-D287-4E7A-B5DD-7F88AE21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1. Доступ к массиву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35E0FF-3AF2-4957-888D-0E83D49A3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en-US" dirty="0"/>
              <a:t>class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Name { get;}</a:t>
            </a:r>
          </a:p>
          <a:p>
            <a:r>
              <a:rPr lang="en-US" dirty="0"/>
              <a:t>    public Person(string name) =&gt; Name=name;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Company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Person[] personal;</a:t>
            </a:r>
          </a:p>
          <a:p>
            <a:r>
              <a:rPr lang="en-US" dirty="0"/>
              <a:t>    public Company(Person[] people) =&gt; personal = people;</a:t>
            </a:r>
          </a:p>
          <a:p>
            <a:r>
              <a:rPr lang="en-US" dirty="0"/>
              <a:t>    // </a:t>
            </a:r>
            <a:r>
              <a:rPr lang="ru-RU" dirty="0"/>
              <a:t>индексатор</a:t>
            </a:r>
          </a:p>
          <a:p>
            <a:r>
              <a:rPr lang="ru-RU" dirty="0"/>
              <a:t>    </a:t>
            </a:r>
            <a:r>
              <a:rPr lang="en-US" dirty="0"/>
              <a:t>public Person this[int index]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 =&gt; personal[index];</a:t>
            </a:r>
          </a:p>
          <a:p>
            <a:r>
              <a:rPr lang="en-US" dirty="0"/>
              <a:t>        set =&gt; personal[index] = value;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  <a:p>
            <a:endParaRPr lang="ru-RU" dirty="0"/>
          </a:p>
          <a:p>
            <a:r>
              <a:rPr lang="ru-RU" dirty="0"/>
              <a:t>Обращение:</a:t>
            </a:r>
          </a:p>
          <a:p>
            <a:r>
              <a:rPr lang="en-US" dirty="0"/>
              <a:t>var </a:t>
            </a:r>
            <a:r>
              <a:rPr lang="en-US" dirty="0" err="1"/>
              <a:t>microsoft</a:t>
            </a:r>
            <a:r>
              <a:rPr lang="en-US" dirty="0"/>
              <a:t> = new Company(new[]</a:t>
            </a:r>
          </a:p>
          <a:p>
            <a:r>
              <a:rPr lang="en-US" dirty="0"/>
              <a:t>{ new Person("Tom")});</a:t>
            </a:r>
          </a:p>
          <a:p>
            <a:r>
              <a:rPr lang="en-US" dirty="0"/>
              <a:t>// </a:t>
            </a:r>
            <a:r>
              <a:rPr lang="ru-RU" dirty="0"/>
              <a:t>получаем объект из индексатора</a:t>
            </a:r>
          </a:p>
          <a:p>
            <a:r>
              <a:rPr lang="en-US" dirty="0"/>
              <a:t>Person </a:t>
            </a:r>
            <a:r>
              <a:rPr lang="en-US" dirty="0" err="1"/>
              <a:t>firstPerson</a:t>
            </a:r>
            <a:r>
              <a:rPr lang="en-US" dirty="0"/>
              <a:t> = </a:t>
            </a:r>
            <a:r>
              <a:rPr lang="en-US" dirty="0" err="1"/>
              <a:t>microsoft</a:t>
            </a:r>
            <a:r>
              <a:rPr lang="en-US" dirty="0"/>
              <a:t>[0];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F80E9B-FED5-4928-8567-3B431A6D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55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3BCCC-7B55-4F2B-B525-4DCC6847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2. Строковый индекс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560D45-9891-4505-8618-D4ECB4C66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0234"/>
            <a:ext cx="9448800" cy="5449049"/>
          </a:xfrm>
        </p:spPr>
        <p:txBody>
          <a:bodyPr numCol="2">
            <a:normAutofit fontScale="70000" lnSpcReduction="20000"/>
          </a:bodyPr>
          <a:lstStyle/>
          <a:p>
            <a:r>
              <a:rPr lang="en-US" dirty="0"/>
              <a:t>class User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string name = "";</a:t>
            </a:r>
          </a:p>
          <a:p>
            <a:r>
              <a:rPr lang="en-US" dirty="0"/>
              <a:t>    string email = "";</a:t>
            </a:r>
          </a:p>
          <a:p>
            <a:r>
              <a:rPr lang="en-US" dirty="0"/>
              <a:t>    string phone = "";</a:t>
            </a:r>
          </a:p>
          <a:p>
            <a:r>
              <a:rPr lang="en-US" dirty="0"/>
              <a:t>    public string this[string </a:t>
            </a:r>
            <a:r>
              <a:rPr lang="en-US" dirty="0" err="1"/>
              <a:t>propname</a:t>
            </a:r>
            <a:r>
              <a:rPr lang="en-US" dirty="0"/>
              <a:t>]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switch (</a:t>
            </a:r>
            <a:r>
              <a:rPr lang="en-US" dirty="0" err="1"/>
              <a:t>propname</a:t>
            </a:r>
            <a:r>
              <a:rPr lang="en-US" dirty="0"/>
              <a:t>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case "name": return name;</a:t>
            </a:r>
          </a:p>
          <a:p>
            <a:r>
              <a:rPr lang="en-US" dirty="0"/>
              <a:t>                case "email": return email;</a:t>
            </a:r>
          </a:p>
          <a:p>
            <a:r>
              <a:rPr lang="en-US" dirty="0"/>
              <a:t>                case "phone": return phone;</a:t>
            </a:r>
          </a:p>
          <a:p>
            <a:r>
              <a:rPr lang="en-US" dirty="0"/>
              <a:t>                default: throw new Exception("Unknown Property Name");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set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switch (</a:t>
            </a:r>
            <a:r>
              <a:rPr lang="en-US" dirty="0" err="1"/>
              <a:t>propname</a:t>
            </a:r>
            <a:r>
              <a:rPr lang="en-US" dirty="0"/>
              <a:t>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case "name":</a:t>
            </a:r>
          </a:p>
          <a:p>
            <a:r>
              <a:rPr lang="en-US" dirty="0"/>
              <a:t>                    name = value;</a:t>
            </a:r>
          </a:p>
          <a:p>
            <a:r>
              <a:rPr lang="en-US" dirty="0"/>
              <a:t>                    break;</a:t>
            </a:r>
          </a:p>
          <a:p>
            <a:r>
              <a:rPr lang="en-US" dirty="0"/>
              <a:t>                case "email":</a:t>
            </a:r>
          </a:p>
          <a:p>
            <a:r>
              <a:rPr lang="en-US" dirty="0"/>
              <a:t>                    email = value;</a:t>
            </a:r>
          </a:p>
          <a:p>
            <a:r>
              <a:rPr lang="en-US" dirty="0"/>
              <a:t>                    break;</a:t>
            </a:r>
          </a:p>
          <a:p>
            <a:r>
              <a:rPr lang="en-US" dirty="0"/>
              <a:t>                case "phone":</a:t>
            </a:r>
          </a:p>
          <a:p>
            <a:r>
              <a:rPr lang="en-US" dirty="0"/>
              <a:t>                    phone = value;</a:t>
            </a:r>
          </a:p>
          <a:p>
            <a:r>
              <a:rPr lang="en-US" dirty="0"/>
              <a:t>                    break;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12DFF-7B2D-4B72-A75C-DE327E69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0A3AB-D77E-4F2D-AD28-B21E5FBEE6D1}"/>
              </a:ext>
            </a:extLst>
          </p:cNvPr>
          <p:cNvSpPr txBox="1"/>
          <p:nvPr/>
        </p:nvSpPr>
        <p:spPr>
          <a:xfrm>
            <a:off x="9048750" y="885825"/>
            <a:ext cx="2752725" cy="2143125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85000" lnSpcReduction="10000"/>
          </a:bodyPr>
          <a:lstStyle>
            <a:lvl1pPr indent="0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Tx/>
              <a:buNone/>
              <a:defRPr sz="20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530352" indent="0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2000" i="1" baseline="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87552" indent="0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baseline="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444752" indent="0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i="1" baseline="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901952" indent="0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1600" baseline="0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2743200" indent="-384048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baseline="0">
                <a:solidFill>
                  <a:schemeClr val="tx2"/>
                </a:solidFill>
              </a:defRPr>
            </a:lvl6pPr>
            <a:lvl7pPr marL="3200400" indent="-384048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baseline="0">
                <a:solidFill>
                  <a:schemeClr val="tx2"/>
                </a:solidFill>
              </a:defRPr>
            </a:lvl7pPr>
            <a:lvl8pPr marL="3657600" indent="-384048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baseline="0">
                <a:solidFill>
                  <a:schemeClr val="tx2"/>
                </a:solidFill>
              </a:defRPr>
            </a:lvl8pPr>
            <a:lvl9pPr marL="4114800" indent="-384048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baseline="0">
                <a:solidFill>
                  <a:schemeClr val="tx2"/>
                </a:solidFill>
              </a:defRPr>
            </a:lvl9pPr>
          </a:lstStyle>
          <a:p>
            <a:r>
              <a:rPr lang="ru-RU" sz="1600" dirty="0"/>
              <a:t>Обращение:</a:t>
            </a:r>
            <a:endParaRPr lang="en-US" sz="1600" dirty="0"/>
          </a:p>
          <a:p>
            <a:r>
              <a:rPr lang="en-US" sz="1600" dirty="0"/>
              <a:t>User tom = new User();</a:t>
            </a:r>
          </a:p>
          <a:p>
            <a:r>
              <a:rPr lang="en-US" sz="1600" dirty="0"/>
              <a:t>// </a:t>
            </a:r>
            <a:r>
              <a:rPr lang="en-US" sz="1600" dirty="0" err="1"/>
              <a:t>устанавливаем</a:t>
            </a:r>
            <a:r>
              <a:rPr lang="en-US" sz="1600" dirty="0"/>
              <a:t> </a:t>
            </a:r>
            <a:r>
              <a:rPr lang="en-US" sz="1600" dirty="0" err="1"/>
              <a:t>значения</a:t>
            </a:r>
            <a:endParaRPr lang="en-US" sz="1600" dirty="0"/>
          </a:p>
          <a:p>
            <a:r>
              <a:rPr lang="en-US" sz="1600" dirty="0"/>
              <a:t>tom["name"] = "Tom";</a:t>
            </a:r>
          </a:p>
          <a:p>
            <a:r>
              <a:rPr lang="en-US" sz="1600" dirty="0"/>
              <a:t>tom["email"] = "tom@gmail.ru";</a:t>
            </a:r>
          </a:p>
          <a:p>
            <a:r>
              <a:rPr lang="en-US" sz="1600" dirty="0"/>
              <a:t>tom["phone"] = "+1234556767";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4860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E831E-3E66-4F29-BD3A-4B0B089F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3. Несколько параметров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7B3D59-FBA8-4287-9524-F20F57E5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Matrix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int[,] numbers = new int[,] { { 1, 2, 4 }, { 2, 3, 6 }, { 3, 4, 8 } };</a:t>
            </a:r>
          </a:p>
          <a:p>
            <a:r>
              <a:rPr lang="en-US" dirty="0"/>
              <a:t>    public int this[int </a:t>
            </a:r>
            <a:r>
              <a:rPr lang="en-US" dirty="0" err="1"/>
              <a:t>i</a:t>
            </a:r>
            <a:r>
              <a:rPr lang="en-US" dirty="0"/>
              <a:t>, int j]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 =&gt; numbers[</a:t>
            </a:r>
            <a:r>
              <a:rPr lang="en-US" dirty="0" err="1"/>
              <a:t>i</a:t>
            </a:r>
            <a:r>
              <a:rPr lang="en-US" dirty="0"/>
              <a:t>, j];</a:t>
            </a:r>
          </a:p>
          <a:p>
            <a:r>
              <a:rPr lang="en-US" dirty="0"/>
              <a:t>        set =&gt; numbers[</a:t>
            </a:r>
            <a:r>
              <a:rPr lang="en-US" dirty="0" err="1"/>
              <a:t>i</a:t>
            </a:r>
            <a:r>
              <a:rPr lang="en-US" dirty="0"/>
              <a:t>, j] = value;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fr-FR" dirty="0"/>
              <a:t>Matrix matrix = new Matrix(); </a:t>
            </a:r>
          </a:p>
          <a:p>
            <a:r>
              <a:rPr lang="fr-FR" dirty="0"/>
              <a:t>matrix[0, 0] = 111;</a:t>
            </a:r>
          </a:p>
          <a:p>
            <a:r>
              <a:rPr lang="fr-FR" dirty="0"/>
              <a:t>Console.WriteLine(matrix[0, 0]);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ECC931-5207-483A-86BC-0C7EB6A3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27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EDD3C-842D-47A7-80E6-C37C75B7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4. Перегрузка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475ABF-08FE-4886-98E0-A42EA94F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07078"/>
            <a:ext cx="9601200" cy="4754879"/>
          </a:xfrm>
        </p:spPr>
        <p:txBody>
          <a:bodyPr numCol="2">
            <a:normAutofit fontScale="85000" lnSpcReduction="10000"/>
          </a:bodyPr>
          <a:lstStyle/>
          <a:p>
            <a:r>
              <a:rPr lang="en-US" dirty="0"/>
              <a:t>class Company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Person[] personal;</a:t>
            </a:r>
          </a:p>
          <a:p>
            <a:r>
              <a:rPr lang="en-US" dirty="0"/>
              <a:t>    public Company(Person[] people) =&gt; personal = people;</a:t>
            </a:r>
          </a:p>
          <a:p>
            <a:r>
              <a:rPr lang="en-US" dirty="0"/>
              <a:t>    // </a:t>
            </a:r>
            <a:r>
              <a:rPr lang="ru-RU" dirty="0"/>
              <a:t>индексатор</a:t>
            </a:r>
          </a:p>
          <a:p>
            <a:r>
              <a:rPr lang="ru-RU" b="1" dirty="0"/>
              <a:t>    </a:t>
            </a:r>
            <a:r>
              <a:rPr lang="en-US" b="1" dirty="0"/>
              <a:t>public Person this[int index]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 =&gt; personal[index];</a:t>
            </a:r>
          </a:p>
          <a:p>
            <a:r>
              <a:rPr lang="en-US" dirty="0"/>
              <a:t>        set =&gt; personal[index] = value;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  <a:endParaRPr lang="ru-RU" dirty="0"/>
          </a:p>
          <a:p>
            <a:endParaRPr lang="en-US" dirty="0"/>
          </a:p>
          <a:p>
            <a:r>
              <a:rPr lang="en-US" b="1" dirty="0"/>
              <a:t>    public Person this[string name]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foreach (var person in personal)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if (</a:t>
            </a:r>
            <a:r>
              <a:rPr lang="en-US" dirty="0" err="1"/>
              <a:t>person.Name</a:t>
            </a:r>
            <a:r>
              <a:rPr lang="en-US" dirty="0"/>
              <a:t> == name) return person;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throw new Exception("Unknown name");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4ABF15-5F47-4D8A-B0B9-3B5957ED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A6BDB-7B9B-47DC-B036-043060D0B7EE}"/>
              </a:ext>
            </a:extLst>
          </p:cNvPr>
          <p:cNvSpPr txBox="1"/>
          <p:nvPr/>
        </p:nvSpPr>
        <p:spPr>
          <a:xfrm>
            <a:off x="1371600" y="5368150"/>
            <a:ext cx="800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Georgia" panose="02040502050405020303" pitchFamily="18" charset="0"/>
              </a:rPr>
              <a:t>Обращение:</a:t>
            </a:r>
            <a:endParaRPr lang="en-US" dirty="0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var </a:t>
            </a:r>
            <a:r>
              <a:rPr lang="en-US" dirty="0" err="1">
                <a:solidFill>
                  <a:schemeClr val="tx2"/>
                </a:solidFill>
                <a:latin typeface="Georgia" panose="02040502050405020303" pitchFamily="18" charset="0"/>
              </a:rPr>
              <a:t>microsoft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 = new Company(new Person[]</a:t>
            </a:r>
          </a:p>
          <a:p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{ new("Tom"), new("Bob"), new("Sam") });</a:t>
            </a:r>
          </a:p>
          <a:p>
            <a:r>
              <a:rPr lang="en-US" dirty="0" err="1">
                <a:solidFill>
                  <a:schemeClr val="tx2"/>
                </a:solidFill>
                <a:latin typeface="Georgia" panose="02040502050405020303" pitchFamily="18" charset="0"/>
              </a:rPr>
              <a:t>Console.WriteLine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(</a:t>
            </a:r>
            <a:r>
              <a:rPr lang="en-US" dirty="0" err="1">
                <a:solidFill>
                  <a:schemeClr val="tx2"/>
                </a:solidFill>
                <a:latin typeface="Georgia" panose="02040502050405020303" pitchFamily="18" charset="0"/>
              </a:rPr>
              <a:t>microsoft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[0].Name);      // Tom</a:t>
            </a:r>
          </a:p>
          <a:p>
            <a:r>
              <a:rPr lang="en-US" dirty="0" err="1">
                <a:solidFill>
                  <a:schemeClr val="tx2"/>
                </a:solidFill>
                <a:latin typeface="Georgia" panose="02040502050405020303" pitchFamily="18" charset="0"/>
              </a:rPr>
              <a:t>Console.WriteLine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(</a:t>
            </a:r>
            <a:r>
              <a:rPr lang="en-US" dirty="0" err="1">
                <a:solidFill>
                  <a:schemeClr val="tx2"/>
                </a:solidFill>
                <a:latin typeface="Georgia" panose="02040502050405020303" pitchFamily="18" charset="0"/>
              </a:rPr>
              <a:t>microsoft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["Bob"].Name);  // Bob</a:t>
            </a:r>
            <a:endParaRPr lang="ru-RU" dirty="0">
              <a:solidFill>
                <a:schemeClr val="tx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2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151C2-DE9C-4902-8788-57105999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операторов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E971A-5718-4A7F-BF29-EAD9F161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Определение операторов заключается в определении в классе, для объектов которого мы хотим определить оператор, специального метода:</a:t>
            </a:r>
          </a:p>
          <a:p>
            <a:endParaRPr lang="ru-RU" dirty="0"/>
          </a:p>
          <a:p>
            <a:r>
              <a:rPr lang="ru-RU" b="1" dirty="0" err="1"/>
              <a:t>public</a:t>
            </a:r>
            <a:r>
              <a:rPr lang="ru-RU" b="1" dirty="0"/>
              <a:t> </a:t>
            </a:r>
            <a:r>
              <a:rPr lang="ru-RU" b="1" dirty="0" err="1"/>
              <a:t>static</a:t>
            </a:r>
            <a:r>
              <a:rPr lang="ru-RU" b="1" dirty="0"/>
              <a:t> </a:t>
            </a:r>
            <a:r>
              <a:rPr lang="ru-RU" b="1" dirty="0" err="1"/>
              <a:t>возвращаемый_тип</a:t>
            </a:r>
            <a:r>
              <a:rPr lang="ru-RU" b="1" dirty="0"/>
              <a:t> </a:t>
            </a:r>
            <a:r>
              <a:rPr lang="ru-RU" b="1" dirty="0" err="1"/>
              <a:t>operator</a:t>
            </a:r>
            <a:r>
              <a:rPr lang="ru-RU" b="1" dirty="0"/>
              <a:t> оператор(параметры)</a:t>
            </a:r>
          </a:p>
          <a:p>
            <a:r>
              <a:rPr lang="ru-RU" b="1" dirty="0"/>
              <a:t>{  }</a:t>
            </a:r>
          </a:p>
          <a:p>
            <a:endParaRPr lang="ru-RU" b="1" dirty="0"/>
          </a:p>
          <a:p>
            <a:r>
              <a:rPr lang="ru-RU" dirty="0"/>
              <a:t>Этот метод должен иметь модификаторы </a:t>
            </a:r>
            <a:r>
              <a:rPr lang="ru-RU" b="1" dirty="0" err="1"/>
              <a:t>public</a:t>
            </a:r>
            <a:r>
              <a:rPr lang="ru-RU" b="1" dirty="0"/>
              <a:t> </a:t>
            </a:r>
            <a:r>
              <a:rPr lang="ru-RU" b="1" dirty="0" err="1"/>
              <a:t>static</a:t>
            </a:r>
            <a:r>
              <a:rPr lang="ru-RU" dirty="0"/>
              <a:t>, так как перегружаемый оператор будет использоваться для всех объектов данного класса. Далее идет название возвращаемого типа. Возвращаемый тип представляет тот тип, объекты которого мы хотим получить.</a:t>
            </a:r>
          </a:p>
          <a:p>
            <a:endParaRPr lang="ru-RU" dirty="0"/>
          </a:p>
          <a:p>
            <a:r>
              <a:rPr lang="ru-RU" dirty="0"/>
              <a:t>Также можно перегружать за счет разных типов входных параметров.</a:t>
            </a:r>
          </a:p>
          <a:p>
            <a:r>
              <a:rPr lang="ru-RU" dirty="0"/>
              <a:t>Не следует как-либо изменять входные параметры, даже если это возможно.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8FF35D-35EA-4160-B6ED-5E074760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61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B4AA2-1F98-40BF-8A04-EEF40F73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Допустимые для определения операторы: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F2E78-2F58-4192-A4E2-8A15962CE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унарные операторы +x, -x, !x, ~x, ++, --, </a:t>
            </a:r>
            <a:r>
              <a:rPr lang="ru-RU" dirty="0" err="1"/>
              <a:t>true</a:t>
            </a:r>
            <a:r>
              <a:rPr lang="ru-RU" dirty="0"/>
              <a:t>, </a:t>
            </a:r>
            <a:r>
              <a:rPr lang="ru-RU" dirty="0" err="1"/>
              <a:t>false</a:t>
            </a: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бинарные операторы +, -, *, /, 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операции сравнения ==, !=, &lt;, &gt;, &lt;=, &gt;=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поразрядные операторы &amp;, |, ^, &lt;&lt;, &gt;&gt;, &gt;&gt;&gt;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логические операторы &amp;&amp;, ||</a:t>
            </a:r>
          </a:p>
          <a:p>
            <a:endParaRPr lang="ru-RU" dirty="0"/>
          </a:p>
          <a:p>
            <a:r>
              <a:rPr lang="ru-RU" dirty="0"/>
              <a:t>Следует определять парами: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== и !=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&lt; и &gt;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&lt;= и &gt;=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FD98BD-E6FB-4333-97E5-7D66C8B5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627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F5973-0B11-48E1-B1A5-758F1F44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62F7C-485D-4D17-B053-A8998E7DB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 dirty="0"/>
              <a:t>class Counter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int Value { get; set; }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public static Counter operator +(Counter counter1, Counter counter2)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new Counter { Value = counter1.Value + counter2.Value };</a:t>
            </a:r>
          </a:p>
          <a:p>
            <a:r>
              <a:rPr lang="en-US" dirty="0"/>
              <a:t>    }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/>
              <a:t>    public static bool operator &gt;(Counter counter1, Counter counter2)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counter1.Value &gt; counter2.Value;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static bool operator &lt;(Counter counter1, Counter counter2)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counter1.Value &lt; counter2.Value;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82CB48-8EDF-49F0-ADD4-2ADBE7CB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2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7EC603F-32B5-4B19-AA55-CCBDEF946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34638"/>
            <a:ext cx="9601200" cy="60804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public static Counter operator ++(Counter counter1)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new Counter { Value = counter1.Value + 10 };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/>
              <a:t>public static int operator +(Counter counter1, int 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counter1.Value +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/>
              <a:t>public static bool operator !(Counter counter1)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counter1.Value == 0;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static bool operator true(Counter counter1)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return counter1.Value != 0;</a:t>
            </a:r>
          </a:p>
          <a:p>
            <a:r>
              <a:rPr lang="en-US" dirty="0"/>
              <a:t>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F38D3E-EECA-4512-9624-0CAA29F29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284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F0312-E28B-4BFA-B58B-2F76DD6D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Перечисления </a:t>
            </a:r>
            <a:r>
              <a:rPr lang="en-US" dirty="0" err="1"/>
              <a:t>enum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B4E4CE-0F78-41DD-A4B3-06227D85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Кроме примитивных типов данных в языке программирования C# есть такой тип как </a:t>
            </a:r>
            <a:r>
              <a:rPr lang="ru-RU" b="1" dirty="0" err="1"/>
              <a:t>enum</a:t>
            </a:r>
            <a:r>
              <a:rPr lang="ru-RU" dirty="0"/>
              <a:t> или перечисление. Перечисления представляют набор логически связанных констант. Можно использовать как обычный тип данных.</a:t>
            </a:r>
          </a:p>
          <a:p>
            <a:endParaRPr lang="ru-RU" dirty="0"/>
          </a:p>
          <a:p>
            <a:r>
              <a:rPr lang="ru-RU" dirty="0"/>
              <a:t>Объявление перечисления происходит с помощью оператора </a:t>
            </a:r>
            <a:r>
              <a:rPr lang="ru-RU" dirty="0" err="1"/>
              <a:t>enum</a:t>
            </a:r>
            <a:r>
              <a:rPr lang="ru-RU" dirty="0"/>
              <a:t>:</a:t>
            </a:r>
          </a:p>
          <a:p>
            <a:r>
              <a:rPr lang="ru-RU" dirty="0" err="1"/>
              <a:t>enum</a:t>
            </a:r>
            <a:r>
              <a:rPr lang="ru-RU" dirty="0"/>
              <a:t> </a:t>
            </a:r>
            <a:r>
              <a:rPr lang="ru-RU" dirty="0" err="1"/>
              <a:t>название_перечисления</a:t>
            </a:r>
            <a:endParaRPr lang="ru-RU" dirty="0"/>
          </a:p>
          <a:p>
            <a:r>
              <a:rPr lang="ru-RU" dirty="0"/>
              <a:t>{</a:t>
            </a:r>
          </a:p>
          <a:p>
            <a:r>
              <a:rPr lang="ru-RU" dirty="0"/>
              <a:t>    // значения перечисления</a:t>
            </a:r>
          </a:p>
          <a:p>
            <a:r>
              <a:rPr lang="ru-RU" dirty="0"/>
              <a:t>    значение1,</a:t>
            </a:r>
          </a:p>
          <a:p>
            <a:r>
              <a:rPr lang="ru-RU" dirty="0"/>
              <a:t>    значение2,</a:t>
            </a:r>
          </a:p>
          <a:p>
            <a:r>
              <a:rPr lang="ru-RU" dirty="0"/>
              <a:t>    .......</a:t>
            </a:r>
          </a:p>
          <a:p>
            <a:r>
              <a:rPr lang="ru-RU" dirty="0"/>
              <a:t>    </a:t>
            </a:r>
            <a:r>
              <a:rPr lang="ru-RU" dirty="0" err="1"/>
              <a:t>значениеN</a:t>
            </a:r>
            <a:endParaRPr lang="ru-RU" dirty="0"/>
          </a:p>
          <a:p>
            <a:r>
              <a:rPr lang="ru-RU" dirty="0"/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81D239-5781-4B5D-B188-C44877E7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86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FCD0C-3712-44F3-BE68-B03D3D23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192DC-CB89-49EB-8EEE-39201445A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DayTime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Morning,</a:t>
            </a:r>
          </a:p>
          <a:p>
            <a:r>
              <a:rPr lang="en-US" dirty="0"/>
              <a:t>    Afternoon,</a:t>
            </a:r>
          </a:p>
          <a:p>
            <a:r>
              <a:rPr lang="en-US" dirty="0"/>
              <a:t>    Evening,</a:t>
            </a:r>
          </a:p>
          <a:p>
            <a:r>
              <a:rPr lang="en-US" dirty="0"/>
              <a:t>    Night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ru-RU" dirty="0"/>
              <a:t>//Обращение к значению:</a:t>
            </a:r>
          </a:p>
          <a:p>
            <a:r>
              <a:rPr lang="en-US" dirty="0" err="1"/>
              <a:t>DayTime</a:t>
            </a:r>
            <a:r>
              <a:rPr lang="en-US" dirty="0"/>
              <a:t> </a:t>
            </a:r>
            <a:r>
              <a:rPr lang="en-US" dirty="0" err="1"/>
              <a:t>dayTime</a:t>
            </a:r>
            <a:r>
              <a:rPr lang="en-US" dirty="0"/>
              <a:t> = </a:t>
            </a:r>
            <a:r>
              <a:rPr lang="en-US" dirty="0" err="1"/>
              <a:t>DayTime.Morning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1262DE-0E29-4C94-98E2-ED104875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316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25270-AB77-40DE-99B0-CE01F0B66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Числовой тип констант перечисления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1B321-F36E-436A-9087-FE6CF0F5C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05614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Константы перечисления могут иметь или не иметь явно указанный тип. Тип указывается после названия перечисления через двоеточие:</a:t>
            </a:r>
          </a:p>
          <a:p>
            <a:r>
              <a:rPr lang="ru-RU" dirty="0" err="1"/>
              <a:t>enum</a:t>
            </a:r>
            <a:r>
              <a:rPr lang="ru-RU" dirty="0"/>
              <a:t> </a:t>
            </a:r>
            <a:r>
              <a:rPr lang="ru-RU" dirty="0" err="1"/>
              <a:t>название_перечисления</a:t>
            </a:r>
            <a:r>
              <a:rPr lang="ru-RU" dirty="0"/>
              <a:t> : тип</a:t>
            </a:r>
          </a:p>
          <a:p>
            <a:r>
              <a:rPr lang="ru-RU" dirty="0"/>
              <a:t>{</a:t>
            </a:r>
          </a:p>
          <a:p>
            <a:r>
              <a:rPr lang="ru-RU" dirty="0"/>
              <a:t>    значение1,</a:t>
            </a:r>
          </a:p>
          <a:p>
            <a:r>
              <a:rPr lang="ru-RU" dirty="0"/>
              <a:t>    значение2,</a:t>
            </a:r>
          </a:p>
          <a:p>
            <a:r>
              <a:rPr lang="ru-RU" dirty="0"/>
              <a:t>    .......</a:t>
            </a:r>
          </a:p>
          <a:p>
            <a:r>
              <a:rPr lang="ru-RU" dirty="0"/>
              <a:t>    </a:t>
            </a:r>
            <a:r>
              <a:rPr lang="ru-RU" dirty="0" err="1"/>
              <a:t>значениеN</a:t>
            </a:r>
            <a:endParaRPr lang="ru-RU" dirty="0"/>
          </a:p>
          <a:p>
            <a:r>
              <a:rPr lang="ru-RU" dirty="0"/>
              <a:t>}</a:t>
            </a:r>
          </a:p>
          <a:p>
            <a:r>
              <a:rPr lang="ru-RU" dirty="0"/>
              <a:t>Тип перечисления обязательно должен представлять целочисленный тип (</a:t>
            </a:r>
            <a:r>
              <a:rPr lang="ru-RU" b="1" dirty="0" err="1"/>
              <a:t>byte</a:t>
            </a:r>
            <a:r>
              <a:rPr lang="ru-RU" b="1" dirty="0"/>
              <a:t>, </a:t>
            </a:r>
            <a:r>
              <a:rPr lang="ru-RU" b="1" dirty="0" err="1"/>
              <a:t>sbyte</a:t>
            </a:r>
            <a:r>
              <a:rPr lang="ru-RU" b="1" dirty="0"/>
              <a:t>, </a:t>
            </a:r>
            <a:r>
              <a:rPr lang="ru-RU" b="1" dirty="0" err="1"/>
              <a:t>short</a:t>
            </a:r>
            <a:r>
              <a:rPr lang="ru-RU" b="1" dirty="0"/>
              <a:t>, </a:t>
            </a:r>
            <a:r>
              <a:rPr lang="ru-RU" b="1" dirty="0" err="1"/>
              <a:t>ushort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, </a:t>
            </a:r>
            <a:r>
              <a:rPr lang="ru-RU" b="1" dirty="0" err="1"/>
              <a:t>uint</a:t>
            </a:r>
            <a:r>
              <a:rPr lang="ru-RU" b="1" dirty="0"/>
              <a:t>, </a:t>
            </a:r>
            <a:r>
              <a:rPr lang="ru-RU" b="1" dirty="0" err="1"/>
              <a:t>long</a:t>
            </a:r>
            <a:r>
              <a:rPr lang="ru-RU" b="1" dirty="0"/>
              <a:t>, </a:t>
            </a:r>
            <a:r>
              <a:rPr lang="ru-RU" b="1" dirty="0" err="1"/>
              <a:t>ulong</a:t>
            </a:r>
            <a:r>
              <a:rPr lang="ru-RU" dirty="0"/>
              <a:t>). Если тип явным образом не указан, то по умолчанию используется тип </a:t>
            </a:r>
            <a:r>
              <a:rPr lang="ru-RU" dirty="0" err="1"/>
              <a:t>int</a:t>
            </a:r>
            <a:r>
              <a:rPr lang="ru-RU" dirty="0"/>
              <a:t>.</a:t>
            </a:r>
          </a:p>
          <a:p>
            <a:r>
              <a:rPr lang="ru-RU" dirty="0"/>
              <a:t>Тип влияет на значения, которые могут иметь константы. По умолчанию каждому элементу перечисления присваивается целочисленное значение, причем первый элемент будет иметь значение 0, второй - 1 и так далее.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941226-55F1-4AC6-ACAA-40BD609C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124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54D2E-8376-4C4C-93A9-1BAAB750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B0351F-3C34-4EC3-AF27-485C3451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DayTime</a:t>
            </a:r>
            <a:r>
              <a:rPr lang="en-US" dirty="0"/>
              <a:t> now = </a:t>
            </a:r>
            <a:r>
              <a:rPr lang="en-US" dirty="0" err="1"/>
              <a:t>DayTime.Morning</a:t>
            </a:r>
            <a:r>
              <a:rPr lang="en-US" dirty="0"/>
              <a:t>;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Console.WriteLine</a:t>
            </a:r>
            <a:r>
              <a:rPr lang="en-US" dirty="0"/>
              <a:t>((int) now);  // 0</a:t>
            </a:r>
          </a:p>
          <a:p>
            <a:r>
              <a:rPr lang="en-US" dirty="0" err="1"/>
              <a:t>Console.WriteLine</a:t>
            </a:r>
            <a:r>
              <a:rPr lang="en-US" dirty="0"/>
              <a:t>((int) </a:t>
            </a:r>
            <a:r>
              <a:rPr lang="en-US" dirty="0" err="1"/>
              <a:t>DayTime.Night</a:t>
            </a:r>
            <a:r>
              <a:rPr lang="en-US" dirty="0"/>
              <a:t>);  // 3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DayTime</a:t>
            </a:r>
            <a:r>
              <a:rPr lang="ru-RU" dirty="0"/>
              <a:t> : </a:t>
            </a:r>
            <a:r>
              <a:rPr lang="en-US" dirty="0"/>
              <a:t>int //int </a:t>
            </a:r>
            <a:r>
              <a:rPr lang="ru-RU" dirty="0"/>
              <a:t>и так по умолчанию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Morning,</a:t>
            </a:r>
          </a:p>
          <a:p>
            <a:r>
              <a:rPr lang="en-US" dirty="0"/>
              <a:t>    Afternoon,</a:t>
            </a:r>
          </a:p>
          <a:p>
            <a:r>
              <a:rPr lang="en-US" dirty="0"/>
              <a:t>    Evening,</a:t>
            </a:r>
          </a:p>
          <a:p>
            <a:r>
              <a:rPr lang="en-US" dirty="0"/>
              <a:t>    Night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 err="1"/>
              <a:t>DayTime</a:t>
            </a:r>
            <a:r>
              <a:rPr lang="en-US" dirty="0"/>
              <a:t> now = 2;    // ! </a:t>
            </a:r>
            <a:r>
              <a:rPr lang="ru-RU" dirty="0"/>
              <a:t>Ошибка – требуется приводить к типу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EB9F79-DCA3-4006-98E6-9F61C311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29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A8BB-E932-4FCC-9A3A-7BB001FA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задания числового значения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8B30B-2AA4-4B8B-BD09-3D78CD7BA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enum</a:t>
            </a:r>
            <a:r>
              <a:rPr lang="ru-RU" dirty="0"/>
              <a:t> </a:t>
            </a:r>
            <a:r>
              <a:rPr lang="ru-RU" dirty="0" err="1"/>
              <a:t>DayTime</a:t>
            </a:r>
            <a:endParaRPr lang="ru-RU" dirty="0"/>
          </a:p>
          <a:p>
            <a:r>
              <a:rPr lang="ru-RU" dirty="0"/>
              <a:t>{</a:t>
            </a:r>
          </a:p>
          <a:p>
            <a:r>
              <a:rPr lang="ru-RU" dirty="0"/>
              <a:t>    </a:t>
            </a:r>
            <a:r>
              <a:rPr lang="ru-RU" dirty="0" err="1"/>
              <a:t>Morning</a:t>
            </a:r>
            <a:r>
              <a:rPr lang="ru-RU" dirty="0"/>
              <a:t> = 3,    // каждый следующий элемент по умолчанию увеличивается на единицу</a:t>
            </a:r>
          </a:p>
          <a:p>
            <a:r>
              <a:rPr lang="ru-RU" dirty="0"/>
              <a:t>    </a:t>
            </a:r>
            <a:r>
              <a:rPr lang="ru-RU" dirty="0" err="1"/>
              <a:t>Afternoon</a:t>
            </a:r>
            <a:r>
              <a:rPr lang="ru-RU" dirty="0"/>
              <a:t>,      // этот элемент равен 4</a:t>
            </a:r>
          </a:p>
          <a:p>
            <a:r>
              <a:rPr lang="ru-RU" dirty="0"/>
              <a:t>    </a:t>
            </a:r>
            <a:r>
              <a:rPr lang="ru-RU" dirty="0" err="1"/>
              <a:t>Evening</a:t>
            </a:r>
            <a:r>
              <a:rPr lang="ru-RU" dirty="0"/>
              <a:t>,        // 5</a:t>
            </a:r>
          </a:p>
          <a:p>
            <a:r>
              <a:rPr lang="ru-RU" dirty="0"/>
              <a:t>    Night           // 6…</a:t>
            </a:r>
          </a:p>
          <a:p>
            <a:r>
              <a:rPr lang="ru-RU" dirty="0"/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8B9FE1-0DA0-46D5-9F0F-A47011D3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731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73204-A64B-4E8A-8E6E-18BD3241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875C29-0655-4A57-B7AC-D8710969D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3179717"/>
          </a:xfrm>
        </p:spPr>
        <p:txBody>
          <a:bodyPr numCol="2"/>
          <a:lstStyle/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DayTime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Morning = 2,</a:t>
            </a:r>
          </a:p>
          <a:p>
            <a:r>
              <a:rPr lang="en-US" dirty="0"/>
              <a:t>    Afternoon = 4,</a:t>
            </a:r>
          </a:p>
          <a:p>
            <a:r>
              <a:rPr lang="en-US" dirty="0"/>
              <a:t>    Evening = 8,</a:t>
            </a:r>
          </a:p>
          <a:p>
            <a:r>
              <a:rPr lang="en-US" dirty="0"/>
              <a:t>    Night = 16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DayTime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Morning = 1,</a:t>
            </a:r>
          </a:p>
          <a:p>
            <a:r>
              <a:rPr lang="en-US" b="1" dirty="0"/>
              <a:t>    Afternoon = Morning,</a:t>
            </a:r>
          </a:p>
          <a:p>
            <a:r>
              <a:rPr lang="en-US" dirty="0"/>
              <a:t>    Evening = 2,</a:t>
            </a:r>
          </a:p>
          <a:p>
            <a:r>
              <a:rPr lang="en-US" dirty="0"/>
              <a:t>    Night = 2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642524-1F7A-4417-8BEA-3DA1041C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9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EBB0D-4787-417F-8D44-9316568B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47912F-3276-4A04-A9E5-FF3578D96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Наряду с классами структуры представляют еще один способ создания собственных типов данных в C#. </a:t>
            </a:r>
            <a:endParaRPr lang="en-US" sz="2400" dirty="0"/>
          </a:p>
          <a:p>
            <a:r>
              <a:rPr lang="ru-RU" sz="2400" dirty="0"/>
              <a:t>Более того многие примитивные типы, например, </a:t>
            </a:r>
            <a:r>
              <a:rPr lang="ru-RU" sz="2400" dirty="0" err="1"/>
              <a:t>int</a:t>
            </a:r>
            <a:r>
              <a:rPr lang="ru-RU" sz="2400" dirty="0"/>
              <a:t>, </a:t>
            </a:r>
            <a:r>
              <a:rPr lang="ru-RU" sz="2400" dirty="0" err="1"/>
              <a:t>double</a:t>
            </a:r>
            <a:r>
              <a:rPr lang="ru-RU" sz="2400" dirty="0"/>
              <a:t> и т.д., по сути являются структурами.</a:t>
            </a:r>
            <a:endParaRPr lang="en-US" sz="2400" dirty="0"/>
          </a:p>
          <a:p>
            <a:r>
              <a:rPr lang="ru-RU" sz="2400" dirty="0"/>
              <a:t>Для определения структуры применяется ключевое слово </a:t>
            </a:r>
            <a:r>
              <a:rPr lang="ru-RU" sz="2400" b="1" dirty="0" err="1"/>
              <a:t>struct</a:t>
            </a:r>
            <a:r>
              <a:rPr lang="ru-RU" sz="2400" dirty="0"/>
              <a:t>:</a:t>
            </a:r>
          </a:p>
          <a:p>
            <a:r>
              <a:rPr lang="ru-RU" sz="2400" dirty="0" err="1"/>
              <a:t>struct</a:t>
            </a:r>
            <a:r>
              <a:rPr lang="ru-RU" sz="2400" dirty="0"/>
              <a:t> </a:t>
            </a:r>
            <a:r>
              <a:rPr lang="ru-RU" sz="2400" dirty="0" err="1"/>
              <a:t>имя_структуры</a:t>
            </a:r>
            <a:endParaRPr lang="ru-RU" sz="2400" dirty="0"/>
          </a:p>
          <a:p>
            <a:r>
              <a:rPr lang="ru-RU" sz="2400" dirty="0"/>
              <a:t>{</a:t>
            </a:r>
          </a:p>
          <a:p>
            <a:r>
              <a:rPr lang="ru-RU" sz="2400" dirty="0"/>
              <a:t>    // элементы структуры</a:t>
            </a:r>
          </a:p>
          <a:p>
            <a:r>
              <a:rPr lang="ru-RU" sz="2400" dirty="0"/>
              <a:t>}</a:t>
            </a:r>
            <a:endParaRPr lang="en-US" sz="2400" dirty="0"/>
          </a:p>
          <a:p>
            <a:r>
              <a:rPr lang="ru-RU" sz="2400" dirty="0"/>
              <a:t>Как и классы, структуры могут хранить состояние в виде полей (переменных) и определять поведение в виде методов.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0D01B4-08F9-4555-9462-2FCE208B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312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E912-FEE3-444D-BC6D-E181C499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Различия структуры и класса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B8E8909-C087-44CD-B150-16102D5D1E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704551"/>
              </p:ext>
            </p:extLst>
          </p:nvPr>
        </p:nvGraphicFramePr>
        <p:xfrm>
          <a:off x="1371600" y="1328375"/>
          <a:ext cx="10334625" cy="5048156"/>
        </p:xfrm>
        <a:graphic>
          <a:graphicData uri="http://schemas.openxmlformats.org/drawingml/2006/table">
            <a:tbl>
              <a:tblPr firstRow="1" firstCol="1">
                <a:tableStyleId>{C4B1156A-380E-4F78-BDF5-A606A8083BF9}</a:tableStyleId>
              </a:tblPr>
              <a:tblGrid>
                <a:gridCol w="4848225">
                  <a:extLst>
                    <a:ext uri="{9D8B030D-6E8A-4147-A177-3AD203B41FA5}">
                      <a16:colId xmlns:a16="http://schemas.microsoft.com/office/drawing/2014/main" val="1431988946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439793449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846137608"/>
                    </a:ext>
                  </a:extLst>
                </a:gridCol>
              </a:tblGrid>
              <a:tr h="147657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Вопрос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Структура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Класс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1274254800"/>
                  </a:ext>
                </a:extLst>
              </a:tr>
              <a:tr h="360284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Какого же типа экземпляр объекта?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Значимый (</a:t>
                      </a:r>
                      <a:r>
                        <a:rPr lang="en-US" sz="1600">
                          <a:effectLst/>
                          <a:latin typeface="Georgia" panose="02040502050405020303" pitchFamily="18" charset="0"/>
                        </a:rPr>
                        <a:t>value) </a:t>
                      </a:r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тип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Ссылочный (</a:t>
                      </a:r>
                      <a:r>
                        <a:rPr lang="en-US" sz="1600">
                          <a:effectLst/>
                          <a:latin typeface="Georgia" panose="02040502050405020303" pitchFamily="18" charset="0"/>
                        </a:rPr>
                        <a:t>reference) </a:t>
                      </a:r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тип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4110113439"/>
                  </a:ext>
                </a:extLst>
              </a:tr>
              <a:tr h="679223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Georgia" panose="02040502050405020303" pitchFamily="18" charset="0"/>
                        </a:rPr>
                        <a:t>Где “живут” экземпляры этих объектов?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Экземпляры структуры называют значениями и “живут” они в стеке (stack).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Экземпляры классов называют объектами и “живут” они в куче (heap).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565808573"/>
                  </a:ext>
                </a:extLst>
              </a:tr>
              <a:tr h="466597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Можно ли создать конструктор по умолчанию?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Нет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Да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1750500094"/>
                  </a:ext>
                </a:extLst>
              </a:tr>
              <a:tr h="891849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Если создается свой конструктор, будет ли компилятор генерировать конструктор по умолчанию?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Да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Нет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2534306160"/>
                  </a:ext>
                </a:extLst>
              </a:tr>
              <a:tr h="1423415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Если в своём конструкторе не будут инициализированы некоторые поля, будут ли они автоматически инициализированы компилятором?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Нет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Georgia" panose="02040502050405020303" pitchFamily="18" charset="0"/>
                        </a:rPr>
                        <a:t>Да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3177976486"/>
                  </a:ext>
                </a:extLst>
              </a:tr>
              <a:tr h="785536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Разрешается ли инициализировать переменные там, где их объявляют?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Georgia" panose="02040502050405020303" pitchFamily="18" charset="0"/>
                        </a:rPr>
                        <a:t>Нет</a:t>
                      </a:r>
                    </a:p>
                  </a:txBody>
                  <a:tcPr marL="35438" marR="35438" marT="20672" marB="2067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Georgia" panose="02040502050405020303" pitchFamily="18" charset="0"/>
                        </a:rPr>
                        <a:t>Да</a:t>
                      </a:r>
                    </a:p>
                  </a:txBody>
                  <a:tcPr marL="35438" marR="35438" marT="20672" marB="20672" anchor="ctr"/>
                </a:tc>
                <a:extLst>
                  <a:ext uri="{0D108BD9-81ED-4DB2-BD59-A6C34878D82A}">
                    <a16:rowId xmlns:a16="http://schemas.microsoft.com/office/drawing/2014/main" val="235162963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0F552C-1DB9-4BAD-89C5-570CD1CD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007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33C39-8E71-4DCA-B4AB-CB322977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структуры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DC9123-9962-4343-80AB-B18ED09C0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инициализации создания объектов структуры, как и в случае с классами, применяется вызов </a:t>
            </a:r>
            <a:r>
              <a:rPr lang="ru-RU" b="1" dirty="0" err="1"/>
              <a:t>конструктура</a:t>
            </a:r>
            <a:r>
              <a:rPr lang="ru-RU" dirty="0"/>
              <a:t> с оператором </a:t>
            </a:r>
            <a:r>
              <a:rPr lang="ru-RU" b="1" dirty="0" err="1"/>
              <a:t>new</a:t>
            </a:r>
            <a:r>
              <a:rPr lang="ru-RU" dirty="0"/>
              <a:t>. Даже если в коде структуры не определено ни одного конструктора, тем не менее имеет как минимум один конструктор - конструктор по умолчанию, который генерируется компилятором. Этот конструктор не принимает параметров и создает объект структуры со значениями по умолчанию.</a:t>
            </a:r>
          </a:p>
          <a:p>
            <a:endParaRPr lang="ru-RU" dirty="0"/>
          </a:p>
          <a:p>
            <a:r>
              <a:rPr lang="ru-RU" dirty="0"/>
              <a:t>…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название_структуры</a:t>
            </a:r>
            <a:r>
              <a:rPr lang="ru-RU" dirty="0"/>
              <a:t>();</a:t>
            </a:r>
            <a:endParaRPr lang="en-US" dirty="0"/>
          </a:p>
          <a:p>
            <a:endParaRPr lang="en-US" dirty="0"/>
          </a:p>
          <a:p>
            <a:r>
              <a:rPr lang="ru-RU" dirty="0"/>
              <a:t>Стоит отметить, что до версии C# 11 при определении конструктора структур</a:t>
            </a:r>
            <a:r>
              <a:rPr lang="en-US" dirty="0"/>
              <a:t>s</a:t>
            </a:r>
            <a:r>
              <a:rPr lang="ru-RU" dirty="0"/>
              <a:t> </a:t>
            </a:r>
            <a:r>
              <a:rPr lang="ru-RU" b="1" dirty="0"/>
              <a:t>в нем необходимо было инициализировать все поля структуры</a:t>
            </a:r>
            <a:r>
              <a:rPr lang="ru-RU" dirty="0"/>
              <a:t>, начиная с версии C# 11 это делать необязательно.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CAFA68-2DE9-45C3-BC89-239C399A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07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BF2F2-82B8-43E8-852B-485880D9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CD013-BF37-4EA3-BAC4-64134FA00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struct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name;</a:t>
            </a:r>
          </a:p>
          <a:p>
            <a:r>
              <a:rPr lang="en-US" dirty="0"/>
              <a:t>    public int age;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public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</a:t>
            </a:r>
            <a:r>
              <a:rPr lang="ru-RU" dirty="0"/>
              <a:t>Имя: {</a:t>
            </a:r>
            <a:r>
              <a:rPr lang="en-US" dirty="0"/>
              <a:t>name}  </a:t>
            </a:r>
            <a:r>
              <a:rPr lang="ru-RU" dirty="0"/>
              <a:t>Возраст: {</a:t>
            </a:r>
            <a:r>
              <a:rPr lang="en-US" dirty="0"/>
              <a:t>age}");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Person tom = new Person();</a:t>
            </a:r>
          </a:p>
          <a:p>
            <a:r>
              <a:rPr lang="en-US" dirty="0"/>
              <a:t>Person bob = new Person("Bob");</a:t>
            </a:r>
          </a:p>
          <a:p>
            <a:r>
              <a:rPr lang="en-US" dirty="0"/>
              <a:t>Person </a:t>
            </a:r>
            <a:r>
              <a:rPr lang="en-US" dirty="0" err="1"/>
              <a:t>sam</a:t>
            </a:r>
            <a:r>
              <a:rPr lang="en-US" dirty="0"/>
              <a:t> = new Person("Sam", 25);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tom.Print</a:t>
            </a:r>
            <a:r>
              <a:rPr lang="en-US" dirty="0"/>
              <a:t>();    // </a:t>
            </a:r>
            <a:r>
              <a:rPr lang="ru-RU" dirty="0"/>
              <a:t>Имя:   Возраст: 0</a:t>
            </a:r>
          </a:p>
          <a:p>
            <a:r>
              <a:rPr lang="en-US" dirty="0" err="1"/>
              <a:t>bob.Print</a:t>
            </a:r>
            <a:r>
              <a:rPr lang="en-US" dirty="0"/>
              <a:t>();    // </a:t>
            </a:r>
            <a:r>
              <a:rPr lang="ru-RU" dirty="0"/>
              <a:t>Имя: </a:t>
            </a:r>
            <a:r>
              <a:rPr lang="en-US" dirty="0"/>
              <a:t>Bob  </a:t>
            </a:r>
            <a:r>
              <a:rPr lang="ru-RU" dirty="0"/>
              <a:t>Возраст: </a:t>
            </a:r>
            <a:r>
              <a:rPr lang="en-US" dirty="0"/>
              <a:t>0</a:t>
            </a:r>
            <a:r>
              <a:rPr lang="ru-RU" dirty="0"/>
              <a:t> </a:t>
            </a:r>
          </a:p>
          <a:p>
            <a:r>
              <a:rPr lang="en-US" dirty="0" err="1"/>
              <a:t>sam.Print</a:t>
            </a:r>
            <a:r>
              <a:rPr lang="en-US" dirty="0"/>
              <a:t>();    // </a:t>
            </a:r>
            <a:r>
              <a:rPr lang="ru-RU" dirty="0"/>
              <a:t>Имя: </a:t>
            </a:r>
            <a:r>
              <a:rPr lang="en-US" dirty="0"/>
              <a:t>Sam  </a:t>
            </a:r>
            <a:r>
              <a:rPr lang="ru-RU" dirty="0"/>
              <a:t>Возраст: 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79E766-39EB-4BE6-94F4-6BEE8D04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2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F5C8E-6B90-47CA-AA90-EE5BA338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с изменениями: </a:t>
            </a:r>
            <a:r>
              <a:rPr lang="en-US" dirty="0"/>
              <a:t>with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70B656-89A2-4F7B-A768-8A1B54F4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нам необходимо скопировать в один объект структуры значения из другого с небольшими изменениями, то мы можем использовать оператор </a:t>
            </a:r>
            <a:r>
              <a:rPr lang="en-US" b="1" dirty="0"/>
              <a:t>with</a:t>
            </a:r>
            <a:r>
              <a:rPr lang="en-US" dirty="0"/>
              <a:t>:</a:t>
            </a:r>
          </a:p>
          <a:p>
            <a:r>
              <a:rPr lang="en-US" dirty="0"/>
              <a:t>Person tom = new Person { name = "Tom", age = 22 };</a:t>
            </a:r>
          </a:p>
          <a:p>
            <a:r>
              <a:rPr lang="en-US" dirty="0"/>
              <a:t>Person bob = tom with { name = "Bob" };</a:t>
            </a:r>
          </a:p>
          <a:p>
            <a:r>
              <a:rPr lang="en-US" dirty="0" err="1"/>
              <a:t>bob.Print</a:t>
            </a:r>
            <a:r>
              <a:rPr lang="en-US" dirty="0"/>
              <a:t>();    // </a:t>
            </a:r>
            <a:r>
              <a:rPr lang="ru-RU" dirty="0"/>
              <a:t>Имя: </a:t>
            </a:r>
            <a:r>
              <a:rPr lang="en-US" dirty="0"/>
              <a:t>Bob  </a:t>
            </a:r>
            <a:r>
              <a:rPr lang="ru-RU" dirty="0"/>
              <a:t>Возраст: 22</a:t>
            </a:r>
          </a:p>
          <a:p>
            <a:endParaRPr lang="ru-RU" dirty="0"/>
          </a:p>
          <a:p>
            <a:r>
              <a:rPr lang="ru-RU" dirty="0"/>
              <a:t>В данном случае объект </a:t>
            </a:r>
            <a:r>
              <a:rPr lang="en-US" dirty="0"/>
              <a:t>bob </a:t>
            </a:r>
            <a:r>
              <a:rPr lang="ru-RU" dirty="0"/>
              <a:t>получает все значения объекта </a:t>
            </a:r>
            <a:r>
              <a:rPr lang="en-US" dirty="0"/>
              <a:t>tom, </a:t>
            </a:r>
            <a:r>
              <a:rPr lang="ru-RU" dirty="0"/>
              <a:t>а затем после оператора </a:t>
            </a:r>
            <a:r>
              <a:rPr lang="en-US" dirty="0"/>
              <a:t>with </a:t>
            </a:r>
            <a:r>
              <a:rPr lang="ru-RU" dirty="0"/>
              <a:t>в фигурных скобках указывается поля со значениями, которые мы хотим изменить.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15A739-C4FD-4C05-A551-F1B89096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609056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563</TotalTime>
  <Words>2193</Words>
  <Application>Microsoft Office PowerPoint</Application>
  <PresentationFormat>Широкоэкранный</PresentationFormat>
  <Paragraphs>380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Franklin Gothic Book</vt:lpstr>
      <vt:lpstr>Georgia</vt:lpstr>
      <vt:lpstr>Wingdings</vt:lpstr>
      <vt:lpstr>Уголки</vt:lpstr>
      <vt:lpstr>Лекция 5   Перегрузка методов. Индексаторы. Определение операторов. Структуры. Перечисления. </vt:lpstr>
      <vt:lpstr>Перегрузка методов</vt:lpstr>
      <vt:lpstr>Сигнатура</vt:lpstr>
      <vt:lpstr>Презентация PowerPoint</vt:lpstr>
      <vt:lpstr>Пример</vt:lpstr>
      <vt:lpstr>Индексаторы </vt:lpstr>
      <vt:lpstr>Пример 1. Доступ к массиву</vt:lpstr>
      <vt:lpstr>Пример 2. Строковый индекс</vt:lpstr>
      <vt:lpstr>Пример 3. Несколько параметров</vt:lpstr>
      <vt:lpstr>Пример 4. Перегрузка</vt:lpstr>
      <vt:lpstr>Определение операторов </vt:lpstr>
      <vt:lpstr>Допустимые для определения операторы:</vt:lpstr>
      <vt:lpstr>Пример</vt:lpstr>
      <vt:lpstr>Презентация PowerPoint</vt:lpstr>
      <vt:lpstr>Перечисления enum</vt:lpstr>
      <vt:lpstr>Пример</vt:lpstr>
      <vt:lpstr>Числовой тип констант перечисления</vt:lpstr>
      <vt:lpstr>Пример</vt:lpstr>
      <vt:lpstr>Примеры задания числового значения</vt:lpstr>
      <vt:lpstr>Презентация PowerPoint</vt:lpstr>
      <vt:lpstr>Структуры</vt:lpstr>
      <vt:lpstr>Различия структуры и класса</vt:lpstr>
      <vt:lpstr>Создание структуры</vt:lpstr>
      <vt:lpstr>Пример:</vt:lpstr>
      <vt:lpstr>Копирование с изменениями: with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15</cp:revision>
  <dcterms:created xsi:type="dcterms:W3CDTF">2023-09-01T22:02:12Z</dcterms:created>
  <dcterms:modified xsi:type="dcterms:W3CDTF">2025-02-03T11:41:47Z</dcterms:modified>
</cp:coreProperties>
</file>