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95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6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5" r:id="rId29"/>
    <p:sldId id="281" r:id="rId30"/>
    <p:sldId id="282" r:id="rId31"/>
    <p:sldId id="28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03.02.2025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03.02.2025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03.02.2025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03.02.2025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03.02.2025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03.02.2025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959904"/>
            <a:ext cx="9086849" cy="2098226"/>
          </a:xfrm>
        </p:spPr>
        <p:txBody>
          <a:bodyPr/>
          <a:lstStyle/>
          <a:p>
            <a:r>
              <a:rPr lang="ru-RU" sz="6000" dirty="0"/>
              <a:t>Лекция 4  </a:t>
            </a:r>
            <a:br>
              <a:rPr lang="ru-RU" sz="6000" dirty="0"/>
            </a:br>
            <a:r>
              <a:rPr lang="ru-RU" sz="6000" dirty="0"/>
              <a:t> </a:t>
            </a:r>
            <a:r>
              <a:rPr lang="ru-RU" sz="4000" dirty="0"/>
              <a:t>Наследование. Полиморфизм. Абстрактные классы. Виртуальные методы и свойства. Бесплодные классы и методы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программных модулей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Повторение: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ru-RU" dirty="0"/>
              <a:t>Наследование (</a:t>
            </a:r>
            <a:r>
              <a:rPr lang="ru-RU" dirty="0" err="1"/>
              <a:t>inheritance</a:t>
            </a:r>
            <a:r>
              <a:rPr lang="ru-RU" dirty="0"/>
              <a:t>) является одним из ключевых моментов ООП. Благодаря наследованию один класс может использовать функциональность другого класса.</a:t>
            </a:r>
          </a:p>
          <a:p>
            <a:r>
              <a:rPr lang="ru-RU" dirty="0"/>
              <a:t>Пример:</a:t>
            </a:r>
          </a:p>
          <a:p>
            <a:r>
              <a:rPr lang="en-US" b="1" dirty="0"/>
              <a:t>class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private string _name = "";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public string Name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get { return</a:t>
            </a:r>
            <a:r>
              <a:rPr lang="ru-RU" dirty="0"/>
              <a:t>  </a:t>
            </a:r>
            <a:r>
              <a:rPr lang="en-US" dirty="0"/>
              <a:t> _name; }</a:t>
            </a:r>
          </a:p>
          <a:p>
            <a:r>
              <a:rPr lang="en-US" dirty="0"/>
              <a:t>        set { _name = value;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  <a:p>
            <a:endParaRPr lang="ru-RU" b="1" dirty="0"/>
          </a:p>
          <a:p>
            <a:r>
              <a:rPr lang="en-US" b="1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31522-99B3-4A71-B644-7FF27471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5E20DD-21AF-4418-ABBA-1F90B66A5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Для класса </a:t>
            </a:r>
            <a:r>
              <a:rPr lang="ru-RU" dirty="0" err="1"/>
              <a:t>Employee</a:t>
            </a:r>
            <a:r>
              <a:rPr lang="ru-RU" dirty="0"/>
              <a:t> базовым является </a:t>
            </a:r>
            <a:r>
              <a:rPr lang="ru-RU" dirty="0" err="1"/>
              <a:t>Person</a:t>
            </a:r>
            <a:r>
              <a:rPr lang="ru-RU" dirty="0"/>
              <a:t>, и поэтому класс </a:t>
            </a:r>
            <a:r>
              <a:rPr lang="ru-RU" dirty="0" err="1"/>
              <a:t>Employee</a:t>
            </a:r>
            <a:r>
              <a:rPr lang="ru-RU" dirty="0"/>
              <a:t> наследует все те же свойства, методы, поля, которые есть в классе </a:t>
            </a:r>
            <a:r>
              <a:rPr lang="ru-RU" dirty="0" err="1"/>
              <a:t>Person</a:t>
            </a:r>
            <a:r>
              <a:rPr lang="ru-RU" dirty="0"/>
              <a:t>. Единственное, что не передается при наследовании, это конструкторы базового класса с параметрами.</a:t>
            </a:r>
          </a:p>
          <a:p>
            <a:r>
              <a:rPr lang="ru-RU" dirty="0"/>
              <a:t>Таким образом, наследование реализует отношение «является», объект класса </a:t>
            </a:r>
            <a:r>
              <a:rPr lang="en-US" dirty="0"/>
              <a:t>Employee </a:t>
            </a:r>
            <a:r>
              <a:rPr lang="ru-RU" dirty="0"/>
              <a:t>также является объектом класса </a:t>
            </a:r>
            <a:r>
              <a:rPr lang="en-US" dirty="0"/>
              <a:t>Person:</a:t>
            </a:r>
          </a:p>
          <a:p>
            <a:endParaRPr lang="en-US" dirty="0"/>
          </a:p>
          <a:p>
            <a:r>
              <a:rPr lang="en-US" dirty="0"/>
              <a:t>Person person = new Person { Name = "Tom" };</a:t>
            </a:r>
          </a:p>
          <a:p>
            <a:r>
              <a:rPr lang="en-US" dirty="0" err="1"/>
              <a:t>person.Print</a:t>
            </a:r>
            <a:r>
              <a:rPr lang="en-US" dirty="0"/>
              <a:t>();   // Tom</a:t>
            </a:r>
          </a:p>
          <a:p>
            <a:r>
              <a:rPr lang="en-US" dirty="0"/>
              <a:t>person = new Employee { Name = "Sam" };</a:t>
            </a:r>
          </a:p>
          <a:p>
            <a:r>
              <a:rPr lang="en-US" dirty="0" err="1"/>
              <a:t>person.Print</a:t>
            </a:r>
            <a:r>
              <a:rPr lang="en-US" dirty="0"/>
              <a:t>();   // Sam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A5C5BB-C156-4B76-8987-9E6BE3F5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8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59EF9-0089-4C1C-96A4-AD56F51E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 от </a:t>
            </a:r>
            <a:r>
              <a:rPr lang="en-US" dirty="0"/>
              <a:t>Object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89560-8E2C-4296-91AD-38674FF38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 умолчанию все классы наследуются от базового класса Object, даже если наследование не устанавливается явным образом.</a:t>
            </a:r>
            <a:endParaRPr lang="en-US" sz="2400" dirty="0"/>
          </a:p>
          <a:p>
            <a:endParaRPr lang="en-US" sz="2400" dirty="0"/>
          </a:p>
          <a:p>
            <a:r>
              <a:rPr lang="ru-RU" sz="2400" i="1" dirty="0"/>
              <a:t>Поэтому выше определенные классы </a:t>
            </a:r>
            <a:r>
              <a:rPr lang="ru-RU" sz="2400" i="1" dirty="0" err="1"/>
              <a:t>Person</a:t>
            </a:r>
            <a:r>
              <a:rPr lang="ru-RU" sz="2400" i="1" dirty="0"/>
              <a:t> и </a:t>
            </a:r>
            <a:r>
              <a:rPr lang="ru-RU" sz="2400" i="1" dirty="0" err="1"/>
              <a:t>Employee</a:t>
            </a:r>
            <a:r>
              <a:rPr lang="ru-RU" sz="2400" i="1" dirty="0"/>
              <a:t> кроме своих собственных методов, также будут иметь и методы класса </a:t>
            </a:r>
            <a:r>
              <a:rPr lang="ru-RU" sz="2400" b="1" i="1" dirty="0"/>
              <a:t>Object: </a:t>
            </a:r>
            <a:r>
              <a:rPr lang="ru-RU" sz="2400" b="1" i="1" dirty="0" err="1"/>
              <a:t>ToString</a:t>
            </a:r>
            <a:r>
              <a:rPr lang="ru-RU" sz="2400" b="1" i="1" dirty="0"/>
              <a:t>(), </a:t>
            </a:r>
            <a:r>
              <a:rPr lang="ru-RU" sz="2400" b="1" i="1" dirty="0" err="1"/>
              <a:t>Equals</a:t>
            </a:r>
            <a:r>
              <a:rPr lang="ru-RU" sz="2400" b="1" i="1" dirty="0"/>
              <a:t>(), </a:t>
            </a:r>
            <a:r>
              <a:rPr lang="ru-RU" sz="2400" b="1" i="1" dirty="0" err="1"/>
              <a:t>GetHashCode</a:t>
            </a:r>
            <a:r>
              <a:rPr lang="ru-RU" sz="2400" b="1" i="1" dirty="0"/>
              <a:t>() и </a:t>
            </a:r>
            <a:r>
              <a:rPr lang="ru-RU" sz="2400" b="1" i="1" dirty="0" err="1"/>
              <a:t>GetType</a:t>
            </a:r>
            <a:r>
              <a:rPr lang="ru-RU" sz="2400" b="1" i="1" dirty="0"/>
              <a:t>().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E61372-1084-4200-877D-529FE284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31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C3A1E-8E23-44EB-B9E1-900DFDE1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F71E0B-8BC0-49C6-8A16-AFA60FC5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Не поддерживается множественное наследование, класс может наследоваться только от одного класса.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создании производного класса надо учитывать тип доступа к базовому классу - тип доступа к производному классу должен быть таким же, как и у базового класса, или более строгим. То есть, если базовый класс у нас имеет тип доступа </a:t>
            </a:r>
            <a:r>
              <a:rPr lang="ru-RU" dirty="0" err="1"/>
              <a:t>internal</a:t>
            </a:r>
            <a:r>
              <a:rPr lang="ru-RU" dirty="0"/>
              <a:t>, то производный класс может иметь тип доступа </a:t>
            </a:r>
            <a:r>
              <a:rPr lang="ru-RU" dirty="0" err="1"/>
              <a:t>internal</a:t>
            </a:r>
            <a:r>
              <a:rPr lang="ru-RU" dirty="0"/>
              <a:t> или </a:t>
            </a:r>
            <a:r>
              <a:rPr lang="ru-RU" dirty="0" err="1"/>
              <a:t>private</a:t>
            </a:r>
            <a:r>
              <a:rPr lang="ru-RU" dirty="0"/>
              <a:t>, но не </a:t>
            </a:r>
            <a:r>
              <a:rPr lang="ru-RU" dirty="0" err="1"/>
              <a:t>public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Однако следует также учитывать, что если базовый и производный класс находятся в разных сборках (проектах), то в этом случае </a:t>
            </a:r>
            <a:r>
              <a:rPr lang="ru-RU" dirty="0" err="1"/>
              <a:t>производый</a:t>
            </a:r>
            <a:r>
              <a:rPr lang="ru-RU" dirty="0"/>
              <a:t> класс может наследовать только от класса, который имеет модификатор </a:t>
            </a:r>
            <a:r>
              <a:rPr lang="ru-RU" dirty="0" err="1"/>
              <a:t>public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Если класс объявлен с модификатором </a:t>
            </a:r>
            <a:r>
              <a:rPr lang="ru-RU" dirty="0" err="1"/>
              <a:t>sealed</a:t>
            </a:r>
            <a:r>
              <a:rPr lang="ru-RU" dirty="0"/>
              <a:t>, то от этого класса нельзя наследовать и создавать производные классы.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Нельзя унаследовать класс от статического класса.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9408F3-3CD2-43E3-9C90-33F4644D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87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37CD6-DC5D-437D-AF7E-4F56858E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Доступ к членам базового класса из класса-наследника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B1133-516E-4760-90F6-24713682E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производный класс может иметь доступ только к тем членам базового класса, которые определены с модификаторами </a:t>
            </a:r>
            <a:r>
              <a:rPr lang="ru-RU" b="1" dirty="0" err="1"/>
              <a:t>private</a:t>
            </a:r>
            <a:r>
              <a:rPr lang="ru-RU" b="1" dirty="0"/>
              <a:t> </a:t>
            </a:r>
            <a:r>
              <a:rPr lang="ru-RU" b="1" dirty="0" err="1"/>
              <a:t>protected</a:t>
            </a:r>
            <a:r>
              <a:rPr lang="ru-RU" b="1" dirty="0"/>
              <a:t> </a:t>
            </a:r>
            <a:r>
              <a:rPr lang="ru-RU" dirty="0"/>
              <a:t>(если базовый и производный класс находятся в одной сборке), </a:t>
            </a:r>
            <a:r>
              <a:rPr lang="ru-RU" b="1" dirty="0" err="1"/>
              <a:t>public</a:t>
            </a:r>
            <a:r>
              <a:rPr lang="ru-RU" b="1" dirty="0"/>
              <a:t>, </a:t>
            </a:r>
            <a:r>
              <a:rPr lang="ru-RU" b="1" dirty="0" err="1"/>
              <a:t>internal</a:t>
            </a:r>
            <a:r>
              <a:rPr lang="ru-RU" b="1" dirty="0"/>
              <a:t> </a:t>
            </a:r>
            <a:r>
              <a:rPr lang="ru-RU" dirty="0"/>
              <a:t>(если базовый и производный класс находятся в одной сборке), </a:t>
            </a:r>
            <a:r>
              <a:rPr lang="ru-RU" b="1" dirty="0" err="1"/>
              <a:t>protected</a:t>
            </a:r>
            <a:r>
              <a:rPr lang="ru-RU" dirty="0"/>
              <a:t> и </a:t>
            </a:r>
            <a:r>
              <a:rPr lang="ru-RU" b="1" dirty="0" err="1"/>
              <a:t>protected</a:t>
            </a:r>
            <a:r>
              <a:rPr lang="ru-RU" b="1" dirty="0"/>
              <a:t> </a:t>
            </a:r>
            <a:r>
              <a:rPr lang="ru-RU" b="1" dirty="0" err="1"/>
              <a:t>internal</a:t>
            </a:r>
            <a:r>
              <a:rPr lang="ru-RU" dirty="0"/>
              <a:t>.</a:t>
            </a:r>
          </a:p>
          <a:p>
            <a:r>
              <a:rPr lang="ru-RU" dirty="0"/>
              <a:t>Для прошлого примера:</a:t>
            </a:r>
          </a:p>
          <a:p>
            <a:r>
              <a:rPr lang="en-US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void </a:t>
            </a:r>
            <a:r>
              <a:rPr lang="en-US" dirty="0" err="1"/>
              <a:t>PrintName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  <a:endParaRPr lang="ru-RU" dirty="0"/>
          </a:p>
          <a:p>
            <a:r>
              <a:rPr lang="ru-RU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(_name);</a:t>
            </a:r>
            <a:r>
              <a:rPr lang="ru-RU" dirty="0"/>
              <a:t> //не работает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(Name);</a:t>
            </a:r>
            <a:r>
              <a:rPr lang="ru-RU" dirty="0"/>
              <a:t> //работает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DC0ECE-D591-465F-8729-855C1769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34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B2D7B-85E6-49BB-97E8-4E92CE4B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Напоминание: модификаторы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4466CE-F2D5-461D-8087-73BE6AB74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private</a:t>
            </a:r>
            <a:r>
              <a:rPr lang="ru-RU" dirty="0"/>
              <a:t>: закрытый или приватный компонент класса или структуры. Приватный компонент доступен только в рамках своего класса или структуры.</a:t>
            </a:r>
          </a:p>
          <a:p>
            <a:r>
              <a:rPr lang="ru-RU" b="1" dirty="0" err="1"/>
              <a:t>private</a:t>
            </a:r>
            <a:r>
              <a:rPr lang="ru-RU" b="1" dirty="0"/>
              <a:t> </a:t>
            </a:r>
            <a:r>
              <a:rPr lang="ru-RU" b="1" dirty="0" err="1"/>
              <a:t>protected</a:t>
            </a:r>
            <a:r>
              <a:rPr lang="ru-RU" dirty="0"/>
              <a:t>: компонент класса доступен из любого места в своем классе или в производных классах, которые определены в той же сборке.</a:t>
            </a:r>
          </a:p>
          <a:p>
            <a:r>
              <a:rPr lang="ru-RU" b="1" dirty="0"/>
              <a:t>file</a:t>
            </a:r>
            <a:r>
              <a:rPr lang="ru-RU" dirty="0"/>
              <a:t>: добавлен в версии C# 11 и применяется к типам, например, классам и структурам. Класс или структура с </a:t>
            </a:r>
            <a:r>
              <a:rPr lang="ru-RU" dirty="0" err="1"/>
              <a:t>такми</a:t>
            </a:r>
            <a:r>
              <a:rPr lang="ru-RU" dirty="0"/>
              <a:t> модификатором доступны только из текущего файла кода.</a:t>
            </a:r>
          </a:p>
          <a:p>
            <a:r>
              <a:rPr lang="ru-RU" b="1" dirty="0" err="1"/>
              <a:t>protected</a:t>
            </a:r>
            <a:r>
              <a:rPr lang="ru-RU" dirty="0"/>
              <a:t>: такой компонент класса доступен из любого места в своем классе или в производных классах. При этом производные классы могут располагаться в других сборках.</a:t>
            </a:r>
          </a:p>
          <a:p>
            <a:r>
              <a:rPr lang="ru-RU" b="1" dirty="0" err="1"/>
              <a:t>internal</a:t>
            </a:r>
            <a:r>
              <a:rPr lang="ru-RU" dirty="0"/>
              <a:t>: компоненты класса или структуры доступен из любого места кода в той же сборке, однако он недоступен для других программ и сборок.</a:t>
            </a:r>
          </a:p>
          <a:p>
            <a:r>
              <a:rPr lang="ru-RU" b="1" dirty="0" err="1"/>
              <a:t>protected</a:t>
            </a:r>
            <a:r>
              <a:rPr lang="ru-RU" b="1" dirty="0"/>
              <a:t> </a:t>
            </a:r>
            <a:r>
              <a:rPr lang="ru-RU" b="1" dirty="0" err="1"/>
              <a:t>internal</a:t>
            </a:r>
            <a:r>
              <a:rPr lang="ru-RU" dirty="0"/>
              <a:t>: совмещает функционал двух модификаторов </a:t>
            </a:r>
            <a:r>
              <a:rPr lang="ru-RU" dirty="0" err="1"/>
              <a:t>protected</a:t>
            </a:r>
            <a:r>
              <a:rPr lang="ru-RU" dirty="0"/>
              <a:t> и </a:t>
            </a:r>
            <a:r>
              <a:rPr lang="ru-RU" dirty="0" err="1"/>
              <a:t>internal</a:t>
            </a:r>
            <a:r>
              <a:rPr lang="ru-RU" dirty="0"/>
              <a:t>. Такой компонент класса доступен из любого места в текущей сборке и из производных классов, которые могут располагаться в других сборках.</a:t>
            </a:r>
          </a:p>
          <a:p>
            <a:r>
              <a:rPr lang="ru-RU" b="1" dirty="0" err="1"/>
              <a:t>public</a:t>
            </a:r>
            <a:r>
              <a:rPr lang="ru-RU" dirty="0"/>
              <a:t>: публичный, общедоступный компонент класса или структуры. Такой компонент доступен из любого места в коде, а также из других программ и сборок.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92C3C6-09B7-4CCF-9FA7-83EE7F32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11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9BEE5-5110-45BE-955E-39237B56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326" y="5197114"/>
            <a:ext cx="3657600" cy="670286"/>
          </a:xfrm>
        </p:spPr>
        <p:txBody>
          <a:bodyPr>
            <a:normAutofit/>
          </a:bodyPr>
          <a:lstStyle/>
          <a:p>
            <a:r>
              <a:rPr lang="ru-RU" sz="2000" dirty="0"/>
              <a:t>Доступность – белым цветом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3993EC-1A67-4FFB-AD7D-4294B436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35E022D-E57A-4270-8E88-5E956EDC0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029" y="1314450"/>
            <a:ext cx="10087271" cy="36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6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07DA9-D44D-407B-B070-E1EE06E2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вызова конструкторов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09EF72-8792-42F7-A37E-5872D639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Если в конструкторе производного класса явный вызов конструктора базового класса отсутствует, автоматически вызывается конструктор базового класса без параметров.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Если в базовом классе не определен конструктор по умолчанию без параметров, а только конструкторы с параметрами, то в производном классе мы обязательно должны вызвать один из этих конструкторов через ключевое слово </a:t>
            </a:r>
            <a:r>
              <a:rPr lang="ru-RU" dirty="0" err="1"/>
              <a:t>base</a:t>
            </a:r>
            <a:r>
              <a:rPr lang="ru-RU" dirty="0"/>
              <a:t>. Вызывается та версия конструктора, список параметров которой соответствует списку аргументов, указанных после слова </a:t>
            </a:r>
            <a:r>
              <a:rPr lang="ru-RU" dirty="0" err="1"/>
              <a:t>base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Для иерархии, состоящей из нескольких уровней, конструкторы базовых классов вызываются, начиная с самого верхнего уровня. После этого выполняются конструкторы тех элементов класса, которые являются объектами, в порядке их объявления в классе, а затем исполняется конструктор класса. Таким образом, каждый конструктор инициализирует свою часть объекта.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66D61D-AA51-4A0A-894F-32FF6239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81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40DCB-CF40-461C-98E7-36C6EC03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A6BE4C-2F53-48EA-9283-52CBE8C62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9" y="1171575"/>
            <a:ext cx="9972675" cy="5089887"/>
          </a:xfrm>
        </p:spPr>
        <p:txBody>
          <a:bodyPr numCol="2">
            <a:normAutofit fontScale="92500" lnSpcReduction="20000"/>
          </a:bodyPr>
          <a:lstStyle/>
          <a:p>
            <a:r>
              <a:rPr lang="ru-RU" sz="2200" dirty="0"/>
              <a:t>С помощью ключевого слова </a:t>
            </a:r>
            <a:r>
              <a:rPr lang="ru-RU" sz="2200" b="1" dirty="0" err="1"/>
              <a:t>base</a:t>
            </a:r>
            <a:r>
              <a:rPr lang="ru-RU" sz="2200" dirty="0"/>
              <a:t> мы можем обратиться в классе-наследнике к базовому классу, только дополняя его код. </a:t>
            </a:r>
          </a:p>
          <a:p>
            <a:r>
              <a:rPr lang="ru-RU" dirty="0"/>
              <a:t>Пример:</a:t>
            </a:r>
          </a:p>
          <a:p>
            <a:r>
              <a:rPr lang="en-US" dirty="0"/>
              <a:t>class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Name { get; set;}</a:t>
            </a:r>
          </a:p>
          <a:p>
            <a:r>
              <a:rPr lang="en-US" dirty="0"/>
              <a:t>    public Person(string name)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Name = name;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Company { get; set; }</a:t>
            </a:r>
          </a:p>
          <a:p>
            <a:r>
              <a:rPr lang="en-US" dirty="0"/>
              <a:t>    public Employee(string name, string company)</a:t>
            </a:r>
          </a:p>
          <a:p>
            <a:r>
              <a:rPr lang="en-US" b="1" dirty="0"/>
              <a:t>        : base(name)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Company = company;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BF8A9D-2C38-4AD0-9B49-C3ED4E34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876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A1A62-F93B-4088-BDF6-33B89E63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20980-1425-4B9B-B633-9B75F30C5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Результат:</a:t>
            </a:r>
          </a:p>
          <a:p>
            <a:r>
              <a:rPr lang="en-US" sz="2400" dirty="0"/>
              <a:t>Employee </a:t>
            </a:r>
            <a:r>
              <a:rPr lang="en-US" sz="2400" dirty="0" err="1"/>
              <a:t>employee</a:t>
            </a:r>
            <a:r>
              <a:rPr lang="en-US" sz="2400" dirty="0"/>
              <a:t> = new Employee("Tom", "Microsoft");</a:t>
            </a:r>
          </a:p>
          <a:p>
            <a:r>
              <a:rPr lang="en-US" sz="2400" dirty="0" err="1"/>
              <a:t>employee.Print</a:t>
            </a:r>
            <a:r>
              <a:rPr lang="en-US" sz="2400" dirty="0"/>
              <a:t>();   // Tom</a:t>
            </a:r>
            <a:r>
              <a:rPr lang="ru-RU" sz="2400" dirty="0"/>
              <a:t> – имя заполнилось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3DE8A-C9B3-4D45-B445-B58EF2FE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984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A6D37-DCEE-4570-948F-B1DA3AFA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порядка вызова конструкторов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CEAB1F-2F75-43EB-9AA2-3D58E3B4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82733"/>
            <a:ext cx="9601200" cy="5596551"/>
          </a:xfrm>
        </p:spPr>
        <p:txBody>
          <a:bodyPr numCol="2" spcCol="540000">
            <a:noAutofit/>
          </a:bodyPr>
          <a:lstStyle/>
          <a:p>
            <a:r>
              <a:rPr lang="en-US" sz="1600" dirty="0"/>
              <a:t>class Person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string name;</a:t>
            </a:r>
          </a:p>
          <a:p>
            <a:r>
              <a:rPr lang="en-US" sz="1600" dirty="0"/>
              <a:t>    int age;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public Person(string name)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this.name = name;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Console.WriteLine</a:t>
            </a:r>
            <a:r>
              <a:rPr lang="en-US" sz="1600" dirty="0"/>
              <a:t>("Person(string name)");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public Person(string name, int age) : </a:t>
            </a:r>
            <a:r>
              <a:rPr lang="en-US" sz="1600" b="1" dirty="0"/>
              <a:t>this</a:t>
            </a:r>
            <a:r>
              <a:rPr lang="en-US" sz="1600" dirty="0"/>
              <a:t>(name)</a:t>
            </a:r>
            <a:r>
              <a:rPr lang="ru-RU" sz="1600" dirty="0"/>
              <a:t> //как </a:t>
            </a:r>
            <a:r>
              <a:rPr lang="en-US" sz="1600" dirty="0"/>
              <a:t>base, </a:t>
            </a:r>
            <a:r>
              <a:rPr lang="ru-RU" sz="1600" dirty="0"/>
              <a:t>но тот же класс</a:t>
            </a:r>
            <a:endParaRPr lang="en-US" sz="1600" dirty="0"/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this.age</a:t>
            </a:r>
            <a:r>
              <a:rPr lang="en-US" sz="1600" dirty="0"/>
              <a:t> = age;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Console.WriteLine</a:t>
            </a:r>
            <a:r>
              <a:rPr lang="en-US" sz="1600" dirty="0"/>
              <a:t>("Person(string name, int age)");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class Employee : Person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string company;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  public Employee(string name, int age, string company) : base(name, age)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this.company</a:t>
            </a:r>
            <a:r>
              <a:rPr lang="en-US" sz="1600" dirty="0"/>
              <a:t> = company;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Console.WriteLine</a:t>
            </a:r>
            <a:r>
              <a:rPr lang="en-US" sz="1600" dirty="0"/>
              <a:t>("Employee(string name, int age, string company)");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C16D33-2C9E-461E-827F-1F0B8A9C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88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92BA5-BA47-4ACF-B6B0-D6FCC2AE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390AE3-FF58-4C5E-B027-94452BD7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Результат:</a:t>
            </a:r>
          </a:p>
          <a:p>
            <a:r>
              <a:rPr lang="en-US" dirty="0"/>
              <a:t>Employee tom = new Employee("Tom", 22, "Microsoft");</a:t>
            </a:r>
            <a:endParaRPr lang="ru-RU" dirty="0"/>
          </a:p>
          <a:p>
            <a:r>
              <a:rPr lang="ru-RU" dirty="0"/>
              <a:t>//Вывод:</a:t>
            </a:r>
          </a:p>
          <a:p>
            <a:r>
              <a:rPr lang="ru-RU" dirty="0"/>
              <a:t>//</a:t>
            </a:r>
            <a:r>
              <a:rPr lang="en-US" dirty="0"/>
              <a:t>Person(string name)</a:t>
            </a:r>
          </a:p>
          <a:p>
            <a:r>
              <a:rPr lang="ru-RU" dirty="0"/>
              <a:t>//</a:t>
            </a:r>
            <a:r>
              <a:rPr lang="en-US" dirty="0"/>
              <a:t>Person(string name, int age)</a:t>
            </a:r>
          </a:p>
          <a:p>
            <a:r>
              <a:rPr lang="ru-RU" dirty="0"/>
              <a:t>//</a:t>
            </a:r>
            <a:r>
              <a:rPr lang="en-US" dirty="0"/>
              <a:t>Employee(string name, int age, string company)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1262F8-0FC5-466A-8E34-D44D8506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2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1EB04-9F1B-4CBF-924A-12A2B0BB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01B155-2BE3-4950-9813-6094D61C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В предыдущих примерах было наследование </a:t>
            </a:r>
            <a:r>
              <a:rPr lang="en-US" i="1" dirty="0"/>
              <a:t>Object </a:t>
            </a:r>
            <a:r>
              <a:rPr lang="en-US" i="1" dirty="0">
                <a:sym typeface="Wingdings" panose="05000000000000000000" pitchFamily="2" charset="2"/>
              </a:rPr>
              <a:t> Person  Employee</a:t>
            </a:r>
          </a:p>
          <a:p>
            <a:r>
              <a:rPr lang="ru-RU" dirty="0"/>
              <a:t>Типы преобразований: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b="1" dirty="0"/>
              <a:t>Восходящее</a:t>
            </a:r>
            <a:r>
              <a:rPr lang="ru-RU" dirty="0"/>
              <a:t> (от потомка к родителю) – можно выполнять неявно</a:t>
            </a:r>
          </a:p>
          <a:p>
            <a:r>
              <a:rPr lang="ru-RU" dirty="0"/>
              <a:t>Пример: </a:t>
            </a:r>
          </a:p>
          <a:p>
            <a:r>
              <a:rPr lang="en-US" dirty="0"/>
              <a:t>Employee </a:t>
            </a:r>
            <a:r>
              <a:rPr lang="en-US" dirty="0" err="1"/>
              <a:t>employee</a:t>
            </a:r>
            <a:r>
              <a:rPr lang="en-US" dirty="0"/>
              <a:t> = new Employee("Tom", "Microsoft");</a:t>
            </a:r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employee;</a:t>
            </a: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b="1" dirty="0"/>
              <a:t>Нисходящее</a:t>
            </a:r>
            <a:r>
              <a:rPr lang="ru-RU" dirty="0"/>
              <a:t> (от родителя к потомку) – следует указывать, к чему преобразовываем</a:t>
            </a:r>
          </a:p>
          <a:p>
            <a:r>
              <a:rPr lang="ru-RU" dirty="0"/>
              <a:t>Пример: </a:t>
            </a:r>
          </a:p>
          <a:p>
            <a:r>
              <a:rPr lang="en-US" dirty="0"/>
              <a:t>Employee employee1 = new Employee("Tom", "Microsoft");</a:t>
            </a:r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employee1; </a:t>
            </a:r>
            <a:endParaRPr lang="ru-RU" dirty="0"/>
          </a:p>
          <a:p>
            <a:r>
              <a:rPr lang="en-US" dirty="0"/>
              <a:t>Employee employee2 = (Employee)person;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991FFE-473D-41A1-B5F6-5ED23B30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1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9BD70-42F1-4921-93F6-63C0B8C4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E6066-41CA-4253-BC65-ED36F487D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В итоге </a:t>
            </a:r>
            <a:r>
              <a:rPr lang="ru-RU" b="1" i="1" dirty="0"/>
              <a:t>переменные </a:t>
            </a:r>
            <a:r>
              <a:rPr lang="ru-RU" b="1" i="1" dirty="0" err="1"/>
              <a:t>employee</a:t>
            </a:r>
            <a:r>
              <a:rPr lang="ru-RU" b="1" i="1" dirty="0"/>
              <a:t> и </a:t>
            </a:r>
            <a:r>
              <a:rPr lang="ru-RU" b="1" i="1" dirty="0" err="1"/>
              <a:t>person</a:t>
            </a:r>
            <a:r>
              <a:rPr lang="ru-RU" b="1" i="1" dirty="0"/>
              <a:t> будут указывать на один и тот же объект в памяти</a:t>
            </a:r>
            <a:r>
              <a:rPr lang="ru-RU" i="1" dirty="0"/>
              <a:t>, но переменной </a:t>
            </a:r>
            <a:r>
              <a:rPr lang="ru-RU" i="1" dirty="0" err="1"/>
              <a:t>person</a:t>
            </a:r>
            <a:r>
              <a:rPr lang="ru-RU" i="1" dirty="0"/>
              <a:t> будет доступна только та часть, которая представляет функционал типа </a:t>
            </a:r>
            <a:r>
              <a:rPr lang="ru-RU" i="1" dirty="0" err="1"/>
              <a:t>Person</a:t>
            </a:r>
            <a:r>
              <a:rPr lang="ru-RU" i="1" dirty="0"/>
              <a:t>.</a:t>
            </a:r>
          </a:p>
          <a:p>
            <a:endParaRPr lang="ru-RU" dirty="0"/>
          </a:p>
          <a:p>
            <a:r>
              <a:rPr lang="ru-RU" dirty="0"/>
              <a:t>!Нельзя напрямую помещать объект класса-родителя в класс-наследник.</a:t>
            </a:r>
          </a:p>
          <a:p>
            <a:r>
              <a:rPr lang="en-US" dirty="0"/>
              <a:t>Employee employee1 = new Person("Tom"); // ! </a:t>
            </a:r>
            <a:r>
              <a:rPr lang="en-US" dirty="0" err="1"/>
              <a:t>Ошибка</a:t>
            </a:r>
            <a:endParaRPr lang="en-US" dirty="0"/>
          </a:p>
          <a:p>
            <a:r>
              <a:rPr lang="en-US" dirty="0"/>
              <a:t> </a:t>
            </a:r>
            <a:endParaRPr lang="ru-RU" dirty="0"/>
          </a:p>
          <a:p>
            <a:r>
              <a:rPr lang="ru-RU" dirty="0"/>
              <a:t>!Нельзя преобразовывать переменную класса-родителя к классу-наследнику, если переменная на самом деле не указывает на класс-наследник:</a:t>
            </a:r>
            <a:endParaRPr lang="en-US" dirty="0"/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new Person("Bob");</a:t>
            </a:r>
          </a:p>
          <a:p>
            <a:r>
              <a:rPr lang="en-US" dirty="0"/>
              <a:t>Employee employee2 = (Employee) person; // ! </a:t>
            </a:r>
            <a:r>
              <a:rPr lang="en-US" dirty="0" err="1"/>
              <a:t>Ошибка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3848A0-01BF-42F7-B33F-C9D83D90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28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FA75D-4794-42A5-A3BF-A560B364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9445C-F450-46BE-938B-6E65F7C9C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значение </a:t>
            </a:r>
            <a:r>
              <a:rPr lang="ru-RU" b="1" dirty="0" err="1"/>
              <a:t>is</a:t>
            </a:r>
            <a:r>
              <a:rPr lang="ru-RU" b="1" dirty="0"/>
              <a:t> тип</a:t>
            </a:r>
            <a:endParaRPr lang="en-US" b="1" dirty="0"/>
          </a:p>
          <a:p>
            <a:endParaRPr lang="ru-RU" dirty="0"/>
          </a:p>
          <a:p>
            <a:r>
              <a:rPr lang="ru-RU" dirty="0"/>
              <a:t>Если значение слева от оператора представляет тип, </a:t>
            </a:r>
            <a:r>
              <a:rPr lang="ru-RU" dirty="0" err="1"/>
              <a:t>указаный</a:t>
            </a:r>
            <a:r>
              <a:rPr lang="ru-RU" dirty="0"/>
              <a:t> справа от оператора, то оператор </a:t>
            </a:r>
            <a:r>
              <a:rPr lang="ru-RU" dirty="0" err="1"/>
              <a:t>is</a:t>
            </a:r>
            <a:r>
              <a:rPr lang="ru-RU" dirty="0"/>
              <a:t> возвращает </a:t>
            </a:r>
            <a:r>
              <a:rPr lang="ru-RU" dirty="0" err="1"/>
              <a:t>true</a:t>
            </a:r>
            <a:r>
              <a:rPr lang="ru-RU" dirty="0"/>
              <a:t>, иначе возвращается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Причем оператор </a:t>
            </a:r>
            <a:r>
              <a:rPr lang="ru-RU" dirty="0" err="1"/>
              <a:t>is</a:t>
            </a:r>
            <a:r>
              <a:rPr lang="ru-RU" dirty="0"/>
              <a:t> позволяет автоматически преобразовать значение к типу, если это значение представляет данный тип.</a:t>
            </a:r>
            <a:endParaRPr lang="en-US" dirty="0"/>
          </a:p>
          <a:p>
            <a:r>
              <a:rPr lang="ru-RU" dirty="0"/>
              <a:t>Пример:</a:t>
            </a:r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new Employee("Tom", "Microsoft");</a:t>
            </a:r>
          </a:p>
          <a:p>
            <a:r>
              <a:rPr lang="en-US" dirty="0"/>
              <a:t>if (person is Employee employee)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employee.Company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DC4DAC-37B6-4903-83B5-BDD511EA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50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87599-2CDA-460D-9BFB-0B026C63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6EB7E-8681-416A-9A4B-C90B8C5D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Оператор </a:t>
            </a:r>
            <a:r>
              <a:rPr lang="en-US" dirty="0"/>
              <a:t>is </a:t>
            </a:r>
            <a:r>
              <a:rPr lang="ru-RU" dirty="0"/>
              <a:t>также можно применять и без преобразования, просто проверяя на соответствие типу:</a:t>
            </a:r>
          </a:p>
          <a:p>
            <a:endParaRPr lang="ru-RU" dirty="0"/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new Person("Tom");</a:t>
            </a:r>
          </a:p>
          <a:p>
            <a:r>
              <a:rPr lang="en-US" dirty="0"/>
              <a:t>if (person is Employee)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Представляет тип </a:t>
            </a:r>
            <a:r>
              <a:rPr lang="en-US" dirty="0"/>
              <a:t>Employee");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НЕ является объектом типа </a:t>
            </a:r>
            <a:r>
              <a:rPr lang="en-US" dirty="0"/>
              <a:t>Employee");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6EA96A-EC9B-4C7C-8446-46287EB3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95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82923-F966-488B-BE6C-A2127326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315CF0-287A-43AF-B23C-968E284C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 помощью </a:t>
            </a:r>
            <a:r>
              <a:rPr lang="en-US" b="1" dirty="0"/>
              <a:t>as</a:t>
            </a:r>
            <a:r>
              <a:rPr lang="ru-RU" dirty="0"/>
              <a:t> программа пытается преобразовать выражение к определенному типу, при этом не выбрасывает исключение. В случае неудачного преобразования выражение будет содержать значение </a:t>
            </a:r>
            <a:r>
              <a:rPr lang="en-US" dirty="0"/>
              <a:t>null. </a:t>
            </a:r>
            <a:r>
              <a:rPr lang="ru-RU" dirty="0"/>
              <a:t>Пример:</a:t>
            </a:r>
            <a:endParaRPr lang="en-US" dirty="0"/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new Person("Tom");</a:t>
            </a:r>
          </a:p>
          <a:p>
            <a:r>
              <a:rPr lang="en-US" dirty="0"/>
              <a:t>Employee? employee = person as Employee;</a:t>
            </a:r>
          </a:p>
          <a:p>
            <a:r>
              <a:rPr lang="en-US" dirty="0"/>
              <a:t>if (employee == null)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Преобразование прошло неудачно");</a:t>
            </a:r>
          </a:p>
          <a:p>
            <a:r>
              <a:rPr lang="ru-RU" dirty="0"/>
              <a:t>}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employee.Company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706F33-1D59-4215-AD9B-6D4C0117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28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6C7FE-C1F4-4673-AFA7-1F2D58DA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Повторение: полиморфизм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225D59-C182-42EB-9E0B-1446F11E1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Полиморфизм</a:t>
            </a:r>
            <a:r>
              <a:rPr lang="ru-RU" dirty="0"/>
              <a:t> (</a:t>
            </a:r>
            <a:r>
              <a:rPr lang="ru-RU" dirty="0" err="1"/>
              <a:t>polymorphism</a:t>
            </a:r>
            <a:r>
              <a:rPr lang="ru-RU" dirty="0"/>
              <a:t>) – возможность одной и той же переменной в различные моменты выполнения программы обозначать объекты различных типов (классов), относящихся к одному базовому типу (классу или интерфейсу).</a:t>
            </a:r>
          </a:p>
          <a:p>
            <a:endParaRPr lang="ru-RU" dirty="0"/>
          </a:p>
          <a:p>
            <a:r>
              <a:rPr lang="ru-RU" dirty="0"/>
              <a:t>Связан с : перегрузкой методов, свойств и операций; абстрактными, виртуальными, бесплодными методами, свойствами и классами.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31C1FD-FF7A-4053-B4FA-8598692D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710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88F39-D603-4A0C-A8EE-6398F3DA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методы и свойства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AF33CB-4F5B-4C2D-B7C1-0E4F80096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27270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 наследовании нередко возникает необходимость изменить в классе-наследнике функционал метода, который был унаследован от базового класса. В этом случае класс-наследник может переопределять методы и свойства базового класса.</a:t>
            </a:r>
          </a:p>
          <a:p>
            <a:endParaRPr lang="ru-RU" dirty="0"/>
          </a:p>
          <a:p>
            <a:r>
              <a:rPr lang="ru-RU" dirty="0"/>
              <a:t>Те методы и свойства, которые должны быть доступны для переопределения, в базовом классе помечаются модификатором </a:t>
            </a:r>
            <a:r>
              <a:rPr lang="ru-RU" b="1" dirty="0" err="1"/>
              <a:t>virtual</a:t>
            </a:r>
            <a:r>
              <a:rPr lang="ru-RU" dirty="0"/>
              <a:t>. Такие методы и свойства называют </a:t>
            </a:r>
            <a:r>
              <a:rPr lang="ru-RU" b="1" dirty="0"/>
              <a:t>виртуальными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чтобы переопределить метод в классе-наследнике, этот метод определяется с модификатором </a:t>
            </a:r>
            <a:r>
              <a:rPr lang="ru-RU" b="1" dirty="0" err="1"/>
              <a:t>override</a:t>
            </a:r>
            <a:r>
              <a:rPr lang="ru-RU" dirty="0"/>
              <a:t>. Переопределенный метод в классе-наследнике должен иметь тот же набор параметров, что и виртуальный метод в базовом классе.</a:t>
            </a:r>
          </a:p>
          <a:p>
            <a:endParaRPr lang="ru-RU" dirty="0"/>
          </a:p>
          <a:p>
            <a:r>
              <a:rPr lang="ru-RU" dirty="0"/>
              <a:t>Аналогично работает со свойствами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664122-E8C9-475D-91F8-6A435BCB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257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6CDE0-7623-4D59-AFAF-EE082CD6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328E-27B5-43F6-8347-5958FE85A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en-US" dirty="0"/>
              <a:t>class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Name { get; set; }</a:t>
            </a:r>
          </a:p>
          <a:p>
            <a:r>
              <a:rPr lang="en-US" dirty="0"/>
              <a:t>    public Person(string name)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Name = name;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virtual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  <a:p>
            <a:endParaRPr lang="ru-RU" dirty="0"/>
          </a:p>
          <a:p>
            <a:r>
              <a:rPr lang="en-US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Company { get; set; }</a:t>
            </a:r>
          </a:p>
          <a:p>
            <a:r>
              <a:rPr lang="en-US" dirty="0"/>
              <a:t>    public Employee(string name, string company)</a:t>
            </a:r>
          </a:p>
          <a:p>
            <a:r>
              <a:rPr lang="en-US" dirty="0"/>
              <a:t>        : base(name)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Company = company;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override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($"{Name} </a:t>
            </a:r>
            <a:r>
              <a:rPr lang="ru-RU" dirty="0"/>
              <a:t>работает в {</a:t>
            </a:r>
            <a:r>
              <a:rPr lang="en-US" dirty="0"/>
              <a:t>Company}");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82D500-6A6E-4C60-B196-E95240FF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562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1CCE7-CE51-4E68-B6B4-E848DAFC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BC2633-E08A-4B7E-87A3-B514B20B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Виртуальные методы базового класса определяют интерфейс всей иерархии, то есть в любом производном классе, который не является прямым наследником от базового класса, можно переопределить виртуальные методы. Например, мы можем определить класс Manager, который будет производным от </a:t>
            </a:r>
            <a:r>
              <a:rPr lang="ru-RU" i="1" dirty="0" err="1"/>
              <a:t>Employee</a:t>
            </a:r>
            <a:r>
              <a:rPr lang="ru-RU" i="1" dirty="0"/>
              <a:t>, и в нем также переопределить метод Print.</a:t>
            </a:r>
          </a:p>
          <a:p>
            <a:endParaRPr lang="ru-RU" dirty="0"/>
          </a:p>
          <a:p>
            <a:r>
              <a:rPr lang="ru-RU" dirty="0"/>
              <a:t>При переопределении виртуальных методов следует учитывать ряд ограничений: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Виртуальный и переопределенный методы должны иметь один и тот же модификатор доступа. То есть если виртуальный метод определен с помощью модификатора </a:t>
            </a:r>
            <a:r>
              <a:rPr lang="ru-RU" dirty="0" err="1"/>
              <a:t>public</a:t>
            </a:r>
            <a:r>
              <a:rPr lang="ru-RU" dirty="0"/>
              <a:t>, то и </a:t>
            </a:r>
            <a:r>
              <a:rPr lang="ru-RU" dirty="0" err="1"/>
              <a:t>переопредленный</a:t>
            </a:r>
            <a:r>
              <a:rPr lang="ru-RU" dirty="0"/>
              <a:t> метод также должен иметь модификатор </a:t>
            </a:r>
            <a:r>
              <a:rPr lang="ru-RU" dirty="0" err="1"/>
              <a:t>public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Нельзя переопределить или объявить виртуальным статический метод.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F1A839-74C3-40D5-A230-14D19BC6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1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D010B-9453-4064-BCB6-F139AE62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Бесплодные методы</a:t>
            </a:r>
            <a:r>
              <a:rPr lang="en-US" dirty="0"/>
              <a:t> </a:t>
            </a:r>
            <a:r>
              <a:rPr lang="ru-RU" dirty="0"/>
              <a:t>и свойства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059E8A-D2FF-4B2F-96E3-43309C9E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Также можно запретить переопределение методов и свойств. В этом случае их надо объявлять с модификатором </a:t>
            </a:r>
            <a:r>
              <a:rPr lang="en-US" b="1" dirty="0"/>
              <a:t>sealed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При создании методов с модификатором </a:t>
            </a:r>
            <a:r>
              <a:rPr lang="en-US" dirty="0"/>
              <a:t>sealed </a:t>
            </a:r>
            <a:r>
              <a:rPr lang="ru-RU" dirty="0"/>
              <a:t>надо учитывать, что </a:t>
            </a:r>
            <a:r>
              <a:rPr lang="en-US" dirty="0"/>
              <a:t>sealed </a:t>
            </a:r>
            <a:r>
              <a:rPr lang="ru-RU" dirty="0"/>
              <a:t>применяется в паре с </a:t>
            </a:r>
            <a:r>
              <a:rPr lang="en-US" dirty="0"/>
              <a:t>override, </a:t>
            </a:r>
            <a:r>
              <a:rPr lang="ru-RU" dirty="0"/>
              <a:t>то есть только в переопределяемых методах.</a:t>
            </a:r>
          </a:p>
          <a:p>
            <a:r>
              <a:rPr lang="ru-RU" dirty="0"/>
              <a:t>В следующем примере мы не сможем переопределить метод </a:t>
            </a:r>
            <a:r>
              <a:rPr lang="en-US" dirty="0"/>
              <a:t>Print </a:t>
            </a:r>
            <a:r>
              <a:rPr lang="ru-RU" dirty="0"/>
              <a:t>в классе, унаследованном от </a:t>
            </a:r>
            <a:r>
              <a:rPr lang="en-US" dirty="0"/>
              <a:t>Employee.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39974D-FED5-4C2B-83C8-538A765C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562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2790D-5869-4070-8D15-B6EAD1AB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60C855-FCE0-4E9F-B804-B5FCF09B4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public string Company { get; set;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  public Employee(string name, string company)</a:t>
            </a:r>
          </a:p>
          <a:p>
            <a:r>
              <a:rPr lang="en-US" dirty="0"/>
              <a:t>                : base(name)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Company = company;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public </a:t>
            </a:r>
            <a:r>
              <a:rPr lang="en-US" b="1" dirty="0"/>
              <a:t>override sealed </a:t>
            </a:r>
            <a:r>
              <a:rPr lang="en-US" dirty="0"/>
              <a:t>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($"{Name} </a:t>
            </a:r>
            <a:r>
              <a:rPr lang="ru-RU" dirty="0"/>
              <a:t>работает в {</a:t>
            </a:r>
            <a:r>
              <a:rPr lang="en-US" dirty="0"/>
              <a:t>Company}");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D4CA60-073F-42D4-A886-74B3A02A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135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598B7-4791-43BD-B705-89427FEE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Бесплодные 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D8CD9-BB30-4D64-B408-4A9F0E32E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09003"/>
            <a:ext cx="9601200" cy="506566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Ключевое слово </a:t>
            </a:r>
            <a:r>
              <a:rPr lang="ru-RU" b="1" dirty="0" err="1"/>
              <a:t>sealed</a:t>
            </a:r>
            <a:r>
              <a:rPr lang="ru-RU" dirty="0"/>
              <a:t>, кроме того, позволяет описать класс, от которого запрещается наследовать в целом:</a:t>
            </a:r>
          </a:p>
          <a:p>
            <a:endParaRPr lang="ru-RU" dirty="0"/>
          </a:p>
          <a:p>
            <a:r>
              <a:rPr lang="ru-RU" dirty="0" err="1"/>
              <a:t>sealed</a:t>
            </a:r>
            <a:r>
              <a:rPr lang="ru-RU" dirty="0"/>
              <a:t> </a:t>
            </a:r>
            <a:r>
              <a:rPr lang="ru-RU" dirty="0" err="1"/>
              <a:t>class</a:t>
            </a:r>
            <a:r>
              <a:rPr lang="ru-RU" dirty="0"/>
              <a:t> Spirit</a:t>
            </a:r>
          </a:p>
          <a:p>
            <a:r>
              <a:rPr lang="ru-RU" dirty="0"/>
              <a:t>    {</a:t>
            </a:r>
          </a:p>
          <a:p>
            <a:r>
              <a:rPr lang="ru-RU" dirty="0"/>
              <a:t>        ...</a:t>
            </a:r>
          </a:p>
          <a:p>
            <a:r>
              <a:rPr lang="ru-RU" dirty="0"/>
              <a:t>    }</a:t>
            </a:r>
          </a:p>
          <a:p>
            <a:r>
              <a:rPr lang="ru-RU" dirty="0"/>
              <a:t>//  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Monster</a:t>
            </a:r>
            <a:r>
              <a:rPr lang="ru-RU" dirty="0"/>
              <a:t> : Spirit { ... }           ошибка!</a:t>
            </a:r>
          </a:p>
          <a:p>
            <a:endParaRPr lang="ru-RU" dirty="0"/>
          </a:p>
          <a:p>
            <a:r>
              <a:rPr lang="ru-RU" dirty="0"/>
              <a:t>Большинство встроенных типов данных описано как </a:t>
            </a:r>
            <a:r>
              <a:rPr lang="ru-RU" dirty="0" err="1"/>
              <a:t>sealed</a:t>
            </a:r>
            <a:r>
              <a:rPr lang="ru-RU" dirty="0"/>
              <a:t>. Если необходимо использовать функциональность бесплодного класса, применяется не наследование, а вложение, или включение: в классе описывается поле соответствующего типа.</a:t>
            </a:r>
          </a:p>
          <a:p>
            <a:r>
              <a:rPr lang="ru-RU" dirty="0"/>
              <a:t>Вложение классов, когда один класс включает в себя поля, являющиеся классами, является альтернативой наследованию при проектировании. Например, если есть объект "двигатель", а требуется описать объект "самолет", логично сделать двигатель полем этого объекта, а не его предком.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10062-4799-4AA6-852E-962BC943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819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02B5C-3637-4BB8-9740-257EB119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Абстрактные 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85F4CA-986E-4642-A375-B1091754B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 создании иерархии объектов для исключения повторяющегося кода часто бывает логично выделить их общие свойства в один родительский класс. При этом может оказаться, что создавать экземпляры такого класса не имеет смысла, потому что никакие реальные объекты им не соответствуют. Такие классы называют </a:t>
            </a:r>
            <a:r>
              <a:rPr lang="ru-RU" b="1" dirty="0"/>
              <a:t>абстрактными</a:t>
            </a:r>
            <a:r>
              <a:rPr lang="ru-RU" dirty="0"/>
              <a:t>.</a:t>
            </a:r>
          </a:p>
          <a:p>
            <a:r>
              <a:rPr lang="ru-RU" dirty="0"/>
              <a:t>Абстрактный класс служит только для порождения потомков. Как правило, в нем задается набор методов, которые каждый из потомков будет реализовывать по-своему. Абстрактные классы предназначены для представления общих понятий, которые предполагается конкретизировать в производных классах.</a:t>
            </a:r>
          </a:p>
          <a:p>
            <a:r>
              <a:rPr lang="ru-RU" dirty="0"/>
              <a:t>Абстрактный класс задает интерфейс для всей иерархии, при этом методам класса может не соответствовать никаких конкретных действий. В этом случае методы имеют пустое тело и объявляются со спецификатором </a:t>
            </a:r>
            <a:r>
              <a:rPr lang="ru-RU" b="1" dirty="0" err="1"/>
              <a:t>abstract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Если в классе есть хотя бы один абстрактный метод, весь класс также должен быть описан как абстрактный</a:t>
            </a:r>
            <a:r>
              <a:rPr lang="ru-RU" dirty="0"/>
              <a:t>. </a:t>
            </a:r>
            <a:r>
              <a:rPr lang="ru-RU" b="1" dirty="0"/>
              <a:t>Но в абстрактном классе могут быть как виртуальные, так и обычные методы.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37999E-D45E-4BB8-8714-87FC76C2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995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A6528-CD3C-4D0C-8D7F-2A9FB2F7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9E5831-A3BE-4BC9-8FD8-E61817AB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1800" dirty="0"/>
              <a:t>abstract class Transport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 public string Name { get; }</a:t>
            </a:r>
          </a:p>
          <a:p>
            <a:r>
              <a:rPr lang="en-US" sz="1800" dirty="0"/>
              <a:t>    // </a:t>
            </a:r>
            <a:r>
              <a:rPr lang="ru-RU" sz="1800" dirty="0"/>
              <a:t>конструктор абстрактного класса </a:t>
            </a:r>
            <a:r>
              <a:rPr lang="en-US" sz="1800" dirty="0"/>
              <a:t>Transport</a:t>
            </a:r>
          </a:p>
          <a:p>
            <a:r>
              <a:rPr lang="en-US" sz="1800" dirty="0"/>
              <a:t>    public Transport(string name)</a:t>
            </a:r>
          </a:p>
          <a:p>
            <a:r>
              <a:rPr lang="en-US" sz="1800" dirty="0"/>
              <a:t>    {</a:t>
            </a:r>
          </a:p>
          <a:p>
            <a:r>
              <a:rPr lang="en-US" sz="1800" dirty="0"/>
              <a:t>        Name = name;</a:t>
            </a:r>
          </a:p>
          <a:p>
            <a:r>
              <a:rPr lang="en-US" sz="1800" dirty="0"/>
              <a:t>    }</a:t>
            </a:r>
          </a:p>
          <a:p>
            <a:r>
              <a:rPr lang="en-US" sz="1800" dirty="0"/>
              <a:t>    public void Move() =&gt;</a:t>
            </a:r>
            <a:r>
              <a:rPr lang="en-US" sz="1800" dirty="0" err="1"/>
              <a:t>Console.WriteLine</a:t>
            </a:r>
            <a:r>
              <a:rPr lang="en-US" sz="1800" dirty="0"/>
              <a:t>($"{Name} </a:t>
            </a:r>
            <a:r>
              <a:rPr lang="ru-RU" sz="1800" dirty="0"/>
              <a:t>движется");</a:t>
            </a:r>
          </a:p>
          <a:p>
            <a:r>
              <a:rPr lang="ru-RU" sz="1800" dirty="0"/>
              <a:t>}</a:t>
            </a:r>
          </a:p>
          <a:p>
            <a:endParaRPr lang="ru-RU" sz="1800" dirty="0"/>
          </a:p>
          <a:p>
            <a:r>
              <a:rPr lang="en-US" sz="1800" dirty="0"/>
              <a:t>class Ship : Transport </a:t>
            </a:r>
          </a:p>
          <a:p>
            <a:r>
              <a:rPr lang="en-US" sz="1800" dirty="0"/>
              <a:t>{</a:t>
            </a:r>
            <a:endParaRPr lang="ru-RU" sz="1800" dirty="0"/>
          </a:p>
          <a:p>
            <a:r>
              <a:rPr lang="ru-RU" sz="1800" dirty="0"/>
              <a:t>    </a:t>
            </a:r>
            <a:r>
              <a:rPr lang="en-US" sz="1800" dirty="0"/>
              <a:t>public Ship(string name) : base(name) { }</a:t>
            </a:r>
          </a:p>
          <a:p>
            <a:r>
              <a:rPr lang="en-US" sz="1800" dirty="0"/>
              <a:t>}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en-US" sz="1800" dirty="0"/>
              <a:t>Transport ship = new Ship("</a:t>
            </a:r>
            <a:r>
              <a:rPr lang="en-US" sz="1800" dirty="0" err="1"/>
              <a:t>корабль</a:t>
            </a:r>
            <a:r>
              <a:rPr lang="en-US" sz="1800" dirty="0"/>
              <a:t>");</a:t>
            </a:r>
            <a:endParaRPr lang="ru-RU" sz="1800" dirty="0"/>
          </a:p>
          <a:p>
            <a:r>
              <a:rPr lang="en-US" sz="1800" dirty="0" err="1"/>
              <a:t>ship.Move</a:t>
            </a:r>
            <a:r>
              <a:rPr lang="en-US" sz="1800" dirty="0"/>
              <a:t>();        // </a:t>
            </a:r>
            <a:r>
              <a:rPr lang="ru-RU" sz="1800" dirty="0"/>
              <a:t>корабль движется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48F833-2046-4C41-9064-EEAD297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10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FA654-9537-4B7D-BA40-BDF8E776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Абстрактные члены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3DD2B6-47F2-4421-A30F-A261F2C96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Кроме обычных свойств и методов абстрактный класс может иметь абстрактные члены классов, которые определяются с помощью ключевого слова </a:t>
            </a:r>
            <a:r>
              <a:rPr lang="ru-RU" b="1" dirty="0" err="1"/>
              <a:t>abstract</a:t>
            </a:r>
            <a:r>
              <a:rPr lang="ru-RU" dirty="0"/>
              <a:t> и не имеют никакого функционала. В частности, абстрактными могут быть: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Методы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Свойства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Индексаторы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События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0975CC-EAD4-4A91-BDC6-AE8728CA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200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59BAE-1052-476A-A600-9B8FB2A7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Сокрытие вместо переопределения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0F7D10-CA70-4307-A290-CC5F5D93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81101"/>
            <a:ext cx="9601200" cy="54673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Фактически скрытие метода/свойства представляет определение в классе-наследнике метода или свойства, которые соответствует по имени и набору параметров методу или свойству базового класса. Для скрытия членов класса применяется ключевое слово </a:t>
            </a:r>
            <a:r>
              <a:rPr lang="ru-RU" b="1" dirty="0" err="1"/>
              <a:t>new</a:t>
            </a:r>
            <a:r>
              <a:rPr lang="ru-RU" dirty="0"/>
              <a:t>. Позволяет заменять </a:t>
            </a:r>
            <a:r>
              <a:rPr lang="ru-RU" b="1" dirty="0"/>
              <a:t>не-виртуальные </a:t>
            </a:r>
            <a:r>
              <a:rPr lang="ru-RU" dirty="0"/>
              <a:t>методы и свойства родителя. </a:t>
            </a:r>
            <a:r>
              <a:rPr lang="ru-RU" b="1" dirty="0"/>
              <a:t>Также можно применять к переменным и константам.</a:t>
            </a:r>
          </a:p>
          <a:p>
            <a:r>
              <a:rPr lang="ru-RU" dirty="0"/>
              <a:t>Пример:</a:t>
            </a:r>
          </a:p>
          <a:p>
            <a:r>
              <a:rPr lang="en-US" dirty="0"/>
              <a:t>class Employee : Person</a:t>
            </a:r>
          </a:p>
          <a:p>
            <a:r>
              <a:rPr lang="en-US" dirty="0"/>
              <a:t>{</a:t>
            </a:r>
          </a:p>
          <a:p>
            <a:r>
              <a:rPr lang="ru-RU" dirty="0"/>
              <a:t>…</a:t>
            </a:r>
            <a:endParaRPr lang="en-US" dirty="0"/>
          </a:p>
          <a:p>
            <a:r>
              <a:rPr lang="en-US" dirty="0"/>
              <a:t>    public </a:t>
            </a:r>
            <a:r>
              <a:rPr lang="en-US" b="1" dirty="0"/>
              <a:t>new</a:t>
            </a:r>
            <a:r>
              <a:rPr lang="en-US" dirty="0"/>
              <a:t> void Print()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($"Name: {Name}   Company: {Company}");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A8C53-5A42-4B93-B4EC-AE6F5EA4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092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FF269-7F12-41CA-AF42-A80CF4136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Разница между сокрытием и переопределением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68B78F-E810-4057-93BF-AB000F9E0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 dirty="0"/>
              <a:t>class Base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 void Hello() { </a:t>
            </a:r>
            <a:r>
              <a:rPr lang="en-US" dirty="0" err="1"/>
              <a:t>Console.WriteLine</a:t>
            </a:r>
            <a:r>
              <a:rPr lang="en-US" dirty="0"/>
              <a:t>( "I'm the base class" 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Derived : Base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 </a:t>
            </a:r>
            <a:r>
              <a:rPr lang="en-US" b="1" dirty="0"/>
              <a:t>new</a:t>
            </a:r>
            <a:r>
              <a:rPr lang="en-US" dirty="0"/>
              <a:t> void Hello() { </a:t>
            </a:r>
            <a:r>
              <a:rPr lang="en-US" dirty="0" err="1"/>
              <a:t>Console.WriteLine</a:t>
            </a:r>
            <a:r>
              <a:rPr lang="en-US" dirty="0"/>
              <a:t>( "I'm the derived class" ); }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/>
              <a:t>Base b = new Base();</a:t>
            </a:r>
          </a:p>
          <a:p>
            <a:r>
              <a:rPr lang="en-US" dirty="0" err="1"/>
              <a:t>b.Hello</a:t>
            </a:r>
            <a:r>
              <a:rPr lang="en-US" dirty="0"/>
              <a:t>(); // I'm the base class</a:t>
            </a:r>
          </a:p>
          <a:p>
            <a:endParaRPr lang="en-US" dirty="0"/>
          </a:p>
          <a:p>
            <a:r>
              <a:rPr lang="en-US" dirty="0"/>
              <a:t>Derived d = new Derived();</a:t>
            </a:r>
          </a:p>
          <a:p>
            <a:r>
              <a:rPr lang="en-US" dirty="0" err="1"/>
              <a:t>d.Hello</a:t>
            </a:r>
            <a:r>
              <a:rPr lang="en-US" dirty="0"/>
              <a:t>(); // I'm the derived class</a:t>
            </a:r>
          </a:p>
          <a:p>
            <a:endParaRPr lang="en-US" dirty="0"/>
          </a:p>
          <a:p>
            <a:r>
              <a:rPr lang="en-US" dirty="0"/>
              <a:t>b = d;</a:t>
            </a:r>
          </a:p>
          <a:p>
            <a:r>
              <a:rPr lang="en-US" b="1" dirty="0" err="1"/>
              <a:t>b.Hello</a:t>
            </a:r>
            <a:r>
              <a:rPr lang="en-US" b="1" dirty="0"/>
              <a:t>(); // I'm the base class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8D9ED6-D131-4E66-84FD-ACBA3FD8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08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0C683-519F-4050-9F96-ED47CFE3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84D8AB-F85D-443C-A58F-458C7FB5E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class Base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 virtual void Hello() { </a:t>
            </a:r>
            <a:r>
              <a:rPr lang="en-US" dirty="0" err="1"/>
              <a:t>Console.WriteLine</a:t>
            </a:r>
            <a:r>
              <a:rPr lang="en-US" dirty="0"/>
              <a:t>( "I'm the base class" );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Derived : Base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 </a:t>
            </a:r>
            <a:r>
              <a:rPr lang="en-US" b="1" dirty="0"/>
              <a:t>override</a:t>
            </a:r>
            <a:r>
              <a:rPr lang="en-US" dirty="0"/>
              <a:t> void Hello() { </a:t>
            </a:r>
            <a:r>
              <a:rPr lang="en-US" dirty="0" err="1"/>
              <a:t>Console.WriteLine</a:t>
            </a:r>
            <a:r>
              <a:rPr lang="en-US" dirty="0"/>
              <a:t>( "I'm the derived class" ); }</a:t>
            </a:r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/>
              <a:t>Base b = new Base();</a:t>
            </a:r>
          </a:p>
          <a:p>
            <a:r>
              <a:rPr lang="en-US" dirty="0" err="1"/>
              <a:t>b.Hello</a:t>
            </a:r>
            <a:r>
              <a:rPr lang="en-US" dirty="0"/>
              <a:t>(); // I'm the base class</a:t>
            </a:r>
          </a:p>
          <a:p>
            <a:endParaRPr lang="en-US" dirty="0"/>
          </a:p>
          <a:p>
            <a:r>
              <a:rPr lang="en-US" dirty="0"/>
              <a:t>Derived d = new Derived();</a:t>
            </a:r>
          </a:p>
          <a:p>
            <a:r>
              <a:rPr lang="en-US" dirty="0" err="1"/>
              <a:t>d.Hello</a:t>
            </a:r>
            <a:r>
              <a:rPr lang="en-US" dirty="0"/>
              <a:t>(); // I'm the derived class</a:t>
            </a:r>
          </a:p>
          <a:p>
            <a:endParaRPr lang="en-US" dirty="0"/>
          </a:p>
          <a:p>
            <a:r>
              <a:rPr lang="en-US" dirty="0"/>
              <a:t>b = d;</a:t>
            </a:r>
          </a:p>
          <a:p>
            <a:r>
              <a:rPr lang="en-US" b="1" dirty="0" err="1"/>
              <a:t>b.Hello</a:t>
            </a:r>
            <a:r>
              <a:rPr lang="en-US" b="1" dirty="0"/>
              <a:t>(); // I'm the derived class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1A3296-A90F-41AA-AFEF-3FCF45F0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04331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308</TotalTime>
  <Words>2711</Words>
  <Application>Microsoft Office PowerPoint</Application>
  <PresentationFormat>Широкоэкранный</PresentationFormat>
  <Paragraphs>363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Franklin Gothic Book</vt:lpstr>
      <vt:lpstr>Georgia</vt:lpstr>
      <vt:lpstr>Wingdings</vt:lpstr>
      <vt:lpstr>Уголки</vt:lpstr>
      <vt:lpstr>Лекция 4    Наследование. Полиморфизм. Абстрактные классы. Виртуальные методы и свойства. Бесплодные классы и методы</vt:lpstr>
      <vt:lpstr>Повторение: наследование</vt:lpstr>
      <vt:lpstr>Презентация PowerPoint</vt:lpstr>
      <vt:lpstr>Наследование от Object</vt:lpstr>
      <vt:lpstr>Ограничения наследования</vt:lpstr>
      <vt:lpstr>Доступ к членам базового класса из класса-наследника</vt:lpstr>
      <vt:lpstr>Напоминание: модификаторы доступа</vt:lpstr>
      <vt:lpstr>Доступность – белым цветом</vt:lpstr>
      <vt:lpstr>Порядок вызова конструкторов</vt:lpstr>
      <vt:lpstr>base</vt:lpstr>
      <vt:lpstr>Презентация PowerPoint</vt:lpstr>
      <vt:lpstr>Пример порядка вызова конструкторов</vt:lpstr>
      <vt:lpstr>Презентация PowerPoint</vt:lpstr>
      <vt:lpstr>Преобразование типов</vt:lpstr>
      <vt:lpstr>Презентация PowerPoint</vt:lpstr>
      <vt:lpstr>IS</vt:lpstr>
      <vt:lpstr>Презентация PowerPoint</vt:lpstr>
      <vt:lpstr>AS</vt:lpstr>
      <vt:lpstr>Повторение: полиморфизм</vt:lpstr>
      <vt:lpstr>Виртуальные методы и свойства</vt:lpstr>
      <vt:lpstr>Пример</vt:lpstr>
      <vt:lpstr>Презентация PowerPoint</vt:lpstr>
      <vt:lpstr>Бесплодные методы и свойства</vt:lpstr>
      <vt:lpstr>Пример</vt:lpstr>
      <vt:lpstr>Бесплодные классы</vt:lpstr>
      <vt:lpstr>Абстрактные классы</vt:lpstr>
      <vt:lpstr>Пример</vt:lpstr>
      <vt:lpstr>Абстрактные члены классов</vt:lpstr>
      <vt:lpstr>Сокрытие вместо переопределения</vt:lpstr>
      <vt:lpstr>Разница между сокрытием и переопределением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15</cp:revision>
  <dcterms:created xsi:type="dcterms:W3CDTF">2023-09-01T22:02:12Z</dcterms:created>
  <dcterms:modified xsi:type="dcterms:W3CDTF">2025-02-03T06:53:31Z</dcterms:modified>
</cp:coreProperties>
</file>