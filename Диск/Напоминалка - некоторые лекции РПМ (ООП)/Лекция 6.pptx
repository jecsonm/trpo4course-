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95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B9F18C-B0EF-4C3B-831E-15C3CF792C09}" type="datetimeFigureOut">
              <a:rPr lang="ru-RU" smtClean="0"/>
              <a:t>13.02.2025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D3E470-2E3C-4AB4-A461-A838E60D5F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914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none" baseline="0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sz="1400" baseline="0">
                <a:solidFill>
                  <a:schemeClr val="tx2"/>
                </a:solidFill>
              </a:defRPr>
            </a:lvl1pPr>
          </a:lstStyle>
          <a:p>
            <a:fld id="{15D38347-702E-498B-B08C-DEF354D6629E}" type="datetime1">
              <a:rPr lang="ru-RU" smtClean="0"/>
              <a:t>13.02.2025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sz="1400" baseline="0">
                <a:solidFill>
                  <a:schemeClr val="tx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sz="2800" baseline="0"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pPr/>
              <a:t>‹#›</a:t>
            </a:fld>
            <a:endParaRPr lang="ru-RU" dirty="0"/>
          </a:p>
        </p:txBody>
      </p:sp>
      <p:grpSp>
        <p:nvGrpSpPr>
          <p:cNvPr id="9" name="Group 8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606201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D0696-10F3-4B5A-B71C-22707C2001B8}" type="datetime1">
              <a:rPr lang="ru-RU" smtClean="0"/>
              <a:t>13.02.2025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3332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88F0F0C-D99A-410F-9911-63A47C4FE68F}" type="datetime1">
              <a:rPr lang="ru-RU" smtClean="0"/>
              <a:t>13.02.2025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8485155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593669"/>
            <a:ext cx="4447786" cy="427373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1593669"/>
            <a:ext cx="4447786" cy="427373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0A0CF-EE6C-47A3-85BE-0F26FBE60222}" type="datetime1">
              <a:rPr lang="ru-RU" smtClean="0"/>
              <a:t>13.02.2025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75879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3790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3524" y="1516952"/>
            <a:ext cx="4443984" cy="637903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2348104"/>
            <a:ext cx="4443984" cy="382409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1516952"/>
            <a:ext cx="4443984" cy="637903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2348105"/>
            <a:ext cx="4443984" cy="382409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526E4-1211-434F-B87B-977DA01F1840}" type="datetime1">
              <a:rPr lang="ru-RU" smtClean="0"/>
              <a:t>13.02.2025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9819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CEF9-D33A-4081-AB8F-855DF995F0BB}" type="datetime1">
              <a:rPr lang="ru-RU" smtClean="0"/>
              <a:t>13.02.2025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145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6D69E-1695-4575-8EC2-2D08D3507A7E}" type="datetime1">
              <a:rPr lang="ru-RU" smtClean="0"/>
              <a:t>13.02.2025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6761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10B2DC-3A84-42CE-BFEC-A52F2FA5ABE8}" type="datetime1">
              <a:rPr lang="ru-RU" smtClean="0"/>
              <a:t>13.02.2025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633441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3C280E5-A025-45B5-92AB-31FBC1254ED0}" type="datetime1">
              <a:rPr lang="ru-RU" smtClean="0"/>
              <a:t>13.02.2025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45939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1637211"/>
            <a:ext cx="9601200" cy="42301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27454-E3F2-4967-91D0-7E58FC732875}" type="datetime1">
              <a:rPr lang="ru-RU" smtClean="0"/>
              <a:t>13.02.2025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63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0532A-A3E8-4F11-B367-EDFC1ADEDC15}" type="datetime1">
              <a:rPr lang="ru-RU" smtClean="0"/>
              <a:t>13.02.2025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815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596538"/>
            <a:ext cx="9601200" cy="7336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1506583"/>
            <a:ext cx="9601200" cy="475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71600" y="6374670"/>
            <a:ext cx="114633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fld id="{6CE7A49A-459E-499C-837E-09F78318E92A}" type="datetime1">
              <a:rPr lang="ru-RU" smtClean="0"/>
              <a:pPr/>
              <a:t>13.02.2025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74514" y="6374670"/>
            <a:ext cx="6461075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92170" y="6374670"/>
            <a:ext cx="12806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fld id="{25A42088-C730-408A-A823-60BED1AFCEA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44367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6" r:id="rId1"/>
    <p:sldLayoutId id="2147484097" r:id="rId2"/>
    <p:sldLayoutId id="2147484098" r:id="rId3"/>
    <p:sldLayoutId id="2147484099" r:id="rId4"/>
    <p:sldLayoutId id="2147484100" r:id="rId5"/>
    <p:sldLayoutId id="2147484101" r:id="rId6"/>
    <p:sldLayoutId id="2147484102" r:id="rId7"/>
    <p:sldLayoutId id="2147484103" r:id="rId8"/>
    <p:sldLayoutId id="2147484104" r:id="rId9"/>
    <p:sldLayoutId id="2147484105" r:id="rId10"/>
    <p:sldLayoutId id="2147484106" r:id="rId11"/>
  </p:sldLayoutIdLst>
  <p:hf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3600" kern="1200" baseline="0">
          <a:solidFill>
            <a:schemeClr val="tx2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Tx/>
        <a:buNone/>
        <a:defRPr sz="2000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1pPr>
      <a:lvl2pPr marL="5303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2000" i="1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2pPr>
      <a:lvl3pPr marL="9875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1800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3pPr>
      <a:lvl4pPr marL="14447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1800" i="1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4pPr>
      <a:lvl5pPr marL="19019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1600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F56258-0E67-7C7B-2850-681FD0BB75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6000" dirty="0"/>
              <a:t>Лекция </a:t>
            </a:r>
            <a:r>
              <a:rPr lang="en-US" sz="6000" dirty="0"/>
              <a:t>6</a:t>
            </a:r>
            <a:r>
              <a:rPr lang="ru-RU" sz="6000" dirty="0"/>
              <a:t>  </a:t>
            </a:r>
            <a:br>
              <a:rPr lang="ru-RU" sz="6000" dirty="0"/>
            </a:br>
            <a:r>
              <a:rPr lang="ru-RU" sz="6000" dirty="0"/>
              <a:t> </a:t>
            </a:r>
            <a:r>
              <a:rPr lang="ru-RU" sz="4400" dirty="0"/>
              <a:t>Кортежи. </a:t>
            </a:r>
            <a:r>
              <a:rPr lang="ru-RU" sz="4400"/>
              <a:t>Делегаты. Интерфейсы</a:t>
            </a:r>
            <a:r>
              <a:rPr lang="ru-RU" sz="4400" dirty="0"/>
              <a:t>.</a:t>
            </a:r>
            <a:endParaRPr lang="ru-RU" sz="60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9DB230C-D752-D32B-FD0D-4169200468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Разработка программных модулей</a:t>
            </a:r>
          </a:p>
          <a:p>
            <a:r>
              <a:rPr lang="ru-RU" dirty="0"/>
              <a:t>Преподаватель: Челищева Лилия Дмитриевна</a:t>
            </a:r>
          </a:p>
        </p:txBody>
      </p:sp>
    </p:spTree>
    <p:extLst>
      <p:ext uri="{BB962C8B-B14F-4D97-AF65-F5344CB8AC3E}">
        <p14:creationId xmlns:p14="http://schemas.microsoft.com/office/powerpoint/2010/main" val="1586075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9282F9-4D3C-BC75-AAA6-3F765CAB3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Кортежи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FC71DD-32F2-11BD-C730-C9C91CC71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Введены в версии </a:t>
            </a:r>
            <a:r>
              <a:rPr lang="en-US" sz="2400" dirty="0"/>
              <a:t> C# 7.0.</a:t>
            </a:r>
            <a:endParaRPr lang="ru-RU" sz="2400" dirty="0"/>
          </a:p>
          <a:p>
            <a:r>
              <a:rPr lang="ru-RU" sz="2400" dirty="0"/>
              <a:t>Кортеж представляет набор значений, заключенных в круглые скобки:</a:t>
            </a:r>
          </a:p>
          <a:p>
            <a:r>
              <a:rPr lang="ru-RU" sz="2400" dirty="0"/>
              <a:t>(элемент1</a:t>
            </a:r>
            <a:r>
              <a:rPr lang="en-US" sz="2400" dirty="0"/>
              <a:t>[, </a:t>
            </a:r>
            <a:r>
              <a:rPr lang="ru-RU" sz="2400" dirty="0"/>
              <a:t>элемент2</a:t>
            </a:r>
            <a:r>
              <a:rPr lang="en-US" sz="2400" dirty="0"/>
              <a:t>[, …]])</a:t>
            </a:r>
            <a:endParaRPr lang="ru-RU" sz="2400" dirty="0"/>
          </a:p>
          <a:p>
            <a:endParaRPr lang="ru-RU" sz="2400" dirty="0"/>
          </a:p>
          <a:p>
            <a:r>
              <a:rPr lang="ru-RU" sz="2400" dirty="0"/>
              <a:t>В дальнейшем мы можем обращаться к каждому из этих значений через поля с названиями:</a:t>
            </a:r>
          </a:p>
          <a:p>
            <a:r>
              <a:rPr lang="ru-RU" sz="2400" dirty="0" err="1"/>
              <a:t>Item</a:t>
            </a:r>
            <a:r>
              <a:rPr lang="ru-RU" sz="2400" dirty="0"/>
              <a:t>[</a:t>
            </a:r>
            <a:r>
              <a:rPr lang="ru-RU" sz="2400" dirty="0" err="1"/>
              <a:t>порядковый_номер_поля_в_кортеже</a:t>
            </a:r>
            <a:r>
              <a:rPr lang="ru-RU" sz="2400" dirty="0"/>
              <a:t>]</a:t>
            </a:r>
            <a:endParaRPr lang="en-US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1D505D-A966-076C-A1FB-EA145D9B0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6434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98B31F-3BC1-48D8-B9CD-BB2F6995D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FC57F1-2CDE-44CA-827F-753407AFF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 tuple = (5, 10);</a:t>
            </a:r>
          </a:p>
          <a:p>
            <a:r>
              <a:rPr lang="en-US" dirty="0" err="1"/>
              <a:t>Console.WriteLine</a:t>
            </a:r>
            <a:r>
              <a:rPr lang="en-US" dirty="0"/>
              <a:t>(tuple.Item1); // 5</a:t>
            </a:r>
          </a:p>
          <a:p>
            <a:r>
              <a:rPr lang="en-US" dirty="0" err="1"/>
              <a:t>Console.WriteLine</a:t>
            </a:r>
            <a:r>
              <a:rPr lang="en-US" dirty="0"/>
              <a:t>(tuple.Item2); // 10</a:t>
            </a:r>
          </a:p>
          <a:p>
            <a:r>
              <a:rPr lang="en-US" dirty="0"/>
              <a:t>tuple.Item1 += 26;</a:t>
            </a:r>
          </a:p>
          <a:p>
            <a:r>
              <a:rPr lang="en-US" dirty="0" err="1"/>
              <a:t>Console.WriteLine</a:t>
            </a:r>
            <a:r>
              <a:rPr lang="en-US" dirty="0"/>
              <a:t>(tuple.Item1); // 31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D4EBCBC-3A17-467F-94E2-027ACE2C4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8127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DD7C0B-E022-447E-9783-76EEA461A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Способы инициализации кортежей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0F3AC5-AEE1-41A2-861F-7EFB2C39B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Типа данных можно задать неявно:</a:t>
            </a:r>
          </a:p>
          <a:p>
            <a:r>
              <a:rPr lang="en-US" sz="2400" dirty="0"/>
              <a:t>var tuple = (5, 10);</a:t>
            </a:r>
          </a:p>
          <a:p>
            <a:endParaRPr lang="ru-RU" sz="2400" dirty="0"/>
          </a:p>
          <a:p>
            <a:r>
              <a:rPr lang="ru-RU" sz="2400" dirty="0"/>
              <a:t>Или явно:</a:t>
            </a:r>
          </a:p>
          <a:p>
            <a:r>
              <a:rPr lang="ru-RU" sz="2400" dirty="0"/>
              <a:t>(</a:t>
            </a:r>
            <a:r>
              <a:rPr lang="en-US" sz="2400" dirty="0"/>
              <a:t>int, int) tuple = (5, 10);</a:t>
            </a:r>
          </a:p>
          <a:p>
            <a:endParaRPr lang="en-US" sz="2400" dirty="0"/>
          </a:p>
          <a:p>
            <a:r>
              <a:rPr lang="ru-RU" sz="2400" dirty="0"/>
              <a:t>Типы данных могут различаться внутри одного кортежа:</a:t>
            </a:r>
          </a:p>
          <a:p>
            <a:r>
              <a:rPr lang="en-US" sz="2400" dirty="0"/>
              <a:t>(string, int, double) person = ("Tom", 25, 81.23);</a:t>
            </a: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391F589-C265-44FF-B4AE-CE98FA458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1802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AED36B-DA52-4205-9D97-651FEC3F3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Именование полей кортежа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4CB186-6521-4B29-81C4-CE9540960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Полям кортежа можно задать имена и обращаться по ним:</a:t>
            </a:r>
          </a:p>
          <a:p>
            <a:r>
              <a:rPr lang="en-US" sz="2400" dirty="0"/>
              <a:t>var tuple = (count:5, sum:10);</a:t>
            </a:r>
          </a:p>
          <a:p>
            <a:r>
              <a:rPr lang="en-US" sz="2400" dirty="0" err="1"/>
              <a:t>Console.WriteLine</a:t>
            </a:r>
            <a:r>
              <a:rPr lang="en-US" sz="2400" dirty="0"/>
              <a:t>(</a:t>
            </a:r>
            <a:r>
              <a:rPr lang="en-US" sz="2400" dirty="0" err="1"/>
              <a:t>tuple.count</a:t>
            </a:r>
            <a:r>
              <a:rPr lang="en-US" sz="2400" dirty="0"/>
              <a:t>); // 5</a:t>
            </a:r>
          </a:p>
          <a:p>
            <a:r>
              <a:rPr lang="en-US" sz="2400" dirty="0" err="1"/>
              <a:t>Console.WriteLine</a:t>
            </a:r>
            <a:r>
              <a:rPr lang="en-US" sz="2400" dirty="0"/>
              <a:t>(</a:t>
            </a:r>
            <a:r>
              <a:rPr lang="en-US" sz="2400" dirty="0" err="1"/>
              <a:t>tuple.sum</a:t>
            </a:r>
            <a:r>
              <a:rPr lang="en-US" sz="2400" dirty="0"/>
              <a:t>); // 10</a:t>
            </a: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1F79709-732E-4216-80BB-C6F423243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920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9D3811-C0CA-4585-B16F-8D3B6FAF5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Декомпозиция кортежа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4BE87C-506F-4310-8372-7C7183711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Кортеж можно разбить на составляющие его переменные:</a:t>
            </a:r>
          </a:p>
          <a:p>
            <a:r>
              <a:rPr lang="en-US" sz="2400" dirty="0"/>
              <a:t>var (name, age) = ("Tom", 23);</a:t>
            </a:r>
          </a:p>
          <a:p>
            <a:r>
              <a:rPr lang="en-US" sz="2400" dirty="0" err="1"/>
              <a:t>Console.WriteLine</a:t>
            </a:r>
            <a:r>
              <a:rPr lang="en-US" sz="2400" dirty="0"/>
              <a:t>(name);    // Tom</a:t>
            </a:r>
          </a:p>
          <a:p>
            <a:r>
              <a:rPr lang="en-US" sz="2400" dirty="0" err="1"/>
              <a:t>Console.WriteLine</a:t>
            </a:r>
            <a:r>
              <a:rPr lang="en-US" sz="2400" dirty="0"/>
              <a:t>(age);     // 23</a:t>
            </a: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479A8C-862C-4F69-BB55-CDE8AAB4A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8198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1D6F80-BC21-47D6-9D17-3563F8470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Кортеж как результат метода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2C0FCC-7827-46AD-B1E2-E526F1641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Кортежи могут выступать в качестве результата функции. Например, одной из распространенных ситуаций является возвращение из функции двух и более значений, в то время как функция может возвращать только одно значение.</a:t>
            </a:r>
          </a:p>
          <a:p>
            <a:endParaRPr lang="ru-RU" dirty="0"/>
          </a:p>
          <a:p>
            <a:r>
              <a:rPr lang="ru-RU" dirty="0"/>
              <a:t>Пример:</a:t>
            </a:r>
          </a:p>
          <a:p>
            <a:r>
              <a:rPr lang="en-US" dirty="0"/>
              <a:t>(int, int) </a:t>
            </a:r>
            <a:r>
              <a:rPr lang="en-US" dirty="0" err="1"/>
              <a:t>GetValues</a:t>
            </a:r>
            <a:r>
              <a:rPr lang="en-US" dirty="0"/>
              <a:t>()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var result = (1, 3);</a:t>
            </a:r>
          </a:p>
          <a:p>
            <a:r>
              <a:rPr lang="en-US" dirty="0"/>
              <a:t>    return result;</a:t>
            </a:r>
          </a:p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E37A336-1BC5-415B-B1F5-BB1B45424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1118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B839CC-C5B8-4A14-AE3F-D5DA6C559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8C2BE7-6ADD-4FBB-A231-C083DE96F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(int sum, int count) </a:t>
            </a:r>
            <a:r>
              <a:rPr lang="en-US" dirty="0" err="1"/>
              <a:t>GetValuesData</a:t>
            </a:r>
            <a:r>
              <a:rPr lang="en-US" dirty="0"/>
              <a:t>(int[] numbers)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var result = (sum: 0, count: </a:t>
            </a:r>
            <a:r>
              <a:rPr lang="en-US" dirty="0" err="1"/>
              <a:t>numbers.Length</a:t>
            </a:r>
            <a:r>
              <a:rPr lang="en-US" dirty="0"/>
              <a:t>);</a:t>
            </a:r>
          </a:p>
          <a:p>
            <a:r>
              <a:rPr lang="en-US" dirty="0"/>
              <a:t>    foreach(var n in numbers)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</a:t>
            </a:r>
            <a:r>
              <a:rPr lang="en-US" dirty="0" err="1"/>
              <a:t>result.sum</a:t>
            </a:r>
            <a:r>
              <a:rPr lang="en-US" dirty="0"/>
              <a:t> += n;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  return result;</a:t>
            </a:r>
          </a:p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302A663-CF23-4D9B-A538-8AFFE39DA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6584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5111F5-37E0-42F9-AC40-05ED91A33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Кортеж как параметр метода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ABEE66-02CA-47A6-94E3-9D6F115C6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Также кортеж может передаваться в качестве параметра в метод:</a:t>
            </a:r>
          </a:p>
          <a:p>
            <a:r>
              <a:rPr lang="en-US" dirty="0" err="1"/>
              <a:t>PrintPerson</a:t>
            </a:r>
            <a:r>
              <a:rPr lang="en-US" dirty="0"/>
              <a:t>(("Tom", 37));   // Tom - 37</a:t>
            </a:r>
          </a:p>
          <a:p>
            <a:r>
              <a:rPr lang="en-US" dirty="0" err="1"/>
              <a:t>PrintPerson</a:t>
            </a:r>
            <a:r>
              <a:rPr lang="en-US" dirty="0"/>
              <a:t>(("Bob", 41));   // Bob - 41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void </a:t>
            </a:r>
            <a:r>
              <a:rPr lang="en-US" dirty="0" err="1"/>
              <a:t>PrintPerson</a:t>
            </a:r>
            <a:r>
              <a:rPr lang="en-US" dirty="0"/>
              <a:t>((string name, int age) person)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</a:t>
            </a:r>
            <a:r>
              <a:rPr lang="en-US" dirty="0" err="1"/>
              <a:t>Console.WriteLine</a:t>
            </a:r>
            <a:r>
              <a:rPr lang="en-US" dirty="0"/>
              <a:t>($"{person.name} - {</a:t>
            </a:r>
            <a:r>
              <a:rPr lang="en-US" dirty="0" err="1"/>
              <a:t>person.age</a:t>
            </a:r>
            <a:r>
              <a:rPr lang="en-US" dirty="0"/>
              <a:t>}");</a:t>
            </a:r>
          </a:p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17CB1F8-5BA0-43CA-B44A-45615984D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2689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2C7F2A-5C4D-419D-A77E-8E6F7350D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Делегаты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8423D1-CDC0-4EE6-8E3F-E2B59E401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Делегаты представляют такие объекты, которые указывают на методы. То есть делегаты - это указатели на методы и с помощью делегатов мы можем вызвать данные методы, а так же передавать их в другие методы.</a:t>
            </a:r>
          </a:p>
          <a:p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03EFD00-C403-400E-B868-AF6F9C8BF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3182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C145F3-E19D-43E9-823A-90FD8F05E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делегата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55FE39-93BA-4FFF-ACF0-752C097AA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06583"/>
            <a:ext cx="9601200" cy="5170442"/>
          </a:xfrm>
        </p:spPr>
        <p:txBody>
          <a:bodyPr>
            <a:normAutofit/>
          </a:bodyPr>
          <a:lstStyle/>
          <a:p>
            <a:r>
              <a:rPr lang="ru-RU" dirty="0"/>
              <a:t>Для объявления делегата используется ключевое слово </a:t>
            </a:r>
            <a:r>
              <a:rPr lang="ru-RU" dirty="0" err="1"/>
              <a:t>delegate</a:t>
            </a:r>
            <a:r>
              <a:rPr lang="ru-RU" dirty="0"/>
              <a:t>, после которого идет возвращаемый тип, название и параметры:</a:t>
            </a:r>
          </a:p>
          <a:p>
            <a:r>
              <a:rPr lang="ru-RU" b="1" dirty="0" err="1"/>
              <a:t>delegate</a:t>
            </a:r>
            <a:r>
              <a:rPr lang="ru-RU" b="1" dirty="0"/>
              <a:t> </a:t>
            </a:r>
            <a:r>
              <a:rPr lang="ru-RU" b="1" dirty="0" err="1"/>
              <a:t>void</a:t>
            </a:r>
            <a:r>
              <a:rPr lang="ru-RU" b="1" dirty="0"/>
              <a:t> Message();</a:t>
            </a:r>
            <a:endParaRPr lang="ru-RU" dirty="0"/>
          </a:p>
          <a:p>
            <a:r>
              <a:rPr lang="ru-RU" dirty="0"/>
              <a:t>Для использования делегата объявляется переменная этого делегата:</a:t>
            </a:r>
          </a:p>
          <a:p>
            <a:r>
              <a:rPr lang="ru-RU" b="1" dirty="0"/>
              <a:t>Message </a:t>
            </a:r>
            <a:r>
              <a:rPr lang="ru-RU" b="1" dirty="0" err="1"/>
              <a:t>mes</a:t>
            </a:r>
            <a:r>
              <a:rPr lang="ru-RU" b="1" dirty="0"/>
              <a:t>;</a:t>
            </a:r>
            <a:endParaRPr lang="ru-RU" dirty="0"/>
          </a:p>
          <a:p>
            <a:r>
              <a:rPr lang="ru-RU" dirty="0"/>
              <a:t>Далее в переменную делегата помещается имя функции, при этом типы  принимаемых и возвращаемых значений должны совпадать (во внимание также принимаются модификаторы </a:t>
            </a:r>
            <a:r>
              <a:rPr lang="ru-RU" b="1" dirty="0" err="1"/>
              <a:t>ref</a:t>
            </a:r>
            <a:r>
              <a:rPr lang="ru-RU" b="1" dirty="0"/>
              <a:t>, </a:t>
            </a:r>
            <a:r>
              <a:rPr lang="ru-RU" b="1" dirty="0" err="1"/>
              <a:t>in</a:t>
            </a:r>
            <a:r>
              <a:rPr lang="ru-RU" b="1" dirty="0"/>
              <a:t> и </a:t>
            </a:r>
            <a:r>
              <a:rPr lang="ru-RU" b="1" dirty="0" err="1"/>
              <a:t>out</a:t>
            </a:r>
            <a:r>
              <a:rPr lang="ru-RU" dirty="0"/>
              <a:t>):</a:t>
            </a:r>
          </a:p>
          <a:p>
            <a:r>
              <a:rPr lang="en-US" b="1" dirty="0"/>
              <a:t>void Hello { </a:t>
            </a:r>
            <a:r>
              <a:rPr lang="en-US" b="1" dirty="0" err="1"/>
              <a:t>Console.Write</a:t>
            </a:r>
            <a:r>
              <a:rPr lang="en-US" b="1" dirty="0"/>
              <a:t>("Hello"); }</a:t>
            </a:r>
          </a:p>
          <a:p>
            <a:r>
              <a:rPr lang="en-US" b="1" dirty="0" err="1"/>
              <a:t>mes</a:t>
            </a:r>
            <a:r>
              <a:rPr lang="en-US" b="1" dirty="0"/>
              <a:t> = Hello; </a:t>
            </a:r>
            <a:r>
              <a:rPr lang="en-US" i="1" dirty="0"/>
              <a:t>//</a:t>
            </a:r>
            <a:r>
              <a:rPr lang="ru-RU" i="1" dirty="0"/>
              <a:t>Обратите внимание, без скобок, иначе мы просто вызовем функцию</a:t>
            </a:r>
            <a:endParaRPr lang="ru-RU" dirty="0"/>
          </a:p>
          <a:p>
            <a:r>
              <a:rPr lang="ru-RU" dirty="0"/>
              <a:t>После этого можно вызывать функцию, обращаясь к делегату как к ней самой:</a:t>
            </a:r>
          </a:p>
          <a:p>
            <a:r>
              <a:rPr lang="en-US" b="1" dirty="0" err="1"/>
              <a:t>mes</a:t>
            </a:r>
            <a:r>
              <a:rPr lang="en-US" b="1" dirty="0"/>
              <a:t>();</a:t>
            </a:r>
            <a:endParaRPr lang="ru-RU" b="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2CB4C6E-E5D0-42E4-9B0C-8C9AFD791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4872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796330-A4E3-4797-9740-E2EB2FF3C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Добавление методов в делегат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0F130E-98C1-49B5-BD0F-85537130D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Делегат может указывать на множество методов, которые имеют ту же сигнатуру и возвращаемые тип. Все методы в делегате попадают в специальный список - список вызова или </a:t>
            </a:r>
            <a:r>
              <a:rPr lang="ru-RU" dirty="0" err="1"/>
              <a:t>invocation</a:t>
            </a:r>
            <a:r>
              <a:rPr lang="ru-RU" dirty="0"/>
              <a:t> </a:t>
            </a:r>
            <a:r>
              <a:rPr lang="ru-RU" dirty="0" err="1"/>
              <a:t>list</a:t>
            </a:r>
            <a:r>
              <a:rPr lang="ru-RU" dirty="0"/>
              <a:t>. И при вызове делегата все методы из этого списка </a:t>
            </a:r>
            <a:r>
              <a:rPr lang="ru-RU" b="1" dirty="0"/>
              <a:t>последовательно вызываются</a:t>
            </a:r>
            <a:r>
              <a:rPr lang="ru-RU" dirty="0"/>
              <a:t>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delegate void Message();</a:t>
            </a:r>
          </a:p>
          <a:p>
            <a:endParaRPr lang="ru-RU" dirty="0"/>
          </a:p>
          <a:p>
            <a:r>
              <a:rPr lang="en-US" dirty="0"/>
              <a:t>void Hello() { </a:t>
            </a:r>
            <a:r>
              <a:rPr lang="en-US" dirty="0" err="1"/>
              <a:t>Console.WriteLine</a:t>
            </a:r>
            <a:r>
              <a:rPr lang="en-US" dirty="0"/>
              <a:t>("Hello");}</a:t>
            </a:r>
          </a:p>
          <a:p>
            <a:r>
              <a:rPr lang="en-US" dirty="0"/>
              <a:t>void </a:t>
            </a:r>
            <a:r>
              <a:rPr lang="en-US" dirty="0" err="1"/>
              <a:t>HowAreYou</a:t>
            </a:r>
            <a:r>
              <a:rPr lang="en-US" dirty="0"/>
              <a:t>() { </a:t>
            </a:r>
            <a:r>
              <a:rPr lang="en-US" dirty="0" err="1"/>
              <a:t>Console.WriteLine</a:t>
            </a:r>
            <a:r>
              <a:rPr lang="en-US" dirty="0"/>
              <a:t>("How are you?");}</a:t>
            </a:r>
          </a:p>
          <a:p>
            <a:endParaRPr lang="ru-RU" dirty="0"/>
          </a:p>
          <a:p>
            <a:r>
              <a:rPr lang="en-US" dirty="0"/>
              <a:t>Message </a:t>
            </a:r>
            <a:r>
              <a:rPr lang="en-US" dirty="0" err="1"/>
              <a:t>message</a:t>
            </a:r>
            <a:r>
              <a:rPr lang="en-US" dirty="0"/>
              <a:t> = Hello;</a:t>
            </a:r>
          </a:p>
          <a:p>
            <a:r>
              <a:rPr lang="en-US" dirty="0"/>
              <a:t>message += </a:t>
            </a:r>
            <a:r>
              <a:rPr lang="en-US" dirty="0" err="1"/>
              <a:t>HowAreYou</a:t>
            </a:r>
            <a:r>
              <a:rPr lang="en-US" dirty="0"/>
              <a:t>;</a:t>
            </a:r>
            <a:r>
              <a:rPr lang="ru-RU" dirty="0"/>
              <a:t> // если добавить </a:t>
            </a:r>
            <a:r>
              <a:rPr lang="en-US" dirty="0"/>
              <a:t>n </a:t>
            </a:r>
            <a:r>
              <a:rPr lang="ru-RU" dirty="0"/>
              <a:t>раз – вызовется </a:t>
            </a:r>
            <a:r>
              <a:rPr lang="en-US" dirty="0"/>
              <a:t>n </a:t>
            </a:r>
            <a:r>
              <a:rPr lang="ru-RU" dirty="0"/>
              <a:t>раз</a:t>
            </a:r>
          </a:p>
          <a:p>
            <a:r>
              <a:rPr lang="en-US" dirty="0"/>
              <a:t>message();              // </a:t>
            </a:r>
            <a:r>
              <a:rPr lang="ru-RU" dirty="0"/>
              <a:t>вызываются оба метода - </a:t>
            </a:r>
            <a:r>
              <a:rPr lang="en-US" dirty="0"/>
              <a:t>Hello </a:t>
            </a:r>
            <a:r>
              <a:rPr lang="ru-RU" dirty="0"/>
              <a:t>и </a:t>
            </a:r>
            <a:r>
              <a:rPr lang="en-US" dirty="0" err="1"/>
              <a:t>HowAreYou</a:t>
            </a: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037B6B9-9C04-433C-8E2C-FFE996C68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32826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511AB1-AB6C-4820-93F7-6EEA8EB1C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Удаление метода из делегата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18C68C-2280-4381-8BF2-B82DD9079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Удаление метода выполняется командой -=. При этом если метод был добавлен несколько раз, он последовательно удаляется с конца списка вызова.</a:t>
            </a:r>
          </a:p>
          <a:p>
            <a:r>
              <a:rPr lang="en-US" b="1" dirty="0"/>
              <a:t>Message </a:t>
            </a:r>
            <a:r>
              <a:rPr lang="en-US" b="1" dirty="0" err="1"/>
              <a:t>message</a:t>
            </a:r>
            <a:r>
              <a:rPr lang="en-US" b="1" dirty="0"/>
              <a:t> = Hello;</a:t>
            </a:r>
          </a:p>
          <a:p>
            <a:r>
              <a:rPr lang="en-US" b="1" dirty="0"/>
              <a:t>message += </a:t>
            </a:r>
            <a:r>
              <a:rPr lang="en-US" b="1" dirty="0" err="1"/>
              <a:t>HowAreYou</a:t>
            </a:r>
            <a:endParaRPr lang="ru-RU" b="1" dirty="0"/>
          </a:p>
          <a:p>
            <a:r>
              <a:rPr lang="en-US" b="1" dirty="0"/>
              <a:t>message(); // </a:t>
            </a:r>
            <a:r>
              <a:rPr lang="en-US" b="1" dirty="0" err="1"/>
              <a:t>HelloHowAreYou</a:t>
            </a:r>
            <a:endParaRPr lang="ru-RU" b="1" dirty="0"/>
          </a:p>
          <a:p>
            <a:endParaRPr lang="ru-RU" b="1" dirty="0"/>
          </a:p>
          <a:p>
            <a:r>
              <a:rPr lang="en-US" b="1" dirty="0"/>
              <a:t>message +=</a:t>
            </a:r>
            <a:r>
              <a:rPr lang="ru-RU" b="1" dirty="0"/>
              <a:t> </a:t>
            </a:r>
            <a:r>
              <a:rPr lang="en-US" b="1" dirty="0"/>
              <a:t>Hello;</a:t>
            </a:r>
            <a:endParaRPr lang="ru-RU" b="1" dirty="0"/>
          </a:p>
          <a:p>
            <a:r>
              <a:rPr lang="en-US" b="1" dirty="0"/>
              <a:t>message(); // </a:t>
            </a:r>
            <a:r>
              <a:rPr lang="en-US" b="1" dirty="0" err="1"/>
              <a:t>HelloHowAreYouHello</a:t>
            </a:r>
            <a:endParaRPr lang="ru-RU" b="1" dirty="0"/>
          </a:p>
          <a:p>
            <a:endParaRPr lang="ru-RU" b="1" dirty="0"/>
          </a:p>
          <a:p>
            <a:r>
              <a:rPr lang="en-US" b="1" dirty="0"/>
              <a:t>message -=</a:t>
            </a:r>
            <a:r>
              <a:rPr lang="ru-RU" b="1" dirty="0"/>
              <a:t> </a:t>
            </a:r>
            <a:r>
              <a:rPr lang="en-US" b="1" dirty="0"/>
              <a:t>Hello;</a:t>
            </a:r>
            <a:endParaRPr lang="ru-RU" b="1" dirty="0"/>
          </a:p>
          <a:p>
            <a:r>
              <a:rPr lang="en-US" b="1" dirty="0"/>
              <a:t>message(); // </a:t>
            </a:r>
            <a:r>
              <a:rPr lang="en-US" b="1" dirty="0" err="1"/>
              <a:t>HelloHowAreYou</a:t>
            </a:r>
            <a:endParaRPr lang="ru-RU" b="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DCDD83E-6CC8-4628-8CE3-DEC17C74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8222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744DF0-CBDC-4E97-B281-890F937AA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Вызов делегата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CD9517-3811-4ED1-8AF9-CAD8BD33C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Делегат можно вызвать как обычный метод, либо командой </a:t>
            </a:r>
            <a:r>
              <a:rPr lang="en-US" dirty="0"/>
              <a:t>.Invoke(</a:t>
            </a:r>
            <a:r>
              <a:rPr lang="ru-RU" dirty="0"/>
              <a:t>входные параметры</a:t>
            </a:r>
            <a:r>
              <a:rPr lang="en-US" dirty="0"/>
              <a:t>)</a:t>
            </a:r>
            <a:r>
              <a:rPr lang="ru-RU" dirty="0"/>
              <a:t>.</a:t>
            </a:r>
          </a:p>
          <a:p>
            <a:r>
              <a:rPr lang="ru-RU" dirty="0"/>
              <a:t>При этом если в делегат еще не записан ни один метод, при вызове будет следующая разница:</a:t>
            </a:r>
          </a:p>
          <a:p>
            <a:r>
              <a:rPr lang="en-US" dirty="0"/>
              <a:t>Message? </a:t>
            </a:r>
            <a:r>
              <a:rPr lang="en-US" dirty="0" err="1"/>
              <a:t>mes</a:t>
            </a:r>
            <a:r>
              <a:rPr lang="en-US" dirty="0"/>
              <a:t>;</a:t>
            </a:r>
          </a:p>
          <a:p>
            <a:r>
              <a:rPr lang="en-US" dirty="0" err="1"/>
              <a:t>mes</a:t>
            </a:r>
            <a:r>
              <a:rPr lang="en-US" dirty="0"/>
              <a:t>();        // ! </a:t>
            </a:r>
            <a:r>
              <a:rPr lang="ru-RU" dirty="0"/>
              <a:t>Ошибка: делегат равен </a:t>
            </a:r>
            <a:r>
              <a:rPr lang="en-US" dirty="0"/>
              <a:t>null</a:t>
            </a:r>
            <a:endParaRPr lang="ru-RU" dirty="0"/>
          </a:p>
          <a:p>
            <a:r>
              <a:rPr lang="en-US" dirty="0" err="1"/>
              <a:t>mes.Invoke</a:t>
            </a:r>
            <a:r>
              <a:rPr lang="en-US" dirty="0"/>
              <a:t>();</a:t>
            </a:r>
            <a:r>
              <a:rPr lang="ru-RU" dirty="0"/>
              <a:t>       </a:t>
            </a:r>
            <a:r>
              <a:rPr lang="en-US" dirty="0"/>
              <a:t>// ! </a:t>
            </a:r>
            <a:r>
              <a:rPr lang="ru-RU" dirty="0"/>
              <a:t>Ошибка: делегат равен </a:t>
            </a:r>
            <a:r>
              <a:rPr lang="en-US" dirty="0"/>
              <a:t>null </a:t>
            </a:r>
            <a:endParaRPr lang="ru-RU" dirty="0"/>
          </a:p>
          <a:p>
            <a:r>
              <a:rPr lang="ru-RU" dirty="0" err="1"/>
              <a:t>mes</a:t>
            </a:r>
            <a:r>
              <a:rPr lang="ru-RU" dirty="0"/>
              <a:t>?.</a:t>
            </a:r>
            <a:r>
              <a:rPr lang="ru-RU" dirty="0" err="1"/>
              <a:t>Invoke</a:t>
            </a:r>
            <a:r>
              <a:rPr lang="ru-RU" dirty="0"/>
              <a:t>();        // ошибки нет, делегат просто не вызывается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6D9820-9938-4A5C-B091-26F4D9EE3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6823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4AD571-1422-431E-BFD8-D7319D495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Делегаты как параметры методов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2295F7-5050-49B8-87B5-1575089BD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delegate int Operation(int x, int y);</a:t>
            </a:r>
            <a:endParaRPr lang="ru-RU" dirty="0"/>
          </a:p>
          <a:p>
            <a:endParaRPr lang="ru-RU" dirty="0"/>
          </a:p>
          <a:p>
            <a:r>
              <a:rPr lang="en-US" dirty="0"/>
              <a:t>void </a:t>
            </a:r>
            <a:r>
              <a:rPr lang="en-US" dirty="0" err="1"/>
              <a:t>DoOperation</a:t>
            </a:r>
            <a:r>
              <a:rPr lang="en-US" dirty="0"/>
              <a:t>(int a, int b, Operation op)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</a:t>
            </a:r>
            <a:r>
              <a:rPr lang="en-US" dirty="0" err="1"/>
              <a:t>Console.WriteLine</a:t>
            </a:r>
            <a:r>
              <a:rPr lang="en-US" dirty="0"/>
              <a:t>(op(</a:t>
            </a:r>
            <a:r>
              <a:rPr lang="en-US" dirty="0" err="1"/>
              <a:t>a,b</a:t>
            </a:r>
            <a:r>
              <a:rPr lang="en-US" dirty="0"/>
              <a:t>));</a:t>
            </a:r>
          </a:p>
          <a:p>
            <a:r>
              <a:rPr lang="en-US" dirty="0"/>
              <a:t>}</a:t>
            </a:r>
            <a:endParaRPr lang="ru-RU" dirty="0"/>
          </a:p>
          <a:p>
            <a:endParaRPr lang="ru-RU" dirty="0"/>
          </a:p>
          <a:p>
            <a:r>
              <a:rPr lang="fr-FR" dirty="0"/>
              <a:t>int Add(int x, int y) </a:t>
            </a:r>
            <a:r>
              <a:rPr lang="en-US" dirty="0"/>
              <a:t>{return </a:t>
            </a:r>
            <a:r>
              <a:rPr lang="fr-FR" dirty="0"/>
              <a:t>x + y; }</a:t>
            </a:r>
            <a:endParaRPr lang="ru-RU" dirty="0"/>
          </a:p>
          <a:p>
            <a:endParaRPr lang="ru-RU" dirty="0"/>
          </a:p>
          <a:p>
            <a:r>
              <a:rPr lang="en-US" dirty="0" err="1"/>
              <a:t>DoOperation</a:t>
            </a:r>
            <a:r>
              <a:rPr lang="en-US" dirty="0"/>
              <a:t>(5, 4, Add); 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8E60AEF-C817-42A2-A1AF-2E423B5C2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7355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E6D710-1A83-47F6-B74B-FFCD4F5F7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E3FC9C-D202-4E27-8F31-B4AA5BE63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Интерфейс представляет ссылочный тип, который может определять некоторый функционал - набор методов и свойств без реализации. Затем этот функционал реализуют классы и структуры, которые применяют данные интерфейсы. Наследники обязаны реализовать все не реализованные в интерфейсе элементы.</a:t>
            </a:r>
          </a:p>
          <a:p>
            <a:endParaRPr lang="ru-RU" sz="2400" dirty="0"/>
          </a:p>
          <a:p>
            <a:r>
              <a:rPr lang="ru-RU" sz="2400" dirty="0"/>
              <a:t>Методы и свойства интерфейса могут не иметь реализации, в этом они сближаются с абстрактными методами и свойствами абстрактных классов.</a:t>
            </a:r>
          </a:p>
          <a:p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30D1452-EF16-4195-AD4E-EE8C1C1E8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56553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FF7431-FADC-4578-9E9E-B15CC6A04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Определение интерфейса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C7E9D4-EFD2-405E-B6F7-82EA02366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06583"/>
            <a:ext cx="9601200" cy="5151392"/>
          </a:xfrm>
        </p:spPr>
        <p:txBody>
          <a:bodyPr>
            <a:normAutofit/>
          </a:bodyPr>
          <a:lstStyle/>
          <a:p>
            <a:r>
              <a:rPr lang="ru-RU" dirty="0"/>
              <a:t>Для определения интерфейса используется ключевое слово </a:t>
            </a:r>
            <a:r>
              <a:rPr lang="ru-RU" b="1" dirty="0" err="1"/>
              <a:t>interface</a:t>
            </a:r>
            <a:r>
              <a:rPr lang="ru-RU" dirty="0"/>
              <a:t>.</a:t>
            </a:r>
          </a:p>
          <a:p>
            <a:r>
              <a:rPr lang="ru-RU" dirty="0"/>
              <a:t>Как правило, названия интерфейсов в C# начинаются с заглавной буквы </a:t>
            </a:r>
            <a:r>
              <a:rPr lang="ru-RU" b="1" dirty="0"/>
              <a:t>I</a:t>
            </a:r>
            <a:r>
              <a:rPr lang="ru-RU" dirty="0"/>
              <a:t>, например, </a:t>
            </a:r>
            <a:r>
              <a:rPr lang="ru-RU" dirty="0" err="1"/>
              <a:t>IComparable</a:t>
            </a:r>
            <a:r>
              <a:rPr lang="ru-RU" dirty="0"/>
              <a:t>, </a:t>
            </a:r>
            <a:r>
              <a:rPr lang="ru-RU" dirty="0" err="1"/>
              <a:t>IEnumerable</a:t>
            </a:r>
            <a:r>
              <a:rPr lang="ru-RU" dirty="0"/>
              <a:t> (так называемая венгерская нотация), однако это не обязательное требование, а больше стиль программирования.</a:t>
            </a:r>
          </a:p>
          <a:p>
            <a:endParaRPr lang="ru-RU" dirty="0"/>
          </a:p>
          <a:p>
            <a:r>
              <a:rPr lang="ru-RU" dirty="0"/>
              <a:t>В интерфейс может входить: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Методы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Свойства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Индексаторы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События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dirty="0"/>
              <a:t>Статические поля и константы (начиная с версии C# 8.0)</a:t>
            </a:r>
          </a:p>
          <a:p>
            <a:r>
              <a:rPr lang="ru-RU" dirty="0"/>
              <a:t>Интерфейсы не могут определять нестатические переменные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E5E1F3C-93CA-4906-88B6-7FEDCEC03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8251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3834E1-1EA3-4793-929C-14C4DE139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80FF19-3808-4226-A942-B7F817DB4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06583"/>
            <a:ext cx="9601200" cy="503709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interface </a:t>
            </a:r>
            <a:r>
              <a:rPr lang="en-US" dirty="0" err="1"/>
              <a:t>IMovable</a:t>
            </a:r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    // </a:t>
            </a:r>
            <a:r>
              <a:rPr lang="ru-RU" dirty="0"/>
              <a:t>константа</a:t>
            </a:r>
          </a:p>
          <a:p>
            <a:r>
              <a:rPr lang="ru-RU" dirty="0"/>
              <a:t>    </a:t>
            </a:r>
            <a:r>
              <a:rPr lang="en-US" dirty="0"/>
              <a:t>const int </a:t>
            </a:r>
            <a:r>
              <a:rPr lang="en-US" dirty="0" err="1"/>
              <a:t>minSpeed</a:t>
            </a:r>
            <a:r>
              <a:rPr lang="en-US" dirty="0"/>
              <a:t> = 0;     // </a:t>
            </a:r>
            <a:r>
              <a:rPr lang="ru-RU" dirty="0"/>
              <a:t>минимальная скорость</a:t>
            </a:r>
          </a:p>
          <a:p>
            <a:r>
              <a:rPr lang="ru-RU" dirty="0"/>
              <a:t>    // статическая переменная</a:t>
            </a:r>
          </a:p>
          <a:p>
            <a:r>
              <a:rPr lang="ru-RU" dirty="0"/>
              <a:t>    </a:t>
            </a:r>
            <a:r>
              <a:rPr lang="en-US" dirty="0"/>
              <a:t>static int </a:t>
            </a:r>
            <a:r>
              <a:rPr lang="en-US" dirty="0" err="1"/>
              <a:t>maxSpeed</a:t>
            </a:r>
            <a:r>
              <a:rPr lang="en-US" dirty="0"/>
              <a:t> = 60;   // </a:t>
            </a:r>
            <a:r>
              <a:rPr lang="ru-RU" dirty="0"/>
              <a:t>максимальная скорость</a:t>
            </a:r>
          </a:p>
          <a:p>
            <a:r>
              <a:rPr lang="ru-RU" dirty="0"/>
              <a:t>    // метод</a:t>
            </a:r>
          </a:p>
          <a:p>
            <a:r>
              <a:rPr lang="ru-RU" dirty="0"/>
              <a:t>    </a:t>
            </a:r>
            <a:r>
              <a:rPr lang="en-US" dirty="0"/>
              <a:t>void Move();                // </a:t>
            </a:r>
            <a:r>
              <a:rPr lang="ru-RU" dirty="0"/>
              <a:t>движение</a:t>
            </a:r>
          </a:p>
          <a:p>
            <a:r>
              <a:rPr lang="ru-RU" dirty="0"/>
              <a:t>    // свойство</a:t>
            </a:r>
          </a:p>
          <a:p>
            <a:r>
              <a:rPr lang="ru-RU" dirty="0"/>
              <a:t>    </a:t>
            </a:r>
            <a:r>
              <a:rPr lang="en-US" dirty="0"/>
              <a:t>string Name { get; set; }   // </a:t>
            </a:r>
            <a:r>
              <a:rPr lang="ru-RU" dirty="0"/>
              <a:t>название</a:t>
            </a:r>
          </a:p>
          <a:p>
            <a:r>
              <a:rPr lang="ru-RU" dirty="0"/>
              <a:t>     </a:t>
            </a:r>
          </a:p>
          <a:p>
            <a:r>
              <a:rPr lang="ru-RU" dirty="0"/>
              <a:t>    </a:t>
            </a:r>
            <a:r>
              <a:rPr lang="en-US" dirty="0"/>
              <a:t>delegate void </a:t>
            </a:r>
            <a:r>
              <a:rPr lang="en-US" dirty="0" err="1"/>
              <a:t>MoveHandler</a:t>
            </a:r>
            <a:r>
              <a:rPr lang="en-US" dirty="0"/>
              <a:t>(string message);  // </a:t>
            </a:r>
            <a:r>
              <a:rPr lang="ru-RU" dirty="0"/>
              <a:t>определение делегата для события</a:t>
            </a:r>
          </a:p>
          <a:p>
            <a:r>
              <a:rPr lang="ru-RU" dirty="0"/>
              <a:t>    // событие</a:t>
            </a:r>
          </a:p>
          <a:p>
            <a:r>
              <a:rPr lang="ru-RU" dirty="0"/>
              <a:t>    </a:t>
            </a:r>
            <a:r>
              <a:rPr lang="en-US" dirty="0"/>
              <a:t>event </a:t>
            </a:r>
            <a:r>
              <a:rPr lang="en-US" dirty="0" err="1"/>
              <a:t>MoveHandler</a:t>
            </a:r>
            <a:r>
              <a:rPr lang="en-US" dirty="0"/>
              <a:t> </a:t>
            </a:r>
            <a:r>
              <a:rPr lang="en-US" dirty="0" err="1"/>
              <a:t>MoveEvent</a:t>
            </a:r>
            <a:r>
              <a:rPr lang="en-US" dirty="0"/>
              <a:t>;    // </a:t>
            </a:r>
            <a:r>
              <a:rPr lang="ru-RU" dirty="0"/>
              <a:t>событие движения</a:t>
            </a:r>
          </a:p>
          <a:p>
            <a:r>
              <a:rPr lang="ru-RU" dirty="0"/>
              <a:t>}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EA255DC-DF76-4FC9-9203-EDC197E52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33577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F50536-D389-4480-9494-398C94560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по умолчанию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4580C6-F610-4CE2-A8BE-C6B52FD4A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Также начиная с версии C# 8.0 интерфейсы поддерживают реализацию методов и свойств по умолчанию. Это значит, что мы можем определить в интерфейсах полноценные методы и свойства, которые имеют реализацию как в обычных классах и структурах.</a:t>
            </a:r>
          </a:p>
          <a:p>
            <a:r>
              <a:rPr lang="ru-RU" dirty="0"/>
              <a:t>Аналогом являются виртуальные методы в </a:t>
            </a:r>
            <a:r>
              <a:rPr lang="ru-RU" dirty="0" err="1"/>
              <a:t>классках</a:t>
            </a:r>
            <a:r>
              <a:rPr lang="ru-RU" dirty="0"/>
              <a:t>-родителях.</a:t>
            </a:r>
          </a:p>
          <a:p>
            <a:r>
              <a:rPr lang="ru-RU" dirty="0"/>
              <a:t>Пример:</a:t>
            </a:r>
          </a:p>
          <a:p>
            <a:r>
              <a:rPr lang="en-US" dirty="0"/>
              <a:t>interface </a:t>
            </a:r>
            <a:r>
              <a:rPr lang="en-US" dirty="0" err="1"/>
              <a:t>IMovable</a:t>
            </a:r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    // </a:t>
            </a:r>
            <a:r>
              <a:rPr lang="ru-RU" dirty="0"/>
              <a:t>реализация метода по умолчанию</a:t>
            </a:r>
          </a:p>
          <a:p>
            <a:r>
              <a:rPr lang="ru-RU" dirty="0"/>
              <a:t>    </a:t>
            </a:r>
            <a:r>
              <a:rPr lang="en-US" dirty="0"/>
              <a:t>void Move()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</a:t>
            </a:r>
            <a:r>
              <a:rPr lang="en-US" dirty="0" err="1"/>
              <a:t>Console.WriteLine</a:t>
            </a:r>
            <a:r>
              <a:rPr lang="en-US" dirty="0"/>
              <a:t>("Walking");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D0E1C6-DD87-494D-949C-7A5323692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73291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258C6C-EAF2-480B-B392-8194C1434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Модификаторы доступа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900D19-7CF7-431E-8EE4-1CA204401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000" dirty="0"/>
              <a:t>Если члены интерфейса - методы и свойства не имеют модификаторов доступа, то фактически по умолчанию доступ </a:t>
            </a:r>
            <a:r>
              <a:rPr lang="ru-RU" sz="2000" b="1" dirty="0" err="1"/>
              <a:t>public</a:t>
            </a:r>
            <a:r>
              <a:rPr lang="ru-RU" sz="2000" dirty="0"/>
              <a:t>, так как цель интерфейса - определение функционала для реализации его классом. Начиная с версии C# 8.0, мы можем явно указывать модификаторы доступа.</a:t>
            </a:r>
          </a:p>
          <a:p>
            <a:endParaRPr lang="ru-RU" dirty="0"/>
          </a:p>
          <a:p>
            <a:r>
              <a:rPr lang="ru-RU" dirty="0"/>
              <a:t>Как и классы, интерфейсы по умолчанию имеют уровень доступа </a:t>
            </a:r>
            <a:r>
              <a:rPr lang="ru-RU" dirty="0" err="1"/>
              <a:t>internal</a:t>
            </a:r>
            <a:r>
              <a:rPr lang="ru-RU" dirty="0"/>
              <a:t>, то есть такой интерфейс доступен только в рамках текущего проекта. С помощью модификатора </a:t>
            </a:r>
            <a:r>
              <a:rPr lang="ru-RU" dirty="0" err="1"/>
              <a:t>public</a:t>
            </a:r>
            <a:r>
              <a:rPr lang="ru-RU" dirty="0"/>
              <a:t> мы можем сделать интерфейс общедоступным.</a:t>
            </a:r>
          </a:p>
          <a:p>
            <a:endParaRPr lang="ru-RU" dirty="0"/>
          </a:p>
          <a:p>
            <a:r>
              <a:rPr lang="ru-RU" dirty="0"/>
              <a:t>Стоит отметить, что если интерфейс имеет приватные методы и свойства (то есть с модификатором </a:t>
            </a:r>
            <a:r>
              <a:rPr lang="ru-RU" dirty="0" err="1"/>
              <a:t>private</a:t>
            </a:r>
            <a:r>
              <a:rPr lang="ru-RU" dirty="0"/>
              <a:t>), то они должны иметь реализацию по умолчанию. То же самое относится к статическим методам (не обязательно приватным).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40B1BA-13A9-486F-BB7D-FB8A7096F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61045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57587C-76DD-439A-B6FA-0AF670708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 интерфейсов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75E2A7-4D2D-4752-A2BF-AF30A11F0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Нельзя напрямую создавать объекты интерфейсов.</a:t>
            </a:r>
          </a:p>
          <a:p>
            <a:r>
              <a:rPr lang="ru-RU" dirty="0"/>
              <a:t>Интерфейсы предназначены для дальнейшей реализации в классах и структурах через наследование:</a:t>
            </a:r>
          </a:p>
          <a:p>
            <a:endParaRPr lang="ru-RU" dirty="0"/>
          </a:p>
          <a:p>
            <a:r>
              <a:rPr lang="en-US" dirty="0" err="1"/>
              <a:t>IMovable</a:t>
            </a:r>
            <a:r>
              <a:rPr lang="en-US" dirty="0"/>
              <a:t> m = new </a:t>
            </a:r>
            <a:r>
              <a:rPr lang="en-US" dirty="0" err="1"/>
              <a:t>IMovable</a:t>
            </a:r>
            <a:r>
              <a:rPr lang="en-US" dirty="0"/>
              <a:t>(); // ! </a:t>
            </a:r>
            <a:r>
              <a:rPr lang="ru-RU" dirty="0"/>
              <a:t>Ошибка, так сделать нельзя</a:t>
            </a:r>
          </a:p>
          <a:p>
            <a:r>
              <a:rPr lang="ru-RU" dirty="0"/>
              <a:t> </a:t>
            </a:r>
          </a:p>
          <a:p>
            <a:r>
              <a:rPr lang="en-US" dirty="0"/>
              <a:t>interface </a:t>
            </a:r>
            <a:r>
              <a:rPr lang="en-US" dirty="0" err="1"/>
              <a:t>IMovable</a:t>
            </a:r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    void Move();</a:t>
            </a:r>
          </a:p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841A02-820A-4B88-9F03-4DCD16634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01884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CF3FC97-80DD-4CA7-BF0D-EBDBDAE9D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571500"/>
            <a:ext cx="9601200" cy="6115049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// применение интерфейса в классе</a:t>
            </a:r>
          </a:p>
          <a:p>
            <a:r>
              <a:rPr lang="en-US" dirty="0"/>
              <a:t>class Person : </a:t>
            </a:r>
            <a:r>
              <a:rPr lang="en-US" dirty="0" err="1"/>
              <a:t>IMovable</a:t>
            </a:r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    public void Move()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</a:t>
            </a:r>
            <a:r>
              <a:rPr lang="en-US" dirty="0" err="1"/>
              <a:t>Console.WriteLine</a:t>
            </a:r>
            <a:r>
              <a:rPr lang="en-US" dirty="0"/>
              <a:t>("</a:t>
            </a:r>
            <a:r>
              <a:rPr lang="ru-RU" dirty="0"/>
              <a:t>Человек идет");</a:t>
            </a:r>
          </a:p>
          <a:p>
            <a:r>
              <a:rPr lang="ru-RU" dirty="0"/>
              <a:t>    }</a:t>
            </a:r>
          </a:p>
          <a:p>
            <a:r>
              <a:rPr lang="ru-RU" dirty="0"/>
              <a:t>}</a:t>
            </a:r>
          </a:p>
          <a:p>
            <a:r>
              <a:rPr lang="ru-RU" dirty="0"/>
              <a:t>// применение интерфейса в структуре</a:t>
            </a:r>
          </a:p>
          <a:p>
            <a:r>
              <a:rPr lang="en-US" dirty="0"/>
              <a:t>struct Car : </a:t>
            </a:r>
            <a:r>
              <a:rPr lang="en-US" dirty="0" err="1"/>
              <a:t>IMovable</a:t>
            </a:r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    public void Move()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</a:t>
            </a:r>
            <a:r>
              <a:rPr lang="en-US" dirty="0" err="1"/>
              <a:t>Console.WriteLine</a:t>
            </a:r>
            <a:r>
              <a:rPr lang="en-US" dirty="0"/>
              <a:t>("</a:t>
            </a:r>
            <a:r>
              <a:rPr lang="ru-RU" dirty="0"/>
              <a:t>Машина едет");</a:t>
            </a:r>
          </a:p>
          <a:p>
            <a:r>
              <a:rPr lang="ru-RU" dirty="0"/>
              <a:t>    }</a:t>
            </a:r>
          </a:p>
          <a:p>
            <a:r>
              <a:rPr lang="ru-RU" dirty="0"/>
              <a:t>}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2088F87-47F6-49C8-9F15-B4F03E7FE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79939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F677F2-279A-4835-B1DE-5BE52937D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Вызов метода интерфейса в объекте: примеры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B69C4E-8612-403E-A4A7-43BF16759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Car tesla = new Car(); </a:t>
            </a:r>
            <a:endParaRPr lang="ru-RU" dirty="0"/>
          </a:p>
          <a:p>
            <a:r>
              <a:rPr lang="en-US" dirty="0" err="1"/>
              <a:t>tesla.Move</a:t>
            </a:r>
            <a:r>
              <a:rPr lang="en-US" dirty="0"/>
              <a:t>();   // </a:t>
            </a:r>
            <a:r>
              <a:rPr lang="ru-RU" dirty="0"/>
              <a:t>Машина едет</a:t>
            </a:r>
          </a:p>
          <a:p>
            <a:endParaRPr lang="ru-RU" dirty="0"/>
          </a:p>
          <a:p>
            <a:r>
              <a:rPr lang="ru-RU" dirty="0"/>
              <a:t>Можно вызывать  в функции:</a:t>
            </a:r>
          </a:p>
          <a:p>
            <a:r>
              <a:rPr lang="en-US" dirty="0"/>
              <a:t>void </a:t>
            </a:r>
            <a:r>
              <a:rPr lang="en-US" dirty="0" err="1"/>
              <a:t>DoAction</a:t>
            </a:r>
            <a:r>
              <a:rPr lang="en-US" dirty="0"/>
              <a:t>(</a:t>
            </a:r>
            <a:r>
              <a:rPr lang="en-US" dirty="0" err="1"/>
              <a:t>IMovable</a:t>
            </a:r>
            <a:r>
              <a:rPr lang="en-US" dirty="0"/>
              <a:t> movable) { </a:t>
            </a:r>
            <a:r>
              <a:rPr lang="en-US" dirty="0" err="1"/>
              <a:t>movable.Move</a:t>
            </a:r>
            <a:r>
              <a:rPr lang="en-US" dirty="0"/>
              <a:t>(); } //</a:t>
            </a:r>
            <a:r>
              <a:rPr lang="ru-RU" dirty="0"/>
              <a:t>Функция, принимающая объект</a:t>
            </a:r>
          </a:p>
          <a:p>
            <a:r>
              <a:rPr lang="en-US" dirty="0"/>
              <a:t>Person </a:t>
            </a:r>
            <a:r>
              <a:rPr lang="en-US" dirty="0" err="1"/>
              <a:t>person</a:t>
            </a:r>
            <a:r>
              <a:rPr lang="en-US" dirty="0"/>
              <a:t> = new Person();</a:t>
            </a:r>
            <a:r>
              <a:rPr lang="ru-RU" dirty="0"/>
              <a:t> // Человек идет</a:t>
            </a:r>
          </a:p>
          <a:p>
            <a:r>
              <a:rPr lang="en-US" dirty="0" err="1"/>
              <a:t>DoAction</a:t>
            </a:r>
            <a:r>
              <a:rPr lang="en-US" dirty="0"/>
              <a:t>(person);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D15657C-12BA-4484-A46D-7D21D36D3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40317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8529BC-33B9-48D4-9CBC-94667FC52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по умолчанию: использование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7A038F-4041-4972-8CB4-9A3F33AA1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В случае, если в интерфейсе какой-либо метод реализован по умолчанию, то в классе, наследующем этот интерфейс, метод можно не реализовывать. Однако в таком случае доступ к данному методу будет у объекта только в том случае, если он будет помещен в переменную типа интерфейса, а не класса-наследника.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56848BC-03A0-4D51-8316-C0789B6C5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16247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10B781-BB23-4A7E-8EF5-C977CFCE4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1B29DE-0F80-4EA0-83CF-4FEE1C016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IMovable</a:t>
            </a:r>
            <a:r>
              <a:rPr lang="en-US" dirty="0"/>
              <a:t> tom = new Person();</a:t>
            </a:r>
            <a:endParaRPr lang="ru-RU" dirty="0"/>
          </a:p>
          <a:p>
            <a:r>
              <a:rPr lang="en-US" dirty="0"/>
              <a:t>Car tesla = new Car();</a:t>
            </a:r>
            <a:endParaRPr lang="ru-RU" dirty="0"/>
          </a:p>
          <a:p>
            <a:r>
              <a:rPr lang="en-US" dirty="0" err="1"/>
              <a:t>tom.Move</a:t>
            </a:r>
            <a:r>
              <a:rPr lang="en-US" dirty="0"/>
              <a:t>();     // Walking</a:t>
            </a:r>
            <a:endParaRPr lang="ru-RU" dirty="0"/>
          </a:p>
          <a:p>
            <a:r>
              <a:rPr lang="en-US" dirty="0" err="1"/>
              <a:t>tesla.Move</a:t>
            </a:r>
            <a:r>
              <a:rPr lang="en-US" dirty="0"/>
              <a:t>();   // Driving</a:t>
            </a:r>
            <a:endParaRPr lang="ru-RU" dirty="0"/>
          </a:p>
          <a:p>
            <a:r>
              <a:rPr lang="en-US" b="1" dirty="0"/>
              <a:t>Person tom</a:t>
            </a:r>
            <a:r>
              <a:rPr lang="ru-RU" b="1" dirty="0"/>
              <a:t>2</a:t>
            </a:r>
            <a:r>
              <a:rPr lang="en-US" b="1" dirty="0"/>
              <a:t> = new Person();</a:t>
            </a:r>
          </a:p>
          <a:p>
            <a:r>
              <a:rPr lang="en-US" b="1" dirty="0"/>
              <a:t>tom</a:t>
            </a:r>
            <a:r>
              <a:rPr lang="ru-RU" b="1" dirty="0"/>
              <a:t>2</a:t>
            </a:r>
            <a:r>
              <a:rPr lang="en-US" b="1" dirty="0"/>
              <a:t>.Move();     </a:t>
            </a:r>
            <a:r>
              <a:rPr lang="en-US" dirty="0"/>
              <a:t>// </a:t>
            </a:r>
            <a:r>
              <a:rPr lang="ru-RU" dirty="0"/>
              <a:t>Ошибка - метод </a:t>
            </a:r>
            <a:r>
              <a:rPr lang="en-US" dirty="0"/>
              <a:t>Move </a:t>
            </a:r>
            <a:r>
              <a:rPr lang="ru-RU" dirty="0"/>
              <a:t>не определен в классе </a:t>
            </a:r>
            <a:r>
              <a:rPr lang="en-US" dirty="0"/>
              <a:t>Person</a:t>
            </a:r>
            <a:endParaRPr lang="ru-RU" dirty="0"/>
          </a:p>
          <a:p>
            <a:endParaRPr lang="ru-RU" dirty="0"/>
          </a:p>
          <a:p>
            <a:r>
              <a:rPr lang="en-US" dirty="0"/>
              <a:t>interface </a:t>
            </a:r>
            <a:r>
              <a:rPr lang="en-US" dirty="0" err="1"/>
              <a:t>Imovable</a:t>
            </a:r>
            <a:endParaRPr lang="ru-RU" dirty="0"/>
          </a:p>
          <a:p>
            <a:r>
              <a:rPr lang="en-US" dirty="0"/>
              <a:t>{   </a:t>
            </a:r>
            <a:endParaRPr lang="ru-RU" dirty="0"/>
          </a:p>
          <a:p>
            <a:r>
              <a:rPr lang="en-US" dirty="0"/>
              <a:t>void Move() =&gt; </a:t>
            </a:r>
            <a:r>
              <a:rPr lang="en-US" dirty="0" err="1"/>
              <a:t>Console.WriteLine</a:t>
            </a:r>
            <a:r>
              <a:rPr lang="en-US" dirty="0"/>
              <a:t>("Walking");</a:t>
            </a:r>
            <a:endParaRPr lang="ru-RU" dirty="0"/>
          </a:p>
          <a:p>
            <a:r>
              <a:rPr lang="en-US" dirty="0"/>
              <a:t>}</a:t>
            </a:r>
            <a:endParaRPr lang="ru-RU" dirty="0"/>
          </a:p>
          <a:p>
            <a:r>
              <a:rPr lang="en-US" dirty="0"/>
              <a:t>class Person : </a:t>
            </a:r>
            <a:r>
              <a:rPr lang="en-US" dirty="0" err="1"/>
              <a:t>IMovable</a:t>
            </a:r>
            <a:r>
              <a:rPr lang="en-US" dirty="0"/>
              <a:t> { }</a:t>
            </a:r>
            <a:endParaRPr lang="ru-RU" dirty="0"/>
          </a:p>
          <a:p>
            <a:r>
              <a:rPr lang="en-US" dirty="0"/>
              <a:t>class Car : </a:t>
            </a:r>
            <a:r>
              <a:rPr lang="en-US" dirty="0" err="1"/>
              <a:t>IMovable</a:t>
            </a:r>
            <a:r>
              <a:rPr lang="en-US" dirty="0"/>
              <a:t>{    public void Move() =&gt; </a:t>
            </a:r>
            <a:r>
              <a:rPr lang="en-US" dirty="0" err="1"/>
              <a:t>Console.WriteLine</a:t>
            </a:r>
            <a:r>
              <a:rPr lang="en-US" dirty="0"/>
              <a:t>("Driving");}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A4016B2-7550-4EE5-A955-CEFA9BA12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06036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009A10-F5F6-4350-863E-FFD070DEE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Множественная реализация интерфейсов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CD140E-B24E-443F-8A68-0DCBEFFCD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Класс может реализовывать (наследовать) сколько угодно интерфейсов с </a:t>
            </a:r>
            <a:r>
              <a:rPr lang="en-US" dirty="0"/>
              <a:t>C#. </a:t>
            </a:r>
            <a:r>
              <a:rPr lang="ru-RU" dirty="0"/>
              <a:t>При этом если поместить объект класса в переменную определённого типа интерфейса, ей будут доступны только компоненты реализованные в данном интерфейсе.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7308B5B-2A3E-4FF0-B64F-674EA81EB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5905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0905FA-7CAD-4CCA-A961-F8F903390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866998-F8BD-4EB5-BF0C-285FC19E5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Autofit/>
          </a:bodyPr>
          <a:lstStyle/>
          <a:p>
            <a:r>
              <a:rPr lang="en-US" dirty="0"/>
              <a:t>Message hello = new Message("Hello World");</a:t>
            </a:r>
          </a:p>
          <a:p>
            <a:r>
              <a:rPr lang="en-US" dirty="0" err="1"/>
              <a:t>hello.Print</a:t>
            </a:r>
            <a:r>
              <a:rPr lang="en-US" dirty="0"/>
              <a:t>();  // Hello World</a:t>
            </a:r>
            <a:endParaRPr lang="ru-RU" dirty="0"/>
          </a:p>
          <a:p>
            <a:r>
              <a:rPr lang="en-US" dirty="0"/>
              <a:t>IMessage</a:t>
            </a:r>
            <a:r>
              <a:rPr lang="ru-RU" dirty="0"/>
              <a:t> </a:t>
            </a:r>
            <a:r>
              <a:rPr lang="en-US" dirty="0"/>
              <a:t>hello2  </a:t>
            </a:r>
            <a:r>
              <a:rPr lang="ru-RU"/>
              <a:t>= </a:t>
            </a:r>
            <a:r>
              <a:rPr lang="en-US"/>
              <a:t>new </a:t>
            </a:r>
            <a:r>
              <a:rPr lang="en-US" dirty="0"/>
              <a:t>Message("Hello World");</a:t>
            </a:r>
          </a:p>
          <a:p>
            <a:r>
              <a:rPr lang="en-US" dirty="0"/>
              <a:t>hello2.Print();  // </a:t>
            </a:r>
            <a:r>
              <a:rPr lang="ru-RU" dirty="0"/>
              <a:t>Ошибка, нет такого метода</a:t>
            </a:r>
            <a:endParaRPr lang="en-US" dirty="0"/>
          </a:p>
          <a:p>
            <a:r>
              <a:rPr lang="en-US" dirty="0"/>
              <a:t> </a:t>
            </a:r>
          </a:p>
          <a:p>
            <a:r>
              <a:rPr lang="en-US" dirty="0"/>
              <a:t>interface IMessage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string Text { get; set; }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interface </a:t>
            </a:r>
            <a:r>
              <a:rPr lang="en-US" dirty="0" err="1"/>
              <a:t>IPrintable</a:t>
            </a:r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    void Print();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class Message : IMessage, </a:t>
            </a:r>
            <a:r>
              <a:rPr lang="en-US" dirty="0" err="1"/>
              <a:t>IPrintable</a:t>
            </a:r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    public string Text { get; set; }</a:t>
            </a:r>
          </a:p>
          <a:p>
            <a:r>
              <a:rPr lang="en-US" dirty="0"/>
              <a:t>    public Message(string text) =&gt; Text = text;</a:t>
            </a:r>
          </a:p>
          <a:p>
            <a:r>
              <a:rPr lang="en-US" dirty="0"/>
              <a:t>    public void Print()=&gt; </a:t>
            </a:r>
            <a:r>
              <a:rPr lang="en-US" dirty="0" err="1"/>
              <a:t>Console.WriteLine</a:t>
            </a:r>
            <a:r>
              <a:rPr lang="en-US" dirty="0"/>
              <a:t>(Text);</a:t>
            </a:r>
          </a:p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E8D0EB1-7355-4B86-94F0-C07DDEF88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0663845"/>
      </p:ext>
    </p:extLst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A2E40"/>
      </a:dk2>
      <a:lt2>
        <a:srgbClr val="EBE7DD"/>
      </a:lt2>
      <a:accent1>
        <a:srgbClr val="69A1AB"/>
      </a:accent1>
      <a:accent2>
        <a:srgbClr val="F2C418"/>
      </a:accent2>
      <a:accent3>
        <a:srgbClr val="87492C"/>
      </a:accent3>
      <a:accent4>
        <a:srgbClr val="4A845E"/>
      </a:accent4>
      <a:accent5>
        <a:srgbClr val="DC9528"/>
      </a:accent5>
      <a:accent6>
        <a:srgbClr val="9A5D78"/>
      </a:accent6>
      <a:hlink>
        <a:srgbClr val="66C8E3"/>
      </a:hlink>
      <a:folHlink>
        <a:srgbClr val="B162A1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17F9D331-421E-442F-B033-AF5B21A4485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216</TotalTime>
  <Words>1732</Words>
  <Application>Microsoft Office PowerPoint</Application>
  <PresentationFormat>Широкоэкранный</PresentationFormat>
  <Paragraphs>259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2" baseType="lpstr">
      <vt:lpstr>Calibri</vt:lpstr>
      <vt:lpstr>Franklin Gothic Book</vt:lpstr>
      <vt:lpstr>Georgia</vt:lpstr>
      <vt:lpstr>Wingdings</vt:lpstr>
      <vt:lpstr>Уголки</vt:lpstr>
      <vt:lpstr>Лекция 6    Кортежи. Делегаты. Интерфейсы.</vt:lpstr>
      <vt:lpstr>Кортежи</vt:lpstr>
      <vt:lpstr>Пример</vt:lpstr>
      <vt:lpstr>Способы инициализации кортежей</vt:lpstr>
      <vt:lpstr>Именование полей кортежа</vt:lpstr>
      <vt:lpstr>Декомпозиция кортежа</vt:lpstr>
      <vt:lpstr>Кортеж как результат метода</vt:lpstr>
      <vt:lpstr>Презентация PowerPoint</vt:lpstr>
      <vt:lpstr>Кортеж как параметр метода</vt:lpstr>
      <vt:lpstr>Делегаты</vt:lpstr>
      <vt:lpstr>Использование делегата</vt:lpstr>
      <vt:lpstr>Добавление методов в делегат</vt:lpstr>
      <vt:lpstr>Удаление метода из делегата</vt:lpstr>
      <vt:lpstr>Вызов делегата</vt:lpstr>
      <vt:lpstr>Делегаты как параметры методов</vt:lpstr>
      <vt:lpstr>Интерфейсы</vt:lpstr>
      <vt:lpstr>Определение интерфейса</vt:lpstr>
      <vt:lpstr>Пример</vt:lpstr>
      <vt:lpstr>Реализация по умолчанию</vt:lpstr>
      <vt:lpstr>Модификаторы доступа</vt:lpstr>
      <vt:lpstr>Применение интерфейсов</vt:lpstr>
      <vt:lpstr>Презентация PowerPoint</vt:lpstr>
      <vt:lpstr>Вызов метода интерфейса в объекте: примеры</vt:lpstr>
      <vt:lpstr>Реализация по умолчанию: использование</vt:lpstr>
      <vt:lpstr>Презентация PowerPoint</vt:lpstr>
      <vt:lpstr>Множественная реализация интерфейсов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…    Заголовок</dc:title>
  <dc:creator>Лилия Челищева</dc:creator>
  <cp:lastModifiedBy>Лилия Челищева</cp:lastModifiedBy>
  <cp:revision>16</cp:revision>
  <dcterms:created xsi:type="dcterms:W3CDTF">2023-09-01T22:02:12Z</dcterms:created>
  <dcterms:modified xsi:type="dcterms:W3CDTF">2025-02-13T06:59:43Z</dcterms:modified>
</cp:coreProperties>
</file>