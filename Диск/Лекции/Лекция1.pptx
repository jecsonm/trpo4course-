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38"/>
  </p:notesMasterIdLst>
  <p:sldIdLst>
    <p:sldId id="256" r:id="rId2"/>
    <p:sldId id="258" r:id="rId3"/>
    <p:sldId id="257" r:id="rId4"/>
    <p:sldId id="259" r:id="rId5"/>
    <p:sldId id="260" r:id="rId6"/>
    <p:sldId id="319" r:id="rId7"/>
    <p:sldId id="261" r:id="rId8"/>
    <p:sldId id="262" r:id="rId9"/>
    <p:sldId id="265" r:id="rId10"/>
    <p:sldId id="263" r:id="rId11"/>
    <p:sldId id="264" r:id="rId12"/>
    <p:sldId id="266" r:id="rId13"/>
    <p:sldId id="267" r:id="rId14"/>
    <p:sldId id="268" r:id="rId15"/>
    <p:sldId id="269" r:id="rId16"/>
    <p:sldId id="290" r:id="rId17"/>
    <p:sldId id="271" r:id="rId18"/>
    <p:sldId id="272" r:id="rId19"/>
    <p:sldId id="273" r:id="rId20"/>
    <p:sldId id="274" r:id="rId21"/>
    <p:sldId id="275" r:id="rId22"/>
    <p:sldId id="289" r:id="rId23"/>
    <p:sldId id="288" r:id="rId24"/>
    <p:sldId id="291" r:id="rId25"/>
    <p:sldId id="292" r:id="rId26"/>
    <p:sldId id="300" r:id="rId27"/>
    <p:sldId id="301" r:id="rId28"/>
    <p:sldId id="294" r:id="rId29"/>
    <p:sldId id="298" r:id="rId30"/>
    <p:sldId id="299" r:id="rId31"/>
    <p:sldId id="308" r:id="rId32"/>
    <p:sldId id="295" r:id="rId33"/>
    <p:sldId id="302" r:id="rId34"/>
    <p:sldId id="307" r:id="rId35"/>
    <p:sldId id="309" r:id="rId36"/>
    <p:sldId id="318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562CA5D9-349A-497F-A347-3B2188DFB886}" type="datetime1">
              <a:rPr lang="ru-RU" smtClean="0"/>
              <a:t>08.09.2025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29DBA-8F22-4541-8D0A-CBFA93050BE9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7B57087-1D55-4E3A-9C18-E1E47668FD54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724B-6377-44FC-B3AA-97B7F25F8F73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016F2-6802-4109-B540-201357C97804}" type="datetime1">
              <a:rPr lang="ru-RU" smtClean="0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3FA8-A9C0-435F-A5D9-FFED199506F6}" type="datetime1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52E8-0171-4B5F-8EAB-8D31209D623B}" type="datetime1">
              <a:rPr lang="ru-RU" smtClean="0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899A5F-F96E-4E53-8A45-4DDDC80CE66A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CE411C-DC80-4FF3-AB08-2AD0F86248B5}" type="datetime1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FAD68-6B9B-44C1-958F-92DBAF32AA94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12F98-F8F4-4E02-8C90-AC0D5370B2EB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58833"/>
            <a:ext cx="9601200" cy="4702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776F6B25-5870-4150-AEB5-40530EC10A26}" type="datetime1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clck.ru/3Nxkr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clck.ru/3Nxku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7" y="1876814"/>
            <a:ext cx="8361229" cy="2098226"/>
          </a:xfrm>
        </p:spPr>
        <p:txBody>
          <a:bodyPr/>
          <a:lstStyle/>
          <a:p>
            <a:r>
              <a:rPr lang="ru-RU" sz="4800" dirty="0"/>
              <a:t>Лекция 1  </a:t>
            </a:r>
            <a:br>
              <a:rPr lang="ru-RU" sz="4800" dirty="0"/>
            </a:br>
            <a:r>
              <a:rPr lang="ru-RU" sz="4800" dirty="0"/>
              <a:t> Введение в ТРПО.</a:t>
            </a:r>
            <a:br>
              <a:rPr lang="ru-RU" sz="5400" dirty="0"/>
            </a:br>
            <a:r>
              <a:rPr lang="ru-RU" sz="4800" dirty="0"/>
              <a:t>Жизненный цикл и модели разработки ПО – часть 1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599" y="685800"/>
            <a:ext cx="10081491" cy="1429327"/>
          </a:xfrm>
        </p:spPr>
        <p:txBody>
          <a:bodyPr>
            <a:noAutofit/>
          </a:bodyPr>
          <a:lstStyle/>
          <a:p>
            <a:r>
              <a:rPr lang="ru-RU" dirty="0"/>
              <a:t>Преподаватель:</a:t>
            </a:r>
            <a:br>
              <a:rPr lang="ru-RU" dirty="0"/>
            </a:br>
            <a:r>
              <a:rPr lang="ru-RU" dirty="0"/>
              <a:t>Челищева Лилия Дмитриевна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2244436"/>
            <a:ext cx="9601200" cy="4016664"/>
          </a:xfrm>
        </p:spPr>
        <p:txBody>
          <a:bodyPr>
            <a:normAutofit/>
          </a:bodyPr>
          <a:lstStyle/>
          <a:p>
            <a:r>
              <a:rPr lang="en-US" sz="3200" dirty="0"/>
              <a:t>+7 981 858 43 83</a:t>
            </a:r>
            <a:r>
              <a:rPr lang="ru-RU" sz="3200" dirty="0"/>
              <a:t> (</a:t>
            </a:r>
            <a:r>
              <a:rPr lang="en-US" sz="3200" dirty="0"/>
              <a:t>WhatsApp, </a:t>
            </a:r>
            <a:r>
              <a:rPr lang="ru-RU" sz="3200" dirty="0"/>
              <a:t>Телеграм)</a:t>
            </a:r>
            <a:endParaRPr lang="en-US" sz="3200" dirty="0"/>
          </a:p>
          <a:p>
            <a:r>
              <a:rPr lang="en-US" sz="3200" dirty="0">
                <a:solidFill>
                  <a:schemeClr val="tx1"/>
                </a:solidFill>
              </a:rPr>
              <a:t>CHELLILDMIT@YANDEX.RU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9E968F-22AB-2A4D-8EF9-EEA7612D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207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учебный год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2 семестра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Часть модуля ПМ 02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Зачет = допуск к экзамену по модулю (должны быть допущены по всем предметам модуля!!!)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Должны быть сданы хотя бы на 3 все лабораторные работы и курсовой проект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Оценка за зачет – средняя по л/р + КП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Контрольных/тестов пока не планируется, но все может поменяться</a:t>
            </a:r>
          </a:p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C6CF5-CA0F-5473-8957-F069B8E9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о правилах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B171A-CEC0-E857-E9E4-E13D40B2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8833"/>
            <a:ext cx="9601200" cy="522045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НБ</a:t>
            </a:r>
            <a:r>
              <a:rPr lang="en-US" dirty="0"/>
              <a:t> </a:t>
            </a:r>
            <a:r>
              <a:rPr lang="ru-RU" dirty="0"/>
              <a:t>ставятся через 15 минут после начала пары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В журнале должно быть место для всех оценок, так что должны быть ячейки без НБ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Больше 2 НБ подряд (исключая л/р, которые сдали заранее) – попадете в докладную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Пропуск лекции = большая вероятность, что спрошу по теме лекции/лабы при сдаче лаб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Пропуск л/р = удачи с дедлайнами. Л/р сдаются только очно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Болезнь со справкой – уважительная причина пропуска и отсрочки по дедлайнам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Работа – нет. Прогуливаете – сдавайте л/р заранее (на парах для лаб)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u="sng" dirty="0"/>
              <a:t>Серьезной</a:t>
            </a:r>
            <a:r>
              <a:rPr lang="ru-RU" dirty="0"/>
              <a:t> проблемой является то, что на паре менее половины группы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B77D7F-73E1-C448-0F2A-78F0151D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90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831AE-E4C8-FF8D-833C-43A85BC1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Общий диск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4624A3-084C-9FAA-58AB-54DB24252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545" y="1558833"/>
            <a:ext cx="5671128" cy="4537167"/>
          </a:xfrm>
        </p:spPr>
        <p:txBody>
          <a:bodyPr>
            <a:normAutofit/>
          </a:bodyPr>
          <a:lstStyle/>
          <a:p>
            <a:r>
              <a:rPr lang="ru-RU" dirty="0"/>
              <a:t>Будет содержать электронный журнал, лекции, л/р, материалы по курсовой</a:t>
            </a:r>
          </a:p>
          <a:p>
            <a:endParaRPr lang="en-US" dirty="0"/>
          </a:p>
          <a:p>
            <a:endParaRPr lang="ru-RU" dirty="0"/>
          </a:p>
          <a:p>
            <a:r>
              <a:rPr lang="en-US" sz="4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https://clck.ru/3Nxkrf</a:t>
            </a:r>
            <a:endParaRPr lang="ru-RU" sz="4000" dirty="0">
              <a:solidFill>
                <a:schemeClr val="tx1"/>
              </a:solidFill>
            </a:endParaRPr>
          </a:p>
          <a:p>
            <a:endParaRPr lang="ru-RU" sz="4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E9E8F6-6D9D-08EA-AFDA-B6A8A12A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069094-450D-319A-2EE0-8EA274673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531" y="762000"/>
            <a:ext cx="51149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5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2427-CBEC-853F-DE86-04993221A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B6C93-4956-596A-145A-B8AF28C4D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темы КП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345EF6-9462-2C9D-8932-3032DE0DB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545" y="1558833"/>
            <a:ext cx="5671128" cy="4537167"/>
          </a:xfrm>
        </p:spPr>
        <p:txBody>
          <a:bodyPr>
            <a:normAutofit/>
          </a:bodyPr>
          <a:lstStyle/>
          <a:p>
            <a:r>
              <a:rPr lang="ru-RU" dirty="0"/>
              <a:t>Описание тем лежит в папке КП на общем диске.</a:t>
            </a:r>
          </a:p>
          <a:p>
            <a:r>
              <a:rPr lang="ru-RU" dirty="0"/>
              <a:t>ЭТОТ ФАЙЛ ТОЖЕ</a:t>
            </a:r>
          </a:p>
          <a:p>
            <a:endParaRPr lang="en-US" dirty="0"/>
          </a:p>
          <a:p>
            <a:endParaRPr lang="ru-RU" dirty="0"/>
          </a:p>
          <a:p>
            <a:r>
              <a:rPr lang="en-US" sz="4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https://clck.ru/3NxkuP</a:t>
            </a:r>
            <a:endParaRPr lang="ru-RU" sz="4000" dirty="0">
              <a:solidFill>
                <a:schemeClr val="tx1"/>
              </a:solidFill>
            </a:endParaRPr>
          </a:p>
          <a:p>
            <a:endParaRPr lang="ru-RU" sz="4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DBBC01-8B36-966A-7D26-5F0F552B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B509F8-991D-C075-F920-DABA7C702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673" y="871537"/>
            <a:ext cx="511492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2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</p:spPr>
        <p:txBody>
          <a:bodyPr/>
          <a:lstStyle/>
          <a:p>
            <a:r>
              <a:rPr lang="ru-RU" dirty="0"/>
              <a:t>1. Введение в ТРПО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58925"/>
            <a:ext cx="9601200" cy="4929798"/>
          </a:xfrm>
        </p:spPr>
        <p:txBody>
          <a:bodyPr>
            <a:noAutofit/>
          </a:bodyPr>
          <a:lstStyle/>
          <a:p>
            <a:r>
              <a:rPr lang="ru-RU" b="1" dirty="0"/>
              <a:t>Технология разработки программного обеспечения</a:t>
            </a:r>
            <a:r>
              <a:rPr lang="ru-RU" dirty="0"/>
              <a:t> – это совокупность процессов и методов создания программного продукта</a:t>
            </a:r>
          </a:p>
          <a:p>
            <a:r>
              <a:rPr lang="ru-RU" b="1" dirty="0"/>
              <a:t>Технология разработки программного обеспечения</a:t>
            </a:r>
            <a:r>
              <a:rPr lang="ru-RU" dirty="0"/>
              <a:t> – это система инженерных принципов для создания экономичного ПО, которое надежно и эффективно работает в реальных компьютерах. Данное определение имеет частный характер, поскольку учитывает только две из шести характеристик качества ПО – надежность и эффективность</a:t>
            </a:r>
          </a:p>
          <a:p>
            <a:r>
              <a:rPr lang="ru-RU" b="1" dirty="0"/>
              <a:t>Технология разработки программного обеспечения </a:t>
            </a:r>
            <a:r>
              <a:rPr lang="ru-RU" dirty="0"/>
              <a:t>– это система инженерных принципов для создания экономичного ПО с заданными характеристиками качества. </a:t>
            </a:r>
          </a:p>
          <a:p>
            <a:endParaRPr lang="ru-RU" i="1" dirty="0"/>
          </a:p>
          <a:p>
            <a:r>
              <a:rPr lang="ru-RU" i="1" dirty="0"/>
              <a:t>Сегодня любая отрасль неизбежно связана с индустрией программного обеспечения, поэтому пути ее развития на ближайшее будущее в той или иной степени касаются всех.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95F977-9625-0FBB-8AF3-E7C84DFC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70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Основные понятия, термины и </a:t>
            </a:r>
            <a:r>
              <a:rPr lang="ru-RU" sz="3600" dirty="0"/>
              <a:t>определения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032"/>
          </a:xfrm>
        </p:spPr>
        <p:txBody>
          <a:bodyPr>
            <a:normAutofit/>
          </a:bodyPr>
          <a:lstStyle/>
          <a:p>
            <a:r>
              <a:rPr lang="ru-RU" b="1" dirty="0"/>
              <a:t>Программа</a:t>
            </a:r>
            <a:r>
              <a:rPr lang="ru-RU" dirty="0"/>
              <a:t> </a:t>
            </a:r>
            <a:r>
              <a:rPr lang="ru-RU" i="1" dirty="0"/>
              <a:t>(</a:t>
            </a:r>
            <a:r>
              <a:rPr lang="ru-RU" i="1" dirty="0" err="1"/>
              <a:t>program</a:t>
            </a:r>
            <a:r>
              <a:rPr lang="ru-RU" i="1" dirty="0"/>
              <a:t>, </a:t>
            </a:r>
            <a:r>
              <a:rPr lang="ru-RU" i="1" dirty="0" err="1"/>
              <a:t>routine</a:t>
            </a:r>
            <a:r>
              <a:rPr lang="ru-RU" i="1" dirty="0"/>
              <a:t>) -</a:t>
            </a:r>
            <a:r>
              <a:rPr lang="ru-RU" dirty="0"/>
              <a:t> упорядоченная последовательность команд (инструкций) компьютера для решения задачи.</a:t>
            </a:r>
          </a:p>
          <a:p>
            <a:r>
              <a:rPr lang="ru-RU" b="1" dirty="0"/>
              <a:t>Приложение</a:t>
            </a:r>
            <a:r>
              <a:rPr lang="ru-RU" dirty="0"/>
              <a:t> </a:t>
            </a:r>
            <a:r>
              <a:rPr lang="ru-RU" i="1" dirty="0"/>
              <a:t>(</a:t>
            </a:r>
            <a:r>
              <a:rPr lang="ru-RU" i="1" dirty="0" err="1"/>
              <a:t>application</a:t>
            </a:r>
            <a:r>
              <a:rPr lang="ru-RU" i="1" dirty="0"/>
              <a:t>)</a:t>
            </a:r>
            <a:r>
              <a:rPr lang="ru-RU" dirty="0"/>
              <a:t> - программная реализация на компьютере решения задачи.</a:t>
            </a:r>
          </a:p>
          <a:p>
            <a:r>
              <a:rPr lang="ru-RU" b="1" dirty="0"/>
              <a:t>Предметная/прикладная область</a:t>
            </a:r>
            <a:r>
              <a:rPr lang="ru-RU" dirty="0"/>
              <a:t> </a:t>
            </a:r>
            <a:r>
              <a:rPr lang="ru-RU" i="1" dirty="0"/>
              <a:t>(</a:t>
            </a:r>
            <a:r>
              <a:rPr lang="ru-RU" i="1" dirty="0" err="1"/>
              <a:t>application</a:t>
            </a:r>
            <a:r>
              <a:rPr lang="ru-RU" i="1" dirty="0"/>
              <a:t> </a:t>
            </a:r>
            <a:r>
              <a:rPr lang="ru-RU" i="1" dirty="0" err="1"/>
              <a:t>domain</a:t>
            </a:r>
            <a:r>
              <a:rPr lang="ru-RU" i="1" dirty="0"/>
              <a:t>) -</a:t>
            </a:r>
            <a:r>
              <a:rPr lang="ru-RU" dirty="0"/>
              <a:t> совокупность связанных между собой функций, задач управления, с помощью которых достигается выполнение поставленных целей.</a:t>
            </a:r>
            <a:endParaRPr lang="ru-RU" b="1" dirty="0"/>
          </a:p>
          <a:p>
            <a:pPr fontAlgn="base"/>
            <a:r>
              <a:rPr lang="ru-RU" b="1" dirty="0"/>
              <a:t>Пакет прикладных программ</a:t>
            </a:r>
            <a:r>
              <a:rPr lang="ru-RU" dirty="0"/>
              <a:t> — это система программ, предназначенных для решения задач определенного класса.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DE0E6F-A123-A416-081D-23EDD150B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85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Основные понятия, термины и </a:t>
            </a:r>
            <a:r>
              <a:rPr lang="ru-RU" sz="3600" dirty="0"/>
              <a:t>определения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032"/>
          </a:xfrm>
        </p:spPr>
        <p:txBody>
          <a:bodyPr>
            <a:normAutofit/>
          </a:bodyPr>
          <a:lstStyle/>
          <a:p>
            <a:r>
              <a:rPr lang="ru-RU" b="1" dirty="0"/>
              <a:t>Программный модуль </a:t>
            </a:r>
            <a:r>
              <a:rPr lang="ru-RU" dirty="0"/>
              <a:t>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) – отдельно компилируемая часть программного кода (программы).</a:t>
            </a:r>
          </a:p>
          <a:p>
            <a:r>
              <a:rPr lang="ru-RU" b="1" dirty="0"/>
              <a:t>Программный продукт </a:t>
            </a:r>
            <a:r>
              <a:rPr lang="ru-RU" dirty="0"/>
              <a:t>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product</a:t>
            </a:r>
            <a:r>
              <a:rPr lang="ru-RU" dirty="0"/>
              <a:t>) – набор компьютерных программ, процедур, а также связанных с ними документации и данных. Продукты включают промежуточные продукты и продукты, предназначенные для пользователей типа разработчиков и персонала сопровождения.</a:t>
            </a:r>
          </a:p>
          <a:p>
            <a:r>
              <a:rPr lang="ru-RU" b="1" dirty="0"/>
              <a:t>Система</a:t>
            </a:r>
            <a:r>
              <a:rPr lang="ru-RU" dirty="0"/>
              <a:t> (</a:t>
            </a:r>
            <a:r>
              <a:rPr lang="ru-RU" dirty="0" err="1"/>
              <a:t>system</a:t>
            </a:r>
            <a:r>
              <a:rPr lang="ru-RU" dirty="0"/>
              <a:t>) – комплекс, состоящий из процессов, технических и программных средств, устройств и персонала, обладающий возможностью удовлетворять установленным потребностям или целям.</a:t>
            </a:r>
          </a:p>
          <a:p>
            <a:r>
              <a:rPr lang="ru-RU" b="1" dirty="0"/>
              <a:t>Нотация</a:t>
            </a:r>
            <a:r>
              <a:rPr lang="ru-RU" dirty="0"/>
              <a:t> (</a:t>
            </a:r>
            <a:r>
              <a:rPr lang="ru-RU" dirty="0" err="1"/>
              <a:t>notation</a:t>
            </a:r>
            <a:r>
              <a:rPr lang="ru-RU" dirty="0"/>
              <a:t>) – система графических обозначений для записи промежуточных и конечного результатов разработки ПС (в том числе предметной области, требований, результатов проектирования и т.п.).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A99EC9-66E8-76A5-FD23-68F7E7CE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48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Основные понятия, термины и определения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b="1" dirty="0"/>
              <a:t>Информационная система</a:t>
            </a:r>
            <a:r>
              <a:rPr lang="ru-RU" dirty="0"/>
              <a:t> — взаимосвязанная совокупность средств, методов и персонала, используемых для хранения, обработки и выдачи информации в интересах достижения поставленной цели, т.е. ПО может являться частью информационной системы.</a:t>
            </a:r>
          </a:p>
          <a:p>
            <a:pPr fontAlgn="base"/>
            <a:r>
              <a:rPr lang="ru-RU" b="1" dirty="0"/>
              <a:t>Автоматизированная система</a:t>
            </a:r>
            <a:r>
              <a:rPr lang="ru-RU" dirty="0"/>
              <a:t> (АС) — совокупность программных и аппаратных средств, предназначенных для автоматизации процесса деятельности человека, т.е. </a:t>
            </a:r>
            <a:r>
              <a:rPr lang="ru-RU"/>
              <a:t>ПО может являться частью информационной системы.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94362A-196B-FE52-68B8-9162974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78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5F70F-F012-D293-D66E-6F9BC74E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Основные понятия, термины и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67CB0-4FEB-06E5-8BF4-BE001D57B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ru-RU" b="1" dirty="0"/>
              <a:t>Задача</a:t>
            </a:r>
            <a:r>
              <a:rPr lang="ru-RU" dirty="0"/>
              <a:t> </a:t>
            </a:r>
            <a:r>
              <a:rPr lang="ru-RU" i="1" dirty="0"/>
              <a:t>(</a:t>
            </a:r>
            <a:r>
              <a:rPr lang="ru-RU" i="1" dirty="0" err="1"/>
              <a:t>problem</a:t>
            </a:r>
            <a:r>
              <a:rPr lang="ru-RU" i="1" dirty="0"/>
              <a:t>, </a:t>
            </a:r>
            <a:r>
              <a:rPr lang="ru-RU" i="1" dirty="0" err="1"/>
              <a:t>task</a:t>
            </a:r>
            <a:r>
              <a:rPr lang="ru-RU" i="1" dirty="0"/>
              <a:t>) -</a:t>
            </a:r>
            <a:r>
              <a:rPr lang="ru-RU" dirty="0"/>
              <a:t> проблема, подлежащая решению. Два класса задач: </a:t>
            </a:r>
            <a:r>
              <a:rPr lang="ru-RU" i="1" dirty="0"/>
              <a:t>технологические и функциональные</a:t>
            </a:r>
            <a:r>
              <a:rPr lang="ru-RU" dirty="0"/>
              <a:t>.</a:t>
            </a:r>
          </a:p>
          <a:p>
            <a:pPr fontAlgn="base"/>
            <a:r>
              <a:rPr lang="ru-RU" b="1" dirty="0"/>
              <a:t>Технологические задачи</a:t>
            </a:r>
            <a:r>
              <a:rPr lang="ru-RU" dirty="0"/>
              <a:t> ставятся и решаются при организации технологического процесса обработки информации на компьютере.</a:t>
            </a:r>
          </a:p>
          <a:p>
            <a:pPr fontAlgn="base"/>
            <a:r>
              <a:rPr lang="ru-RU" i="1" dirty="0"/>
              <a:t>Технологические задачи являются основой для разработки сервисных средств ПО в виде утилит, сервисных программ, библиотек процедур, применяемых для обеспечения работоспособности компьютера, разработки других программ или обработки данных функциональных задач.</a:t>
            </a:r>
          </a:p>
          <a:p>
            <a:pPr fontAlgn="base"/>
            <a:r>
              <a:rPr lang="ru-RU" b="1" dirty="0"/>
              <a:t>Функциональные задачи</a:t>
            </a:r>
            <a:r>
              <a:rPr lang="ru-RU" dirty="0"/>
              <a:t> требуют решения при реализации функций управления в рамках информационных систем предметных областей, </a:t>
            </a:r>
            <a:r>
              <a:rPr lang="ru-RU" i="1" dirty="0"/>
              <a:t>например</a:t>
            </a:r>
            <a:r>
              <a:rPr lang="ru-RU" dirty="0"/>
              <a:t>, управление деятельностью торгового предприятия, планирование выпуска продукции, управление перевозкой грузов и т.п.</a:t>
            </a:r>
          </a:p>
          <a:p>
            <a:pPr fontAlgn="base"/>
            <a:r>
              <a:rPr lang="ru-RU" i="1" dirty="0"/>
              <a:t>Функциональные задачи в совокупности образуют предметную область и полностью определяют ее специфику</a:t>
            </a:r>
            <a:r>
              <a:rPr lang="en-US" i="1" dirty="0"/>
              <a:t>.</a:t>
            </a:r>
            <a:endParaRPr lang="ru-RU" i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826F87-83DC-9736-BBAD-CF7B412C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104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5F70F-F012-D293-D66E-6F9BC74E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Основные понятия, термины и определения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D67CB0-4FEB-06E5-8BF4-BE001D57B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b="1" dirty="0"/>
              <a:t>База данных (БД) </a:t>
            </a:r>
            <a:r>
              <a:rPr lang="ru-RU" sz="2000" dirty="0"/>
              <a:t>– поименованная совокупность структурированных данных, относящихся к определённой предметной области и хранящихся в памяти компьютера.</a:t>
            </a:r>
          </a:p>
          <a:p>
            <a:r>
              <a:rPr lang="ru-RU" i="1" dirty="0"/>
              <a:t>или</a:t>
            </a:r>
            <a:endParaRPr lang="ru-RU" sz="2000" i="1" dirty="0"/>
          </a:p>
          <a:p>
            <a:r>
              <a:rPr lang="ru-RU" sz="2000" b="1" dirty="0"/>
              <a:t>База данных (БД) </a:t>
            </a:r>
            <a:r>
              <a:rPr lang="ru-RU" sz="2000" dirty="0"/>
              <a:t>– это информационная модель, позволяющая в упорядоченном виде хранить данные о группе объектов, обладающих одинаковым набором свойств.</a:t>
            </a:r>
          </a:p>
          <a:p>
            <a:r>
              <a:rPr lang="ru-RU" b="1" dirty="0"/>
              <a:t>Система управления базами данных (СУБД)</a:t>
            </a:r>
            <a:r>
              <a:rPr lang="ru-RU" dirty="0"/>
              <a:t> – это совокупность языковых и программных средств, предназначенных для создания, ведения и совместного использования БД многими пользователями.</a:t>
            </a:r>
          </a:p>
          <a:p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826F87-83DC-9736-BBAD-CF7B412C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94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Программное обеспечение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Программное обеспечение </a:t>
            </a:r>
            <a:r>
              <a:rPr lang="ru-RU" dirty="0"/>
              <a:t>(ПО) — все или часть программ, процедур, правил и соответствующей документации системы обработки информации (ISO/IEC 2382-1:1993)</a:t>
            </a:r>
          </a:p>
          <a:p>
            <a:endParaRPr lang="ru-RU" dirty="0"/>
          </a:p>
          <a:p>
            <a:r>
              <a:rPr lang="ru-RU" i="1" dirty="0"/>
              <a:t>Другие определения из международных и российских стандартов:</a:t>
            </a:r>
          </a:p>
          <a:p>
            <a:r>
              <a:rPr lang="ru-RU" i="1" dirty="0"/>
              <a:t>Компьютерные программы, процедуры и, возможно, соответствующая документация и данные, относящиеся к функционированию компьютерной системы (IEEE </a:t>
            </a:r>
            <a:r>
              <a:rPr lang="ru-RU" i="1" dirty="0" err="1"/>
              <a:t>Std</a:t>
            </a:r>
            <a:r>
              <a:rPr lang="ru-RU" i="1" dirty="0"/>
              <a:t> 829—2008).</a:t>
            </a:r>
          </a:p>
          <a:p>
            <a:r>
              <a:rPr lang="ru-RU" i="1" dirty="0"/>
              <a:t>Программа или множество программ, используемых для управления компьютером (IEEE </a:t>
            </a:r>
            <a:r>
              <a:rPr lang="ru-RU" i="1" dirty="0" err="1"/>
              <a:t>Std</a:t>
            </a:r>
            <a:r>
              <a:rPr lang="ru-RU" i="1" dirty="0"/>
              <a:t> 829—2008).</a:t>
            </a:r>
          </a:p>
          <a:p>
            <a:r>
              <a:rPr lang="ru-RU" i="1" dirty="0"/>
              <a:t>Совокупность программ системы обработки информации и программных документов, необходимых для эксплуатации этих программ (ГОСТ 19781-90).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E94504-F5A5-22EC-66D3-4EADF584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90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393105" cy="1450757"/>
          </a:xfrm>
        </p:spPr>
        <p:txBody>
          <a:bodyPr>
            <a:normAutofit/>
          </a:bodyPr>
          <a:lstStyle/>
          <a:p>
            <a:r>
              <a:rPr lang="ru-RU" sz="3200" dirty="0"/>
              <a:t>Классификация ПО</a:t>
            </a:r>
            <a:br>
              <a:rPr lang="ru-RU" sz="3200" dirty="0"/>
            </a:br>
            <a:r>
              <a:rPr lang="ru-RU" sz="3200" dirty="0" err="1"/>
              <a:t>по</a:t>
            </a:r>
            <a:r>
              <a:rPr lang="ru-RU" sz="3200" dirty="0"/>
              <a:t> функциональному назначению</a:t>
            </a:r>
          </a:p>
        </p:txBody>
      </p:sp>
      <p:pic>
        <p:nvPicPr>
          <p:cNvPr id="6" name="Объект 5" descr="Структура и назначение программного обеспечения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11922"/>
            <a:ext cx="5576598" cy="40554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1097279" y="1811923"/>
            <a:ext cx="4998721" cy="405547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Системное ПО</a:t>
            </a:r>
            <a:r>
              <a:rPr lang="ru-RU" dirty="0"/>
              <a:t>, в состав которого входят операционная система, трансляторы языков и обслуживающие программы, управляет доступом к аппаратному обеспечению.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b="1" dirty="0"/>
              <a:t>Прикладное ПО</a:t>
            </a:r>
            <a:r>
              <a:rPr lang="ru-RU" dirty="0"/>
              <a:t>, такое как языки программирования и различные пользовательские приложения, работает с аппаратным обеспечением через слой системного ПО.</a:t>
            </a:r>
          </a:p>
          <a:p>
            <a:r>
              <a:rPr lang="ru-RU" i="1" dirty="0"/>
              <a:t>Пользователи, в свою очередь, взаимодействуют с прикладным программным обеспечением.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43B0E3-6271-6F98-B3E2-9CA109F0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0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</p:spPr>
        <p:txBody>
          <a:bodyPr>
            <a:noAutofit/>
          </a:bodyPr>
          <a:lstStyle/>
          <a:p>
            <a:r>
              <a:rPr lang="ru-RU" sz="3600" dirty="0"/>
              <a:t>Классификация ПО </a:t>
            </a:r>
            <a:r>
              <a:rPr lang="ru-RU" sz="3600" dirty="0" err="1"/>
              <a:t>по</a:t>
            </a:r>
            <a:r>
              <a:rPr lang="ru-RU" sz="3600" dirty="0"/>
              <a:t> сфере применения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71600" y="1505527"/>
            <a:ext cx="4881418" cy="436187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Сферы: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аппаратная часть автономных компьютеров и сетей ЭВМ;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функциональные задачи различных предметных областей;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технология разработки программ.</a:t>
            </a:r>
          </a:p>
          <a:p>
            <a:endParaRPr lang="ru-RU" dirty="0"/>
          </a:p>
          <a:p>
            <a:r>
              <a:rPr lang="ru-RU" dirty="0"/>
              <a:t>Классы ПО: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системное программное обеспечение;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прикладное программное обеспечение;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инструментальное программное обеспечение.</a:t>
            </a:r>
          </a:p>
        </p:txBody>
      </p:sp>
      <p:pic>
        <p:nvPicPr>
          <p:cNvPr id="5" name="Объект 6" descr="Классы программных продуктов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705380"/>
            <a:ext cx="5588866" cy="3845675"/>
          </a:xfr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37EA016-1937-88FC-7626-4FDDFBCA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019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1B46AF10-5984-EFF3-A4C5-F9964A53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программирования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6C2CAD7-9A95-E990-4F02-9B6AC417B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Язык программирования – формализованный язык для описания алгоритма решения задачи на компьютере. ЯП делятся на классы: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машинные языки – языки программирования, воспринимаемые аппаратной частью компьютера (машинные коды);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машинно-ориентированные языки – языки программирования, которые отражают структуру конкретного типа компьютера (ассемблеры);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алгоритмические языки – не зависящие от архитектуры компьютера языки программирования для отражения структуры алгоритма (Паскаль, бейсик, Фортран и др.);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процедурно–ориентированные языки – языки программирования, где имеется возможность описания программы как совокупности процедур (подпрограмм).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объективно-ориентированные языки – языки программирования, построенные на принципах ООП.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проблемно–ориентированные языки – предназначены для решения задач определенного класса (</a:t>
            </a:r>
            <a:r>
              <a:rPr lang="ru-RU" dirty="0" err="1"/>
              <a:t>Lisp</a:t>
            </a:r>
            <a:r>
              <a:rPr lang="ru-RU" dirty="0"/>
              <a:t>);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12AA15-D064-33B7-A8B5-A4620AD7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62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создания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4478" y="1597891"/>
            <a:ext cx="9601201" cy="4941454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Структурная  сложность </a:t>
            </a:r>
            <a:r>
              <a:rPr lang="ru-RU" sz="1800" dirty="0"/>
              <a:t>(многоуровневая иерархическая структурная организация) и территориальная </a:t>
            </a:r>
            <a:r>
              <a:rPr lang="ru-RU" sz="1800" dirty="0" err="1"/>
              <a:t>распределенность</a:t>
            </a:r>
            <a:r>
              <a:rPr lang="ru-RU" sz="1800" dirty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Функциональная сложность </a:t>
            </a:r>
            <a:r>
              <a:rPr lang="ru-RU" sz="1800" dirty="0"/>
              <a:t>(многоуровневая иерархия и большое количество функций, сложная взаимосвязь между ними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Информационная сложность</a:t>
            </a:r>
            <a:r>
              <a:rPr lang="ru-RU" sz="1800" dirty="0"/>
              <a:t>, большое количество источников и потребителей информации, разнообразные формы и форматы представления информации, сложная технология прохождения документов;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Большое количество внешних взаимодействующих устройств</a:t>
            </a:r>
            <a:r>
              <a:rPr lang="ru-RU" sz="1800" i="1" dirty="0"/>
              <a:t> </a:t>
            </a:r>
            <a:r>
              <a:rPr lang="ru-RU" sz="1800" dirty="0"/>
              <a:t>различных организаций с разными форматами обмена данными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Высокая техническая сложность</a:t>
            </a:r>
            <a:r>
              <a:rPr lang="ru-RU" sz="1800" dirty="0"/>
              <a:t>, определяемая совокупностью тесно взаимодействующих подсистем (компонентов), имеющих свои локальные задачи и цели функционирования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Сложная динамика поведения</a:t>
            </a:r>
            <a:r>
              <a:rPr lang="ru-RU" sz="1800" dirty="0"/>
              <a:t>, обусловленная высокой изменчивостью внешней (изменения в законодательных и нормативных актах, нестабильность экономики и политики) и внутренней среды (структурные реорганизации, текучесть кадров и т. П.);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b="1" dirty="0"/>
              <a:t>Отсутствие полных аналогов</a:t>
            </a:r>
            <a:r>
              <a:rPr lang="ru-RU" sz="1800" dirty="0"/>
              <a:t>, ограничивающих возможность использования каких-либо типовых проектных решений и прикладных систем, высокая доля вновь разрабатываемых программ.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D12FFB-B838-D37B-8C53-AA2B8F40A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948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596900"/>
            <a:ext cx="9938326" cy="733425"/>
          </a:xfrm>
        </p:spPr>
        <p:txBody>
          <a:bodyPr>
            <a:noAutofit/>
          </a:bodyPr>
          <a:lstStyle/>
          <a:p>
            <a:r>
              <a:rPr lang="ru-RU" sz="3200" dirty="0"/>
              <a:t>Становление и развитие программной инженерии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58833"/>
            <a:ext cx="9601200" cy="4702629"/>
          </a:xfrm>
        </p:spPr>
        <p:txBody>
          <a:bodyPr/>
          <a:lstStyle/>
          <a:p>
            <a:r>
              <a:rPr lang="ru-RU" b="1" dirty="0"/>
              <a:t>Первый этап </a:t>
            </a:r>
            <a:r>
              <a:rPr lang="ru-RU" dirty="0"/>
              <a:t>– стихийное программирование.</a:t>
            </a:r>
          </a:p>
          <a:p>
            <a:r>
              <a:rPr lang="ru-RU" i="1" dirty="0"/>
              <a:t>Охватывает период от появления первых ЭВМ до середины 60-х годов ХХ века. В это период отсутствовали сформулированные технологии программирование фактически было искусством. Первые программы имели простейшую структуру и состояли из программы на машинном языке и данных.</a:t>
            </a:r>
          </a:p>
          <a:p>
            <a:r>
              <a:rPr lang="ru-RU" altLang="ru-RU" dirty="0"/>
              <a:t>Основные вехи этапа</a:t>
            </a:r>
            <a:r>
              <a:rPr lang="en-US" altLang="ru-RU" dirty="0"/>
              <a:t>: </a:t>
            </a:r>
            <a:r>
              <a:rPr lang="ru-RU" altLang="ru-RU" dirty="0"/>
              <a:t>двоичный код, восьмеричный код, 16-ричный код, ассемблеры, макроассемблеры, алгоритмические языки (Фортран, Алгол), подпрограммы, пользовательские функции, процедуры, библиотеки расчетных и служебных подпрограмм.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DFF93B-A1CE-7CA2-6BDD-437B6F1B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124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Второй этап </a:t>
            </a:r>
            <a:r>
              <a:rPr lang="ru-RU" dirty="0"/>
              <a:t>– структурный подход к программированию.</a:t>
            </a:r>
          </a:p>
          <a:p>
            <a:r>
              <a:rPr lang="ru-RU" i="1" dirty="0"/>
              <a:t>В основе структурного подхода лежит декомпозиция (разбиение на части) сложных программ с последующей их реализацией в виде небольших (40 – 50 операторов) подпрограмм. В отличие от используемого ранее процедурного подхода к декомпозиции, структурный подход требовал представления задачи в виде иерархии подзадач простейшей структуры. </a:t>
            </a:r>
          </a:p>
          <a:p>
            <a:r>
              <a:rPr lang="ru-RU" i="1" dirty="0"/>
              <a:t>Проектирование осуществлялось сверху- вниз и подразумевало реализацию общей идеи, обеспечивая проработку интерфейсов подпрограмм. Одновременно вводились ограничения на конструкции алгоритмов, рекомендовались формальные модели их описания, а также специальный метод проектирования алгоритмов – метод пошаговой детализации.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6E327B-C9EA-A6E3-0EC2-AE021C8D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170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Третий этап </a:t>
            </a:r>
            <a:r>
              <a:rPr lang="ru-RU" dirty="0"/>
              <a:t>– объектный подход к программированию.</a:t>
            </a:r>
          </a:p>
          <a:p>
            <a:pPr marL="0" indent="0">
              <a:buNone/>
            </a:pPr>
            <a:r>
              <a:rPr lang="ru-RU" i="1" dirty="0"/>
              <a:t>Объектно-ориентированное программирование определяется как технология создания сложного программного продукта, основанная на представлении программы в виде совокупности объектов, каждый из которых является экземпляром определенного типа (класса), а классы образуют иерархию с наследованием свойств. Взаимодействие программных объектов в такой системе осуществляется путем передачи сообщений. Впервые объектная структура была реализована в языке имитационного моделирования </a:t>
            </a:r>
            <a:r>
              <a:rPr lang="ru-RU" i="1" dirty="0" err="1"/>
              <a:t>Simula</a:t>
            </a:r>
            <a:r>
              <a:rPr lang="ru-RU" i="1" dirty="0"/>
              <a:t> (60-е годы).</a:t>
            </a:r>
          </a:p>
          <a:p>
            <a:pPr marL="0" indent="0">
              <a:buNone/>
            </a:pPr>
            <a:r>
              <a:rPr lang="ru-RU" i="1" dirty="0"/>
              <a:t>Основное достоинство ООП – более естественная декомпозиция программной системы, которая существенно облегчает разработку системы.</a:t>
            </a:r>
          </a:p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48A8A1-E123-EE7D-B589-FBE50A3B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909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Четвертый этап </a:t>
            </a:r>
            <a:r>
              <a:rPr lang="ru-RU" dirty="0"/>
              <a:t>– компонентный подход и CASE - технологии. Компонентный подход предполагает построение программной системы из отдельных компонентов, физически отдельно существующих частей программного обеспечения, которые взаимодействуют между собой через стандартизованные  двоичные интерфейсы.</a:t>
            </a:r>
          </a:p>
          <a:p>
            <a:r>
              <a:rPr lang="ru-RU" b="1" dirty="0"/>
              <a:t>CASE</a:t>
            </a:r>
            <a:r>
              <a:rPr lang="ru-RU" dirty="0"/>
              <a:t> (</a:t>
            </a:r>
            <a:r>
              <a:rPr lang="ru-RU" dirty="0" err="1"/>
              <a:t>computer-aided</a:t>
            </a:r>
            <a:r>
              <a:rPr lang="ru-RU" dirty="0"/>
              <a:t>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) — набор инструментов и методов программной инженерии для проектирования программного обеспечения, который помогает обеспечить высокое качество программ, отсутствие ошибок и простоту в обслуживании программных продуктов.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BD68C38-21B6-4595-577C-C546166E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987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</a:t>
            </a:r>
            <a:r>
              <a:rPr lang="ru-RU"/>
              <a:t> средства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71599" y="1579418"/>
            <a:ext cx="4548909" cy="472901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Типы: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анализа;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проектирования баз данных;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разработки приложений;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реинжиниринга процессов;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планирования и управления проектом;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тестирования;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средства документирования.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72613" y="1579418"/>
            <a:ext cx="5034295" cy="459278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Типичными CASE-инструментами являются: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управления конфигурацией;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моделирования данных;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анализа и проектирования;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преобразования моделей;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редактирования программного кода;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рефакторинга кода;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генераторы кода;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dirty="0"/>
              <a:t>инструменты для построения UML-диаграмм.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B4509C-DCD1-28FB-AA19-E76DF509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509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86603"/>
            <a:ext cx="10127410" cy="1450757"/>
          </a:xfrm>
        </p:spPr>
        <p:txBody>
          <a:bodyPr>
            <a:normAutofit/>
          </a:bodyPr>
          <a:lstStyle/>
          <a:p>
            <a:r>
              <a:rPr lang="ru-RU" sz="4000" dirty="0"/>
              <a:t>Жизненный цикл программного обеспечения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Стратегия проектирования ИС определяется использованием соответствующей модели жизненного цикла, определяющей последовательность стадий проектирования и выполняемых в них процессов.</a:t>
            </a:r>
          </a:p>
          <a:p>
            <a:r>
              <a:rPr lang="ru-RU" b="1" dirty="0"/>
              <a:t>Жизненный цикл ИС </a:t>
            </a:r>
            <a:r>
              <a:rPr lang="ru-RU" dirty="0"/>
              <a:t> - ряд событий, происходящих с системой в процессе ее создания и использования. </a:t>
            </a:r>
          </a:p>
          <a:p>
            <a:r>
              <a:rPr lang="ru-RU" b="1" dirty="0"/>
              <a:t>Модель жизненного цикла </a:t>
            </a:r>
            <a:r>
              <a:rPr lang="ru-RU" dirty="0"/>
              <a:t>- структура, содержащая стадии, процессы (действия и задачи), которые осуществляются в ходе разработки, функционирования и сопровождения программного продукта в течение всей жизни системы, от определения требований до завершения ее использования.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DAD381-D4B8-135A-C878-B6140F55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7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Стадии ЖЦ </a:t>
            </a:r>
            <a:r>
              <a:rPr lang="ru-RU" dirty="0"/>
              <a:t>– отражают состояния ИС и их изменения;</a:t>
            </a:r>
          </a:p>
          <a:p>
            <a:r>
              <a:rPr lang="ru-RU" b="1" dirty="0"/>
              <a:t>Этапы ЖЦ </a:t>
            </a:r>
            <a:r>
              <a:rPr lang="ru-RU" dirty="0"/>
              <a:t>– входят в состав стадий; предполагают выполнение определенного объема работ в течение ограниченного времени;</a:t>
            </a:r>
          </a:p>
          <a:p>
            <a:r>
              <a:rPr lang="ru-RU" b="1" dirty="0"/>
              <a:t>Процессы ЖЦ </a:t>
            </a:r>
            <a:r>
              <a:rPr lang="ru-RU" dirty="0"/>
              <a:t>- отражают те действия, которые должны обязательно выполняться для эффективного проектирования ИС; определяются как совокупность взаимосвязанных действий, преобразующих входные данные в выходные; одни и те же процессы могут выполняться на различных стадиях (этапах) ЖЦ.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E77B35-E0B9-897F-55BC-12B1AA1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23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Процессы ЖЦ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737361"/>
            <a:ext cx="9784080" cy="487910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1. Основные процессы, реализующиеся под управлением основных сторон, участвующих в жизненном цикле программных </a:t>
            </a:r>
            <a:r>
              <a:rPr lang="ru-RU"/>
              <a:t>средств.</a:t>
            </a:r>
            <a:br>
              <a:rPr lang="ru-RU"/>
            </a:br>
            <a:r>
              <a:rPr lang="ru-RU"/>
              <a:t>Основные </a:t>
            </a:r>
            <a:r>
              <a:rPr lang="ru-RU" dirty="0"/>
              <a:t>стороны: заказчик, поставщик, разработчик.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Заказ - определение потребностей заказчика, выбор поставщика и управление процессов заказов.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Поставка - определение работ и задач поставщика.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Разработка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Подготовка процессов разработки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Анализ требований к системе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Проектирование системной архитектуры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Анализ требований к ПО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…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E86C4-2EEF-B989-C071-C4D51072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270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…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Проектирование программной архитектуры.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Техническое проектирование ПО.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Программирование и тестирование ПО.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Сборка ПО.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Квалификационные испытания.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Ввод в действие.</a:t>
            </a:r>
          </a:p>
          <a:p>
            <a:pPr marL="1273302" lvl="2" indent="-285750">
              <a:buFont typeface="Wingdings" panose="05000000000000000000" pitchFamily="2" charset="2"/>
              <a:buChar char="v"/>
            </a:pPr>
            <a:r>
              <a:rPr lang="ru-RU" sz="1800" dirty="0"/>
              <a:t>Обеспечение приемки.</a:t>
            </a:r>
          </a:p>
          <a:p>
            <a:pPr lvl="1"/>
            <a:r>
              <a:rPr lang="ru-RU" i="0" dirty="0"/>
              <a:t>4)  Эксплуатация - использование ПО и поддержка пользователей.</a:t>
            </a:r>
          </a:p>
          <a:p>
            <a:pPr lvl="1"/>
            <a:r>
              <a:rPr lang="ru-RU" i="0" dirty="0"/>
              <a:t>+Сопровождение (модификация ПО)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3C06E3-E1A5-A01E-BC7C-3137C13E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41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2. Вспомогательные процессы жизненного цикла. Предназначены для обеспечения успешной реализации и качества выполнения проекта.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Документирование.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Процесс управления конфигурацией.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Процесс обеспечения качества.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Аудит.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Процесс решения проблем.</a:t>
            </a:r>
          </a:p>
          <a:p>
            <a:pPr lvl="0"/>
            <a:r>
              <a:rPr lang="ru-RU" dirty="0"/>
              <a:t>3. Организационные- процессы, направленные на персонал.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Управление.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 dirty="0"/>
              <a:t>Усовершенствование.</a:t>
            </a:r>
          </a:p>
          <a:p>
            <a:pPr marL="987552" lvl="1" indent="-457200">
              <a:buFont typeface="+mj-lt"/>
              <a:buAutoNum type="arabicParenR"/>
            </a:pPr>
            <a:r>
              <a:rPr lang="ru-RU" i="0"/>
              <a:t>Обучение.</a:t>
            </a:r>
            <a:endParaRPr lang="ru-RU" i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20ACE5-B9D0-7D65-3AF6-79F19367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349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деятельности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Обобщенный базис процессов для программной инженерии включает пять видов основной деятельности: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Подготовка.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Планирование.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Моделирование.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Конструирование.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Развертывание.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9500E7-0099-AF6D-AF92-6E100CA3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816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Стадии ЖЦ в некоторых стандартах</a:t>
            </a:r>
          </a:p>
        </p:txBody>
      </p:sp>
      <p:graphicFrame>
        <p:nvGraphicFramePr>
          <p:cNvPr id="85" name="Объект 84"/>
          <p:cNvGraphicFramePr>
            <a:graphicFrameLocks noGrp="1"/>
          </p:cNvGraphicFramePr>
          <p:nvPr>
            <p:ph idx="1"/>
          </p:nvPr>
        </p:nvGraphicFramePr>
        <p:xfrm>
          <a:off x="1371600" y="1558925"/>
          <a:ext cx="10058400" cy="4683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114683621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5051129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7526326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666192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ru-RU" sz="1800" dirty="0">
                          <a:solidFill>
                            <a:schemeClr val="tx1"/>
                          </a:solidFill>
                        </a:rPr>
                        <a:t>ISO/IEC</a:t>
                      </a:r>
                      <a:r>
                        <a:rPr kumimoji="0" lang="ru-RU" altLang="ru-RU" sz="1800" dirty="0">
                          <a:solidFill>
                            <a:schemeClr val="tx1"/>
                          </a:solidFill>
                        </a:rPr>
                        <a:t> 12207</a:t>
                      </a:r>
                      <a:r>
                        <a:rPr kumimoji="0" lang="ru-RU" altLang="ru-RU" dirty="0">
                          <a:solidFill>
                            <a:schemeClr val="tx1"/>
                          </a:solidFill>
                        </a:rPr>
                        <a:t>   </a:t>
                      </a:r>
                      <a:endParaRPr kumimoji="0" lang="ru-RU" altLang="ru-RU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kumimoji="0" lang="en-US" altLang="ru-RU" sz="1800" dirty="0">
                          <a:solidFill>
                            <a:schemeClr val="tx1"/>
                          </a:solidFill>
                        </a:rPr>
                        <a:t>ISO/IEC 15288</a:t>
                      </a:r>
                      <a:r>
                        <a:rPr kumimoji="0" lang="ru-RU" altLang="ru-RU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kumimoji="0" lang="ru-RU" altLang="ru-RU" sz="180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dirty="0">
                          <a:solidFill>
                            <a:schemeClr val="tx1"/>
                          </a:solidFill>
                        </a:rPr>
                        <a:t>Методика </a:t>
                      </a:r>
                      <a:r>
                        <a:rPr kumimoji="0" lang="ru-RU" altLang="ru-RU" dirty="0" err="1">
                          <a:solidFill>
                            <a:schemeClr val="tx1"/>
                          </a:solidFill>
                        </a:rPr>
                        <a:t>Oracle</a:t>
                      </a:r>
                      <a:r>
                        <a:rPr kumimoji="0" lang="ru-RU" altLang="ru-RU" dirty="0">
                          <a:solidFill>
                            <a:schemeClr val="tx1"/>
                          </a:solidFill>
                        </a:rPr>
                        <a:t> CDM</a:t>
                      </a:r>
                      <a:endParaRPr kumimoji="0" lang="ru-RU" altLang="ru-RU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1800" dirty="0">
                          <a:solidFill>
                            <a:schemeClr val="tx1"/>
                          </a:solidFill>
                        </a:rPr>
                        <a:t>ГОСТ 34</a:t>
                      </a:r>
                      <a:endParaRPr kumimoji="0" lang="ru-RU" altLang="ru-RU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849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1800" dirty="0"/>
                        <a:t>Формирование требований к ПО</a:t>
                      </a:r>
                      <a:endParaRPr lang="ru-RU" altLang="ru-RU" sz="1800" b="1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Формирование концепции</a:t>
                      </a:r>
                      <a:endParaRPr kumimoji="0" lang="ru-RU" altLang="ru-RU" sz="1800" dirty="0">
                        <a:ea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Определение требований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ФТ - Формирование требований к 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141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altLang="ru-RU" sz="1800" dirty="0"/>
                        <a:t>Проектирование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Разработка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Анализ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РК - Разработка концепции АС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438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altLang="ru-RU" sz="1800" dirty="0"/>
                        <a:t>Реализация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Реализация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Проектирование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ТЗ - Техническое задание на АС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33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altLang="ru-RU" sz="1800" dirty="0"/>
                        <a:t>Тестирование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Эксплуатация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Реализация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ЭП - Эскизный проект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56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1800" dirty="0"/>
                        <a:t>Ввод в действие</a:t>
                      </a:r>
                      <a:endParaRPr lang="ru-RU" altLang="ru-RU" sz="1800" b="1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Поддержка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Внедрение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ТП - Технический проект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697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ru-RU" sz="1800" dirty="0"/>
                        <a:t>Эксплуатация и сопровождение</a:t>
                      </a:r>
                      <a:endParaRPr lang="ru-RU" altLang="ru-RU" sz="1800" b="1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Снятие с эксплуатации</a:t>
                      </a:r>
                      <a:endParaRPr kumimoji="0" lang="ru-RU" altLang="ru-RU" sz="1800" dirty="0">
                        <a:ea typeface="Arial Unicode MS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Эксплуатация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dirty="0"/>
                        <a:t>РД - Рабочая документация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616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r>
                        <a:rPr lang="ru-RU" altLang="ru-RU" sz="1800" dirty="0"/>
                        <a:t>Снятие с эксплуатации</a:t>
                      </a:r>
                      <a:endParaRPr lang="ru-RU" altLang="ru-RU" sz="1800" b="1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/>
                        <a:t>ВД - Ввод в действие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1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50000"/>
                        </a:spcBef>
                        <a:buFontTx/>
                        <a:buNone/>
                      </a:pPr>
                      <a:endParaRPr lang="ru-RU" altLang="ru-RU" sz="1800" b="1" dirty="0"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dirty="0" err="1"/>
                        <a:t>Сп</a:t>
                      </a:r>
                      <a:r>
                        <a:rPr kumimoji="0" lang="ru-RU" altLang="ru-RU" sz="1800" dirty="0"/>
                        <a:t> - Сопровождение АС</a:t>
                      </a:r>
                      <a:endParaRPr kumimoji="0" lang="ru-RU" altLang="ru-RU" sz="1800" dirty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147488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B9D98C-1F88-97AC-E693-02E60804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37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</p:spPr>
        <p:txBody>
          <a:bodyPr/>
          <a:lstStyle/>
          <a:p>
            <a:r>
              <a:rPr lang="ru-RU" dirty="0"/>
              <a:t>Методика </a:t>
            </a:r>
            <a:r>
              <a:rPr lang="en-US" dirty="0"/>
              <a:t>Oracle</a:t>
            </a:r>
            <a:r>
              <a:rPr lang="ru-RU" dirty="0"/>
              <a:t> CDM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1558925"/>
            <a:ext cx="9601200" cy="5175983"/>
          </a:xfrm>
        </p:spPr>
        <p:txBody>
          <a:bodyPr numCol="2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RD - Определение производственных требований,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ES - Исследование существующих систем,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TA - Определение технической архитектуры,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DB - Проектирование и построение БД,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MD - Проектирование и реализация модулей,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ru-RU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CV - Конвертирование данных,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DO - Документирование,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TE - Тестирование,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TR - Обучение,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TS - Переход к новой системе,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PS - Поддержка и сопровождение.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FA679-A1AE-A94B-2DE9-E7AAFEF3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39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254CA-9318-9568-FFC1-0E5306F2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Модель и методология создания ПО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32876-69AD-1F0D-EFC5-30007441F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Модель разработки </a:t>
            </a:r>
            <a:r>
              <a:rPr lang="ru-RU" dirty="0"/>
              <a:t>программного обеспечения описывает, какие стадии жизненного цикла оно проходит и что происходит на каждой из них. </a:t>
            </a:r>
          </a:p>
          <a:p>
            <a:endParaRPr lang="ru-RU" dirty="0"/>
          </a:p>
          <a:p>
            <a:r>
              <a:rPr lang="ru-RU" b="1" dirty="0"/>
              <a:t>Методология</a:t>
            </a:r>
            <a:r>
              <a:rPr lang="ru-RU" dirty="0"/>
              <a:t> включает в себя набор методов по управлению разработкой: это правила, техники и принципы, которые делают её более эффективной.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104945-6C39-1A95-43C4-F87EACB3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75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разработки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настоящее время наиболее часто используются: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Code and fix — </a:t>
            </a:r>
            <a:r>
              <a:rPr lang="ru-RU" dirty="0"/>
              <a:t>модель кодирования и устранения ошибок;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Waterfall Model — </a:t>
            </a:r>
            <a:r>
              <a:rPr lang="ru-RU" dirty="0"/>
              <a:t>каскадная модель, или «водопад»;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V-model — V-</a:t>
            </a:r>
            <a:r>
              <a:rPr lang="ru-RU" dirty="0"/>
              <a:t>образная модель, разработка через тестирование;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Incremental Model — </a:t>
            </a:r>
            <a:r>
              <a:rPr lang="ru-RU" dirty="0"/>
              <a:t>инкрементная модель;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Iterative Model — </a:t>
            </a:r>
            <a:r>
              <a:rPr lang="ru-RU" dirty="0"/>
              <a:t>итеративная (или итерационная) модель;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Spiral Model — </a:t>
            </a:r>
            <a:r>
              <a:rPr lang="ru-RU" dirty="0"/>
              <a:t>спиральная модель;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Chaos model — </a:t>
            </a:r>
            <a:r>
              <a:rPr lang="ru-RU" dirty="0"/>
              <a:t>модель хаоса;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Prototype Model — </a:t>
            </a:r>
            <a:r>
              <a:rPr lang="ru-RU" dirty="0" err="1"/>
              <a:t>прототипная</a:t>
            </a:r>
            <a:r>
              <a:rPr lang="ru-RU" dirty="0"/>
              <a:t> модель.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r>
              <a:rPr lang="ru-RU" i="1" dirty="0"/>
              <a:t>Из этих моделей наиболее популярны пять основных: каскадная, V-образная, инкрементная, итерационная и спиральная.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47370D-5CB8-0315-B8EA-4F491A5B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21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3697"/>
          </a:xfrm>
        </p:spPr>
        <p:txBody>
          <a:bodyPr/>
          <a:lstStyle/>
          <a:p>
            <a:r>
              <a:rPr lang="ru-RU" dirty="0"/>
              <a:t>Каскадная модель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371600" y="1488475"/>
            <a:ext cx="10032023" cy="3581400"/>
          </a:xfrm>
        </p:spPr>
        <p:txBody>
          <a:bodyPr/>
          <a:lstStyle/>
          <a:p>
            <a:r>
              <a:rPr lang="ru-RU" b="1" dirty="0"/>
              <a:t>Каскадная модель </a:t>
            </a:r>
            <a:r>
              <a:rPr lang="ru-RU" dirty="0"/>
              <a:t>предусматривает последовательное выполнение всех этапов проекта в строго фиксированном порядке. </a:t>
            </a:r>
          </a:p>
          <a:p>
            <a:r>
              <a:rPr lang="ru-RU" dirty="0"/>
              <a:t>Переход на следующий этап означает полное завершение работ на предыдущем этапе. </a:t>
            </a:r>
          </a:p>
        </p:txBody>
      </p:sp>
      <p:pic>
        <p:nvPicPr>
          <p:cNvPr id="1030" name="Picture 6" descr="Каскадная модель ЖЦ ИС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-374" r="3124" b="7522"/>
          <a:stretch/>
        </p:blipFill>
        <p:spPr bwMode="auto">
          <a:xfrm>
            <a:off x="2034912" y="3048000"/>
            <a:ext cx="8705397" cy="312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AC995B4-16D1-EA1F-EC94-8CFD0348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146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4E66011-9BEC-B8B0-239C-44ACEADAD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 каскадной модели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5464CEA1-03A4-A712-095D-7AAD668F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400" dirty="0"/>
              <a:t>Разработку просто контролировать. Заказчик всегда знает, чем сейчас заняты программисты, может управлять сроками и стоимостью.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400" dirty="0"/>
              <a:t>Стоимость проекта определяется на начальном этапе. Все шаги запланированы уже на этапе согласования договора, ПО пишется непрерывно «от и до».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2400" dirty="0"/>
              <a:t>Не нужно нанимать тестировщиков с серьёзной технической подготовкой. Тестировщики смогут опираться на подробную техническую документацию.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87C9090-E020-07FF-AB4F-5ADF5765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726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9F9CA-E01D-70BE-BCF6-09DDE42E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каскадной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CF10C5-C678-2A78-CBD5-9A10C329A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Тестирование начинается на последних этапах разработки. Если в требованиях к продукту была допущена ошибка, то исправить её будет стоить дорого. Тестировщики обнаружат её, когда разработчик уже написал код, а технические писатели — документацию.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Заказчик видит готовый продукт в конце разработки и только тогда может дать обратную связь. Велика вероятность, что результат его не устроит.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Разработчики пишут много технической документации, что задерживает работы. Чем обширнее документация у проекта, тем больше изменений нужно вносить и дольше их согласовывать.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21BCF7-7264-2427-5BE3-3DF2CA1A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212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B94F9-C7C0-FF36-75DE-75173792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9847385" cy="733697"/>
          </a:xfrm>
        </p:spPr>
        <p:txBody>
          <a:bodyPr>
            <a:noAutofit/>
          </a:bodyPr>
          <a:lstStyle/>
          <a:p>
            <a:r>
              <a:rPr lang="ru-RU" sz="3600" dirty="0"/>
              <a:t>Когда использовать каскадную методологию?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4BBFF-76EB-DD29-3827-740665204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0008"/>
            <a:ext cx="9601200" cy="444145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Только тогда, когда требования известны, понятны и зафиксированы. Противоречивых требований не имеется.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Нет проблем с доступностью программистов нужной квалификации.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ru-RU" sz="2400" dirty="0"/>
              <a:t>В относительно небольших проектах.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134C22-E6CD-1EFF-4500-2CCECD8C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54724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68</TotalTime>
  <Words>2577</Words>
  <Application>Microsoft Office PowerPoint</Application>
  <PresentationFormat>Широкоэкранный</PresentationFormat>
  <Paragraphs>285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5" baseType="lpstr">
      <vt:lpstr>Arial</vt:lpstr>
      <vt:lpstr>Arial Unicode MS</vt:lpstr>
      <vt:lpstr>Calibri</vt:lpstr>
      <vt:lpstr>Franklin Gothic Book</vt:lpstr>
      <vt:lpstr>Georgia</vt:lpstr>
      <vt:lpstr>Tahoma</vt:lpstr>
      <vt:lpstr>Times New Roman</vt:lpstr>
      <vt:lpstr>Wingdings</vt:lpstr>
      <vt:lpstr>Уголки</vt:lpstr>
      <vt:lpstr>Лекция 1    Введение в ТРПО. Жизненный цикл и модели разработки ПО – часть 1</vt:lpstr>
      <vt:lpstr>Преподаватель: Челищева Лилия Дмитриевна</vt:lpstr>
      <vt:lpstr>План на учебный год</vt:lpstr>
      <vt:lpstr>Немного о правилах</vt:lpstr>
      <vt:lpstr>Общий диск</vt:lpstr>
      <vt:lpstr>Выбор темы КП</vt:lpstr>
      <vt:lpstr>1. Введение в ТРПО</vt:lpstr>
      <vt:lpstr>Основные понятия, термины и определения</vt:lpstr>
      <vt:lpstr>Основные понятия, термины и определения</vt:lpstr>
      <vt:lpstr>Основные понятия, термины и определения</vt:lpstr>
      <vt:lpstr>Основные понятия, термины и определения</vt:lpstr>
      <vt:lpstr>Основные понятия, термины и определения</vt:lpstr>
      <vt:lpstr>Программное обеспечение</vt:lpstr>
      <vt:lpstr>Классификация ПО по функциональному назначению</vt:lpstr>
      <vt:lpstr>Классификация ПО по сфере применения</vt:lpstr>
      <vt:lpstr>Язык программирования</vt:lpstr>
      <vt:lpstr>Проблемы создания ПО</vt:lpstr>
      <vt:lpstr>Становление и развитие программной инженерии</vt:lpstr>
      <vt:lpstr>Презентация PowerPoint</vt:lpstr>
      <vt:lpstr>Презентация PowerPoint</vt:lpstr>
      <vt:lpstr>Презентация PowerPoint</vt:lpstr>
      <vt:lpstr>CASE средства</vt:lpstr>
      <vt:lpstr>Жизненный цикл программного обеспечения</vt:lpstr>
      <vt:lpstr>Презентация PowerPoint</vt:lpstr>
      <vt:lpstr>Процессы ЖЦ</vt:lpstr>
      <vt:lpstr>Презентация PowerPoint</vt:lpstr>
      <vt:lpstr>Презентация PowerPoint</vt:lpstr>
      <vt:lpstr>Виды деятельности</vt:lpstr>
      <vt:lpstr>Стадии ЖЦ в некоторых стандартах</vt:lpstr>
      <vt:lpstr>Методика Oracle CDM</vt:lpstr>
      <vt:lpstr>Модель и методология создания ПО</vt:lpstr>
      <vt:lpstr>Модели разработки</vt:lpstr>
      <vt:lpstr>Каскадная модель</vt:lpstr>
      <vt:lpstr>Преимущества каскадной модели</vt:lpstr>
      <vt:lpstr>Недостатки каскадной модели</vt:lpstr>
      <vt:lpstr>Когда использовать каскадную методологию?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8</cp:revision>
  <dcterms:created xsi:type="dcterms:W3CDTF">2023-09-01T22:02:12Z</dcterms:created>
  <dcterms:modified xsi:type="dcterms:W3CDTF">2025-09-08T06:45:40Z</dcterms:modified>
</cp:coreProperties>
</file>