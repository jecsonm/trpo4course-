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5" r:id="rId1"/>
  </p:sldMasterIdLst>
  <p:notesMasterIdLst>
    <p:notesMasterId r:id="rId30"/>
  </p:notesMasterIdLst>
  <p:sldIdLst>
    <p:sldId id="256" r:id="rId2"/>
    <p:sldId id="259" r:id="rId3"/>
    <p:sldId id="286" r:id="rId4"/>
    <p:sldId id="287" r:id="rId5"/>
    <p:sldId id="290" r:id="rId6"/>
    <p:sldId id="327" r:id="rId7"/>
    <p:sldId id="328" r:id="rId8"/>
    <p:sldId id="288" r:id="rId9"/>
    <p:sldId id="289" r:id="rId10"/>
    <p:sldId id="321" r:id="rId11"/>
    <p:sldId id="322" r:id="rId12"/>
    <p:sldId id="323" r:id="rId13"/>
    <p:sldId id="260" r:id="rId14"/>
    <p:sldId id="261" r:id="rId15"/>
    <p:sldId id="262" r:id="rId16"/>
    <p:sldId id="264" r:id="rId17"/>
    <p:sldId id="266" r:id="rId18"/>
    <p:sldId id="265" r:id="rId19"/>
    <p:sldId id="267" r:id="rId20"/>
    <p:sldId id="273" r:id="rId21"/>
    <p:sldId id="326" r:id="rId22"/>
    <p:sldId id="315" r:id="rId23"/>
    <p:sldId id="316" r:id="rId24"/>
    <p:sldId id="317" r:id="rId25"/>
    <p:sldId id="318" r:id="rId26"/>
    <p:sldId id="319" r:id="rId27"/>
    <p:sldId id="320" r:id="rId28"/>
    <p:sldId id="32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9F18C-B0EF-4C3B-831E-15C3CF792C09}" type="datetimeFigureOut">
              <a:rPr lang="ru-RU" smtClean="0"/>
              <a:t>05.09.2025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3E470-2E3C-4AB4-A461-A838E60D5F10}" type="slidenum">
              <a:rPr lang="ru-RU" smtClean="0"/>
              <a:t>‹#›</a:t>
            </a:fld>
            <a:endParaRPr lang="ru-RU"/>
          </a:p>
        </p:txBody>
      </p:sp>
    </p:spTree>
    <p:extLst>
      <p:ext uri="{BB962C8B-B14F-4D97-AF65-F5344CB8AC3E}">
        <p14:creationId xmlns:p14="http://schemas.microsoft.com/office/powerpoint/2010/main" val="72591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none" baseline="0">
                <a:solidFill>
                  <a:schemeClr val="tx2"/>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sz="1400" baseline="0">
                <a:solidFill>
                  <a:schemeClr val="tx2"/>
                </a:solidFill>
              </a:defRPr>
            </a:lvl1pPr>
          </a:lstStyle>
          <a:p>
            <a:fld id="{42B6E85D-E316-4CED-803A-F5CBBAAA4513}" type="datetime1">
              <a:rPr lang="ru-RU" smtClean="0"/>
              <a:t>05.09.2025</a:t>
            </a:fld>
            <a:endParaRPr lang="ru-RU" dirty="0"/>
          </a:p>
        </p:txBody>
      </p:sp>
      <p:sp>
        <p:nvSpPr>
          <p:cNvPr id="5" name="Footer Placeholder 4"/>
          <p:cNvSpPr>
            <a:spLocks noGrp="1"/>
          </p:cNvSpPr>
          <p:nvPr>
            <p:ph type="ftr" sz="quarter" idx="11"/>
          </p:nvPr>
        </p:nvSpPr>
        <p:spPr>
          <a:xfrm>
            <a:off x="2584054" y="6453386"/>
            <a:ext cx="7023377" cy="404614"/>
          </a:xfrm>
        </p:spPr>
        <p:txBody>
          <a:bodyPr/>
          <a:lstStyle>
            <a:lvl1pPr algn="ctr">
              <a:defRPr sz="1400" baseline="0">
                <a:solidFill>
                  <a:schemeClr val="tx2"/>
                </a:solidFill>
              </a:defRPr>
            </a:lvl1pPr>
          </a:lstStyle>
          <a:p>
            <a:endParaRPr lang="ru-RU" dirty="0"/>
          </a:p>
        </p:txBody>
      </p:sp>
      <p:sp>
        <p:nvSpPr>
          <p:cNvPr id="6" name="Slide Number Placeholder 5"/>
          <p:cNvSpPr>
            <a:spLocks noGrp="1"/>
          </p:cNvSpPr>
          <p:nvPr>
            <p:ph type="sldNum" sz="quarter" idx="12"/>
          </p:nvPr>
        </p:nvSpPr>
        <p:spPr>
          <a:xfrm>
            <a:off x="9830683" y="6453386"/>
            <a:ext cx="1596292" cy="404614"/>
          </a:xfrm>
        </p:spPr>
        <p:txBody>
          <a:bodyPr/>
          <a:lstStyle>
            <a:lvl1pPr>
              <a:defRPr sz="2800" baseline="0">
                <a:solidFill>
                  <a:schemeClr val="tx2"/>
                </a:solidFill>
              </a:defRPr>
            </a:lvl1pPr>
          </a:lstStyle>
          <a:p>
            <a:fld id="{25A42088-C730-408A-A823-60BED1AFCEA0}" type="slidenum">
              <a:rPr lang="ru-RU" smtClean="0"/>
              <a:pPr/>
              <a:t>‹#›</a:t>
            </a:fld>
            <a:endParaRPr lang="ru-RU"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6062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6B8808A-F3B5-4594-B53A-1D6754ACC15E}"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72333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4A2479E-D05A-4DA2-978A-0CE348BB7876}" type="datetime1">
              <a:rPr lang="ru-RU" smtClean="0"/>
              <a:t>05.09.2025</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8485155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1593669"/>
            <a:ext cx="4447786" cy="427373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Content Placeholder 3"/>
          <p:cNvSpPr>
            <a:spLocks noGrp="1"/>
          </p:cNvSpPr>
          <p:nvPr>
            <p:ph sz="half" idx="2"/>
          </p:nvPr>
        </p:nvSpPr>
        <p:spPr>
          <a:xfrm>
            <a:off x="6525403" y="1593669"/>
            <a:ext cx="4447786" cy="427373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534E59A-8F23-41DC-949B-EA1054FC034D}" type="datetime1">
              <a:rPr lang="ru-RU" smtClean="0"/>
              <a:t>05.09.2025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8675879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37903"/>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4352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2348104"/>
            <a:ext cx="4443984" cy="382409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2348105"/>
            <a:ext cx="4443984" cy="382409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7ED5A95-7983-40A7-96A8-BD401F420BE1}" type="datetime1">
              <a:rPr lang="ru-RU" smtClean="0"/>
              <a:t>05.09.2025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1349819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A5C15340-CBDC-4CD2-9212-66C4ACEA28B9}" type="datetime1">
              <a:rPr lang="ru-RU" smtClean="0"/>
              <a:t>05.09.2025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631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77310F-5DDA-45EC-BD68-C1975347BD6F}" type="datetime1">
              <a:rPr lang="ru-RU" smtClean="0"/>
              <a:t>05.09.2025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96676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EBCF4DC-C963-499F-874F-C149FD31AE56}"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3344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422B3EE-F04C-44B0-85A4-59386567B635}"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593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1637211"/>
            <a:ext cx="9601200" cy="42301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E193276-D25B-452D-8379-B0082CC5FC0A}"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5976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BB5DFF4-23BF-4CA3-B3FB-0145CC1DB901}"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3138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596538"/>
            <a:ext cx="9601200" cy="733697"/>
          </a:xfrm>
          <a:prstGeom prst="rect">
            <a:avLst/>
          </a:prstGeom>
        </p:spPr>
        <p:txBody>
          <a:bodyPr vert="horz" lIns="91440" tIns="45720" rIns="91440" bIns="45720" rtlCol="0" anchor="t">
            <a:normAutofit/>
          </a:bodyPr>
          <a:lstStyle/>
          <a:p>
            <a:r>
              <a:rPr lang="ru-RU" dirty="0"/>
              <a:t>Образец заголовка</a:t>
            </a:r>
            <a:endParaRPr lang="en-US" dirty="0"/>
          </a:p>
        </p:txBody>
      </p:sp>
      <p:sp>
        <p:nvSpPr>
          <p:cNvPr id="3" name="Text Placeholder 2"/>
          <p:cNvSpPr>
            <a:spLocks noGrp="1"/>
          </p:cNvSpPr>
          <p:nvPr>
            <p:ph type="body" idx="1"/>
          </p:nvPr>
        </p:nvSpPr>
        <p:spPr>
          <a:xfrm>
            <a:off x="1371600" y="1506583"/>
            <a:ext cx="9601200" cy="4754879"/>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371600" y="6374670"/>
            <a:ext cx="1146333"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fld id="{214ACE19-1060-4D43-8154-F27C1E2D776D}" type="datetime1">
              <a:rPr lang="ru-RU" smtClean="0"/>
              <a:t>05.09.2025</a:t>
            </a:fld>
            <a:endParaRPr lang="ru-RU"/>
          </a:p>
        </p:txBody>
      </p:sp>
      <p:sp>
        <p:nvSpPr>
          <p:cNvPr id="5" name="Footer Placeholder 4"/>
          <p:cNvSpPr>
            <a:spLocks noGrp="1"/>
          </p:cNvSpPr>
          <p:nvPr>
            <p:ph type="ftr" sz="quarter" idx="3"/>
          </p:nvPr>
        </p:nvSpPr>
        <p:spPr>
          <a:xfrm>
            <a:off x="2874514" y="6374670"/>
            <a:ext cx="6461075"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endParaRPr lang="ru-RU" dirty="0"/>
          </a:p>
        </p:txBody>
      </p:sp>
      <p:sp>
        <p:nvSpPr>
          <p:cNvPr id="6" name="Slide Number Placeholder 5"/>
          <p:cNvSpPr>
            <a:spLocks noGrp="1"/>
          </p:cNvSpPr>
          <p:nvPr>
            <p:ph type="sldNum" sz="quarter" idx="4"/>
          </p:nvPr>
        </p:nvSpPr>
        <p:spPr>
          <a:xfrm>
            <a:off x="9692170" y="6374670"/>
            <a:ext cx="1280630" cy="404614"/>
          </a:xfrm>
          <a:prstGeom prst="rect">
            <a:avLst/>
          </a:prstGeom>
        </p:spPr>
        <p:txBody>
          <a:bodyPr vert="horz" lIns="91440" tIns="45720" rIns="91440" bIns="45720" rtlCol="0" anchor="ctr"/>
          <a:lstStyle>
            <a:lvl1pPr algn="r">
              <a:defRPr sz="2800" baseline="0">
                <a:solidFill>
                  <a:schemeClr val="tx2"/>
                </a:solidFill>
                <a:latin typeface="Georgia" panose="02040502050405020303" pitchFamily="18" charset="0"/>
              </a:defRPr>
            </a:lvl1pPr>
          </a:lstStyle>
          <a:p>
            <a:fld id="{25A42088-C730-408A-A823-60BED1AFCEA0}" type="slidenum">
              <a:rPr lang="ru-RU" smtClean="0"/>
              <a:pPr/>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4367473"/>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hf hdr="0" ftr="0" dt="0"/>
  <p:txStyles>
    <p:titleStyle>
      <a:lvl1pPr algn="l" defTabSz="914400" rtl="0" eaLnBrk="1" latinLnBrk="0" hangingPunct="1">
        <a:lnSpc>
          <a:spcPct val="89000"/>
        </a:lnSpc>
        <a:spcBef>
          <a:spcPct val="0"/>
        </a:spcBef>
        <a:buNone/>
        <a:defRPr sz="3600" kern="1200" baseline="0">
          <a:solidFill>
            <a:schemeClr val="tx2"/>
          </a:solidFill>
          <a:latin typeface="Georgia" panose="02040502050405020303" pitchFamily="18" charset="0"/>
          <a:ea typeface="+mj-ea"/>
          <a:cs typeface="+mj-cs"/>
        </a:defRPr>
      </a:lvl1pPr>
    </p:titleStyle>
    <p:bodyStyle>
      <a:lvl1pPr marL="0" indent="0" algn="l" defTabSz="914400" rtl="0" eaLnBrk="1" latinLnBrk="0" hangingPunct="1">
        <a:lnSpc>
          <a:spcPct val="94000"/>
        </a:lnSpc>
        <a:spcBef>
          <a:spcPts val="1000"/>
        </a:spcBef>
        <a:spcAft>
          <a:spcPts val="200"/>
        </a:spcAft>
        <a:buFontTx/>
        <a:buNone/>
        <a:defRPr sz="2000" kern="1200" baseline="0">
          <a:solidFill>
            <a:schemeClr val="tx2"/>
          </a:solidFill>
          <a:latin typeface="Georgia" panose="02040502050405020303" pitchFamily="18" charset="0"/>
          <a:ea typeface="+mn-ea"/>
          <a:cs typeface="+mn-cs"/>
        </a:defRPr>
      </a:lvl1pPr>
      <a:lvl2pPr marL="530352" indent="0" algn="l" defTabSz="914400" rtl="0" eaLnBrk="1" latinLnBrk="0" hangingPunct="1">
        <a:lnSpc>
          <a:spcPct val="94000"/>
        </a:lnSpc>
        <a:spcBef>
          <a:spcPts val="500"/>
        </a:spcBef>
        <a:spcAft>
          <a:spcPts val="200"/>
        </a:spcAft>
        <a:buFontTx/>
        <a:buNone/>
        <a:defRPr sz="2000" i="1" kern="1200" baseline="0">
          <a:solidFill>
            <a:schemeClr val="tx2"/>
          </a:solidFill>
          <a:latin typeface="Georgia" panose="02040502050405020303" pitchFamily="18" charset="0"/>
          <a:ea typeface="+mn-ea"/>
          <a:cs typeface="+mn-cs"/>
        </a:defRPr>
      </a:lvl2pPr>
      <a:lvl3pPr marL="987552" indent="0" algn="l" defTabSz="914400" rtl="0" eaLnBrk="1" latinLnBrk="0" hangingPunct="1">
        <a:lnSpc>
          <a:spcPct val="94000"/>
        </a:lnSpc>
        <a:spcBef>
          <a:spcPts val="500"/>
        </a:spcBef>
        <a:spcAft>
          <a:spcPts val="200"/>
        </a:spcAft>
        <a:buFontTx/>
        <a:buNone/>
        <a:defRPr sz="1800" kern="1200" baseline="0">
          <a:solidFill>
            <a:schemeClr val="tx2"/>
          </a:solidFill>
          <a:latin typeface="Georgia" panose="02040502050405020303" pitchFamily="18" charset="0"/>
          <a:ea typeface="+mn-ea"/>
          <a:cs typeface="+mn-cs"/>
        </a:defRPr>
      </a:lvl3pPr>
      <a:lvl4pPr marL="1444752" indent="0" algn="l" defTabSz="914400" rtl="0" eaLnBrk="1" latinLnBrk="0" hangingPunct="1">
        <a:lnSpc>
          <a:spcPct val="94000"/>
        </a:lnSpc>
        <a:spcBef>
          <a:spcPts val="500"/>
        </a:spcBef>
        <a:spcAft>
          <a:spcPts val="200"/>
        </a:spcAft>
        <a:buFontTx/>
        <a:buNone/>
        <a:defRPr sz="1800" i="1" kern="1200" baseline="0">
          <a:solidFill>
            <a:schemeClr val="tx2"/>
          </a:solidFill>
          <a:latin typeface="Georgia" panose="02040502050405020303" pitchFamily="18" charset="0"/>
          <a:ea typeface="+mn-ea"/>
          <a:cs typeface="+mn-cs"/>
        </a:defRPr>
      </a:lvl4pPr>
      <a:lvl5pPr marL="1901952" indent="0" algn="l" defTabSz="914400" rtl="0" eaLnBrk="1" latinLnBrk="0" hangingPunct="1">
        <a:lnSpc>
          <a:spcPct val="94000"/>
        </a:lnSpc>
        <a:spcBef>
          <a:spcPts val="500"/>
        </a:spcBef>
        <a:spcAft>
          <a:spcPts val="200"/>
        </a:spcAft>
        <a:buFontTx/>
        <a:buNone/>
        <a:defRPr sz="1600" kern="1200" baseline="0">
          <a:solidFill>
            <a:schemeClr val="tx2"/>
          </a:solidFill>
          <a:latin typeface="Georgia" panose="02040502050405020303" pitchFamily="18" charset="0"/>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56258-0E67-7C7B-2850-681FD0BB7579}"/>
              </a:ext>
            </a:extLst>
          </p:cNvPr>
          <p:cNvSpPr>
            <a:spLocks noGrp="1"/>
          </p:cNvSpPr>
          <p:nvPr>
            <p:ph type="ctrTitle"/>
          </p:nvPr>
        </p:nvSpPr>
        <p:spPr/>
        <p:txBody>
          <a:bodyPr/>
          <a:lstStyle/>
          <a:p>
            <a:r>
              <a:rPr lang="ru-RU" sz="6000" dirty="0"/>
              <a:t>Лекция </a:t>
            </a:r>
            <a:r>
              <a:rPr lang="en-US" sz="6000" dirty="0"/>
              <a:t>3</a:t>
            </a:r>
            <a:r>
              <a:rPr lang="ru-RU" sz="6000" dirty="0"/>
              <a:t>  </a:t>
            </a:r>
            <a:br>
              <a:rPr lang="ru-RU" sz="6000" dirty="0"/>
            </a:br>
            <a:r>
              <a:rPr lang="ru-RU" sz="6000" dirty="0"/>
              <a:t> </a:t>
            </a:r>
            <a:r>
              <a:rPr lang="ru-RU" sz="4000" dirty="0"/>
              <a:t>Анализ ПО. Анкеты, интервью, пользовательские истории</a:t>
            </a:r>
          </a:p>
        </p:txBody>
      </p:sp>
      <p:sp>
        <p:nvSpPr>
          <p:cNvPr id="3" name="Подзаголовок 2">
            <a:extLst>
              <a:ext uri="{FF2B5EF4-FFF2-40B4-BE49-F238E27FC236}">
                <a16:creationId xmlns:a16="http://schemas.microsoft.com/office/drawing/2014/main" id="{29DB230C-D752-D32B-FD0D-416920046857}"/>
              </a:ext>
            </a:extLst>
          </p:cNvPr>
          <p:cNvSpPr>
            <a:spLocks noGrp="1"/>
          </p:cNvSpPr>
          <p:nvPr>
            <p:ph type="subTitle" idx="1"/>
          </p:nvPr>
        </p:nvSpPr>
        <p:spPr/>
        <p:txBody>
          <a:bodyPr>
            <a:normAutofit fontScale="92500"/>
          </a:bodyPr>
          <a:lstStyle/>
          <a:p>
            <a:r>
              <a:rPr lang="ru-RU" dirty="0"/>
              <a:t>Технология разработки программного обеспечения</a:t>
            </a:r>
          </a:p>
          <a:p>
            <a:r>
              <a:rPr lang="ru-RU" dirty="0"/>
              <a:t>Преподаватель: Челищева Лилия Дмитриевна</a:t>
            </a:r>
          </a:p>
        </p:txBody>
      </p:sp>
    </p:spTree>
    <p:extLst>
      <p:ext uri="{BB962C8B-B14F-4D97-AF65-F5344CB8AC3E}">
        <p14:creationId xmlns:p14="http://schemas.microsoft.com/office/powerpoint/2010/main" val="15860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Анализ предметной области</a:t>
            </a:r>
          </a:p>
        </p:txBody>
      </p:sp>
      <p:sp>
        <p:nvSpPr>
          <p:cNvPr id="3" name="Объект 2"/>
          <p:cNvSpPr>
            <a:spLocks noGrp="1"/>
          </p:cNvSpPr>
          <p:nvPr>
            <p:ph idx="1"/>
          </p:nvPr>
        </p:nvSpPr>
        <p:spPr/>
        <p:txBody>
          <a:bodyPr>
            <a:normAutofit/>
          </a:bodyPr>
          <a:lstStyle/>
          <a:p>
            <a:r>
              <a:rPr lang="ru-RU" sz="2400" b="1" dirty="0"/>
              <a:t>Анализ предметной области</a:t>
            </a:r>
            <a:r>
              <a:rPr lang="ru-RU" sz="2400" dirty="0"/>
              <a:t> позволяет выделить ее сущности, определить первоначальные требования к функциональности и определить границы проекта. Модель предметной области должна быть документирована, храниться и поддерживаться в актуальном состоянии до этапа реализации. </a:t>
            </a:r>
          </a:p>
          <a:p>
            <a:r>
              <a:rPr lang="ru-RU" sz="2400" dirty="0"/>
              <a:t>Для того чтобы разработать программную систему, приносящую реальные выгоды определенным пользователям, необходимо сначала выяснить, какие же задачи она должна решать для этих людей и какими свойствами обладать.</a:t>
            </a:r>
          </a:p>
        </p:txBody>
      </p:sp>
      <p:sp>
        <p:nvSpPr>
          <p:cNvPr id="4" name="Номер слайда 3">
            <a:extLst>
              <a:ext uri="{FF2B5EF4-FFF2-40B4-BE49-F238E27FC236}">
                <a16:creationId xmlns:a16="http://schemas.microsoft.com/office/drawing/2014/main" id="{5CA72FB7-DF41-1D7E-4B59-B86368B274B2}"/>
              </a:ext>
            </a:extLst>
          </p:cNvPr>
          <p:cNvSpPr>
            <a:spLocks noGrp="1"/>
          </p:cNvSpPr>
          <p:nvPr>
            <p:ph type="sldNum" sz="quarter" idx="12"/>
          </p:nvPr>
        </p:nvSpPr>
        <p:spPr/>
        <p:txBody>
          <a:bodyPr/>
          <a:lstStyle/>
          <a:p>
            <a:fld id="{25A42088-C730-408A-A823-60BED1AFCEA0}" type="slidenum">
              <a:rPr lang="ru-RU" smtClean="0"/>
              <a:t>2</a:t>
            </a:fld>
            <a:endParaRPr lang="ru-RU"/>
          </a:p>
        </p:txBody>
      </p:sp>
    </p:spTree>
    <p:extLst>
      <p:ext uri="{BB962C8B-B14F-4D97-AF65-F5344CB8AC3E}">
        <p14:creationId xmlns:p14="http://schemas.microsoft.com/office/powerpoint/2010/main" val="4102419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Схема </a:t>
            </a:r>
            <a:r>
              <a:rPr lang="ru-RU" dirty="0" err="1"/>
              <a:t>Захмана</a:t>
            </a:r>
            <a:endParaRPr lang="ru-RU" dirty="0"/>
          </a:p>
        </p:txBody>
      </p:sp>
      <p:sp>
        <p:nvSpPr>
          <p:cNvPr id="3" name="Объект 2"/>
          <p:cNvSpPr>
            <a:spLocks noGrp="1"/>
          </p:cNvSpPr>
          <p:nvPr>
            <p:ph idx="1"/>
          </p:nvPr>
        </p:nvSpPr>
        <p:spPr/>
        <p:txBody>
          <a:bodyPr>
            <a:normAutofit lnSpcReduction="10000"/>
          </a:bodyPr>
          <a:lstStyle/>
          <a:p>
            <a:r>
              <a:rPr lang="ru-RU" sz="2400" i="1" dirty="0"/>
              <a:t>Анализ деятельности крупной организации, такой как банк с сетью региональных отделений, нефтеперерабатывающий завод или компания, производящая автомобили, дает огромные объемы информации. Из этой информации надо уметь отбирать существенную, а также уметь находить в ней пробелы — области деятельности, информации по которым недостаточно для четкого представления о решаемых задачах. Значит, всю получаемую информацию надо каким-то образом систематизировать.</a:t>
            </a:r>
          </a:p>
          <a:p>
            <a:r>
              <a:rPr lang="ru-RU" sz="2400" dirty="0"/>
              <a:t>Для систематизации сбора информации о больших организациях и дальнейшей разработки систем, поддерживающих их деятельность, применяется </a:t>
            </a:r>
            <a:r>
              <a:rPr lang="ru-RU" sz="2400" b="1" dirty="0"/>
              <a:t>схема </a:t>
            </a:r>
            <a:r>
              <a:rPr lang="ru-RU" sz="2400" b="1" dirty="0" err="1"/>
              <a:t>Захмана</a:t>
            </a:r>
            <a:r>
              <a:rPr lang="ru-RU" sz="2400" b="1" dirty="0"/>
              <a:t> </a:t>
            </a:r>
            <a:r>
              <a:rPr lang="ru-RU" sz="2400" dirty="0"/>
              <a:t>(автор — </a:t>
            </a:r>
            <a:r>
              <a:rPr lang="ru-RU" sz="2400" dirty="0" err="1"/>
              <a:t>John</a:t>
            </a:r>
            <a:r>
              <a:rPr lang="ru-RU" sz="2400" dirty="0"/>
              <a:t> </a:t>
            </a:r>
            <a:r>
              <a:rPr lang="ru-RU" sz="2400" dirty="0" err="1"/>
              <a:t>Zachman</a:t>
            </a:r>
            <a:r>
              <a:rPr lang="ru-RU" sz="2400" dirty="0"/>
              <a:t>) или </a:t>
            </a:r>
            <a:r>
              <a:rPr lang="ru-RU" sz="2400" b="1" dirty="0"/>
              <a:t>архитектурная схема предприятия </a:t>
            </a:r>
            <a:r>
              <a:rPr lang="ru-RU" sz="2400" dirty="0"/>
              <a:t>(</a:t>
            </a:r>
            <a:r>
              <a:rPr lang="ru-RU" sz="2400" dirty="0" err="1"/>
              <a:t>enterprise</a:t>
            </a:r>
            <a:r>
              <a:rPr lang="ru-RU" sz="2400" dirty="0"/>
              <a:t> </a:t>
            </a:r>
            <a:r>
              <a:rPr lang="ru-RU" sz="2400" dirty="0" err="1"/>
              <a:t>architecture</a:t>
            </a:r>
            <a:r>
              <a:rPr lang="ru-RU" sz="2400" dirty="0"/>
              <a:t> </a:t>
            </a:r>
            <a:r>
              <a:rPr lang="ru-RU" sz="2400" dirty="0" err="1"/>
              <a:t>framework</a:t>
            </a:r>
            <a:r>
              <a:rPr lang="ru-RU" sz="2400" dirty="0"/>
              <a:t>).</a:t>
            </a:r>
          </a:p>
        </p:txBody>
      </p:sp>
      <p:sp>
        <p:nvSpPr>
          <p:cNvPr id="4" name="Номер слайда 3">
            <a:extLst>
              <a:ext uri="{FF2B5EF4-FFF2-40B4-BE49-F238E27FC236}">
                <a16:creationId xmlns:a16="http://schemas.microsoft.com/office/drawing/2014/main" id="{35E62379-AADC-047E-544A-45701B3CDFBB}"/>
              </a:ext>
            </a:extLst>
          </p:cNvPr>
          <p:cNvSpPr>
            <a:spLocks noGrp="1"/>
          </p:cNvSpPr>
          <p:nvPr>
            <p:ph type="sldNum" sz="quarter" idx="12"/>
          </p:nvPr>
        </p:nvSpPr>
        <p:spPr/>
        <p:txBody>
          <a:bodyPr/>
          <a:lstStyle/>
          <a:p>
            <a:fld id="{25A42088-C730-408A-A823-60BED1AFCEA0}" type="slidenum">
              <a:rPr lang="ru-RU" smtClean="0"/>
              <a:t>3</a:t>
            </a:fld>
            <a:endParaRPr lang="ru-RU"/>
          </a:p>
        </p:txBody>
      </p:sp>
    </p:spTree>
    <p:extLst>
      <p:ext uri="{BB962C8B-B14F-4D97-AF65-F5344CB8AC3E}">
        <p14:creationId xmlns:p14="http://schemas.microsoft.com/office/powerpoint/2010/main" val="2040882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1026" name="Picture 2" descr="Схема Захмана (Zachman Framework) - АРХИТЕКТУРА ПРЕДПРИЯТИЯ"/>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5957" y="383821"/>
            <a:ext cx="10953553" cy="6090358"/>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3C191771-20BD-EB23-813F-B54D85E74E7D}"/>
              </a:ext>
            </a:extLst>
          </p:cNvPr>
          <p:cNvSpPr>
            <a:spLocks noGrp="1"/>
          </p:cNvSpPr>
          <p:nvPr>
            <p:ph type="sldNum" sz="quarter" idx="12"/>
          </p:nvPr>
        </p:nvSpPr>
        <p:spPr/>
        <p:txBody>
          <a:bodyPr/>
          <a:lstStyle/>
          <a:p>
            <a:fld id="{25A42088-C730-408A-A823-60BED1AFCEA0}" type="slidenum">
              <a:rPr lang="ru-RU" smtClean="0"/>
              <a:t>4</a:t>
            </a:fld>
            <a:endParaRPr lang="ru-RU"/>
          </a:p>
        </p:txBody>
      </p:sp>
    </p:spTree>
    <p:extLst>
      <p:ext uri="{BB962C8B-B14F-4D97-AF65-F5344CB8AC3E}">
        <p14:creationId xmlns:p14="http://schemas.microsoft.com/office/powerpoint/2010/main" val="284841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Заинтересованные лица (стейкхолдеры)</a:t>
            </a:r>
          </a:p>
        </p:txBody>
      </p:sp>
      <p:sp>
        <p:nvSpPr>
          <p:cNvPr id="3" name="Объект 2"/>
          <p:cNvSpPr>
            <a:spLocks noGrp="1"/>
          </p:cNvSpPr>
          <p:nvPr>
            <p:ph idx="1"/>
          </p:nvPr>
        </p:nvSpPr>
        <p:spPr>
          <a:xfrm>
            <a:off x="1371600" y="1688841"/>
            <a:ext cx="9601200" cy="4572622"/>
          </a:xfrm>
        </p:spPr>
        <p:txBody>
          <a:bodyPr>
            <a:normAutofit/>
          </a:bodyPr>
          <a:lstStyle/>
          <a:p>
            <a:r>
              <a:rPr lang="ru-RU" sz="2400" dirty="0"/>
              <a:t>Стейкхолдеры — это лица и организации, которые непосредственно работают над проектом, могут пользоваться результатами работы и влияют на них. Заинтересованным лицом или стороной можно считать любого, на кого может повлиять успех проекта. Что довольно субъективно само по себе. Человек может посчитать влиянием на себя все что угодно.</a:t>
            </a:r>
          </a:p>
        </p:txBody>
      </p:sp>
      <p:sp>
        <p:nvSpPr>
          <p:cNvPr id="4" name="Номер слайда 3">
            <a:extLst>
              <a:ext uri="{FF2B5EF4-FFF2-40B4-BE49-F238E27FC236}">
                <a16:creationId xmlns:a16="http://schemas.microsoft.com/office/drawing/2014/main" id="{6F300B04-0D49-CEA3-879F-A16D6EE5321F}"/>
              </a:ext>
            </a:extLst>
          </p:cNvPr>
          <p:cNvSpPr>
            <a:spLocks noGrp="1"/>
          </p:cNvSpPr>
          <p:nvPr>
            <p:ph type="sldNum" sz="quarter" idx="12"/>
          </p:nvPr>
        </p:nvSpPr>
        <p:spPr/>
        <p:txBody>
          <a:bodyPr/>
          <a:lstStyle/>
          <a:p>
            <a:fld id="{25A42088-C730-408A-A823-60BED1AFCEA0}" type="slidenum">
              <a:rPr lang="ru-RU" smtClean="0"/>
              <a:t>5</a:t>
            </a:fld>
            <a:endParaRPr lang="ru-RU"/>
          </a:p>
        </p:txBody>
      </p:sp>
    </p:spTree>
    <p:extLst>
      <p:ext uri="{BB962C8B-B14F-4D97-AF65-F5344CB8AC3E}">
        <p14:creationId xmlns:p14="http://schemas.microsoft.com/office/powerpoint/2010/main" val="1869715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475B50-4796-248C-D597-DCB59386952B}"/>
              </a:ext>
            </a:extLst>
          </p:cNvPr>
          <p:cNvSpPr>
            <a:spLocks noGrp="1"/>
          </p:cNvSpPr>
          <p:nvPr>
            <p:ph type="title"/>
          </p:nvPr>
        </p:nvSpPr>
        <p:spPr/>
        <p:txBody>
          <a:bodyPr/>
          <a:lstStyle/>
          <a:p>
            <a:r>
              <a:rPr lang="ru-RU" dirty="0"/>
              <a:t>Виды заинтересованных лиц</a:t>
            </a:r>
          </a:p>
        </p:txBody>
      </p:sp>
      <p:sp>
        <p:nvSpPr>
          <p:cNvPr id="4" name="Номер слайда 3">
            <a:extLst>
              <a:ext uri="{FF2B5EF4-FFF2-40B4-BE49-F238E27FC236}">
                <a16:creationId xmlns:a16="http://schemas.microsoft.com/office/drawing/2014/main" id="{438B816E-8069-5218-4F41-A19E21DE3100}"/>
              </a:ext>
            </a:extLst>
          </p:cNvPr>
          <p:cNvSpPr>
            <a:spLocks noGrp="1"/>
          </p:cNvSpPr>
          <p:nvPr>
            <p:ph type="sldNum" sz="quarter" idx="12"/>
          </p:nvPr>
        </p:nvSpPr>
        <p:spPr/>
        <p:txBody>
          <a:bodyPr/>
          <a:lstStyle/>
          <a:p>
            <a:fld id="{25A42088-C730-408A-A823-60BED1AFCEA0}" type="slidenum">
              <a:rPr lang="ru-RU" smtClean="0"/>
              <a:t>6</a:t>
            </a:fld>
            <a:endParaRPr lang="ru-RU"/>
          </a:p>
        </p:txBody>
      </p:sp>
      <p:pic>
        <p:nvPicPr>
          <p:cNvPr id="1026" name="Picture 2" descr="Карта заинтересованных сторон">
            <a:extLst>
              <a:ext uri="{FF2B5EF4-FFF2-40B4-BE49-F238E27FC236}">
                <a16:creationId xmlns:a16="http://schemas.microsoft.com/office/drawing/2014/main" id="{F522EA51-7966-AED6-2078-89BE2518A1E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053"/>
          <a:stretch/>
        </p:blipFill>
        <p:spPr bwMode="auto">
          <a:xfrm>
            <a:off x="1897090" y="1408922"/>
            <a:ext cx="8550220" cy="4852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008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AA376A-1B30-EC5C-8F63-5DE7410DC54F}"/>
              </a:ext>
            </a:extLst>
          </p:cNvPr>
          <p:cNvSpPr>
            <a:spLocks noGrp="1"/>
          </p:cNvSpPr>
          <p:nvPr>
            <p:ph type="title"/>
          </p:nvPr>
        </p:nvSpPr>
        <p:spPr/>
        <p:txBody>
          <a:bodyPr>
            <a:normAutofit fontScale="90000"/>
          </a:bodyPr>
          <a:lstStyle/>
          <a:p>
            <a:r>
              <a:rPr lang="ru-RU" dirty="0"/>
              <a:t>Вопросы для выявления заинтересованных лиц</a:t>
            </a:r>
          </a:p>
        </p:txBody>
      </p:sp>
      <p:sp>
        <p:nvSpPr>
          <p:cNvPr id="3" name="Объект 2">
            <a:extLst>
              <a:ext uri="{FF2B5EF4-FFF2-40B4-BE49-F238E27FC236}">
                <a16:creationId xmlns:a16="http://schemas.microsoft.com/office/drawing/2014/main" id="{F978774C-FAB1-1603-88CB-FAE3D2D73224}"/>
              </a:ext>
            </a:extLst>
          </p:cNvPr>
          <p:cNvSpPr>
            <a:spLocks noGrp="1"/>
          </p:cNvSpPr>
          <p:nvPr>
            <p:ph idx="1"/>
          </p:nvPr>
        </p:nvSpPr>
        <p:spPr/>
        <p:txBody>
          <a:bodyPr>
            <a:normAutofit/>
          </a:bodyPr>
          <a:lstStyle/>
          <a:p>
            <a:pPr marL="457200" indent="-457200">
              <a:buFont typeface="+mj-lt"/>
              <a:buAutoNum type="arabicPeriod"/>
            </a:pPr>
            <a:r>
              <a:rPr lang="ru-RU" dirty="0"/>
              <a:t>Для кого важен этот проект?</a:t>
            </a:r>
          </a:p>
          <a:p>
            <a:pPr marL="457200" indent="-457200">
              <a:buFont typeface="+mj-lt"/>
              <a:buAutoNum type="arabicPeriod"/>
            </a:pPr>
            <a:r>
              <a:rPr lang="ru-RU" dirty="0"/>
              <a:t>На кого повлияет этот проект?</a:t>
            </a:r>
          </a:p>
          <a:p>
            <a:pPr marL="457200" indent="-457200">
              <a:buFont typeface="+mj-lt"/>
              <a:buAutoNum type="arabicPeriod"/>
            </a:pPr>
            <a:r>
              <a:rPr lang="ru-RU" dirty="0"/>
              <a:t>Кто может повлиять на этот проект?</a:t>
            </a:r>
          </a:p>
          <a:p>
            <a:pPr marL="457200" indent="-457200">
              <a:buFont typeface="+mj-lt"/>
              <a:buAutoNum type="arabicPeriod"/>
            </a:pPr>
            <a:r>
              <a:rPr lang="ru-RU" dirty="0"/>
              <a:t>Кто может одобрить/отвергнуть этот проект?</a:t>
            </a:r>
          </a:p>
          <a:p>
            <a:endParaRPr lang="ru-RU" dirty="0"/>
          </a:p>
          <a:p>
            <a:r>
              <a:rPr lang="ru-RU" dirty="0"/>
              <a:t>И еще:</a:t>
            </a:r>
          </a:p>
          <a:p>
            <a:pPr marL="457200" indent="-457200">
              <a:buFont typeface="+mj-lt"/>
              <a:buAutoNum type="arabicPeriod"/>
            </a:pPr>
            <a:r>
              <a:rPr lang="ru-RU" dirty="0"/>
              <a:t>Существуют ли другие заинтересованные лица, о которых мне следует знать (например, менеджеры ресурсов или менеджеры портфеля проектов)?</a:t>
            </a:r>
          </a:p>
          <a:p>
            <a:pPr marL="457200" indent="-457200">
              <a:buFont typeface="+mj-lt"/>
              <a:buAutoNum type="arabicPeriod"/>
            </a:pPr>
            <a:r>
              <a:rPr lang="ru-RU" dirty="0"/>
              <a:t>Включены ли в список все ключевые лидеры и руководители?</a:t>
            </a:r>
          </a:p>
          <a:p>
            <a:pPr marL="457200" indent="-457200">
              <a:buFont typeface="+mj-lt"/>
              <a:buAutoNum type="arabicPeriod"/>
            </a:pPr>
            <a:r>
              <a:rPr lang="ru-RU" dirty="0"/>
              <a:t>Не упущены ли из вида внешние заинтересованные лица, на которых может повлиять результат проекта?</a:t>
            </a:r>
          </a:p>
        </p:txBody>
      </p:sp>
      <p:sp>
        <p:nvSpPr>
          <p:cNvPr id="4" name="Номер слайда 3">
            <a:extLst>
              <a:ext uri="{FF2B5EF4-FFF2-40B4-BE49-F238E27FC236}">
                <a16:creationId xmlns:a16="http://schemas.microsoft.com/office/drawing/2014/main" id="{1BE2BE7C-C9B4-4DCF-0A49-69498F1913BB}"/>
              </a:ext>
            </a:extLst>
          </p:cNvPr>
          <p:cNvSpPr>
            <a:spLocks noGrp="1"/>
          </p:cNvSpPr>
          <p:nvPr>
            <p:ph type="sldNum" sz="quarter" idx="12"/>
          </p:nvPr>
        </p:nvSpPr>
        <p:spPr/>
        <p:txBody>
          <a:bodyPr/>
          <a:lstStyle/>
          <a:p>
            <a:fld id="{25A42088-C730-408A-A823-60BED1AFCEA0}" type="slidenum">
              <a:rPr lang="ru-RU" smtClean="0"/>
              <a:t>7</a:t>
            </a:fld>
            <a:endParaRPr lang="ru-RU"/>
          </a:p>
        </p:txBody>
      </p:sp>
    </p:spTree>
    <p:extLst>
      <p:ext uri="{BB962C8B-B14F-4D97-AF65-F5344CB8AC3E}">
        <p14:creationId xmlns:p14="http://schemas.microsoft.com/office/powerpoint/2010/main" val="2470798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Потребности</a:t>
            </a:r>
          </a:p>
        </p:txBody>
      </p:sp>
      <p:sp>
        <p:nvSpPr>
          <p:cNvPr id="3" name="Объект 2"/>
          <p:cNvSpPr>
            <a:spLocks noGrp="1"/>
          </p:cNvSpPr>
          <p:nvPr>
            <p:ph idx="1"/>
          </p:nvPr>
        </p:nvSpPr>
        <p:spPr>
          <a:xfrm>
            <a:off x="1371600" y="1219201"/>
            <a:ext cx="9601200" cy="5181600"/>
          </a:xfrm>
        </p:spPr>
        <p:txBody>
          <a:bodyPr>
            <a:normAutofit/>
          </a:bodyPr>
          <a:lstStyle/>
          <a:p>
            <a:r>
              <a:rPr lang="ru-RU" sz="2400" b="1" dirty="0"/>
              <a:t>Потребности</a:t>
            </a:r>
            <a:r>
              <a:rPr lang="ru-RU" sz="2400" dirty="0"/>
              <a:t> определяются на основе наиболее актуальных проблем и задач, которые пользователи и заказчики видят перед собой. При этом требуется аккуратное выявление значимых проблем, определение того, насколько хорошо они решаются при текущем положении дел, и расстановка приоритетов при рассмотрении недостаточно хорошо решаемых, поскольку чаще всего решить сразу все проблемы невозможно.</a:t>
            </a:r>
          </a:p>
        </p:txBody>
      </p:sp>
      <p:sp>
        <p:nvSpPr>
          <p:cNvPr id="4" name="Номер слайда 3">
            <a:extLst>
              <a:ext uri="{FF2B5EF4-FFF2-40B4-BE49-F238E27FC236}">
                <a16:creationId xmlns:a16="http://schemas.microsoft.com/office/drawing/2014/main" id="{DE734F14-EDA0-40EC-FCFD-0449047373E3}"/>
              </a:ext>
            </a:extLst>
          </p:cNvPr>
          <p:cNvSpPr>
            <a:spLocks noGrp="1"/>
          </p:cNvSpPr>
          <p:nvPr>
            <p:ph type="sldNum" sz="quarter" idx="12"/>
          </p:nvPr>
        </p:nvSpPr>
        <p:spPr/>
        <p:txBody>
          <a:bodyPr/>
          <a:lstStyle/>
          <a:p>
            <a:fld id="{25A42088-C730-408A-A823-60BED1AFCEA0}" type="slidenum">
              <a:rPr lang="ru-RU" smtClean="0"/>
              <a:t>8</a:t>
            </a:fld>
            <a:endParaRPr lang="ru-RU"/>
          </a:p>
        </p:txBody>
      </p:sp>
    </p:spTree>
    <p:extLst>
      <p:ext uri="{BB962C8B-B14F-4D97-AF65-F5344CB8AC3E}">
        <p14:creationId xmlns:p14="http://schemas.microsoft.com/office/powerpoint/2010/main" val="163612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Формулировка потребностей</a:t>
            </a:r>
          </a:p>
        </p:txBody>
      </p:sp>
      <p:sp>
        <p:nvSpPr>
          <p:cNvPr id="3" name="Объект 2"/>
          <p:cNvSpPr>
            <a:spLocks noGrp="1"/>
          </p:cNvSpPr>
          <p:nvPr>
            <p:ph idx="1"/>
          </p:nvPr>
        </p:nvSpPr>
        <p:spPr/>
        <p:txBody>
          <a:bodyPr>
            <a:normAutofit/>
          </a:bodyPr>
          <a:lstStyle/>
          <a:p>
            <a:r>
              <a:rPr lang="ru-RU" sz="2400" dirty="0"/>
              <a:t>Формулировка потребностей может быть разбита на следующие этапы:</a:t>
            </a:r>
          </a:p>
          <a:p>
            <a:pPr marL="457200" indent="-457200">
              <a:buFont typeface="+mj-lt"/>
              <a:buAutoNum type="arabicPeriod"/>
            </a:pPr>
            <a:r>
              <a:rPr lang="ru-RU" sz="2400" dirty="0"/>
              <a:t>Выделить одну-две-три основных проблемы.</a:t>
            </a:r>
          </a:p>
          <a:p>
            <a:pPr marL="457200" indent="-457200">
              <a:buFont typeface="+mj-lt"/>
              <a:buAutoNum type="arabicPeriod"/>
            </a:pPr>
            <a:r>
              <a:rPr lang="ru-RU" sz="2400" dirty="0"/>
              <a:t>Определить причины возникновения проблем, оценить степень их влияния и выделить наиболее существенные из проблем, влекущие появление остальных.</a:t>
            </a:r>
          </a:p>
          <a:p>
            <a:pPr marL="457200" indent="-457200">
              <a:buFont typeface="+mj-lt"/>
              <a:buAutoNum type="arabicPeriod"/>
            </a:pPr>
            <a:r>
              <a:rPr lang="ru-RU" sz="2400" dirty="0"/>
              <a:t>Определить ограничения на возможные решения.</a:t>
            </a:r>
          </a:p>
          <a:p>
            <a:r>
              <a:rPr lang="ru-RU" sz="2400" dirty="0"/>
              <a:t>Формулировка потребностей не должна накладывать лишних ограничений на возможные решения, удовлетворяющие им. Нужно попытаться сформулировать, что именно является проблемой, а не предлагать сразу возможные решения.</a:t>
            </a:r>
          </a:p>
        </p:txBody>
      </p:sp>
      <p:sp>
        <p:nvSpPr>
          <p:cNvPr id="4" name="Номер слайда 3">
            <a:extLst>
              <a:ext uri="{FF2B5EF4-FFF2-40B4-BE49-F238E27FC236}">
                <a16:creationId xmlns:a16="http://schemas.microsoft.com/office/drawing/2014/main" id="{BF22601E-B4DE-10F7-C602-BCC098A23869}"/>
              </a:ext>
            </a:extLst>
          </p:cNvPr>
          <p:cNvSpPr>
            <a:spLocks noGrp="1"/>
          </p:cNvSpPr>
          <p:nvPr>
            <p:ph type="sldNum" sz="quarter" idx="12"/>
          </p:nvPr>
        </p:nvSpPr>
        <p:spPr/>
        <p:txBody>
          <a:bodyPr/>
          <a:lstStyle/>
          <a:p>
            <a:fld id="{25A42088-C730-408A-A823-60BED1AFCEA0}" type="slidenum">
              <a:rPr lang="ru-RU" smtClean="0"/>
              <a:t>9</a:t>
            </a:fld>
            <a:endParaRPr lang="ru-RU"/>
          </a:p>
        </p:txBody>
      </p:sp>
    </p:spTree>
    <p:extLst>
      <p:ext uri="{BB962C8B-B14F-4D97-AF65-F5344CB8AC3E}">
        <p14:creationId xmlns:p14="http://schemas.microsoft.com/office/powerpoint/2010/main" val="2699648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F1A106-C465-D8CE-AB32-0F91B5722075}"/>
              </a:ext>
            </a:extLst>
          </p:cNvPr>
          <p:cNvSpPr>
            <a:spLocks noGrp="1"/>
          </p:cNvSpPr>
          <p:nvPr>
            <p:ph type="title"/>
          </p:nvPr>
        </p:nvSpPr>
        <p:spPr/>
        <p:txBody>
          <a:bodyPr>
            <a:normAutofit fontScale="90000"/>
          </a:bodyPr>
          <a:lstStyle/>
          <a:p>
            <a:r>
              <a:rPr lang="ru-RU" dirty="0"/>
              <a:t>Сбор информации от заинтересованных лиц</a:t>
            </a:r>
          </a:p>
        </p:txBody>
      </p:sp>
      <p:sp>
        <p:nvSpPr>
          <p:cNvPr id="3" name="Объект 2">
            <a:extLst>
              <a:ext uri="{FF2B5EF4-FFF2-40B4-BE49-F238E27FC236}">
                <a16:creationId xmlns:a16="http://schemas.microsoft.com/office/drawing/2014/main" id="{EC090143-5E08-9D18-40BC-053B85B615D7}"/>
              </a:ext>
            </a:extLst>
          </p:cNvPr>
          <p:cNvSpPr>
            <a:spLocks noGrp="1"/>
          </p:cNvSpPr>
          <p:nvPr>
            <p:ph idx="1"/>
          </p:nvPr>
        </p:nvSpPr>
        <p:spPr/>
        <p:txBody>
          <a:bodyPr>
            <a:normAutofit/>
          </a:bodyPr>
          <a:lstStyle/>
          <a:p>
            <a:r>
              <a:rPr lang="ru-RU" sz="2400" b="1" dirty="0"/>
              <a:t>Сбор требований </a:t>
            </a:r>
            <a:r>
              <a:rPr lang="ru-RU" sz="2400" dirty="0"/>
              <a:t>— это один из самых важных этапов процесса создания любой информационной системы, будь то десктопное, веб или мобильное приложение или же просто доработка уже существующего решения. Прежде, чем начать собирать требования, необходимо выявить всех заинтересованных лиц (стейкхолдеров), которые будут пользоваться системой. </a:t>
            </a:r>
          </a:p>
          <a:p>
            <a:r>
              <a:rPr lang="ru-RU" sz="2400" dirty="0"/>
              <a:t>Следом собирается информация о потребностях заинтересованных лиц.</a:t>
            </a:r>
          </a:p>
          <a:p>
            <a:r>
              <a:rPr lang="ru-RU" sz="2400" dirty="0"/>
              <a:t>Основные способы сбора информации: </a:t>
            </a:r>
            <a:r>
              <a:rPr lang="ru-RU" sz="2400" b="1" dirty="0"/>
              <a:t>анкетирование </a:t>
            </a:r>
            <a:r>
              <a:rPr lang="ru-RU" sz="2400" dirty="0"/>
              <a:t>и </a:t>
            </a:r>
            <a:r>
              <a:rPr lang="ru-RU" sz="2400" b="1" dirty="0"/>
              <a:t>интервью</a:t>
            </a:r>
          </a:p>
        </p:txBody>
      </p:sp>
      <p:sp>
        <p:nvSpPr>
          <p:cNvPr id="4" name="Номер слайда 3">
            <a:extLst>
              <a:ext uri="{FF2B5EF4-FFF2-40B4-BE49-F238E27FC236}">
                <a16:creationId xmlns:a16="http://schemas.microsoft.com/office/drawing/2014/main" id="{F36415B6-84AF-E0BA-DC45-885DEB3D9698}"/>
              </a:ext>
            </a:extLst>
          </p:cNvPr>
          <p:cNvSpPr>
            <a:spLocks noGrp="1"/>
          </p:cNvSpPr>
          <p:nvPr>
            <p:ph type="sldNum" sz="quarter" idx="12"/>
          </p:nvPr>
        </p:nvSpPr>
        <p:spPr/>
        <p:txBody>
          <a:bodyPr/>
          <a:lstStyle/>
          <a:p>
            <a:fld id="{25A42088-C730-408A-A823-60BED1AFCEA0}" type="slidenum">
              <a:rPr lang="ru-RU" smtClean="0"/>
              <a:t>10</a:t>
            </a:fld>
            <a:endParaRPr lang="ru-RU"/>
          </a:p>
        </p:txBody>
      </p:sp>
    </p:spTree>
    <p:extLst>
      <p:ext uri="{BB962C8B-B14F-4D97-AF65-F5344CB8AC3E}">
        <p14:creationId xmlns:p14="http://schemas.microsoft.com/office/powerpoint/2010/main" val="432158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E614F5-B8EC-6428-9A1A-7E4645E8D4DC}"/>
              </a:ext>
            </a:extLst>
          </p:cNvPr>
          <p:cNvSpPr>
            <a:spLocks noGrp="1"/>
          </p:cNvSpPr>
          <p:nvPr>
            <p:ph type="title"/>
          </p:nvPr>
        </p:nvSpPr>
        <p:spPr/>
        <p:txBody>
          <a:bodyPr/>
          <a:lstStyle/>
          <a:p>
            <a:r>
              <a:rPr lang="ru-RU" dirty="0"/>
              <a:t>Анкетирование</a:t>
            </a:r>
          </a:p>
        </p:txBody>
      </p:sp>
      <p:sp>
        <p:nvSpPr>
          <p:cNvPr id="5" name="Текст 4">
            <a:extLst>
              <a:ext uri="{FF2B5EF4-FFF2-40B4-BE49-F238E27FC236}">
                <a16:creationId xmlns:a16="http://schemas.microsoft.com/office/drawing/2014/main" id="{23DE597A-6EEE-01D1-06CD-F56F8461BFD7}"/>
              </a:ext>
            </a:extLst>
          </p:cNvPr>
          <p:cNvSpPr>
            <a:spLocks noGrp="1"/>
          </p:cNvSpPr>
          <p:nvPr>
            <p:ph type="body" idx="1"/>
          </p:nvPr>
        </p:nvSpPr>
        <p:spPr/>
        <p:txBody>
          <a:bodyPr/>
          <a:lstStyle/>
          <a:p>
            <a:r>
              <a:rPr lang="ru-RU" dirty="0"/>
              <a:t>Плюсы</a:t>
            </a:r>
          </a:p>
        </p:txBody>
      </p:sp>
      <p:sp>
        <p:nvSpPr>
          <p:cNvPr id="6" name="Объект 5">
            <a:extLst>
              <a:ext uri="{FF2B5EF4-FFF2-40B4-BE49-F238E27FC236}">
                <a16:creationId xmlns:a16="http://schemas.microsoft.com/office/drawing/2014/main" id="{7A0F417F-3083-FE9C-ED90-CB417214EFF8}"/>
              </a:ext>
            </a:extLst>
          </p:cNvPr>
          <p:cNvSpPr>
            <a:spLocks noGrp="1"/>
          </p:cNvSpPr>
          <p:nvPr>
            <p:ph sz="half" idx="2"/>
          </p:nvPr>
        </p:nvSpPr>
        <p:spPr/>
        <p:txBody>
          <a:bodyPr>
            <a:normAutofit/>
          </a:bodyPr>
          <a:lstStyle/>
          <a:p>
            <a:pPr marL="342900" indent="-342900">
              <a:buFont typeface="Wingdings" panose="05000000000000000000" pitchFamily="2" charset="2"/>
              <a:buChar char="v"/>
            </a:pPr>
            <a:r>
              <a:rPr lang="ru-RU" sz="2400" dirty="0"/>
              <a:t>Высокая скорость получения результатов.</a:t>
            </a:r>
          </a:p>
          <a:p>
            <a:pPr marL="342900" indent="-342900">
              <a:buFont typeface="Wingdings" panose="05000000000000000000" pitchFamily="2" charset="2"/>
              <a:buChar char="v"/>
            </a:pPr>
            <a:r>
              <a:rPr lang="ru-RU" sz="2400" dirty="0"/>
              <a:t>Сравнительно небольшие материальные затраты.</a:t>
            </a:r>
          </a:p>
        </p:txBody>
      </p:sp>
      <p:sp>
        <p:nvSpPr>
          <p:cNvPr id="7" name="Текст 6">
            <a:extLst>
              <a:ext uri="{FF2B5EF4-FFF2-40B4-BE49-F238E27FC236}">
                <a16:creationId xmlns:a16="http://schemas.microsoft.com/office/drawing/2014/main" id="{8CC42094-DD3E-BF78-D5EA-0D8136CE75E7}"/>
              </a:ext>
            </a:extLst>
          </p:cNvPr>
          <p:cNvSpPr>
            <a:spLocks noGrp="1"/>
          </p:cNvSpPr>
          <p:nvPr>
            <p:ph type="body" sz="quarter" idx="3"/>
          </p:nvPr>
        </p:nvSpPr>
        <p:spPr/>
        <p:txBody>
          <a:bodyPr/>
          <a:lstStyle/>
          <a:p>
            <a:r>
              <a:rPr lang="ru-RU" dirty="0"/>
              <a:t>Минусы</a:t>
            </a:r>
          </a:p>
        </p:txBody>
      </p:sp>
      <p:sp>
        <p:nvSpPr>
          <p:cNvPr id="8" name="Объект 7">
            <a:extLst>
              <a:ext uri="{FF2B5EF4-FFF2-40B4-BE49-F238E27FC236}">
                <a16:creationId xmlns:a16="http://schemas.microsoft.com/office/drawing/2014/main" id="{8F840ECD-5D81-2EF8-1DB2-B78ADECDD25A}"/>
              </a:ext>
            </a:extLst>
          </p:cNvPr>
          <p:cNvSpPr>
            <a:spLocks noGrp="1"/>
          </p:cNvSpPr>
          <p:nvPr>
            <p:ph sz="quarter" idx="4"/>
          </p:nvPr>
        </p:nvSpPr>
        <p:spPr/>
        <p:txBody>
          <a:bodyPr>
            <a:normAutofit/>
          </a:bodyPr>
          <a:lstStyle/>
          <a:p>
            <a:pPr marL="342900" indent="-342900">
              <a:buFont typeface="Wingdings" panose="05000000000000000000" pitchFamily="2" charset="2"/>
              <a:buChar char="v"/>
            </a:pPr>
            <a:r>
              <a:rPr lang="ru-RU" sz="2400" dirty="0"/>
              <a:t>Данный метод не подходит для выявления неявных требований.</a:t>
            </a:r>
          </a:p>
          <a:p>
            <a:pPr marL="342900" indent="-342900">
              <a:buFont typeface="Wingdings" panose="05000000000000000000" pitchFamily="2" charset="2"/>
              <a:buChar char="v"/>
            </a:pPr>
            <a:r>
              <a:rPr lang="ru-RU" sz="2400" dirty="0"/>
              <a:t>При составлении опросника физически невозможно учесть все необходимые вопросы.</a:t>
            </a:r>
          </a:p>
          <a:p>
            <a:pPr marL="342900" indent="-342900">
              <a:buFont typeface="Wingdings" panose="05000000000000000000" pitchFamily="2" charset="2"/>
              <a:buChar char="v"/>
            </a:pPr>
            <a:endParaRPr lang="ru-RU" sz="2400" dirty="0"/>
          </a:p>
        </p:txBody>
      </p:sp>
      <p:sp>
        <p:nvSpPr>
          <p:cNvPr id="4" name="Номер слайда 3">
            <a:extLst>
              <a:ext uri="{FF2B5EF4-FFF2-40B4-BE49-F238E27FC236}">
                <a16:creationId xmlns:a16="http://schemas.microsoft.com/office/drawing/2014/main" id="{6610B05F-0A8F-8EC1-5CE0-8FDDBEB410FD}"/>
              </a:ext>
            </a:extLst>
          </p:cNvPr>
          <p:cNvSpPr>
            <a:spLocks noGrp="1"/>
          </p:cNvSpPr>
          <p:nvPr>
            <p:ph type="sldNum" sz="quarter" idx="12"/>
          </p:nvPr>
        </p:nvSpPr>
        <p:spPr/>
        <p:txBody>
          <a:bodyPr/>
          <a:lstStyle/>
          <a:p>
            <a:fld id="{25A42088-C730-408A-A823-60BED1AFCEA0}" type="slidenum">
              <a:rPr lang="ru-RU" smtClean="0"/>
              <a:t>11</a:t>
            </a:fld>
            <a:endParaRPr lang="ru-RU"/>
          </a:p>
        </p:txBody>
      </p:sp>
    </p:spTree>
    <p:extLst>
      <p:ext uri="{BB962C8B-B14F-4D97-AF65-F5344CB8AC3E}">
        <p14:creationId xmlns:p14="http://schemas.microsoft.com/office/powerpoint/2010/main" val="1369358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D217CD-FB71-1CF2-8FE1-B95794D85C65}"/>
              </a:ext>
            </a:extLst>
          </p:cNvPr>
          <p:cNvSpPr>
            <a:spLocks noGrp="1"/>
          </p:cNvSpPr>
          <p:nvPr>
            <p:ph type="title"/>
          </p:nvPr>
        </p:nvSpPr>
        <p:spPr/>
        <p:txBody>
          <a:bodyPr/>
          <a:lstStyle/>
          <a:p>
            <a:r>
              <a:rPr lang="ru-RU" dirty="0"/>
              <a:t>Интервью</a:t>
            </a:r>
          </a:p>
        </p:txBody>
      </p:sp>
      <p:sp>
        <p:nvSpPr>
          <p:cNvPr id="3" name="Текст 2">
            <a:extLst>
              <a:ext uri="{FF2B5EF4-FFF2-40B4-BE49-F238E27FC236}">
                <a16:creationId xmlns:a16="http://schemas.microsoft.com/office/drawing/2014/main" id="{55A7501E-0091-4763-99DF-C4A565486AD2}"/>
              </a:ext>
            </a:extLst>
          </p:cNvPr>
          <p:cNvSpPr>
            <a:spLocks noGrp="1"/>
          </p:cNvSpPr>
          <p:nvPr>
            <p:ph type="body" idx="1"/>
          </p:nvPr>
        </p:nvSpPr>
        <p:spPr/>
        <p:txBody>
          <a:bodyPr/>
          <a:lstStyle/>
          <a:p>
            <a:r>
              <a:rPr lang="ru-RU" dirty="0"/>
              <a:t>Плюсы</a:t>
            </a:r>
          </a:p>
        </p:txBody>
      </p:sp>
      <p:sp>
        <p:nvSpPr>
          <p:cNvPr id="4" name="Объект 3">
            <a:extLst>
              <a:ext uri="{FF2B5EF4-FFF2-40B4-BE49-F238E27FC236}">
                <a16:creationId xmlns:a16="http://schemas.microsoft.com/office/drawing/2014/main" id="{5AA581EC-1975-D9DD-EBA0-F3EA910CAB9B}"/>
              </a:ext>
            </a:extLst>
          </p:cNvPr>
          <p:cNvSpPr>
            <a:spLocks noGrp="1"/>
          </p:cNvSpPr>
          <p:nvPr>
            <p:ph sz="half" idx="2"/>
          </p:nvPr>
        </p:nvSpPr>
        <p:spPr/>
        <p:txBody>
          <a:bodyPr/>
          <a:lstStyle/>
          <a:p>
            <a:pPr marL="342900" indent="-342900">
              <a:buFont typeface="Wingdings" panose="05000000000000000000" pitchFamily="2" charset="2"/>
              <a:buChar char="v"/>
            </a:pPr>
            <a:r>
              <a:rPr lang="ru-RU" dirty="0"/>
              <a:t>Возможность задавать вопросы в произвольной последовательности.</a:t>
            </a:r>
          </a:p>
          <a:p>
            <a:pPr marL="342900" indent="-342900">
              <a:buFont typeface="Wingdings" panose="05000000000000000000" pitchFamily="2" charset="2"/>
              <a:buChar char="v"/>
            </a:pPr>
            <a:r>
              <a:rPr lang="ru-RU" dirty="0"/>
              <a:t>Возможность использовать вспомогательный материал.</a:t>
            </a:r>
          </a:p>
          <a:p>
            <a:pPr marL="342900" indent="-342900">
              <a:buFont typeface="Wingdings" panose="05000000000000000000" pitchFamily="2" charset="2"/>
              <a:buChar char="v"/>
            </a:pPr>
            <a:r>
              <a:rPr lang="ru-RU" dirty="0"/>
              <a:t>Анализ невербальной реакции опрашиваемого человека, позволит сделать дополнительный вывод о достоверности его ответов.</a:t>
            </a:r>
          </a:p>
        </p:txBody>
      </p:sp>
      <p:sp>
        <p:nvSpPr>
          <p:cNvPr id="5" name="Текст 4">
            <a:extLst>
              <a:ext uri="{FF2B5EF4-FFF2-40B4-BE49-F238E27FC236}">
                <a16:creationId xmlns:a16="http://schemas.microsoft.com/office/drawing/2014/main" id="{B05FA9E6-8D1C-0536-6D50-514D4F55F693}"/>
              </a:ext>
            </a:extLst>
          </p:cNvPr>
          <p:cNvSpPr>
            <a:spLocks noGrp="1"/>
          </p:cNvSpPr>
          <p:nvPr>
            <p:ph type="body" sz="quarter" idx="3"/>
          </p:nvPr>
        </p:nvSpPr>
        <p:spPr/>
        <p:txBody>
          <a:bodyPr/>
          <a:lstStyle/>
          <a:p>
            <a:r>
              <a:rPr lang="ru-RU" dirty="0"/>
              <a:t>Минусы</a:t>
            </a:r>
          </a:p>
        </p:txBody>
      </p:sp>
      <p:sp>
        <p:nvSpPr>
          <p:cNvPr id="6" name="Объект 5">
            <a:extLst>
              <a:ext uri="{FF2B5EF4-FFF2-40B4-BE49-F238E27FC236}">
                <a16:creationId xmlns:a16="http://schemas.microsoft.com/office/drawing/2014/main" id="{40A16B7A-1F34-7471-8D2B-709E588448C3}"/>
              </a:ext>
            </a:extLst>
          </p:cNvPr>
          <p:cNvSpPr>
            <a:spLocks noGrp="1"/>
          </p:cNvSpPr>
          <p:nvPr>
            <p:ph sz="quarter" idx="4"/>
          </p:nvPr>
        </p:nvSpPr>
        <p:spPr/>
        <p:txBody>
          <a:bodyPr/>
          <a:lstStyle/>
          <a:p>
            <a:pPr marL="342900" indent="-342900">
              <a:buFont typeface="Wingdings" panose="05000000000000000000" pitchFamily="2" charset="2"/>
              <a:buChar char="v"/>
            </a:pPr>
            <a:r>
              <a:rPr lang="ru-RU" dirty="0"/>
              <a:t>Интервью отнимает достаточно много времени и сил.</a:t>
            </a:r>
          </a:p>
          <a:p>
            <a:pPr marL="342900" indent="-342900">
              <a:buFont typeface="Wingdings" panose="05000000000000000000" pitchFamily="2" charset="2"/>
              <a:buChar char="v"/>
            </a:pPr>
            <a:r>
              <a:rPr lang="ru-RU" dirty="0"/>
              <a:t>Дополнительной сложностью является получение одинаковых ответов от интервьюируемых.</a:t>
            </a:r>
          </a:p>
        </p:txBody>
      </p:sp>
      <p:sp>
        <p:nvSpPr>
          <p:cNvPr id="7" name="Номер слайда 6">
            <a:extLst>
              <a:ext uri="{FF2B5EF4-FFF2-40B4-BE49-F238E27FC236}">
                <a16:creationId xmlns:a16="http://schemas.microsoft.com/office/drawing/2014/main" id="{2F7328B4-7521-8C21-78E3-425478D24A54}"/>
              </a:ext>
            </a:extLst>
          </p:cNvPr>
          <p:cNvSpPr>
            <a:spLocks noGrp="1"/>
          </p:cNvSpPr>
          <p:nvPr>
            <p:ph type="sldNum" sz="quarter" idx="12"/>
          </p:nvPr>
        </p:nvSpPr>
        <p:spPr/>
        <p:txBody>
          <a:bodyPr/>
          <a:lstStyle/>
          <a:p>
            <a:fld id="{25A42088-C730-408A-A823-60BED1AFCEA0}" type="slidenum">
              <a:rPr lang="ru-RU" smtClean="0"/>
              <a:t>12</a:t>
            </a:fld>
            <a:endParaRPr lang="ru-RU"/>
          </a:p>
        </p:txBody>
      </p:sp>
    </p:spTree>
    <p:extLst>
      <p:ext uri="{BB962C8B-B14F-4D97-AF65-F5344CB8AC3E}">
        <p14:creationId xmlns:p14="http://schemas.microsoft.com/office/powerpoint/2010/main" val="1670955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Анализ требований</a:t>
            </a:r>
          </a:p>
        </p:txBody>
      </p:sp>
      <p:sp>
        <p:nvSpPr>
          <p:cNvPr id="3" name="Объект 2"/>
          <p:cNvSpPr>
            <a:spLocks noGrp="1"/>
          </p:cNvSpPr>
          <p:nvPr>
            <p:ph idx="1"/>
          </p:nvPr>
        </p:nvSpPr>
        <p:spPr/>
        <p:txBody>
          <a:bodyPr/>
          <a:lstStyle/>
          <a:p>
            <a:r>
              <a:rPr lang="ru-RU" b="1" dirty="0"/>
              <a:t>Требованиями</a:t>
            </a:r>
            <a:r>
              <a:rPr lang="ru-RU" dirty="0"/>
              <a:t> называют описание функциональных возможностей и ограничений, накладываемых на создаваемую программную систему. Обычно требования выражают, что система должна делать. Здесь не пытаются сформулировать, как добиться выполнения этих функций.</a:t>
            </a:r>
          </a:p>
          <a:p>
            <a:r>
              <a:rPr lang="ru-RU" dirty="0"/>
              <a:t>Например, возможно такое требование к банковской системе:</a:t>
            </a:r>
          </a:p>
          <a:p>
            <a:r>
              <a:rPr lang="ru-RU" i="1" dirty="0"/>
              <a:t>Система должна предоставить клиенту возможности выполнения следующих операций над его счетом: просмотр, снятие денег, добавление денег.</a:t>
            </a:r>
          </a:p>
          <a:p>
            <a:r>
              <a:rPr lang="ru-RU" dirty="0"/>
              <a:t>А вот такая запись требованием не является:</a:t>
            </a:r>
          </a:p>
          <a:p>
            <a:r>
              <a:rPr lang="ru-RU" i="1" dirty="0"/>
              <a:t>Информация банковского счета должна храниться в виде трех таблиц СУБД </a:t>
            </a:r>
            <a:r>
              <a:rPr lang="en-US" i="1" dirty="0"/>
              <a:t>MySQL</a:t>
            </a:r>
            <a:r>
              <a:rPr lang="ru-RU" i="1" dirty="0"/>
              <a:t>.</a:t>
            </a:r>
          </a:p>
        </p:txBody>
      </p:sp>
      <p:sp>
        <p:nvSpPr>
          <p:cNvPr id="4" name="Номер слайда 3">
            <a:extLst>
              <a:ext uri="{FF2B5EF4-FFF2-40B4-BE49-F238E27FC236}">
                <a16:creationId xmlns:a16="http://schemas.microsoft.com/office/drawing/2014/main" id="{E61C1120-95BD-2171-1874-12065D5C774A}"/>
              </a:ext>
            </a:extLst>
          </p:cNvPr>
          <p:cNvSpPr>
            <a:spLocks noGrp="1"/>
          </p:cNvSpPr>
          <p:nvPr>
            <p:ph type="sldNum" sz="quarter" idx="12"/>
          </p:nvPr>
        </p:nvSpPr>
        <p:spPr/>
        <p:txBody>
          <a:bodyPr/>
          <a:lstStyle/>
          <a:p>
            <a:fld id="{25A42088-C730-408A-A823-60BED1AFCEA0}" type="slidenum">
              <a:rPr lang="ru-RU" smtClean="0"/>
              <a:t>13</a:t>
            </a:fld>
            <a:endParaRPr lang="ru-RU"/>
          </a:p>
        </p:txBody>
      </p:sp>
    </p:spTree>
    <p:extLst>
      <p:ext uri="{BB962C8B-B14F-4D97-AF65-F5344CB8AC3E}">
        <p14:creationId xmlns:p14="http://schemas.microsoft.com/office/powerpoint/2010/main" val="2148381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Категории представления требований</a:t>
            </a:r>
          </a:p>
        </p:txBody>
      </p:sp>
      <p:sp>
        <p:nvSpPr>
          <p:cNvPr id="3" name="Объект 2"/>
          <p:cNvSpPr>
            <a:spLocks noGrp="1"/>
          </p:cNvSpPr>
          <p:nvPr>
            <p:ph idx="1"/>
          </p:nvPr>
        </p:nvSpPr>
        <p:spPr/>
        <p:txBody>
          <a:bodyPr>
            <a:normAutofit/>
          </a:bodyPr>
          <a:lstStyle/>
          <a:p>
            <a:r>
              <a:rPr lang="ru-RU" sz="2400" dirty="0"/>
              <a:t>Различают две категории представления требований: </a:t>
            </a:r>
            <a:r>
              <a:rPr lang="ru-RU" sz="2400" b="1" dirty="0"/>
              <a:t>требования заказчика </a:t>
            </a:r>
            <a:r>
              <a:rPr lang="ru-RU" sz="2400" dirty="0"/>
              <a:t>(</a:t>
            </a:r>
            <a:r>
              <a:rPr lang="ru-RU" sz="2400" b="1" dirty="0"/>
              <a:t>первичные требования - потребности</a:t>
            </a:r>
            <a:r>
              <a:rPr lang="ru-RU" sz="2400" dirty="0"/>
              <a:t>) и </a:t>
            </a:r>
            <a:r>
              <a:rPr lang="ru-RU" sz="2400" b="1" dirty="0"/>
              <a:t>требования разработчика </a:t>
            </a:r>
            <a:r>
              <a:rPr lang="ru-RU" sz="2400" dirty="0"/>
              <a:t>(</a:t>
            </a:r>
            <a:r>
              <a:rPr lang="ru-RU" sz="2400" b="1" dirty="0"/>
              <a:t>детальные требования</a:t>
            </a:r>
            <a:r>
              <a:rPr lang="ru-RU" sz="2400" dirty="0"/>
              <a:t>). Отличаются они друг от друга степенью проработки описаний.</a:t>
            </a:r>
          </a:p>
          <a:p>
            <a:r>
              <a:rPr lang="ru-RU" sz="2400" dirty="0"/>
              <a:t>Первичные требования, потребности, документируют желания и потребности заказчика и пишутся на языке, попятном заказчику. Детальные требования документируют требования в специальной, структурированной форме, они детализированы по отношению к первичным требованиям.</a:t>
            </a:r>
          </a:p>
        </p:txBody>
      </p:sp>
      <p:sp>
        <p:nvSpPr>
          <p:cNvPr id="4" name="Номер слайда 3">
            <a:extLst>
              <a:ext uri="{FF2B5EF4-FFF2-40B4-BE49-F238E27FC236}">
                <a16:creationId xmlns:a16="http://schemas.microsoft.com/office/drawing/2014/main" id="{5202E76D-0001-A004-1273-8CEB646820CA}"/>
              </a:ext>
            </a:extLst>
          </p:cNvPr>
          <p:cNvSpPr>
            <a:spLocks noGrp="1"/>
          </p:cNvSpPr>
          <p:nvPr>
            <p:ph type="sldNum" sz="quarter" idx="12"/>
          </p:nvPr>
        </p:nvSpPr>
        <p:spPr/>
        <p:txBody>
          <a:bodyPr/>
          <a:lstStyle/>
          <a:p>
            <a:fld id="{25A42088-C730-408A-A823-60BED1AFCEA0}" type="slidenum">
              <a:rPr lang="ru-RU" smtClean="0"/>
              <a:t>14</a:t>
            </a:fld>
            <a:endParaRPr lang="ru-RU"/>
          </a:p>
        </p:txBody>
      </p:sp>
    </p:spTree>
    <p:extLst>
      <p:ext uri="{BB962C8B-B14F-4D97-AF65-F5344CB8AC3E}">
        <p14:creationId xmlns:p14="http://schemas.microsoft.com/office/powerpoint/2010/main" val="2556119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Пример перехода от требований заказчика к требованиям разработчика</a:t>
            </a:r>
          </a:p>
        </p:txBody>
      </p:sp>
      <p:sp>
        <p:nvSpPr>
          <p:cNvPr id="3" name="Объект 2"/>
          <p:cNvSpPr>
            <a:spLocks noGrp="1"/>
          </p:cNvSpPr>
          <p:nvPr>
            <p:ph idx="1"/>
          </p:nvPr>
        </p:nvSpPr>
        <p:spPr>
          <a:xfrm>
            <a:off x="1371600" y="1745673"/>
            <a:ext cx="9784080" cy="4533207"/>
          </a:xfrm>
        </p:spPr>
        <p:txBody>
          <a:bodyPr>
            <a:normAutofit fontScale="92500" lnSpcReduction="20000"/>
          </a:bodyPr>
          <a:lstStyle/>
          <a:p>
            <a:r>
              <a:rPr lang="ru-RU" b="1" dirty="0"/>
              <a:t>Требования заказчика</a:t>
            </a:r>
          </a:p>
          <a:p>
            <a:r>
              <a:rPr lang="ru-RU" dirty="0"/>
              <a:t>1. ПО должно обеспечить средства для ввода и сохранения разнообразных данных абонента-пользователя.</a:t>
            </a:r>
          </a:p>
          <a:p>
            <a:r>
              <a:rPr lang="ru-RU" b="1" dirty="0"/>
              <a:t>Требования разработчика</a:t>
            </a:r>
          </a:p>
          <a:p>
            <a:r>
              <a:rPr lang="ru-RU" dirty="0"/>
              <a:t>1.1. Пользователь должен иметь возможность определять тип вводимых данных.</a:t>
            </a:r>
          </a:p>
          <a:p>
            <a:r>
              <a:rPr lang="ru-RU" dirty="0"/>
              <a:t>1.2. Для каждого типа данных должно иметься соответствующее средство, обеспечивающее ввод и сохранение элемента данных этого типа.</a:t>
            </a:r>
          </a:p>
          <a:p>
            <a:r>
              <a:rPr lang="ru-RU" dirty="0"/>
              <a:t>1.3. Каждый тип данных должен представляться соответствующей пиктограммой на дисплее пользователя.</a:t>
            </a:r>
          </a:p>
          <a:p>
            <a:r>
              <a:rPr lang="ru-RU" dirty="0"/>
              <a:t>1.4. Пользователю должна предлагаться пиктограмма для каждого типа данных. Кроме того, должна предлагаться возможность самостоятельного выбора пиктограммы для каждого типа данных.</a:t>
            </a:r>
          </a:p>
          <a:p>
            <a:r>
              <a:rPr lang="ru-RU" dirty="0"/>
              <a:t>1.5. При выборе пользователем пиктограммы типа данных к элементу данных должно быть применено средство, ассоциированное с указанным типом.</a:t>
            </a:r>
          </a:p>
        </p:txBody>
      </p:sp>
      <p:sp>
        <p:nvSpPr>
          <p:cNvPr id="4" name="Номер слайда 3">
            <a:extLst>
              <a:ext uri="{FF2B5EF4-FFF2-40B4-BE49-F238E27FC236}">
                <a16:creationId xmlns:a16="http://schemas.microsoft.com/office/drawing/2014/main" id="{47D87C81-8640-9931-13CB-940E88824413}"/>
              </a:ext>
            </a:extLst>
          </p:cNvPr>
          <p:cNvSpPr>
            <a:spLocks noGrp="1"/>
          </p:cNvSpPr>
          <p:nvPr>
            <p:ph type="sldNum" sz="quarter" idx="12"/>
          </p:nvPr>
        </p:nvSpPr>
        <p:spPr/>
        <p:txBody>
          <a:bodyPr/>
          <a:lstStyle/>
          <a:p>
            <a:fld id="{25A42088-C730-408A-A823-60BED1AFCEA0}" type="slidenum">
              <a:rPr lang="ru-RU" smtClean="0"/>
              <a:t>15</a:t>
            </a:fld>
            <a:endParaRPr lang="ru-RU"/>
          </a:p>
        </p:txBody>
      </p:sp>
    </p:spTree>
    <p:extLst>
      <p:ext uri="{BB962C8B-B14F-4D97-AF65-F5344CB8AC3E}">
        <p14:creationId xmlns:p14="http://schemas.microsoft.com/office/powerpoint/2010/main" val="1355296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Виды требований</a:t>
            </a:r>
          </a:p>
        </p:txBody>
      </p:sp>
      <p:sp>
        <p:nvSpPr>
          <p:cNvPr id="3" name="Объект 2"/>
          <p:cNvSpPr>
            <a:spLocks noGrp="1"/>
          </p:cNvSpPr>
          <p:nvPr>
            <p:ph idx="1"/>
          </p:nvPr>
        </p:nvSpPr>
        <p:spPr/>
        <p:txBody>
          <a:bodyPr>
            <a:normAutofit/>
          </a:bodyPr>
          <a:lstStyle/>
          <a:p>
            <a:r>
              <a:rPr lang="ru-RU" dirty="0"/>
              <a:t>Различают два вида требований:</a:t>
            </a:r>
          </a:p>
          <a:p>
            <a:r>
              <a:rPr lang="ru-RU" b="1" dirty="0"/>
              <a:t>Функциональные требования</a:t>
            </a:r>
            <a:r>
              <a:rPr lang="ru-RU" dirty="0"/>
              <a:t>. Они описывают поведение системы и сервисы (функции), которые она должна выполнять. При этом исходят из всестороннего анализа проблемной (предметной) области. Рассматриваются разнообразные варианты поведения, определяемые различными данными и состояниями внешней среды.</a:t>
            </a:r>
          </a:p>
          <a:p>
            <a:r>
              <a:rPr lang="ru-RU" b="1" dirty="0"/>
              <a:t>Нефункциональные требования</a:t>
            </a:r>
            <a:r>
              <a:rPr lang="ru-RU" dirty="0"/>
              <a:t>. Эти требования отпросятся к характеристикам системы и ее внешнего окружения. Дополнительно могут перечисляться ограничения, накладываемые на действия и функции системы, а также на условия разработки (ограничения по времени, ограничения на организацию проекта, стандарты и т. д.).</a:t>
            </a:r>
          </a:p>
        </p:txBody>
      </p:sp>
      <p:sp>
        <p:nvSpPr>
          <p:cNvPr id="4" name="Номер слайда 3">
            <a:extLst>
              <a:ext uri="{FF2B5EF4-FFF2-40B4-BE49-F238E27FC236}">
                <a16:creationId xmlns:a16="http://schemas.microsoft.com/office/drawing/2014/main" id="{77DF990C-97B4-2578-FCB4-2D710594910A}"/>
              </a:ext>
            </a:extLst>
          </p:cNvPr>
          <p:cNvSpPr>
            <a:spLocks noGrp="1"/>
          </p:cNvSpPr>
          <p:nvPr>
            <p:ph type="sldNum" sz="quarter" idx="12"/>
          </p:nvPr>
        </p:nvSpPr>
        <p:spPr/>
        <p:txBody>
          <a:bodyPr/>
          <a:lstStyle/>
          <a:p>
            <a:fld id="{25A42088-C730-408A-A823-60BED1AFCEA0}" type="slidenum">
              <a:rPr lang="ru-RU" smtClean="0"/>
              <a:t>16</a:t>
            </a:fld>
            <a:endParaRPr lang="ru-RU"/>
          </a:p>
        </p:txBody>
      </p:sp>
    </p:spTree>
    <p:extLst>
      <p:ext uri="{BB962C8B-B14F-4D97-AF65-F5344CB8AC3E}">
        <p14:creationId xmlns:p14="http://schemas.microsoft.com/office/powerpoint/2010/main" val="916291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dirty="0"/>
              <a:t>Группы нефункциональных требований</a:t>
            </a:r>
          </a:p>
        </p:txBody>
      </p:sp>
      <p:sp>
        <p:nvSpPr>
          <p:cNvPr id="3" name="Объект 2"/>
          <p:cNvSpPr>
            <a:spLocks noGrp="1"/>
          </p:cNvSpPr>
          <p:nvPr>
            <p:ph idx="1"/>
          </p:nvPr>
        </p:nvSpPr>
        <p:spPr/>
        <p:txBody>
          <a:bodyPr>
            <a:normAutofit/>
          </a:bodyPr>
          <a:lstStyle/>
          <a:p>
            <a:r>
              <a:rPr lang="ru-RU" b="1" dirty="0"/>
              <a:t>Требования к программной системе</a:t>
            </a:r>
            <a:r>
              <a:rPr lang="ru-RU" dirty="0"/>
              <a:t>. Описывают свойства и характеристики системы. Сюда относятся требования к скорости работы, производительности, емкости необходимой памяти, надёжности, переносимости системы на разные компьютерные платформы и удобству эксплуатации.</a:t>
            </a:r>
          </a:p>
          <a:p>
            <a:r>
              <a:rPr lang="ru-RU" b="1" dirty="0"/>
              <a:t>Организационные требования</a:t>
            </a:r>
            <a:r>
              <a:rPr lang="ru-RU" dirty="0"/>
              <a:t>. Отображают вопросы работы и организации взаимодействия заказчика и разработчика. Они включают стандарты разработки программной системы, требования к методам и средствам разработки, указывают сроки создания и набор документации.</a:t>
            </a:r>
          </a:p>
          <a:p>
            <a:r>
              <a:rPr lang="ru-RU" b="1" dirty="0"/>
              <a:t>Внешние требования</a:t>
            </a:r>
            <a:r>
              <a:rPr lang="ru-RU" dirty="0"/>
              <a:t>. Учитывают факторы вешней среды. Они определяют требования по взаимодействию данной системы с внешним окружением, юридические обязательства, а также этические требования, гарантирующие приемлемость системы для пользователей.</a:t>
            </a:r>
          </a:p>
        </p:txBody>
      </p:sp>
      <p:sp>
        <p:nvSpPr>
          <p:cNvPr id="4" name="Номер слайда 3">
            <a:extLst>
              <a:ext uri="{FF2B5EF4-FFF2-40B4-BE49-F238E27FC236}">
                <a16:creationId xmlns:a16="http://schemas.microsoft.com/office/drawing/2014/main" id="{FD76CA8F-F153-7F90-1C29-6E6EB93C9BC4}"/>
              </a:ext>
            </a:extLst>
          </p:cNvPr>
          <p:cNvSpPr>
            <a:spLocks noGrp="1"/>
          </p:cNvSpPr>
          <p:nvPr>
            <p:ph type="sldNum" sz="quarter" idx="12"/>
          </p:nvPr>
        </p:nvSpPr>
        <p:spPr/>
        <p:txBody>
          <a:bodyPr/>
          <a:lstStyle/>
          <a:p>
            <a:fld id="{25A42088-C730-408A-A823-60BED1AFCEA0}" type="slidenum">
              <a:rPr lang="ru-RU" smtClean="0"/>
              <a:t>17</a:t>
            </a:fld>
            <a:endParaRPr lang="ru-RU"/>
          </a:p>
        </p:txBody>
      </p:sp>
    </p:spTree>
    <p:extLst>
      <p:ext uri="{BB962C8B-B14F-4D97-AF65-F5344CB8AC3E}">
        <p14:creationId xmlns:p14="http://schemas.microsoft.com/office/powerpoint/2010/main" val="527140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Требования должны быть:</a:t>
            </a:r>
          </a:p>
        </p:txBody>
      </p:sp>
      <p:sp>
        <p:nvSpPr>
          <p:cNvPr id="3" name="Объект 2"/>
          <p:cNvSpPr>
            <a:spLocks noGrp="1"/>
          </p:cNvSpPr>
          <p:nvPr>
            <p:ph idx="1"/>
          </p:nvPr>
        </p:nvSpPr>
        <p:spPr/>
        <p:txBody>
          <a:bodyPr>
            <a:normAutofit/>
          </a:bodyPr>
          <a:lstStyle/>
          <a:p>
            <a:pPr marL="342900" indent="-342900">
              <a:buFont typeface="Wingdings" panose="05000000000000000000" pitchFamily="2" charset="2"/>
              <a:buChar char="v"/>
            </a:pPr>
            <a:r>
              <a:rPr lang="ru-RU" sz="2400" b="1" dirty="0"/>
              <a:t>ясными</a:t>
            </a:r>
            <a:r>
              <a:rPr lang="ru-RU" sz="2400" dirty="0"/>
              <a:t> (не допускать двоякого толкования, приводящего к искажению смысла пожеланий заказчика);</a:t>
            </a:r>
          </a:p>
          <a:p>
            <a:pPr marL="342900" indent="-342900">
              <a:buFont typeface="Wingdings" panose="05000000000000000000" pitchFamily="2" charset="2"/>
              <a:buChar char="v"/>
            </a:pPr>
            <a:r>
              <a:rPr lang="ru-RU" sz="2400" b="1" dirty="0"/>
              <a:t>согласованными</a:t>
            </a:r>
            <a:r>
              <a:rPr lang="ru-RU" sz="2400" dirty="0"/>
              <a:t> (не содержать противоречивых и взаимоисключающих утверждений);</a:t>
            </a:r>
          </a:p>
          <a:p>
            <a:pPr marL="342900" indent="-342900">
              <a:buFont typeface="Wingdings" panose="05000000000000000000" pitchFamily="2" charset="2"/>
              <a:buChar char="v"/>
            </a:pPr>
            <a:r>
              <a:rPr lang="ru-RU" sz="2400" b="1" dirty="0"/>
              <a:t>полными</a:t>
            </a:r>
            <a:r>
              <a:rPr lang="ru-RU" sz="2400" dirty="0"/>
              <a:t> (определять всю требуемую функциональность системы).</a:t>
            </a:r>
          </a:p>
        </p:txBody>
      </p:sp>
      <p:sp>
        <p:nvSpPr>
          <p:cNvPr id="4" name="Номер слайда 3">
            <a:extLst>
              <a:ext uri="{FF2B5EF4-FFF2-40B4-BE49-F238E27FC236}">
                <a16:creationId xmlns:a16="http://schemas.microsoft.com/office/drawing/2014/main" id="{7CE1AF11-EFA3-F75C-D43E-7A292C7682E8}"/>
              </a:ext>
            </a:extLst>
          </p:cNvPr>
          <p:cNvSpPr>
            <a:spLocks noGrp="1"/>
          </p:cNvSpPr>
          <p:nvPr>
            <p:ph type="sldNum" sz="quarter" idx="12"/>
          </p:nvPr>
        </p:nvSpPr>
        <p:spPr/>
        <p:txBody>
          <a:bodyPr/>
          <a:lstStyle/>
          <a:p>
            <a:fld id="{25A42088-C730-408A-A823-60BED1AFCEA0}" type="slidenum">
              <a:rPr lang="ru-RU" smtClean="0"/>
              <a:t>18</a:t>
            </a:fld>
            <a:endParaRPr lang="ru-RU"/>
          </a:p>
        </p:txBody>
      </p:sp>
    </p:spTree>
    <p:extLst>
      <p:ext uri="{BB962C8B-B14F-4D97-AF65-F5344CB8AC3E}">
        <p14:creationId xmlns:p14="http://schemas.microsoft.com/office/powerpoint/2010/main" val="702125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Примеры</a:t>
            </a:r>
          </a:p>
        </p:txBody>
      </p:sp>
      <p:sp>
        <p:nvSpPr>
          <p:cNvPr id="3" name="Объект 2"/>
          <p:cNvSpPr>
            <a:spLocks noGrp="1"/>
          </p:cNvSpPr>
          <p:nvPr>
            <p:ph idx="1"/>
          </p:nvPr>
        </p:nvSpPr>
        <p:spPr/>
        <p:txBody>
          <a:bodyPr>
            <a:normAutofit fontScale="92500" lnSpcReduction="10000"/>
          </a:bodyPr>
          <a:lstStyle/>
          <a:p>
            <a:r>
              <a:rPr lang="ru-RU" sz="2400" b="1" dirty="0"/>
              <a:t>Пример 1</a:t>
            </a:r>
            <a:r>
              <a:rPr lang="ru-RU" sz="2400" dirty="0"/>
              <a:t>. Функциональные требования для ПО системы управления летательного аппарата:</a:t>
            </a:r>
          </a:p>
          <a:p>
            <a:r>
              <a:rPr lang="ru-RU" sz="2400" dirty="0"/>
              <a:t>Система должна измерять проекции скорости (по трем каналам), вычислять отклонения от программных значений вектора скорости и радиус-вектора, а затем формировать управляющие воздействия, посылая их на исполнительные органы летательного аппарата (ЛА).</a:t>
            </a:r>
          </a:p>
          <a:p>
            <a:r>
              <a:rPr lang="ru-RU" sz="2400" b="1" dirty="0"/>
              <a:t>Пример 2</a:t>
            </a:r>
            <a:r>
              <a:rPr lang="ru-RU" sz="2400" dirty="0"/>
              <a:t>. Нефункциональные требования к производительности:</a:t>
            </a:r>
          </a:p>
          <a:p>
            <a:r>
              <a:rPr lang="ru-RU" sz="2400" dirty="0"/>
              <a:t>Цикл регулирования скорости летательного аппарата должен укладываться в 64 мс.</a:t>
            </a:r>
          </a:p>
          <a:p>
            <a:r>
              <a:rPr lang="ru-RU" sz="2400" b="1" dirty="0"/>
              <a:t>Пример 3.</a:t>
            </a:r>
            <a:r>
              <a:rPr lang="ru-RU" sz="2400" dirty="0"/>
              <a:t> Нефункциональные требования к надежности и доступности.</a:t>
            </a:r>
          </a:p>
          <a:p>
            <a:r>
              <a:rPr lang="ru-RU" sz="2400" dirty="0"/>
              <a:t>Система управления микроклиматом оранжереи должна давать не более двух ошибок в месяц.</a:t>
            </a:r>
          </a:p>
          <a:p>
            <a:endParaRPr lang="ru-RU" sz="2400" dirty="0"/>
          </a:p>
        </p:txBody>
      </p:sp>
      <p:sp>
        <p:nvSpPr>
          <p:cNvPr id="4" name="Номер слайда 3">
            <a:extLst>
              <a:ext uri="{FF2B5EF4-FFF2-40B4-BE49-F238E27FC236}">
                <a16:creationId xmlns:a16="http://schemas.microsoft.com/office/drawing/2014/main" id="{C19810D5-7D9E-175F-B372-D57D87450B92}"/>
              </a:ext>
            </a:extLst>
          </p:cNvPr>
          <p:cNvSpPr>
            <a:spLocks noGrp="1"/>
          </p:cNvSpPr>
          <p:nvPr>
            <p:ph type="sldNum" sz="quarter" idx="12"/>
          </p:nvPr>
        </p:nvSpPr>
        <p:spPr/>
        <p:txBody>
          <a:bodyPr/>
          <a:lstStyle/>
          <a:p>
            <a:fld id="{25A42088-C730-408A-A823-60BED1AFCEA0}" type="slidenum">
              <a:rPr lang="ru-RU" smtClean="0"/>
              <a:t>19</a:t>
            </a:fld>
            <a:endParaRPr lang="ru-RU"/>
          </a:p>
        </p:txBody>
      </p:sp>
    </p:spTree>
    <p:extLst>
      <p:ext uri="{BB962C8B-B14F-4D97-AF65-F5344CB8AC3E}">
        <p14:creationId xmlns:p14="http://schemas.microsoft.com/office/powerpoint/2010/main" val="2699387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596538"/>
            <a:ext cx="9601200" cy="733697"/>
          </a:xfrm>
        </p:spPr>
        <p:txBody>
          <a:bodyPr/>
          <a:lstStyle/>
          <a:p>
            <a:r>
              <a:rPr lang="ru-RU" dirty="0"/>
              <a:t>Проверка требований</a:t>
            </a:r>
          </a:p>
        </p:txBody>
      </p:sp>
      <p:sp>
        <p:nvSpPr>
          <p:cNvPr id="3" name="Объект 2"/>
          <p:cNvSpPr>
            <a:spLocks noGrp="1"/>
          </p:cNvSpPr>
          <p:nvPr>
            <p:ph idx="1"/>
          </p:nvPr>
        </p:nvSpPr>
        <p:spPr>
          <a:xfrm>
            <a:off x="1371600" y="1506583"/>
            <a:ext cx="9601200" cy="4754879"/>
          </a:xfrm>
        </p:spPr>
        <p:txBody>
          <a:bodyPr>
            <a:noAutofit/>
          </a:bodyPr>
          <a:lstStyle/>
          <a:p>
            <a:r>
              <a:rPr lang="ru-RU" sz="2400" dirty="0"/>
              <a:t>Проверка требований выполняется заказчиком и разработчиком совместно, она удостоверяет:</a:t>
            </a:r>
          </a:p>
          <a:p>
            <a:pPr marL="342900" indent="-342900">
              <a:buFont typeface="+mj-lt"/>
              <a:buAutoNum type="arabicPeriod"/>
            </a:pPr>
            <a:r>
              <a:rPr lang="ru-RU" sz="2400" dirty="0"/>
              <a:t>Предметная область проекта описана корректно;</a:t>
            </a:r>
          </a:p>
          <a:p>
            <a:pPr marL="342900" indent="-342900">
              <a:buFont typeface="+mj-lt"/>
              <a:buAutoNum type="arabicPeriod"/>
            </a:pPr>
            <a:r>
              <a:rPr lang="ru-RU" sz="2400" dirty="0"/>
              <a:t>Разработчик и заказчик имеют одинаковые представления о целях системы;</a:t>
            </a:r>
          </a:p>
          <a:p>
            <a:pPr marL="342900" indent="-342900">
              <a:buFont typeface="+mj-lt"/>
              <a:buAutoNum type="arabicPeriod"/>
            </a:pPr>
            <a:r>
              <a:rPr lang="ru-RU" sz="2400" dirty="0"/>
              <a:t>Анализ вешней среды и риска разработки подтверждает возможность создания системы;</a:t>
            </a:r>
          </a:p>
        </p:txBody>
      </p:sp>
      <p:sp>
        <p:nvSpPr>
          <p:cNvPr id="4" name="Номер слайда 3">
            <a:extLst>
              <a:ext uri="{FF2B5EF4-FFF2-40B4-BE49-F238E27FC236}">
                <a16:creationId xmlns:a16="http://schemas.microsoft.com/office/drawing/2014/main" id="{D5DD6B9A-D669-96D6-8846-2DED3AF4BDE0}"/>
              </a:ext>
            </a:extLst>
          </p:cNvPr>
          <p:cNvSpPr>
            <a:spLocks noGrp="1"/>
          </p:cNvSpPr>
          <p:nvPr>
            <p:ph type="sldNum" sz="quarter" idx="12"/>
          </p:nvPr>
        </p:nvSpPr>
        <p:spPr/>
        <p:txBody>
          <a:bodyPr/>
          <a:lstStyle/>
          <a:p>
            <a:fld id="{25A42088-C730-408A-A823-60BED1AFCEA0}" type="slidenum">
              <a:rPr lang="ru-RU" smtClean="0"/>
              <a:t>20</a:t>
            </a:fld>
            <a:endParaRPr lang="ru-RU"/>
          </a:p>
        </p:txBody>
      </p:sp>
    </p:spTree>
    <p:extLst>
      <p:ext uri="{BB962C8B-B14F-4D97-AF65-F5344CB8AC3E}">
        <p14:creationId xmlns:p14="http://schemas.microsoft.com/office/powerpoint/2010/main" val="2435833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C79ED0-E17C-3412-32BE-BB982A774AB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E93FB10B-42DF-10D8-F8AB-58B826249881}"/>
              </a:ext>
            </a:extLst>
          </p:cNvPr>
          <p:cNvSpPr>
            <a:spLocks noGrp="1"/>
          </p:cNvSpPr>
          <p:nvPr>
            <p:ph idx="1"/>
          </p:nvPr>
        </p:nvSpPr>
        <p:spPr/>
        <p:txBody>
          <a:bodyPr>
            <a:normAutofit/>
          </a:bodyPr>
          <a:lstStyle/>
          <a:p>
            <a:r>
              <a:rPr lang="ru-RU" sz="2400" dirty="0"/>
              <a:t>4.   Спецификация требований верно описывает желаемую функциональность и характеристики системы, которые соответствуют потребностям заказчика и других заинтересованных лиц;</a:t>
            </a:r>
          </a:p>
          <a:p>
            <a:r>
              <a:rPr lang="ru-RU" sz="2400" dirty="0"/>
              <a:t>5.   Требования полные и качественные;</a:t>
            </a:r>
          </a:p>
          <a:p>
            <a:r>
              <a:rPr lang="ru-RU" sz="2400" dirty="0"/>
              <a:t>6.   Все требования согласованы друг с другом, не содержат противоречий;</a:t>
            </a:r>
          </a:p>
          <a:p>
            <a:r>
              <a:rPr lang="ru-RU" sz="2400" dirty="0"/>
              <a:t>7.   Требования обеспечивают реальную возможность разработки системы</a:t>
            </a:r>
          </a:p>
          <a:p>
            <a:endParaRPr lang="ru-RU" sz="2400" dirty="0"/>
          </a:p>
        </p:txBody>
      </p:sp>
      <p:sp>
        <p:nvSpPr>
          <p:cNvPr id="4" name="Номер слайда 3">
            <a:extLst>
              <a:ext uri="{FF2B5EF4-FFF2-40B4-BE49-F238E27FC236}">
                <a16:creationId xmlns:a16="http://schemas.microsoft.com/office/drawing/2014/main" id="{E5E4161A-BDEC-C818-2B7B-B8096CFE6CFB}"/>
              </a:ext>
            </a:extLst>
          </p:cNvPr>
          <p:cNvSpPr>
            <a:spLocks noGrp="1"/>
          </p:cNvSpPr>
          <p:nvPr>
            <p:ph type="sldNum" sz="quarter" idx="12"/>
          </p:nvPr>
        </p:nvSpPr>
        <p:spPr/>
        <p:txBody>
          <a:bodyPr/>
          <a:lstStyle/>
          <a:p>
            <a:fld id="{25A42088-C730-408A-A823-60BED1AFCEA0}" type="slidenum">
              <a:rPr lang="ru-RU" smtClean="0"/>
              <a:t>21</a:t>
            </a:fld>
            <a:endParaRPr lang="ru-RU"/>
          </a:p>
        </p:txBody>
      </p:sp>
    </p:spTree>
    <p:extLst>
      <p:ext uri="{BB962C8B-B14F-4D97-AF65-F5344CB8AC3E}">
        <p14:creationId xmlns:p14="http://schemas.microsoft.com/office/powerpoint/2010/main" val="2126372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970A6D-B95A-0712-4122-61BA82D9F3FB}"/>
              </a:ext>
            </a:extLst>
          </p:cNvPr>
          <p:cNvSpPr>
            <a:spLocks noGrp="1"/>
          </p:cNvSpPr>
          <p:nvPr>
            <p:ph type="title"/>
          </p:nvPr>
        </p:nvSpPr>
        <p:spPr/>
        <p:txBody>
          <a:bodyPr/>
          <a:lstStyle/>
          <a:p>
            <a:r>
              <a:rPr lang="ru-RU" dirty="0"/>
              <a:t>Пользовательские истории</a:t>
            </a:r>
          </a:p>
        </p:txBody>
      </p:sp>
      <p:sp>
        <p:nvSpPr>
          <p:cNvPr id="3" name="Объект 2">
            <a:extLst>
              <a:ext uri="{FF2B5EF4-FFF2-40B4-BE49-F238E27FC236}">
                <a16:creationId xmlns:a16="http://schemas.microsoft.com/office/drawing/2014/main" id="{DE2B95C3-EAA7-850C-C30F-7E3A3DCFEFB6}"/>
              </a:ext>
            </a:extLst>
          </p:cNvPr>
          <p:cNvSpPr>
            <a:spLocks noGrp="1"/>
          </p:cNvSpPr>
          <p:nvPr>
            <p:ph idx="1"/>
          </p:nvPr>
        </p:nvSpPr>
        <p:spPr/>
        <p:txBody>
          <a:bodyPr>
            <a:normAutofit/>
          </a:bodyPr>
          <a:lstStyle/>
          <a:p>
            <a:r>
              <a:rPr lang="ru-RU" b="1" dirty="0"/>
              <a:t>User Story</a:t>
            </a:r>
            <a:r>
              <a:rPr lang="ru-RU" dirty="0"/>
              <a:t>, или </a:t>
            </a:r>
            <a:r>
              <a:rPr lang="ru-RU" b="1" dirty="0"/>
              <a:t>пользовательская история</a:t>
            </a:r>
            <a:r>
              <a:rPr lang="ru-RU" dirty="0"/>
              <a:t>, помогает увидеть функции продукта глазами конечного потребителя. Основную часть User Story пишут кратко, без технических деталей и лишних подробностей. Главное — сделать фокус на целях и потребностях людей.</a:t>
            </a:r>
          </a:p>
          <a:p>
            <a:endParaRPr lang="ru-RU" dirty="0"/>
          </a:p>
          <a:p>
            <a:r>
              <a:rPr lang="ru-RU" b="1" dirty="0"/>
              <a:t>В основной части User Story обычно указывают</a:t>
            </a:r>
            <a:r>
              <a:rPr lang="ru-RU" dirty="0"/>
              <a:t>:</a:t>
            </a:r>
          </a:p>
          <a:p>
            <a:pPr marL="342900" indent="-342900">
              <a:buFont typeface="Wingdings" panose="05000000000000000000" pitchFamily="2" charset="2"/>
              <a:buChar char="v"/>
            </a:pPr>
            <a:r>
              <a:rPr lang="ru-RU" dirty="0"/>
              <a:t>категорию, к которой относится пользователь;</a:t>
            </a:r>
          </a:p>
          <a:p>
            <a:pPr marL="342900" indent="-342900">
              <a:buFont typeface="Wingdings" panose="05000000000000000000" pitchFamily="2" charset="2"/>
              <a:buChar char="v"/>
            </a:pPr>
            <a:r>
              <a:rPr lang="ru-RU" dirty="0"/>
              <a:t>действие, которое он или она хотели бы совершить;</a:t>
            </a:r>
          </a:p>
          <a:p>
            <a:pPr marL="342900" indent="-342900">
              <a:buFont typeface="Wingdings" panose="05000000000000000000" pitchFamily="2" charset="2"/>
              <a:buChar char="v"/>
            </a:pPr>
            <a:r>
              <a:rPr lang="ru-RU" dirty="0"/>
              <a:t>результат, который ожидает получить пользователь после действия. </a:t>
            </a:r>
          </a:p>
          <a:p>
            <a:endParaRPr lang="ru-RU" dirty="0"/>
          </a:p>
          <a:p>
            <a:r>
              <a:rPr lang="ru-RU" dirty="0"/>
              <a:t>В историю обязательно включают критерии приёмки — условия, которые должны быть выполнены, чтобы история считалась завершённой. </a:t>
            </a:r>
          </a:p>
        </p:txBody>
      </p:sp>
      <p:sp>
        <p:nvSpPr>
          <p:cNvPr id="4" name="Номер слайда 3">
            <a:extLst>
              <a:ext uri="{FF2B5EF4-FFF2-40B4-BE49-F238E27FC236}">
                <a16:creationId xmlns:a16="http://schemas.microsoft.com/office/drawing/2014/main" id="{3CC5E81F-8EEA-F107-D5FA-7A8ACE03237F}"/>
              </a:ext>
            </a:extLst>
          </p:cNvPr>
          <p:cNvSpPr>
            <a:spLocks noGrp="1"/>
          </p:cNvSpPr>
          <p:nvPr>
            <p:ph type="sldNum" sz="quarter" idx="12"/>
          </p:nvPr>
        </p:nvSpPr>
        <p:spPr/>
        <p:txBody>
          <a:bodyPr/>
          <a:lstStyle/>
          <a:p>
            <a:fld id="{25A42088-C730-408A-A823-60BED1AFCEA0}" type="slidenum">
              <a:rPr lang="ru-RU" smtClean="0"/>
              <a:t>22</a:t>
            </a:fld>
            <a:endParaRPr lang="ru-RU"/>
          </a:p>
        </p:txBody>
      </p:sp>
    </p:spTree>
    <p:extLst>
      <p:ext uri="{BB962C8B-B14F-4D97-AF65-F5344CB8AC3E}">
        <p14:creationId xmlns:p14="http://schemas.microsoft.com/office/powerpoint/2010/main" val="4166916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80687D-6E88-2EE3-5B16-2BE05EC1ED64}"/>
              </a:ext>
            </a:extLst>
          </p:cNvPr>
          <p:cNvSpPr>
            <a:spLocks noGrp="1"/>
          </p:cNvSpPr>
          <p:nvPr>
            <p:ph type="title"/>
          </p:nvPr>
        </p:nvSpPr>
        <p:spPr/>
        <p:txBody>
          <a:bodyPr/>
          <a:lstStyle/>
          <a:p>
            <a:r>
              <a:rPr lang="ru-RU" dirty="0"/>
              <a:t>Структура пользовательской истории</a:t>
            </a:r>
          </a:p>
        </p:txBody>
      </p:sp>
      <p:sp>
        <p:nvSpPr>
          <p:cNvPr id="3" name="Объект 2">
            <a:extLst>
              <a:ext uri="{FF2B5EF4-FFF2-40B4-BE49-F238E27FC236}">
                <a16:creationId xmlns:a16="http://schemas.microsoft.com/office/drawing/2014/main" id="{1DE4F5AC-B5FD-99C8-55ED-7376D745A2F6}"/>
              </a:ext>
            </a:extLst>
          </p:cNvPr>
          <p:cNvSpPr>
            <a:spLocks noGrp="1"/>
          </p:cNvSpPr>
          <p:nvPr>
            <p:ph idx="1"/>
          </p:nvPr>
        </p:nvSpPr>
        <p:spPr/>
        <p:txBody>
          <a:bodyPr>
            <a:normAutofit/>
          </a:bodyPr>
          <a:lstStyle/>
          <a:p>
            <a:r>
              <a:rPr lang="ru-RU" dirty="0"/>
              <a:t>Стандартный шаблон </a:t>
            </a:r>
            <a:r>
              <a:rPr lang="en-US" dirty="0"/>
              <a:t>US </a:t>
            </a:r>
            <a:r>
              <a:rPr lang="ru-RU" dirty="0"/>
              <a:t>выглядит следующим образом:</a:t>
            </a:r>
          </a:p>
          <a:p>
            <a:endParaRPr lang="ru-RU" sz="2800" dirty="0"/>
          </a:p>
          <a:p>
            <a:r>
              <a:rPr lang="ru-RU" sz="2800" dirty="0"/>
              <a:t>«Как (роль пользователя), я хочу (что-то делать через систему), для того чтобы (причина/ожидаемы результат)»</a:t>
            </a:r>
          </a:p>
          <a:p>
            <a:endParaRPr lang="ru-RU" dirty="0"/>
          </a:p>
          <a:p>
            <a:r>
              <a:rPr lang="ru-RU" dirty="0"/>
              <a:t>Пример: «Как хозяин кота, я хочу иметь приложение, которое позволит видеть моего питомца, чтобы я мог убедиться, что он выглядит счастливым и здоровым».</a:t>
            </a:r>
          </a:p>
        </p:txBody>
      </p:sp>
      <p:sp>
        <p:nvSpPr>
          <p:cNvPr id="4" name="Номер слайда 3">
            <a:extLst>
              <a:ext uri="{FF2B5EF4-FFF2-40B4-BE49-F238E27FC236}">
                <a16:creationId xmlns:a16="http://schemas.microsoft.com/office/drawing/2014/main" id="{E35F74BC-5E03-4E6C-94C0-0A8F29FE1082}"/>
              </a:ext>
            </a:extLst>
          </p:cNvPr>
          <p:cNvSpPr>
            <a:spLocks noGrp="1"/>
          </p:cNvSpPr>
          <p:nvPr>
            <p:ph type="sldNum" sz="quarter" idx="12"/>
          </p:nvPr>
        </p:nvSpPr>
        <p:spPr/>
        <p:txBody>
          <a:bodyPr/>
          <a:lstStyle/>
          <a:p>
            <a:fld id="{25A42088-C730-408A-A823-60BED1AFCEA0}" type="slidenum">
              <a:rPr lang="ru-RU" smtClean="0"/>
              <a:t>23</a:t>
            </a:fld>
            <a:endParaRPr lang="ru-RU"/>
          </a:p>
        </p:txBody>
      </p:sp>
    </p:spTree>
    <p:extLst>
      <p:ext uri="{BB962C8B-B14F-4D97-AF65-F5344CB8AC3E}">
        <p14:creationId xmlns:p14="http://schemas.microsoft.com/office/powerpoint/2010/main" val="798760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55949A-31A2-C174-9037-8D1DAAFD25A1}"/>
              </a:ext>
            </a:extLst>
          </p:cNvPr>
          <p:cNvSpPr>
            <a:spLocks noGrp="1"/>
          </p:cNvSpPr>
          <p:nvPr>
            <p:ph type="title"/>
          </p:nvPr>
        </p:nvSpPr>
        <p:spPr/>
        <p:txBody>
          <a:bodyPr/>
          <a:lstStyle/>
          <a:p>
            <a:r>
              <a:rPr lang="ru-RU" dirty="0"/>
              <a:t>Критерии </a:t>
            </a:r>
            <a:r>
              <a:rPr lang="en-US" dirty="0"/>
              <a:t>INVEST </a:t>
            </a:r>
            <a:r>
              <a:rPr lang="ru-RU" dirty="0"/>
              <a:t>для </a:t>
            </a:r>
            <a:r>
              <a:rPr lang="en-US" dirty="0"/>
              <a:t>User Story</a:t>
            </a:r>
            <a:endParaRPr lang="ru-RU" dirty="0"/>
          </a:p>
        </p:txBody>
      </p:sp>
      <p:sp>
        <p:nvSpPr>
          <p:cNvPr id="4" name="Номер слайда 3">
            <a:extLst>
              <a:ext uri="{FF2B5EF4-FFF2-40B4-BE49-F238E27FC236}">
                <a16:creationId xmlns:a16="http://schemas.microsoft.com/office/drawing/2014/main" id="{37130DB3-4002-61F9-2F04-ABFBB12160CE}"/>
              </a:ext>
            </a:extLst>
          </p:cNvPr>
          <p:cNvSpPr>
            <a:spLocks noGrp="1"/>
          </p:cNvSpPr>
          <p:nvPr>
            <p:ph type="sldNum" sz="quarter" idx="12"/>
          </p:nvPr>
        </p:nvSpPr>
        <p:spPr/>
        <p:txBody>
          <a:bodyPr/>
          <a:lstStyle/>
          <a:p>
            <a:fld id="{25A42088-C730-408A-A823-60BED1AFCEA0}" type="slidenum">
              <a:rPr lang="ru-RU" smtClean="0"/>
              <a:t>24</a:t>
            </a:fld>
            <a:endParaRPr lang="ru-RU"/>
          </a:p>
        </p:txBody>
      </p:sp>
      <p:pic>
        <p:nvPicPr>
          <p:cNvPr id="1026" name="Picture 2">
            <a:extLst>
              <a:ext uri="{FF2B5EF4-FFF2-40B4-BE49-F238E27FC236}">
                <a16:creationId xmlns:a16="http://schemas.microsoft.com/office/drawing/2014/main" id="{B55C07F8-38C2-A3EF-6B52-6C4ED58786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0711" y="2024722"/>
            <a:ext cx="7236432" cy="47545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42AB160-80D4-11A3-7AE0-8CD88B48BC5F}"/>
              </a:ext>
            </a:extLst>
          </p:cNvPr>
          <p:cNvSpPr txBox="1"/>
          <p:nvPr/>
        </p:nvSpPr>
        <p:spPr>
          <a:xfrm>
            <a:off x="1371601" y="1330235"/>
            <a:ext cx="9698180" cy="707886"/>
          </a:xfrm>
          <a:prstGeom prst="rect">
            <a:avLst/>
          </a:prstGeom>
          <a:noFill/>
        </p:spPr>
        <p:txBody>
          <a:bodyPr wrap="square">
            <a:spAutoFit/>
          </a:bodyPr>
          <a:lstStyle/>
          <a:p>
            <a:r>
              <a:rPr lang="ru-RU" sz="2000" b="0" i="0" dirty="0">
                <a:solidFill>
                  <a:schemeClr val="tx2"/>
                </a:solidFill>
                <a:effectLst/>
                <a:latin typeface="Georgia" panose="02040502050405020303" pitchFamily="18" charset="0"/>
              </a:rPr>
              <a:t>Критерии INVEST помогают убедиться, что история получилась качественной и полезной.</a:t>
            </a:r>
            <a:endParaRPr lang="ru-RU" sz="2000" dirty="0">
              <a:solidFill>
                <a:schemeClr val="tx2"/>
              </a:solidFill>
              <a:latin typeface="Georgia" panose="02040502050405020303" pitchFamily="18" charset="0"/>
            </a:endParaRPr>
          </a:p>
        </p:txBody>
      </p:sp>
    </p:spTree>
    <p:extLst>
      <p:ext uri="{BB962C8B-B14F-4D97-AF65-F5344CB8AC3E}">
        <p14:creationId xmlns:p14="http://schemas.microsoft.com/office/powerpoint/2010/main" val="4115553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28B130CD-230D-A61F-FB99-55B53C4147BB}"/>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6A3A94F-ACC7-2FB9-2BB0-F3DA61718339}"/>
              </a:ext>
            </a:extLst>
          </p:cNvPr>
          <p:cNvSpPr>
            <a:spLocks noGrp="1"/>
          </p:cNvSpPr>
          <p:nvPr>
            <p:ph idx="1"/>
          </p:nvPr>
        </p:nvSpPr>
        <p:spPr>
          <a:xfrm>
            <a:off x="1371600" y="1506583"/>
            <a:ext cx="9601200" cy="4754879"/>
          </a:xfrm>
        </p:spPr>
        <p:txBody>
          <a:bodyPr>
            <a:normAutofit/>
          </a:bodyPr>
          <a:lstStyle/>
          <a:p>
            <a:r>
              <a:rPr lang="ru-RU" sz="2400" b="1" dirty="0"/>
              <a:t>Independent</a:t>
            </a:r>
            <a:r>
              <a:rPr lang="ru-RU" sz="2400" dirty="0"/>
              <a:t> (с англ. «независимый»). В пользовательской истории лучше описывать одну или несколько независимых функций. Они должны решить проблему пользователя без помощи других инструментов. </a:t>
            </a:r>
            <a:br>
              <a:rPr lang="ru-RU" sz="2400" dirty="0"/>
            </a:br>
            <a:r>
              <a:rPr lang="ru-RU" sz="2400" b="1" dirty="0" err="1"/>
              <a:t>Negotiable</a:t>
            </a:r>
            <a:r>
              <a:rPr lang="ru-RU" sz="2400" dirty="0"/>
              <a:t> (с англ. «подлежащий обсуждению»). User Story обязательно нужно обсудить в команде и внести изменения, если потребуется. Без обсуждения есть риск, что команда разработки получит неполное представление о задаче.</a:t>
            </a:r>
          </a:p>
          <a:p>
            <a:r>
              <a:rPr lang="ru-RU" sz="2400" b="1" dirty="0" err="1"/>
              <a:t>Valuable</a:t>
            </a:r>
            <a:r>
              <a:rPr lang="ru-RU" sz="2400" dirty="0"/>
              <a:t> (с англ. «ценный»). В функции, которую описывает User Story, должна быть реальная ценность для пользователя. Например, возможность следить за здоровьем питомца и планировать посещение ветеринара.</a:t>
            </a:r>
          </a:p>
        </p:txBody>
      </p:sp>
      <p:sp>
        <p:nvSpPr>
          <p:cNvPr id="4" name="Номер слайда 3">
            <a:extLst>
              <a:ext uri="{FF2B5EF4-FFF2-40B4-BE49-F238E27FC236}">
                <a16:creationId xmlns:a16="http://schemas.microsoft.com/office/drawing/2014/main" id="{A0259161-34F6-8019-0283-E551E8281E49}"/>
              </a:ext>
            </a:extLst>
          </p:cNvPr>
          <p:cNvSpPr>
            <a:spLocks noGrp="1"/>
          </p:cNvSpPr>
          <p:nvPr>
            <p:ph type="sldNum" sz="quarter" idx="12"/>
          </p:nvPr>
        </p:nvSpPr>
        <p:spPr>
          <a:xfrm>
            <a:off x="9692170" y="6374670"/>
            <a:ext cx="1280630" cy="404614"/>
          </a:xfrm>
        </p:spPr>
        <p:txBody>
          <a:bodyPr/>
          <a:lstStyle/>
          <a:p>
            <a:fld id="{25A42088-C730-408A-A823-60BED1AFCEA0}" type="slidenum">
              <a:rPr lang="ru-RU" smtClean="0"/>
              <a:pPr/>
              <a:t>25</a:t>
            </a:fld>
            <a:endParaRPr lang="ru-RU"/>
          </a:p>
        </p:txBody>
      </p:sp>
    </p:spTree>
    <p:extLst>
      <p:ext uri="{BB962C8B-B14F-4D97-AF65-F5344CB8AC3E}">
        <p14:creationId xmlns:p14="http://schemas.microsoft.com/office/powerpoint/2010/main" val="3130245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49C64D-B733-D397-EB49-4B55A4BC598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9752F43-82C3-808F-0417-D752BD2B3F49}"/>
              </a:ext>
            </a:extLst>
          </p:cNvPr>
          <p:cNvSpPr>
            <a:spLocks noGrp="1"/>
          </p:cNvSpPr>
          <p:nvPr>
            <p:ph idx="1"/>
          </p:nvPr>
        </p:nvSpPr>
        <p:spPr/>
        <p:txBody>
          <a:bodyPr>
            <a:normAutofit/>
          </a:bodyPr>
          <a:lstStyle/>
          <a:p>
            <a:r>
              <a:rPr lang="ru-RU" sz="2400" b="1" dirty="0" err="1"/>
              <a:t>Estimable</a:t>
            </a:r>
            <a:r>
              <a:rPr lang="ru-RU" sz="2400" dirty="0"/>
              <a:t> (с англ. «поддающийся оценке»). Хорошую User Story можно оценить — понять, сколько времени, ресурсов и денег займёт разработка функции. </a:t>
            </a:r>
          </a:p>
          <a:p>
            <a:r>
              <a:rPr lang="ru-RU" sz="2400" b="1" dirty="0"/>
              <a:t>Small</a:t>
            </a:r>
            <a:r>
              <a:rPr lang="ru-RU" sz="2400" dirty="0"/>
              <a:t> (с англ. «маленький»). История должна быть краткой и ёмкой. Объёмные истории сложнее оценить, и они могут потребовать больше ресурсов на разработку.</a:t>
            </a:r>
          </a:p>
          <a:p>
            <a:r>
              <a:rPr lang="ru-RU" sz="2400" b="1" dirty="0" err="1"/>
              <a:t>Testable</a:t>
            </a:r>
            <a:r>
              <a:rPr lang="ru-RU" sz="2400" dirty="0"/>
              <a:t> (с англ. «поддающийся тестированию»). С критериями приёмки команде разработки будет проще создать нужную функцию. Тестировать историю лучше за один раз — это ещё одна причина, почему в истории не должно быть много деталей.</a:t>
            </a:r>
          </a:p>
        </p:txBody>
      </p:sp>
      <p:sp>
        <p:nvSpPr>
          <p:cNvPr id="4" name="Номер слайда 3">
            <a:extLst>
              <a:ext uri="{FF2B5EF4-FFF2-40B4-BE49-F238E27FC236}">
                <a16:creationId xmlns:a16="http://schemas.microsoft.com/office/drawing/2014/main" id="{4B092759-0CA9-0083-1B76-D66E6C83225E}"/>
              </a:ext>
            </a:extLst>
          </p:cNvPr>
          <p:cNvSpPr>
            <a:spLocks noGrp="1"/>
          </p:cNvSpPr>
          <p:nvPr>
            <p:ph type="sldNum" sz="quarter" idx="12"/>
          </p:nvPr>
        </p:nvSpPr>
        <p:spPr/>
        <p:txBody>
          <a:bodyPr/>
          <a:lstStyle/>
          <a:p>
            <a:fld id="{25A42088-C730-408A-A823-60BED1AFCEA0}" type="slidenum">
              <a:rPr lang="ru-RU" smtClean="0"/>
              <a:t>26</a:t>
            </a:fld>
            <a:endParaRPr lang="ru-RU"/>
          </a:p>
        </p:txBody>
      </p:sp>
    </p:spTree>
    <p:extLst>
      <p:ext uri="{BB962C8B-B14F-4D97-AF65-F5344CB8AC3E}">
        <p14:creationId xmlns:p14="http://schemas.microsoft.com/office/powerpoint/2010/main" val="2915423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0E1CC96E-CB32-A042-F2D3-C6B8F7D7BC41}"/>
              </a:ext>
            </a:extLst>
          </p:cNvPr>
          <p:cNvSpPr>
            <a:spLocks noGrp="1"/>
          </p:cNvSpPr>
          <p:nvPr>
            <p:ph type="title"/>
          </p:nvPr>
        </p:nvSpPr>
        <p:spPr>
          <a:xfrm>
            <a:off x="1371599" y="685800"/>
            <a:ext cx="9721273" cy="831152"/>
          </a:xfrm>
        </p:spPr>
        <p:txBody>
          <a:bodyPr>
            <a:normAutofit fontScale="90000"/>
          </a:bodyPr>
          <a:lstStyle/>
          <a:p>
            <a:r>
              <a:rPr lang="ru-RU" dirty="0"/>
              <a:t>Плюсы и минусы пользовательских историй</a:t>
            </a:r>
          </a:p>
        </p:txBody>
      </p:sp>
      <p:sp>
        <p:nvSpPr>
          <p:cNvPr id="6" name="Текст 5">
            <a:extLst>
              <a:ext uri="{FF2B5EF4-FFF2-40B4-BE49-F238E27FC236}">
                <a16:creationId xmlns:a16="http://schemas.microsoft.com/office/drawing/2014/main" id="{6A961F26-A653-3652-1D98-525193941DB1}"/>
              </a:ext>
            </a:extLst>
          </p:cNvPr>
          <p:cNvSpPr>
            <a:spLocks noGrp="1"/>
          </p:cNvSpPr>
          <p:nvPr>
            <p:ph type="body" idx="1"/>
          </p:nvPr>
        </p:nvSpPr>
        <p:spPr/>
        <p:txBody>
          <a:bodyPr/>
          <a:lstStyle/>
          <a:p>
            <a:r>
              <a:rPr lang="ru-RU" dirty="0"/>
              <a:t>Плюсы</a:t>
            </a:r>
          </a:p>
        </p:txBody>
      </p:sp>
      <p:sp>
        <p:nvSpPr>
          <p:cNvPr id="7" name="Объект 6">
            <a:extLst>
              <a:ext uri="{FF2B5EF4-FFF2-40B4-BE49-F238E27FC236}">
                <a16:creationId xmlns:a16="http://schemas.microsoft.com/office/drawing/2014/main" id="{CA0ABC7F-2003-AE6C-38D6-92D6D3DDC703}"/>
              </a:ext>
            </a:extLst>
          </p:cNvPr>
          <p:cNvSpPr>
            <a:spLocks noGrp="1"/>
          </p:cNvSpPr>
          <p:nvPr>
            <p:ph sz="half" idx="2"/>
          </p:nvPr>
        </p:nvSpPr>
        <p:spPr/>
        <p:txBody>
          <a:bodyPr>
            <a:normAutofit/>
          </a:bodyPr>
          <a:lstStyle/>
          <a:p>
            <a:pPr marL="342900" indent="-342900">
              <a:buFont typeface="Wingdings" panose="05000000000000000000" pitchFamily="2" charset="2"/>
              <a:buChar char="v"/>
            </a:pPr>
            <a:r>
              <a:rPr lang="ru-RU" sz="2400" dirty="0"/>
              <a:t>User Story сфокусирована на пользователях</a:t>
            </a:r>
            <a:endParaRPr lang="en-US" sz="2400" dirty="0"/>
          </a:p>
          <a:p>
            <a:pPr marL="342900" indent="-342900">
              <a:buFont typeface="Wingdings" panose="05000000000000000000" pitchFamily="2" charset="2"/>
              <a:buChar char="v"/>
            </a:pPr>
            <a:r>
              <a:rPr lang="ru-RU" sz="2400" dirty="0"/>
              <a:t>User Story можно обсуждать в команде</a:t>
            </a:r>
            <a:endParaRPr lang="en-US" sz="2400" dirty="0"/>
          </a:p>
          <a:p>
            <a:pPr marL="342900" indent="-342900">
              <a:buFont typeface="Wingdings" panose="05000000000000000000" pitchFamily="2" charset="2"/>
              <a:buChar char="v"/>
            </a:pPr>
            <a:r>
              <a:rPr lang="ru-RU" sz="2400" dirty="0"/>
              <a:t>User Story помогает поэтапно разрабатывать продукт</a:t>
            </a:r>
          </a:p>
        </p:txBody>
      </p:sp>
      <p:sp>
        <p:nvSpPr>
          <p:cNvPr id="8" name="Текст 7">
            <a:extLst>
              <a:ext uri="{FF2B5EF4-FFF2-40B4-BE49-F238E27FC236}">
                <a16:creationId xmlns:a16="http://schemas.microsoft.com/office/drawing/2014/main" id="{FA633A75-916A-142A-000E-692CAD79B03A}"/>
              </a:ext>
            </a:extLst>
          </p:cNvPr>
          <p:cNvSpPr>
            <a:spLocks noGrp="1"/>
          </p:cNvSpPr>
          <p:nvPr>
            <p:ph type="body" sz="quarter" idx="3"/>
          </p:nvPr>
        </p:nvSpPr>
        <p:spPr/>
        <p:txBody>
          <a:bodyPr/>
          <a:lstStyle/>
          <a:p>
            <a:r>
              <a:rPr lang="ru-RU" dirty="0"/>
              <a:t>Минусы</a:t>
            </a:r>
          </a:p>
        </p:txBody>
      </p:sp>
      <p:sp>
        <p:nvSpPr>
          <p:cNvPr id="9" name="Объект 8">
            <a:extLst>
              <a:ext uri="{FF2B5EF4-FFF2-40B4-BE49-F238E27FC236}">
                <a16:creationId xmlns:a16="http://schemas.microsoft.com/office/drawing/2014/main" id="{CC5898DD-3E28-84A1-26AB-74A56449848F}"/>
              </a:ext>
            </a:extLst>
          </p:cNvPr>
          <p:cNvSpPr>
            <a:spLocks noGrp="1"/>
          </p:cNvSpPr>
          <p:nvPr>
            <p:ph sz="quarter" idx="4"/>
          </p:nvPr>
        </p:nvSpPr>
        <p:spPr/>
        <p:txBody>
          <a:bodyPr>
            <a:normAutofit/>
          </a:bodyPr>
          <a:lstStyle/>
          <a:p>
            <a:pPr marL="342900" indent="-342900">
              <a:buFont typeface="Wingdings" panose="05000000000000000000" pitchFamily="2" charset="2"/>
              <a:buChar char="v"/>
            </a:pPr>
            <a:r>
              <a:rPr lang="ru-RU" sz="2400" dirty="0"/>
              <a:t>User Story не заменит требований</a:t>
            </a:r>
            <a:endParaRPr lang="en-US" sz="2400" dirty="0"/>
          </a:p>
          <a:p>
            <a:pPr marL="342900" indent="-342900">
              <a:buFont typeface="Wingdings" panose="05000000000000000000" pitchFamily="2" charset="2"/>
              <a:buChar char="v"/>
            </a:pPr>
            <a:r>
              <a:rPr lang="ru-RU" sz="2400" dirty="0"/>
              <a:t>Если в User Story недостаточно деталей, её можно по-разному интерпретировать</a:t>
            </a:r>
          </a:p>
        </p:txBody>
      </p:sp>
      <p:sp>
        <p:nvSpPr>
          <p:cNvPr id="4" name="Номер слайда 3">
            <a:extLst>
              <a:ext uri="{FF2B5EF4-FFF2-40B4-BE49-F238E27FC236}">
                <a16:creationId xmlns:a16="http://schemas.microsoft.com/office/drawing/2014/main" id="{2C386C53-48F0-32A9-F2BF-0F9115011985}"/>
              </a:ext>
            </a:extLst>
          </p:cNvPr>
          <p:cNvSpPr>
            <a:spLocks noGrp="1"/>
          </p:cNvSpPr>
          <p:nvPr>
            <p:ph type="sldNum" sz="quarter" idx="12"/>
          </p:nvPr>
        </p:nvSpPr>
        <p:spPr/>
        <p:txBody>
          <a:bodyPr/>
          <a:lstStyle/>
          <a:p>
            <a:fld id="{25A42088-C730-408A-A823-60BED1AFCEA0}" type="slidenum">
              <a:rPr lang="ru-RU" smtClean="0"/>
              <a:t>27</a:t>
            </a:fld>
            <a:endParaRPr lang="ru-RU"/>
          </a:p>
        </p:txBody>
      </p:sp>
    </p:spTree>
    <p:extLst>
      <p:ext uri="{BB962C8B-B14F-4D97-AF65-F5344CB8AC3E}">
        <p14:creationId xmlns:p14="http://schemas.microsoft.com/office/powerpoint/2010/main" val="3852822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0BEC0D-70FE-CB95-7A06-AAEFD3C03105}"/>
              </a:ext>
            </a:extLst>
          </p:cNvPr>
          <p:cNvSpPr>
            <a:spLocks noGrp="1"/>
          </p:cNvSpPr>
          <p:nvPr>
            <p:ph type="title"/>
          </p:nvPr>
        </p:nvSpPr>
        <p:spPr/>
        <p:txBody>
          <a:bodyPr/>
          <a:lstStyle/>
          <a:p>
            <a:r>
              <a:rPr lang="ru-RU" dirty="0"/>
              <a:t>Практическое задание</a:t>
            </a:r>
          </a:p>
        </p:txBody>
      </p:sp>
      <p:sp>
        <p:nvSpPr>
          <p:cNvPr id="3" name="Объект 2">
            <a:extLst>
              <a:ext uri="{FF2B5EF4-FFF2-40B4-BE49-F238E27FC236}">
                <a16:creationId xmlns:a16="http://schemas.microsoft.com/office/drawing/2014/main" id="{B510FDA5-DEEC-3E3C-B53A-0423F304E597}"/>
              </a:ext>
            </a:extLst>
          </p:cNvPr>
          <p:cNvSpPr>
            <a:spLocks noGrp="1"/>
          </p:cNvSpPr>
          <p:nvPr>
            <p:ph idx="1"/>
          </p:nvPr>
        </p:nvSpPr>
        <p:spPr>
          <a:xfrm>
            <a:off x="1371600" y="1506583"/>
            <a:ext cx="9601200" cy="5031869"/>
          </a:xfrm>
        </p:spPr>
        <p:txBody>
          <a:bodyPr>
            <a:normAutofit fontScale="92500"/>
          </a:bodyPr>
          <a:lstStyle/>
          <a:p>
            <a:r>
              <a:rPr lang="ru-RU" dirty="0"/>
              <a:t>Вас нанимает генеральный директор компании «Речка», которая устанавливает в городе автоматические точки по продаже питьевой воды.</a:t>
            </a:r>
          </a:p>
          <a:p>
            <a:r>
              <a:rPr lang="ru-RU" dirty="0"/>
              <a:t>Задача звучит так: «Требуется разработать более современную версию ПО для автоматов, поддерживающую все нужные функции. Имеющееся ПО устарело».</a:t>
            </a:r>
          </a:p>
          <a:p>
            <a:endParaRPr lang="ru-RU" dirty="0"/>
          </a:p>
          <a:p>
            <a:r>
              <a:rPr lang="ru-RU" dirty="0"/>
              <a:t>Задание:</a:t>
            </a:r>
          </a:p>
          <a:p>
            <a:pPr marL="457200" indent="-457200">
              <a:buFont typeface="+mj-lt"/>
              <a:buAutoNum type="arabicPeriod"/>
            </a:pPr>
            <a:r>
              <a:rPr lang="ru-RU" dirty="0"/>
              <a:t>Определите список заинтересованных лиц</a:t>
            </a:r>
          </a:p>
          <a:p>
            <a:pPr marL="457200" indent="-457200">
              <a:buFont typeface="+mj-lt"/>
              <a:buAutoNum type="arabicPeriod"/>
            </a:pPr>
            <a:r>
              <a:rPr lang="ru-RU" dirty="0"/>
              <a:t>Выберите метод работы с каждым </a:t>
            </a:r>
            <a:r>
              <a:rPr lang="ru-RU" dirty="0" err="1"/>
              <a:t>з.л</a:t>
            </a:r>
            <a:r>
              <a:rPr lang="ru-RU" dirty="0"/>
              <a:t>. – анкета или интервью</a:t>
            </a:r>
          </a:p>
          <a:p>
            <a:pPr marL="457200" indent="-457200">
              <a:buFont typeface="+mj-lt"/>
              <a:buAutoNum type="arabicPeriod"/>
            </a:pPr>
            <a:r>
              <a:rPr lang="ru-RU" dirty="0"/>
              <a:t>Составьте вопросы для анкеты/интервью для одного заинтересованного лица</a:t>
            </a:r>
          </a:p>
          <a:p>
            <a:pPr marL="457200" indent="-457200">
              <a:buFont typeface="+mj-lt"/>
              <a:buAutoNum type="arabicPeriod"/>
            </a:pPr>
            <a:r>
              <a:rPr lang="ru-RU" dirty="0"/>
              <a:t>Придумайте ответы на эти вопросы</a:t>
            </a:r>
          </a:p>
          <a:p>
            <a:pPr marL="457200" indent="-457200">
              <a:buFont typeface="+mj-lt"/>
              <a:buAutoNum type="arabicPeriod"/>
            </a:pPr>
            <a:r>
              <a:rPr lang="ru-RU" dirty="0"/>
              <a:t>На основе ответов выделите список потребностей и сформулируйте функциональные и нефункциональные требования</a:t>
            </a:r>
          </a:p>
          <a:p>
            <a:pPr marL="457200" indent="-457200">
              <a:buFont typeface="+mj-lt"/>
              <a:buAutoNum type="arabicPeriod"/>
            </a:pPr>
            <a:r>
              <a:rPr lang="ru-RU" dirty="0"/>
              <a:t>Придумайте 3 пользовательские истории для любых </a:t>
            </a:r>
            <a:r>
              <a:rPr lang="ru-RU" dirty="0" err="1"/>
              <a:t>з.л</a:t>
            </a:r>
            <a:r>
              <a:rPr lang="ru-RU" dirty="0"/>
              <a:t>.</a:t>
            </a:r>
          </a:p>
        </p:txBody>
      </p:sp>
      <p:sp>
        <p:nvSpPr>
          <p:cNvPr id="4" name="Номер слайда 3">
            <a:extLst>
              <a:ext uri="{FF2B5EF4-FFF2-40B4-BE49-F238E27FC236}">
                <a16:creationId xmlns:a16="http://schemas.microsoft.com/office/drawing/2014/main" id="{15FAED63-B2F6-EAC5-643B-403205060776}"/>
              </a:ext>
            </a:extLst>
          </p:cNvPr>
          <p:cNvSpPr>
            <a:spLocks noGrp="1"/>
          </p:cNvSpPr>
          <p:nvPr>
            <p:ph type="sldNum" sz="quarter" idx="12"/>
          </p:nvPr>
        </p:nvSpPr>
        <p:spPr/>
        <p:txBody>
          <a:bodyPr/>
          <a:lstStyle/>
          <a:p>
            <a:fld id="{25A42088-C730-408A-A823-60BED1AFCEA0}" type="slidenum">
              <a:rPr lang="ru-RU" smtClean="0"/>
              <a:t>28</a:t>
            </a:fld>
            <a:endParaRPr lang="ru-RU"/>
          </a:p>
        </p:txBody>
      </p:sp>
    </p:spTree>
    <p:extLst>
      <p:ext uri="{BB962C8B-B14F-4D97-AF65-F5344CB8AC3E}">
        <p14:creationId xmlns:p14="http://schemas.microsoft.com/office/powerpoint/2010/main" val="3901029224"/>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94</TotalTime>
  <Words>1844</Words>
  <Application>Microsoft Office PowerPoint</Application>
  <PresentationFormat>Широкоэкранный</PresentationFormat>
  <Paragraphs>163</Paragraphs>
  <Slides>28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28</vt:i4>
      </vt:variant>
    </vt:vector>
  </HeadingPairs>
  <TitlesOfParts>
    <vt:vector size="33" baseType="lpstr">
      <vt:lpstr>Calibri</vt:lpstr>
      <vt:lpstr>Franklin Gothic Book</vt:lpstr>
      <vt:lpstr>Georgia</vt:lpstr>
      <vt:lpstr>Wingdings</vt:lpstr>
      <vt:lpstr>Уголки</vt:lpstr>
      <vt:lpstr>Лекция 3    Анализ ПО. Анкеты, интервью, пользовательские истории</vt:lpstr>
      <vt:lpstr>Анализ предметной области</vt:lpstr>
      <vt:lpstr>Схема Захмана</vt:lpstr>
      <vt:lpstr>Презентация PowerPoint</vt:lpstr>
      <vt:lpstr>Заинтересованные лица (стейкхолдеры)</vt:lpstr>
      <vt:lpstr>Виды заинтересованных лиц</vt:lpstr>
      <vt:lpstr>Вопросы для выявления заинтересованных лиц</vt:lpstr>
      <vt:lpstr>Потребности</vt:lpstr>
      <vt:lpstr>Формулировка потребностей</vt:lpstr>
      <vt:lpstr>Сбор информации от заинтересованных лиц</vt:lpstr>
      <vt:lpstr>Анкетирование</vt:lpstr>
      <vt:lpstr>Интервью</vt:lpstr>
      <vt:lpstr>Анализ требований</vt:lpstr>
      <vt:lpstr>Категории представления требований</vt:lpstr>
      <vt:lpstr>Пример перехода от требований заказчика к требованиям разработчика</vt:lpstr>
      <vt:lpstr>Виды требований</vt:lpstr>
      <vt:lpstr>Группы нефункциональных требований</vt:lpstr>
      <vt:lpstr>Требования должны быть:</vt:lpstr>
      <vt:lpstr>Примеры</vt:lpstr>
      <vt:lpstr>Проверка требований</vt:lpstr>
      <vt:lpstr>Презентация PowerPoint</vt:lpstr>
      <vt:lpstr>Пользовательские истории</vt:lpstr>
      <vt:lpstr>Структура пользовательской истории</vt:lpstr>
      <vt:lpstr>Критерии INVEST для User Story</vt:lpstr>
      <vt:lpstr>Презентация PowerPoint</vt:lpstr>
      <vt:lpstr>Презентация PowerPoint</vt:lpstr>
      <vt:lpstr>Плюсы и минусы пользовательских историй</vt:lpstr>
      <vt:lpstr>Практическое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    Заголовок</dc:title>
  <dc:creator>Лилия Челищева</dc:creator>
  <cp:lastModifiedBy>Лилия Челищева</cp:lastModifiedBy>
  <cp:revision>9</cp:revision>
  <dcterms:created xsi:type="dcterms:W3CDTF">2023-09-01T22:02:12Z</dcterms:created>
  <dcterms:modified xsi:type="dcterms:W3CDTF">2025-09-05T03:25:55Z</dcterms:modified>
</cp:coreProperties>
</file>