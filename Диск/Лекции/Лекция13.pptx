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95" r:id="rId1"/>
  </p:sldMasterIdLst>
  <p:notesMasterIdLst>
    <p:notesMasterId r:id="rId119"/>
  </p:notesMasterIdLst>
  <p:sldIdLst>
    <p:sldId id="256" r:id="rId2"/>
    <p:sldId id="257" r:id="rId3"/>
    <p:sldId id="316" r:id="rId4"/>
    <p:sldId id="318" r:id="rId5"/>
    <p:sldId id="319" r:id="rId6"/>
    <p:sldId id="320" r:id="rId7"/>
    <p:sldId id="321" r:id="rId8"/>
    <p:sldId id="322" r:id="rId9"/>
    <p:sldId id="323" r:id="rId10"/>
    <p:sldId id="324" r:id="rId11"/>
    <p:sldId id="305" r:id="rId12"/>
    <p:sldId id="304" r:id="rId13"/>
    <p:sldId id="303" r:id="rId14"/>
    <p:sldId id="307" r:id="rId15"/>
    <p:sldId id="311" r:id="rId16"/>
    <p:sldId id="310" r:id="rId17"/>
    <p:sldId id="309" r:id="rId18"/>
    <p:sldId id="306" r:id="rId19"/>
    <p:sldId id="313" r:id="rId20"/>
    <p:sldId id="315" r:id="rId21"/>
    <p:sldId id="314" r:id="rId22"/>
    <p:sldId id="325" r:id="rId23"/>
    <p:sldId id="301" r:id="rId24"/>
    <p:sldId id="312" r:id="rId25"/>
    <p:sldId id="326" r:id="rId26"/>
    <p:sldId id="341" r:id="rId27"/>
    <p:sldId id="342" r:id="rId28"/>
    <p:sldId id="339" r:id="rId29"/>
    <p:sldId id="343" r:id="rId30"/>
    <p:sldId id="344" r:id="rId31"/>
    <p:sldId id="340" r:id="rId32"/>
    <p:sldId id="345" r:id="rId33"/>
    <p:sldId id="346" r:id="rId34"/>
    <p:sldId id="347" r:id="rId35"/>
    <p:sldId id="348" r:id="rId36"/>
    <p:sldId id="349" r:id="rId37"/>
    <p:sldId id="350" r:id="rId38"/>
    <p:sldId id="351" r:id="rId39"/>
    <p:sldId id="352" r:id="rId40"/>
    <p:sldId id="353" r:id="rId41"/>
    <p:sldId id="327" r:id="rId42"/>
    <p:sldId id="354" r:id="rId43"/>
    <p:sldId id="328" r:id="rId44"/>
    <p:sldId id="330" r:id="rId45"/>
    <p:sldId id="329" r:id="rId46"/>
    <p:sldId id="357" r:id="rId47"/>
    <p:sldId id="332" r:id="rId48"/>
    <p:sldId id="358" r:id="rId49"/>
    <p:sldId id="334" r:id="rId50"/>
    <p:sldId id="333" r:id="rId51"/>
    <p:sldId id="335" r:id="rId52"/>
    <p:sldId id="337" r:id="rId53"/>
    <p:sldId id="359" r:id="rId54"/>
    <p:sldId id="360" r:id="rId55"/>
    <p:sldId id="300" r:id="rId56"/>
    <p:sldId id="361" r:id="rId57"/>
    <p:sldId id="362" r:id="rId58"/>
    <p:sldId id="363" r:id="rId59"/>
    <p:sldId id="364" r:id="rId60"/>
    <p:sldId id="365" r:id="rId61"/>
    <p:sldId id="366" r:id="rId62"/>
    <p:sldId id="367" r:id="rId63"/>
    <p:sldId id="308" r:id="rId64"/>
    <p:sldId id="368" r:id="rId65"/>
    <p:sldId id="369" r:id="rId66"/>
    <p:sldId id="370" r:id="rId67"/>
    <p:sldId id="371" r:id="rId68"/>
    <p:sldId id="372" r:id="rId69"/>
    <p:sldId id="373" r:id="rId70"/>
    <p:sldId id="375" r:id="rId71"/>
    <p:sldId id="376" r:id="rId72"/>
    <p:sldId id="377" r:id="rId73"/>
    <p:sldId id="378" r:id="rId74"/>
    <p:sldId id="379" r:id="rId75"/>
    <p:sldId id="380" r:id="rId76"/>
    <p:sldId id="382" r:id="rId77"/>
    <p:sldId id="383" r:id="rId78"/>
    <p:sldId id="384" r:id="rId79"/>
    <p:sldId id="385" r:id="rId80"/>
    <p:sldId id="386" r:id="rId81"/>
    <p:sldId id="387" r:id="rId82"/>
    <p:sldId id="388" r:id="rId83"/>
    <p:sldId id="389" r:id="rId84"/>
    <p:sldId id="390" r:id="rId85"/>
    <p:sldId id="391" r:id="rId86"/>
    <p:sldId id="392" r:id="rId87"/>
    <p:sldId id="393" r:id="rId88"/>
    <p:sldId id="394" r:id="rId89"/>
    <p:sldId id="395" r:id="rId90"/>
    <p:sldId id="396" r:id="rId91"/>
    <p:sldId id="397" r:id="rId92"/>
    <p:sldId id="398" r:id="rId93"/>
    <p:sldId id="399" r:id="rId94"/>
    <p:sldId id="400" r:id="rId95"/>
    <p:sldId id="401" r:id="rId96"/>
    <p:sldId id="402" r:id="rId97"/>
    <p:sldId id="403" r:id="rId98"/>
    <p:sldId id="404" r:id="rId99"/>
    <p:sldId id="405" r:id="rId100"/>
    <p:sldId id="406" r:id="rId101"/>
    <p:sldId id="407" r:id="rId102"/>
    <p:sldId id="408" r:id="rId103"/>
    <p:sldId id="409" r:id="rId104"/>
    <p:sldId id="410" r:id="rId105"/>
    <p:sldId id="411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  <p:sldId id="421" r:id="rId116"/>
    <p:sldId id="422" r:id="rId117"/>
    <p:sldId id="425" r:id="rId1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26" autoAdjust="0"/>
    <p:restoredTop sz="80524" autoAdjust="0"/>
  </p:normalViewPr>
  <p:slideViewPr>
    <p:cSldViewPr snapToGrid="0">
      <p:cViewPr varScale="1">
        <p:scale>
          <a:sx n="68" d="100"/>
          <a:sy n="68" d="100"/>
        </p:scale>
        <p:origin x="1229" y="62"/>
      </p:cViewPr>
      <p:guideLst/>
    </p:cSldViewPr>
  </p:slideViewPr>
  <p:outlineViewPr>
    <p:cViewPr>
      <p:scale>
        <a:sx n="33" d="100"/>
        <a:sy n="33" d="100"/>
      </p:scale>
      <p:origin x="0" y="-78917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notesMaster" Target="notesMasters/notesMaster1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B9F18C-B0EF-4C3B-831E-15C3CF792C09}" type="datetimeFigureOut">
              <a:rPr lang="ru-RU" smtClean="0"/>
              <a:t>05.10.2025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D3E470-2E3C-4AB4-A461-A838E60D5F1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259141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1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2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7C93BFA-9AA9-7ED3-9DFA-7302656C95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9577C29-3AAB-4E7A-8829-82DABFB3DAD8}" type="slidenum">
              <a:rPr lang="ru-RU" altLang="ru-RU"/>
              <a:pPr/>
              <a:t>11</a:t>
            </a:fld>
            <a:endParaRPr lang="ru-RU" altLang="ru-RU" dirty="0"/>
          </a:p>
        </p:txBody>
      </p:sp>
      <p:sp>
        <p:nvSpPr>
          <p:cNvPr id="299010" name="Rectangle 2">
            <a:extLst>
              <a:ext uri="{FF2B5EF4-FFF2-40B4-BE49-F238E27FC236}">
                <a16:creationId xmlns:a16="http://schemas.microsoft.com/office/drawing/2014/main" id="{41A96FAF-05BD-3D10-81E0-FB2398EAC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9011" name="Rectangle 3">
            <a:extLst>
              <a:ext uri="{FF2B5EF4-FFF2-40B4-BE49-F238E27FC236}">
                <a16:creationId xmlns:a16="http://schemas.microsoft.com/office/drawing/2014/main" id="{06AB48DB-08AE-671D-BD1F-D58DCBC84F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Смоделируем процесс приготовления гамбургера и хот-дога. Два класса: 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3C49E2C-523E-D5D6-F7A8-A580465223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0A51833-8B9C-4FBE-8B9A-BF288A54797B}" type="slidenum">
              <a:rPr lang="ru-RU" altLang="ru-RU"/>
              <a:pPr/>
              <a:t>14</a:t>
            </a:fld>
            <a:endParaRPr lang="ru-RU" altLang="ru-RU" dirty="0"/>
          </a:p>
        </p:txBody>
      </p:sp>
      <p:sp>
        <p:nvSpPr>
          <p:cNvPr id="303106" name="Rectangle 2">
            <a:extLst>
              <a:ext uri="{FF2B5EF4-FFF2-40B4-BE49-F238E27FC236}">
                <a16:creationId xmlns:a16="http://schemas.microsoft.com/office/drawing/2014/main" id="{2BBAFE0D-7259-F9B0-06CD-20671BF114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9318C25D-437F-197B-E583-9B6ECCDAF4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2 объекта с двумя общими методами + похожий метод Приготовить. Надо выделить абстракцию, базовый класс. С помощью наследования потом реализовать.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18188D7-D0BB-56A8-E9C1-FB96B698B25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BBA3C0A-57CC-4A0C-868A-7DEF18995330}" type="slidenum">
              <a:rPr lang="ru-RU" altLang="ru-RU"/>
              <a:pPr/>
              <a:t>15</a:t>
            </a:fld>
            <a:endParaRPr lang="ru-RU" altLang="ru-RU" dirty="0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FAC9A770-DFC7-2113-F643-49AB69391DA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AB33807B-25FA-7BA2-BE64-4CD635138E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Сделаем абстрактными – чтобы нельзя было получить объект этого класса – он не имеет смысла, и чтобы гарантировать в наследниках создание метода Приготовить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34BC7D2-AEB1-2622-A7EB-BAE094D56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3B062C0-DA0F-41F3-845E-478B89D465DA}" type="slidenum">
              <a:rPr lang="ru-RU" altLang="ru-RU"/>
              <a:pPr/>
              <a:t>16</a:t>
            </a:fld>
            <a:endParaRPr lang="ru-RU" altLang="ru-RU" dirty="0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B2D8371A-DFC9-579C-2A1C-04786EF69C9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EEEEB964-8E90-A16F-4BAB-602FD47AAD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Переопределяем метод Приготовить. Но есть еще 2 общие вещи – хоть и называются по разному. Но смысл общи – 1 – главный ингредиент, 2 – заправка. + Алгоритм одинаковый – 4 шага, хлеб, основной продукт, овощи, заправка. Можно применить Шаблонный метод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E194C06-DFD6-34D0-F06C-5D3C8CA85B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43162-A6A9-438F-9A7A-5D44CF9B8323}" type="slidenum">
              <a:rPr lang="ru-RU" altLang="ru-RU"/>
              <a:pPr/>
              <a:t>17</a:t>
            </a:fld>
            <a:endParaRPr lang="ru-RU" altLang="ru-RU" dirty="0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871F6E9C-B34D-E8DA-D76D-B540F120F0F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AA841B6A-56F2-79BD-3F49-2522F4451D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Сделаем методы Приготовить основной ингредиент и Добавить заправку И тогда в Приготовить – 4 одинаковых шага. И он уже не абстрактный. Абстрактные теперь – два различных метода. 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FA4B2F9-E0F0-4588-5B2F-D0B6E07219D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2BEC24-E88B-4FA9-BD3F-7CD3547461E4}" type="slidenum">
              <a:rPr lang="ru-RU" altLang="ru-RU"/>
              <a:pPr/>
              <a:t>18</a:t>
            </a:fld>
            <a:endParaRPr lang="ru-RU" altLang="ru-RU" dirty="0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3CE3ADBB-AEDE-68B7-1DE2-9A36F22EC2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0F9FEBF4-886C-5BEB-9239-BDE4B6FE37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Приводим классы к норме.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2FB7CE-4EF1-F90A-CC1E-C41F979113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12B3A-85E7-42B0-8BB2-91B58530DC05}" type="slidenum">
              <a:rPr lang="ru-RU" altLang="ru-RU"/>
              <a:pPr/>
              <a:t>19</a:t>
            </a:fld>
            <a:endParaRPr lang="ru-RU" altLang="ru-RU" dirty="0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985DB9D3-BD05-FAE7-4E28-E9EC7C2D79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235E259E-5AE6-D4E7-F966-821B4ABD53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Выделяем общие одинаковые части – в базовый класс. Потом похожие и приватные – делаем абстрактными.</a:t>
            </a:r>
          </a:p>
          <a:p>
            <a:r>
              <a:rPr lang="ru-RU" altLang="ru-RU" dirty="0"/>
              <a:t>Рассказать про модель инсталлятора - много одинаковых шагов. Проверка входных параметров, надо ли его запускать, затем копирование файлов, внесение изменений в реестр, проверка результатов. Это Шаблонный метод. В реальных шагах инсталлятора – конкретную реализацию. В вызывающем методе – только </a:t>
            </a:r>
            <a:r>
              <a:rPr lang="en-US" altLang="ru-RU" dirty="0"/>
              <a:t>Execute</a:t>
            </a:r>
            <a:r>
              <a:rPr lang="ru-RU" altLang="ru-RU" dirty="0"/>
              <a:t>, но за кулисами скрыто для любой команды все шаги.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C9F54CA-F3D0-6756-7EC1-D656C1C83E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1DD1E4F-2DFE-4C6B-BAA8-A30258973F9C}" type="slidenum">
              <a:rPr lang="ru-RU" altLang="ru-RU"/>
              <a:pPr/>
              <a:t>20</a:t>
            </a:fld>
            <a:endParaRPr lang="ru-RU" altLang="ru-RU" dirty="0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85312EEF-4A58-5AAD-F5FE-6066708034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2FB3B140-8467-E4BA-748E-DB51321CFF5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Как улучшить данный метод. Например, добавить возможность валидации – запускать или не запускать. Реальные продавцы спрашивают – положить горчицу? Некоторым надо, некоторым не надо. Метод будет возвращать да/нет. По умолчанию – кладем по рецептуре. Т.е. если что – переопределять просто не надо.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3AD429D-8C67-050C-F538-17DFF2511D9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00958C2-FEA6-46B6-88F3-18236BEEB04F}" type="slidenum">
              <a:rPr lang="ru-RU" altLang="ru-RU"/>
              <a:pPr/>
              <a:t>21</a:t>
            </a:fld>
            <a:endParaRPr lang="ru-RU" altLang="ru-RU" dirty="0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7F395BE6-31A7-7BDF-7CE7-2347A252813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ABED60C8-1C52-FF01-F6C7-AF355DC044D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 реальном классе – делаем запрос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30F709-C425-A7BB-09A9-749FF8E142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587DD52-AB22-48FF-9F76-DEA91F076FF9}" type="slidenum">
              <a:rPr lang="ru-RU" altLang="ru-RU"/>
              <a:pPr/>
              <a:t>23</a:t>
            </a:fld>
            <a:endParaRPr lang="ru-RU" altLang="ru-RU" dirty="0"/>
          </a:p>
        </p:txBody>
      </p:sp>
      <p:sp>
        <p:nvSpPr>
          <p:cNvPr id="309250" name="Rectangle 2">
            <a:extLst>
              <a:ext uri="{FF2B5EF4-FFF2-40B4-BE49-F238E27FC236}">
                <a16:creationId xmlns:a16="http://schemas.microsoft.com/office/drawing/2014/main" id="{44DAFB40-E625-65E9-A074-22E23620A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9DA38100-2784-9023-5D52-D9CEC2F449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EDCE2FF-47E3-062F-7315-41EBE34012A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14A957C-EE8B-44E4-AE00-6E67F6C483F4}" type="slidenum">
              <a:rPr lang="ru-RU" altLang="ru-RU"/>
              <a:pPr/>
              <a:t>24</a:t>
            </a:fld>
            <a:endParaRPr lang="ru-RU" altLang="ru-RU" dirty="0"/>
          </a:p>
        </p:txBody>
      </p:sp>
      <p:sp>
        <p:nvSpPr>
          <p:cNvPr id="310274" name="Rectangle 2">
            <a:extLst>
              <a:ext uri="{FF2B5EF4-FFF2-40B4-BE49-F238E27FC236}">
                <a16:creationId xmlns:a16="http://schemas.microsoft.com/office/drawing/2014/main" id="{129161AD-935E-439E-5173-7178A5D149D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91DBD73F-B2F8-52B5-3694-C94167A280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Рассмотрим успешную ИТ компанию, по разработке игр. Игра «Утки» - успешная симуляция утиного пруда, которые умеют крякать, плавать и т.д. Она очень успешна, для всех известных платформ, бешенный успех. Есть утки обычные, экзотические, зеленые. Т.е. есть возможность показывать в пруду разные классы уток, происходящие от базового класса, которые к тому же умеют крякать, плавать ну и показывать себя. Метод </a:t>
            </a:r>
            <a:r>
              <a:rPr lang="en-US" altLang="ru-RU" dirty="0"/>
              <a:t>Display</a:t>
            </a:r>
            <a:r>
              <a:rPr lang="ru-RU" altLang="ru-RU" dirty="0"/>
              <a:t> абстрактный, т.к. наши утки должны показать каждая себя по своему. И три класса наследника. Реализуем классы, которые будут соответствовать указанной схеме.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A16441-8BB0-D0F2-9D31-191748762FD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9AB45D0-25DE-4A29-8D5A-A0D051CB378F}" type="slidenum">
              <a:rPr lang="ru-RU" altLang="ru-RU"/>
              <a:pPr/>
              <a:t>25</a:t>
            </a:fld>
            <a:endParaRPr lang="ru-RU" altLang="ru-RU" dirty="0"/>
          </a:p>
        </p:txBody>
      </p:sp>
      <p:sp>
        <p:nvSpPr>
          <p:cNvPr id="312322" name="Rectangle 2">
            <a:extLst>
              <a:ext uri="{FF2B5EF4-FFF2-40B4-BE49-F238E27FC236}">
                <a16:creationId xmlns:a16="http://schemas.microsoft.com/office/drawing/2014/main" id="{C99B6F44-871C-5DA9-D992-E43013EE10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1449A47F-9780-847F-1188-FACCF4BE5F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Любой класс утки, который будет реализовывать этот класс, сможет сказать Кря-Кря, сказать, что она плывет. И обязательно должен будет реализовать у себя абстрактную функцию </a:t>
            </a:r>
            <a:r>
              <a:rPr lang="en-US" altLang="ru-RU" dirty="0"/>
              <a:t>Display</a:t>
            </a:r>
            <a:r>
              <a:rPr lang="ru-RU" altLang="ru-RU" dirty="0"/>
              <a:t>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8AF9D4B-04A9-C7E3-4286-FDC6968E42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4EA9595-3E3D-4ABC-A9C9-376431568BDD}" type="slidenum">
              <a:rPr lang="ru-RU" altLang="ru-RU"/>
              <a:pPr/>
              <a:t>27</a:t>
            </a:fld>
            <a:endParaRPr lang="ru-RU" altLang="ru-RU" dirty="0"/>
          </a:p>
        </p:txBody>
      </p:sp>
      <p:sp>
        <p:nvSpPr>
          <p:cNvPr id="314370" name="Rectangle 2">
            <a:extLst>
              <a:ext uri="{FF2B5EF4-FFF2-40B4-BE49-F238E27FC236}">
                <a16:creationId xmlns:a16="http://schemas.microsoft.com/office/drawing/2014/main" id="{5223D5E5-6DBD-D716-F11F-5825FBD2C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390A2326-55E2-40C2-E937-7E637A0021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Классы-наследники, реализующие класс </a:t>
            </a:r>
            <a:r>
              <a:rPr lang="en-US" altLang="ru-RU" dirty="0"/>
              <a:t>DuckBase</a:t>
            </a:r>
            <a:r>
              <a:rPr lang="ru-RU" altLang="ru-RU" dirty="0"/>
              <a:t>, переопределяют метод </a:t>
            </a:r>
            <a:r>
              <a:rPr lang="en-US" altLang="ru-RU" dirty="0"/>
              <a:t>Display</a:t>
            </a:r>
            <a:r>
              <a:rPr lang="ru-RU" altLang="ru-RU" dirty="0"/>
              <a:t>(). Они могут делать это все каждый по своему.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66D04C3-6EEE-11DB-35D4-52A56AA1B4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8EA37DD-9CBF-481E-85CF-0ABAE800E13C}" type="slidenum">
              <a:rPr lang="ru-RU" altLang="ru-RU"/>
              <a:pPr/>
              <a:t>28</a:t>
            </a:fld>
            <a:endParaRPr lang="ru-RU" altLang="ru-RU" dirty="0"/>
          </a:p>
        </p:txBody>
      </p:sp>
      <p:sp>
        <p:nvSpPr>
          <p:cNvPr id="372738" name="Rectangle 2">
            <a:extLst>
              <a:ext uri="{FF2B5EF4-FFF2-40B4-BE49-F238E27FC236}">
                <a16:creationId xmlns:a16="http://schemas.microsoft.com/office/drawing/2014/main" id="{51CA24B8-7B08-0372-E61C-B33ADA6C08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E3B8413A-E2D8-AC6A-E821-86A0A6981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Классы-наследники, реализующие класс </a:t>
            </a:r>
            <a:r>
              <a:rPr lang="en-US" altLang="ru-RU" dirty="0"/>
              <a:t>DuckBase</a:t>
            </a:r>
            <a:r>
              <a:rPr lang="ru-RU" altLang="ru-RU" dirty="0"/>
              <a:t>, переопределяют метод </a:t>
            </a:r>
            <a:r>
              <a:rPr lang="en-US" altLang="ru-RU" dirty="0"/>
              <a:t>Display</a:t>
            </a:r>
            <a:r>
              <a:rPr lang="ru-RU" altLang="ru-RU" dirty="0"/>
              <a:t>(). Они могут делать это все каждый по своему.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A8A7D21-646D-AC20-6654-96306E63CB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0AFA1-6736-4A51-8ACA-F3552626D0F8}" type="slidenum">
              <a:rPr lang="ru-RU" altLang="ru-RU"/>
              <a:pPr/>
              <a:t>29</a:t>
            </a:fld>
            <a:endParaRPr lang="ru-RU" altLang="ru-RU" dirty="0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EFF0528D-9FF8-EB5E-69FD-2425D04D3E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AAC90E19-C571-EFC3-DCEB-FC775E0164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Используем принцип ООП Полиморфизм: создадим список из </a:t>
            </a:r>
            <a:r>
              <a:rPr lang="en-US" altLang="ru-RU" dirty="0"/>
              <a:t>DackBase</a:t>
            </a:r>
            <a:r>
              <a:rPr lang="ru-RU" altLang="ru-RU" dirty="0"/>
              <a:t>, добавим в него несколько различных уток. И в цикле их переберем. Каждая будет себя отображать, плавать, и крякать.</a:t>
            </a:r>
          </a:p>
          <a:p>
            <a:r>
              <a:rPr lang="ru-RU" altLang="ru-RU" dirty="0"/>
              <a:t>Все круто: утки выдерживают полиморфизм</a:t>
            </a:r>
            <a:r>
              <a:rPr lang="en-US" altLang="ru-RU" dirty="0"/>
              <a:t> (</a:t>
            </a:r>
            <a:r>
              <a:rPr lang="ru-RU" altLang="ru-RU" dirty="0"/>
              <a:t>используем базовый класс </a:t>
            </a:r>
            <a:r>
              <a:rPr lang="en-US" altLang="ru-RU" dirty="0"/>
              <a:t>DuckBase)</a:t>
            </a:r>
            <a:r>
              <a:rPr lang="ru-RU" altLang="ru-RU" dirty="0"/>
              <a:t>, но отображается каждая себя по разному. Но наша реализация будет хромать.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F0438CA-C84B-6E3E-0E2C-2FE7DB5C6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83FE863-6C99-49B9-A3DB-10570009BC21}" type="slidenum">
              <a:rPr lang="ru-RU" altLang="ru-RU"/>
              <a:pPr/>
              <a:t>30</a:t>
            </a:fld>
            <a:endParaRPr lang="ru-RU" altLang="ru-RU" dirty="0"/>
          </a:p>
        </p:txBody>
      </p:sp>
      <p:sp>
        <p:nvSpPr>
          <p:cNvPr id="320514" name="Rectangle 2">
            <a:extLst>
              <a:ext uri="{FF2B5EF4-FFF2-40B4-BE49-F238E27FC236}">
                <a16:creationId xmlns:a16="http://schemas.microsoft.com/office/drawing/2014/main" id="{F225E75D-CFE1-DAB6-46FE-5347782A31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0515" name="Rectangle 3">
            <a:extLst>
              <a:ext uri="{FF2B5EF4-FFF2-40B4-BE49-F238E27FC236}">
                <a16:creationId xmlns:a16="http://schemas.microsoft.com/office/drawing/2014/main" id="{B4EF43B7-098F-7815-82C5-9CC7B1E984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У нас крутое приложение! Конкуренты скопировали. И конкуренты сделали фичу: утки стали летать. Мы в класс </a:t>
            </a:r>
            <a:r>
              <a:rPr lang="en-US" altLang="ru-RU" dirty="0"/>
              <a:t>DuckBase </a:t>
            </a:r>
            <a:r>
              <a:rPr lang="ru-RU" altLang="ru-RU" dirty="0"/>
              <a:t>добавим новый метод </a:t>
            </a:r>
            <a:r>
              <a:rPr lang="en-US" altLang="ru-RU" dirty="0"/>
              <a:t>Fly()</a:t>
            </a:r>
            <a:r>
              <a:rPr lang="ru-RU" altLang="ru-RU" dirty="0"/>
              <a:t>. Вызовем его. Утки летают вокруг озера. Все круто! Мы опять впереди!</a:t>
            </a:r>
          </a:p>
          <a:p>
            <a:r>
              <a:rPr lang="ru-RU" altLang="ru-RU" dirty="0"/>
              <a:t>Но через два дня после релиза, вбегает менеджер проекта с криками: «Раздолбаи! Всех уволю! Ничего делать не можете! Кто так программы пишет?» Мы в раздумье: «Что? Почему? Все красиво. Утки летают. И даже программная реализация по уму – классы, наследование... В чем же дело?»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C4B940-55EF-A102-E8E3-BE5DD61052E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86E74DB-DBCB-4563-83DB-1D4B52F2303B}" type="slidenum">
              <a:rPr lang="ru-RU" altLang="ru-RU"/>
              <a:pPr/>
              <a:t>31</a:t>
            </a:fld>
            <a:endParaRPr lang="ru-RU" altLang="ru-RU" dirty="0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8E7044F6-2FC1-8AA9-6E57-DEA922BDC5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42C3487A-85C6-4A00-5779-7C762668E6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У нас крутое приложение! Конкуренты скопировали. И конкуренты сделали фичу: утки стали летать. Мы в класс </a:t>
            </a:r>
            <a:r>
              <a:rPr lang="en-US" altLang="ru-RU" dirty="0"/>
              <a:t>DuckBase </a:t>
            </a:r>
            <a:r>
              <a:rPr lang="ru-RU" altLang="ru-RU" dirty="0"/>
              <a:t>добавим новый метод </a:t>
            </a:r>
            <a:r>
              <a:rPr lang="en-US" altLang="ru-RU" dirty="0"/>
              <a:t>Fly()</a:t>
            </a:r>
            <a:r>
              <a:rPr lang="ru-RU" altLang="ru-RU" dirty="0"/>
              <a:t>. Вызовем его. Утки летают вокруг озера. Все круто! Мы опять впереди!</a:t>
            </a:r>
          </a:p>
          <a:p>
            <a:r>
              <a:rPr lang="ru-RU" altLang="ru-RU" dirty="0"/>
              <a:t>Но через два дня после релиза, вбегает менеджер проекта с криками: «Раздолбаи! Всех уволю! Ничего делать не можете! Кто так программы пишет?» Мы в раздумье: «Что? Почему? Все красиво. Утки летают. И даже программная реализация по уму – классы, наследование... В чем же дело?»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7755415-9C91-80E1-7519-DF31A333DD4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D8DC79-FB43-474D-B77E-23AA73106288}" type="slidenum">
              <a:rPr lang="ru-RU" altLang="ru-RU"/>
              <a:pPr/>
              <a:t>32</a:t>
            </a:fld>
            <a:endParaRPr lang="ru-RU" altLang="ru-RU" dirty="0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2FDE1F3C-8065-C39C-CF84-BF76F2E60FF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C531C627-1EDE-A111-23D5-7E68B529DA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Однако никто даже не мог подумать, что один программист увидел у конкурентов деревянную утку-манок, которая тоже могла плавать в пруду и которая тоже безумно нравилась клиентам этого приложения (по отзывам). Программист создает эту утку таким же способом, как и у всех. Все здорово. НО! Деревянные утки НЕ летают!!! И НЕ крякают! Ну ладно, пусть утка манок крякает! Но летать она точно не может. Наша архитектура рухнула. Все серьезные умы, все архитекторы отдела сели думать: как же так? Как сделать таким образом, чтобы утки могли летать в зависимости от своего типа, от своего физического типа: может она летать или не может.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C8130DD-ACDE-BE29-BEF8-A8A26FAC80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5C84A4D-7187-45E7-BB63-AC006847F355}" type="slidenum">
              <a:rPr lang="ru-RU" altLang="ru-RU"/>
              <a:pPr/>
              <a:t>33</a:t>
            </a:fld>
            <a:endParaRPr lang="ru-RU" altLang="ru-RU" dirty="0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7D425D17-8783-376E-AE8D-23761326AD9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1EDFC5DF-1C11-420A-09E1-A3F7FEF6EF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Вот что получилось у наших великих архитекторов. Ничего нового не появилось, у </a:t>
            </a:r>
            <a:r>
              <a:rPr lang="en-US" altLang="ru-RU" dirty="0"/>
              <a:t>DuckBase</a:t>
            </a:r>
            <a:r>
              <a:rPr lang="ru-RU" altLang="ru-RU" dirty="0"/>
              <a:t> все те же 4 метода, однако методы </a:t>
            </a:r>
            <a:r>
              <a:rPr lang="en-US" altLang="ru-RU" dirty="0"/>
              <a:t>Fly </a:t>
            </a:r>
            <a:r>
              <a:rPr lang="ru-RU" altLang="ru-RU" dirty="0"/>
              <a:t>и </a:t>
            </a:r>
            <a:r>
              <a:rPr lang="en-US" altLang="ru-RU" dirty="0"/>
              <a:t>Quack </a:t>
            </a:r>
            <a:r>
              <a:rPr lang="ru-RU" altLang="ru-RU" dirty="0"/>
              <a:t>объявлены виртуальными. В таком случае мы при реализации </a:t>
            </a:r>
            <a:r>
              <a:rPr lang="en-US" altLang="ru-RU" dirty="0"/>
              <a:t>RubberDuck</a:t>
            </a:r>
            <a:r>
              <a:rPr lang="ru-RU" altLang="ru-RU" dirty="0"/>
              <a:t>, поскольку эта утка не умеет летать, мы переопределим метод </a:t>
            </a:r>
            <a:r>
              <a:rPr lang="en-US" altLang="ru-RU" dirty="0"/>
              <a:t>Fly</a:t>
            </a:r>
            <a:r>
              <a:rPr lang="ru-RU" altLang="ru-RU" dirty="0"/>
              <a:t> и просто сделаем его пустым – положим в него заглушку. Для </a:t>
            </a:r>
            <a:r>
              <a:rPr lang="en-US" altLang="ru-RU" dirty="0"/>
              <a:t>WoodenDuck</a:t>
            </a:r>
            <a:r>
              <a:rPr lang="ru-RU" altLang="ru-RU" dirty="0"/>
              <a:t>, поскольку деревянная утка не умеет ни крякать, ни летать, мы переопределим оба метода, и оба метода сделаем пустыми.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977E65B-3389-68F4-2A41-AECE5F530FB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15CB03E-089D-4FCF-9661-ED061D573703}" type="slidenum">
              <a:rPr lang="ru-RU" altLang="ru-RU"/>
              <a:pPr/>
              <a:t>34</a:t>
            </a:fld>
            <a:endParaRPr lang="ru-RU" altLang="ru-RU" dirty="0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8B31AFC0-656C-CD9B-58A6-B5639178671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3DA3CD66-F218-9CE2-3287-3F6033637B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Делаем методы </a:t>
            </a:r>
            <a:r>
              <a:rPr lang="en-US" altLang="ru-RU" dirty="0"/>
              <a:t>Fly </a:t>
            </a:r>
            <a:r>
              <a:rPr lang="ru-RU" altLang="ru-RU" dirty="0"/>
              <a:t>и </a:t>
            </a:r>
            <a:r>
              <a:rPr lang="en-US" altLang="ru-RU" dirty="0"/>
              <a:t>Quack</a:t>
            </a:r>
            <a:r>
              <a:rPr lang="ru-RU" altLang="ru-RU" dirty="0"/>
              <a:t> виртуальными</a:t>
            </a:r>
            <a:endParaRPr lang="en-US" altLang="ru-RU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8314A24-A014-3E3B-B1FB-D813D2042FA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15F96B9-44E1-4794-AAC6-482DFFB7E6D9}" type="slidenum">
              <a:rPr lang="ru-RU" altLang="ru-RU"/>
              <a:pPr/>
              <a:t>35</a:t>
            </a:fld>
            <a:endParaRPr lang="ru-RU" altLang="ru-RU" dirty="0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953FF0A1-33BD-B72A-F3D6-4ED8E77A56A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408E98CA-D074-5723-1941-D1FC7EC542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И в деревянной утке переопределяем методы, удалив в них все лишнее. </a:t>
            </a:r>
          </a:p>
          <a:p>
            <a:r>
              <a:rPr lang="ru-RU" altLang="ru-RU" dirty="0"/>
              <a:t>В резиновой уточке переопределяем только метод </a:t>
            </a:r>
            <a:r>
              <a:rPr lang="en-US" altLang="ru-RU" dirty="0"/>
              <a:t>Fly</a:t>
            </a:r>
            <a:r>
              <a:rPr lang="ru-RU" altLang="ru-RU" dirty="0"/>
              <a:t>, предполагая, что она умеет крякать через свистульку. Запустив, видим, что утки ведут себя адекватно. В принципе, такая архитектура уже достаточно неплохая. НО! Если у нас будут и дальше добавляться новые виды уток, которые будут уметь плавать, не уметь крякать, уметь крякать, но не уметь плавать, и т.д. – вариантов море! И будет куча методов-заглушек. А это уже не есть хорошо. Да и вообще уже в принципе не хорошо, когда нам приходится постоянно что-то делать однотипное, т.е. наше первоначальное решение не работает. Получается, мы делаем заглушку, затычку, КАСТЫЛЬ!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8BD8280-40A4-1720-F07A-0DB9DDC88F8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EB6CF6A-5EBA-4798-8DA5-0A6EA4212CB1}" type="slidenum">
              <a:rPr lang="ru-RU" altLang="ru-RU"/>
              <a:pPr/>
              <a:t>38</a:t>
            </a:fld>
            <a:endParaRPr lang="ru-RU" altLang="ru-RU" dirty="0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B7CE27D6-1A3E-FE46-B014-D561F4899E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A149CE12-41AA-5AA6-613E-D7413842D0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Давайте думать, как этого можно избежать. На ум может прийти такая вещь: мы вместо кряканья, плавания, полетов сделаем интерфейсы.</a:t>
            </a:r>
            <a:r>
              <a:rPr lang="en-US" altLang="ru-RU" dirty="0"/>
              <a:t> </a:t>
            </a:r>
            <a:r>
              <a:rPr lang="ru-RU" altLang="ru-RU" b="1" i="1" u="sng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???????</a:t>
            </a:r>
            <a:r>
              <a:rPr lang="ru-RU" altLang="ru-RU" dirty="0"/>
              <a:t> Поместим это не в базовый класс, а в отдельные интерфейсы. Добавим новые интерфейсы. И будем в них определим лишь два метода. Если удалить из </a:t>
            </a:r>
            <a:r>
              <a:rPr lang="en-US" altLang="ru-RU" dirty="0"/>
              <a:t>DuckBase</a:t>
            </a:r>
            <a:r>
              <a:rPr lang="ru-RU" altLang="ru-RU" dirty="0"/>
              <a:t> методы </a:t>
            </a:r>
            <a:r>
              <a:rPr lang="en-US" altLang="ru-RU" dirty="0"/>
              <a:t>Fly </a:t>
            </a:r>
            <a:r>
              <a:rPr lang="ru-RU" altLang="ru-RU" dirty="0"/>
              <a:t>и </a:t>
            </a:r>
            <a:r>
              <a:rPr lang="en-US" altLang="ru-RU" dirty="0"/>
              <a:t>Quack</a:t>
            </a:r>
            <a:r>
              <a:rPr lang="ru-RU" altLang="ru-RU" dirty="0"/>
              <a:t>, то что мы получим? (сразу хочу сказать, что мы не получим ничего хорошего…)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59F8B08-710E-97BC-3FAE-B457FA0737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3385F6-1B0E-4DEF-BCBE-560199171B53}" type="slidenum">
              <a:rPr lang="ru-RU" altLang="ru-RU"/>
              <a:pPr/>
              <a:t>39</a:t>
            </a:fld>
            <a:endParaRPr lang="ru-RU" altLang="ru-RU" dirty="0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AE24793D-1790-E238-7E37-8CDDB58FF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58B1313B-839C-DA38-6862-A5A2F9C4E2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Удаляем в базовом классе методы </a:t>
            </a:r>
            <a:r>
              <a:rPr lang="en-US" altLang="ru-RU" dirty="0"/>
              <a:t>Fly </a:t>
            </a:r>
            <a:r>
              <a:rPr lang="ru-RU" altLang="ru-RU" dirty="0"/>
              <a:t>и </a:t>
            </a:r>
            <a:r>
              <a:rPr lang="en-US" altLang="ru-RU" dirty="0"/>
              <a:t>Quack</a:t>
            </a:r>
            <a:r>
              <a:rPr lang="ru-RU" altLang="ru-RU" dirty="0"/>
              <a:t>. Уток делаем наследниками от интерфейсов в зависимости от их типа. Берем утку, и реализуем интерфейсы, затем реализуем методы из интерфейсов </a:t>
            </a:r>
            <a:r>
              <a:rPr lang="en-US" altLang="ru-RU" dirty="0"/>
              <a:t>Fly </a:t>
            </a:r>
            <a:r>
              <a:rPr lang="ru-RU" altLang="ru-RU" dirty="0"/>
              <a:t>и </a:t>
            </a:r>
            <a:r>
              <a:rPr lang="en-US" altLang="ru-RU" dirty="0"/>
              <a:t>Quack</a:t>
            </a:r>
            <a:r>
              <a:rPr lang="ru-RU" altLang="ru-RU" dirty="0"/>
              <a:t>. И так со всеми классами… </a:t>
            </a:r>
            <a:r>
              <a:rPr lang="en-US" altLang="ru-RU" dirty="0"/>
              <a:t>(</a:t>
            </a:r>
            <a:r>
              <a:rPr lang="ru-RU" altLang="ru-RU" dirty="0"/>
              <a:t>Достаточно для трех)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29DCDA-2075-89A4-FB7E-82DAC76FE05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DBAE4A-BEE9-418C-9D03-7CBB887F1208}" type="slidenum">
              <a:rPr lang="ru-RU" altLang="ru-RU"/>
              <a:pPr/>
              <a:t>40</a:t>
            </a:fld>
            <a:endParaRPr lang="ru-RU" altLang="ru-RU" dirty="0"/>
          </a:p>
        </p:txBody>
      </p:sp>
      <p:sp>
        <p:nvSpPr>
          <p:cNvPr id="335874" name="Rectangle 2">
            <a:extLst>
              <a:ext uri="{FF2B5EF4-FFF2-40B4-BE49-F238E27FC236}">
                <a16:creationId xmlns:a16="http://schemas.microsoft.com/office/drawing/2014/main" id="{D71A8D23-7B2F-249F-BF4A-282CAA0254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76CF94E3-790A-CBBD-D857-DB8E0A080B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ОШИБКА компиляции: некоторые утки не реализуют некоторые методы.</a:t>
            </a:r>
          </a:p>
          <a:p>
            <a:r>
              <a:rPr lang="ru-RU" altLang="ru-RU" dirty="0"/>
              <a:t>Придется при вызове «городить огород». Результат адекватный, но !!! Простое изменение интерфейса – куча усилий, огромное количество переписываний кода, в разных файлах. А если у нас сотня уток? Любое изменение в алгоритм полета – значит надо все 100 классов поменять. А если добавить еще «Махнуть хвостиком», надо будет снова в 100 классах это реализовывать.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891F1E4-CC24-0854-F286-C684C3FD96F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7ACCF68-5A5F-4B7E-B7DE-6E07F9C78572}" type="slidenum">
              <a:rPr lang="ru-RU" altLang="ru-RU"/>
              <a:pPr/>
              <a:t>41</a:t>
            </a:fld>
            <a:endParaRPr lang="ru-RU" altLang="ru-RU" dirty="0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DF4F0B56-6717-9E70-6576-27D51AE7A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5F833E63-852D-F78F-B8F3-B363AF9853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dirty="0"/>
              <a:t>Мы задумываемся, переходим к работе мозгом наших архитекторов, которые решат за нас эту проблему, покажут, что мы сделали не так. Они должны собраться, подумать и родить уникальное решение, которое избавит нас сразу от всех этих хлопот. Побудем архитекторами и подумаем. Выявим проблемы текущей реализации. 1) … В этом мы смогли убедиться, когда добавили деревянную и резиновую уточки, и они стали летать и крякать. В общем – бардак. 2) … Реализация интерфейсов в данном случае – слишком трудоемкий процесс и один  тот же код (например, махание крыльями во время полета) приходится реализовывать во всех классах, которые умеют летать. 3) И если нам придется сопровождать данный продукт, вносить изменения в алгоритм полета или звуки кряканья, то мы на выходе должны получить как можно меньше усилий. Однако в данном случае нам придется задействовать всех наших разработчиков, чтобы они меняли всю сотню уток, которые наплодятся к тому времени на нашем озере. Почему так происходит? 4) Потому что изменение – само изменение – главный враг проектирования. Потому, что если мы спроектировали программу единожды и все работает хорошо, то в случае, если произойдут изменения концепции, идеи, или возможностей, то они, эти изменения могут существенно повлиять на то, как наша программа будет работать. Собственно, мы наглядно в этом убедились, когда казалось бы вроде бы хорошая архитектура наследования и повторного использования кода за счет изменения базового функционала, вся эта идея рухнула, как только мы придумали сделать уток летающими. 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E0B8F3E-C450-6724-C55A-F49F5259B1F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153A409-B05C-4F7C-8B56-B5894132DE2A}" type="slidenum">
              <a:rPr lang="ru-RU" altLang="ru-RU"/>
              <a:pPr/>
              <a:t>42</a:t>
            </a:fld>
            <a:endParaRPr lang="ru-RU" altLang="ru-RU" dirty="0"/>
          </a:p>
        </p:txBody>
      </p:sp>
      <p:sp>
        <p:nvSpPr>
          <p:cNvPr id="340994" name="Rectangle 2">
            <a:extLst>
              <a:ext uri="{FF2B5EF4-FFF2-40B4-BE49-F238E27FC236}">
                <a16:creationId xmlns:a16="http://schemas.microsoft.com/office/drawing/2014/main" id="{FDD879FC-FD9D-60B8-F2E4-85746CAAA1E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0995" name="Rectangle 3">
            <a:extLst>
              <a:ext uri="{FF2B5EF4-FFF2-40B4-BE49-F238E27FC236}">
                <a16:creationId xmlns:a16="http://schemas.microsoft.com/office/drawing/2014/main" id="{576B9215-25F8-DB37-476F-BFB24A54E5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Чтобы этого избегать, рекомендуется следовать некоторым принципам проектирования. Один из этих принципов – отделить изменяющиеся части приложения от тех, которые изменяться не будут. И выделить эти изменяющиеся части как отдельный некий аспект. Еще один принцип проектирования (а точнее – реализации) того, что мы задумали – это программирование на уровне интерфейсов. Частично я это показала на примере использования не конкретных классов уток, мы пользовались полиморфизмов, создавали список из базового класса уток, и в него добавляли конкретные реализации этих уток. Программировании на уровне интерфейсов еще более абстрагирует нас от реальных реализаций тех или иных поведений, когда мы используем все функции из интерфейса, и понятия не имеем о том, как эти функции реализованы. Давайте руководствуясь этими принципами проектирования, попробуем выделить те части, которые остаются неизменными, и те части которые будут менять время от времени.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0ED1AF1-CA89-0607-7B9A-B577A3F601D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395FA0F-5277-4333-98BD-D076545882C5}" type="slidenum">
              <a:rPr lang="ru-RU" altLang="ru-RU"/>
              <a:pPr/>
              <a:t>43</a:t>
            </a:fld>
            <a:endParaRPr lang="ru-RU" altLang="ru-RU" dirty="0"/>
          </a:p>
        </p:txBody>
      </p:sp>
      <p:sp>
        <p:nvSpPr>
          <p:cNvPr id="344066" name="Rectangle 2">
            <a:extLst>
              <a:ext uri="{FF2B5EF4-FFF2-40B4-BE49-F238E27FC236}">
                <a16:creationId xmlns:a16="http://schemas.microsoft.com/office/drawing/2014/main" id="{774A477C-B642-1906-92CE-5EF97E7265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3D42F601-82BB-98CC-B3E9-6AA373F0D2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dirty="0"/>
              <a:t>Посмотрим. Вот то, что у нас сейчас есть. В постоянных частях мы заложили все 4 метода у уток: … Однако, как только у нас получились некие изменения и получились проблемы, нам стало ясно, что это не верный вариант. Давите подумаем, как должно быть. Очевидно, что метод </a:t>
            </a:r>
            <a:r>
              <a:rPr lang="en-US" altLang="ru-RU" dirty="0"/>
              <a:t>Display</a:t>
            </a:r>
            <a:r>
              <a:rPr lang="ru-RU" altLang="ru-RU" dirty="0"/>
              <a:t> он обязан остаться в постоянных частях, потому что каждая утка, какой она не была, она обязана переопределить этот метод, чтобы как-то отобразить себя на экране. Если этого не произойдет, то утка не </a:t>
            </a:r>
            <a:r>
              <a:rPr lang="ru-RU" altLang="ru-RU" dirty="0" err="1"/>
              <a:t>отрисуется</a:t>
            </a:r>
            <a:r>
              <a:rPr lang="ru-RU" altLang="ru-RU" dirty="0"/>
              <a:t>, и утки практически не существует. Более того, у нас метод абстрактный, и это обязывает даже на уровне классов и компилятора. Метод</a:t>
            </a:r>
            <a:r>
              <a:rPr lang="en-US" altLang="ru-RU" dirty="0"/>
              <a:t> Swim</a:t>
            </a:r>
            <a:r>
              <a:rPr lang="ru-RU" altLang="ru-RU" dirty="0"/>
              <a:t> в нашем случае тоже может быть постоянным методом, потому что плавают утки все… иначе это уже не утка. Я не знаю ни одной утки, которая бы не плавала в воде. Поэтому этот метод вряд ли изменится, если изменится, то перенес его потом. Оставим этот метод в постоянных частях. Теперь дело доходит до </a:t>
            </a:r>
            <a:r>
              <a:rPr lang="en-US" altLang="ru-RU" dirty="0"/>
              <a:t>Quack </a:t>
            </a:r>
            <a:r>
              <a:rPr lang="ru-RU" altLang="ru-RU" dirty="0"/>
              <a:t>и </a:t>
            </a:r>
            <a:r>
              <a:rPr lang="en-US" altLang="ru-RU" dirty="0"/>
              <a:t>Fly</a:t>
            </a:r>
            <a:r>
              <a:rPr lang="ru-RU" altLang="ru-RU" dirty="0"/>
              <a:t> – тех самых методов, которые нас сбили с толку, разрушили все наши концепции, заставили нас изрядно попотеть, краснеть перед менеджерами, извиняться и вообще чувствовать себя несколько отсталыми людьми. Поэтому мы понимаем, что метод </a:t>
            </a:r>
            <a:r>
              <a:rPr lang="en-US" altLang="ru-RU" dirty="0"/>
              <a:t>Quack </a:t>
            </a:r>
            <a:r>
              <a:rPr lang="ru-RU" altLang="ru-RU" dirty="0"/>
              <a:t>и </a:t>
            </a:r>
            <a:r>
              <a:rPr lang="en-US" altLang="ru-RU" dirty="0"/>
              <a:t>Fly</a:t>
            </a:r>
            <a:r>
              <a:rPr lang="ru-RU" altLang="ru-RU" dirty="0"/>
              <a:t> должны переместиться в район переменных частей и обосноваться там в виде каких-то отдельных модулей. Как это реализовать – посмотрим на коде, а забегая вперед, могу сказать, что мы будем реализовывать с помощью интерфейсов, но уже по несколько Инной, более правильной модели. И более правильным способом. 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141F627-3842-3D19-04E8-1B0F340D64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58E814E-2DBF-455B-92BE-1ABCA8885196}" type="slidenum">
              <a:rPr lang="ru-RU" altLang="ru-RU"/>
              <a:pPr/>
              <a:t>44</a:t>
            </a:fld>
            <a:endParaRPr lang="ru-RU" altLang="ru-RU" dirty="0"/>
          </a:p>
        </p:txBody>
      </p:sp>
      <p:sp>
        <p:nvSpPr>
          <p:cNvPr id="347138" name="Rectangle 2">
            <a:extLst>
              <a:ext uri="{FF2B5EF4-FFF2-40B4-BE49-F238E27FC236}">
                <a16:creationId xmlns:a16="http://schemas.microsoft.com/office/drawing/2014/main" id="{C1C8121D-C997-6917-8FFD-A8F6ED6DAB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E2FA5208-5264-2D59-A3C2-A249B74FC3C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Первое – нужно избавиться от громоздких вещей как </a:t>
            </a:r>
            <a:r>
              <a:rPr lang="en-US" altLang="ru-RU" dirty="0"/>
              <a:t>if(duck is IQuackable)</a:t>
            </a:r>
            <a:r>
              <a:rPr lang="ru-RU" altLang="ru-RU" dirty="0"/>
              <a:t>. Но мы избавимся от них не полностью, а частично. Давайте добавим папки для выделения новых элементов, которые мы будем добавлять. Отделим реализацию постоянных вещей от переменных посредством включения. Не наследования, а включения каких-то классов (точнее – интерфейсов). Вернем в </a:t>
            </a:r>
            <a:r>
              <a:rPr lang="en-US" altLang="ru-RU" dirty="0"/>
              <a:t>DuckBase</a:t>
            </a:r>
            <a:r>
              <a:rPr lang="ru-RU" altLang="ru-RU" dirty="0"/>
              <a:t> первоначальный код (разремарим). Однако, вместо того, чтобы прямо тут писать их реализацию, добавим два поля: </a:t>
            </a:r>
            <a:r>
              <a:rPr lang="en-US" altLang="ru-RU" dirty="0"/>
              <a:t>flayBehaviour </a:t>
            </a:r>
            <a:r>
              <a:rPr lang="ru-RU" altLang="ru-RU" dirty="0"/>
              <a:t>и </a:t>
            </a:r>
            <a:r>
              <a:rPr lang="en-US" altLang="ru-RU" dirty="0"/>
              <a:t>quackBehaviour</a:t>
            </a:r>
            <a:r>
              <a:rPr lang="ru-RU" altLang="ru-RU" dirty="0"/>
              <a:t>. Они </a:t>
            </a:r>
            <a:r>
              <a:rPr lang="en-US" altLang="ru-RU" dirty="0"/>
              <a:t>protected</a:t>
            </a:r>
            <a:r>
              <a:rPr lang="ru-RU" altLang="ru-RU" dirty="0"/>
              <a:t>. Тогда в реализации методов напишем обращение к этим полям. </a:t>
            </a:r>
            <a:r>
              <a:rPr lang="ru-RU" altLang="ru-RU" b="1" dirty="0"/>
              <a:t>УДАЛИТЬ </a:t>
            </a:r>
            <a:r>
              <a:rPr lang="en-US" altLang="ru-RU" b="1" dirty="0"/>
              <a:t>Virtual</a:t>
            </a:r>
            <a:r>
              <a:rPr lang="ru-RU" altLang="ru-RU" b="1" dirty="0"/>
              <a:t>!!!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1D008D4-062D-F1ED-9E58-86EA1F599B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E69EF62-E98E-45A9-8885-67EB6CFE2471}" type="slidenum">
              <a:rPr lang="ru-RU" altLang="ru-RU"/>
              <a:pPr/>
              <a:t>45</a:t>
            </a:fld>
            <a:endParaRPr lang="ru-RU" altLang="ru-RU" dirty="0"/>
          </a:p>
        </p:txBody>
      </p:sp>
      <p:sp>
        <p:nvSpPr>
          <p:cNvPr id="348162" name="Rectangle 2">
            <a:extLst>
              <a:ext uri="{FF2B5EF4-FFF2-40B4-BE49-F238E27FC236}">
                <a16:creationId xmlns:a16="http://schemas.microsoft.com/office/drawing/2014/main" id="{F1E7EC52-CDED-EC3F-7D2C-7A255D017CB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id="{91D44A4D-C0B4-B37A-0869-F306A5BD25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Убираем у потоков все наследования интерфейсов, и соответственно реализации их методов, оставляем только использование базового класса. И удаляем проверку на классовость в функции </a:t>
            </a:r>
            <a:r>
              <a:rPr lang="en-US" altLang="ru-RU" dirty="0"/>
              <a:t>Main</a:t>
            </a:r>
            <a:r>
              <a:rPr lang="ru-RU" altLang="ru-RU" dirty="0"/>
              <a:t>. 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93CA58E-17D1-B73E-ABFA-21D6FEF9EC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82F19A1-C8A0-4D90-8665-CB72E689565B}" type="slidenum">
              <a:rPr lang="ru-RU" altLang="ru-RU"/>
              <a:pPr/>
              <a:t>46</a:t>
            </a:fld>
            <a:endParaRPr lang="ru-RU" altLang="ru-RU" dirty="0"/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2CAA66E3-6BEF-70CC-5E92-4698C68026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AED4B6D9-809D-A580-C2C1-8017235E60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При запуске – ошибка!!! Поля не определены! Можно убедиться – они пустые. Реализуем эти поля, чтобы ими можно было пользоваться.</a:t>
            </a:r>
          </a:p>
          <a:p>
            <a:r>
              <a:rPr lang="ru-RU" altLang="ru-RU" dirty="0"/>
              <a:t>Для этого сначала добавим новый класс Обычное кряканье </a:t>
            </a:r>
            <a:r>
              <a:rPr lang="en-US" altLang="ru-RU" dirty="0"/>
              <a:t>SimpleQuack</a:t>
            </a:r>
            <a:r>
              <a:rPr lang="ru-RU" altLang="ru-RU" dirty="0"/>
              <a:t>. Этот класс будет реализовывать интерфейс </a:t>
            </a:r>
            <a:r>
              <a:rPr lang="en-US" altLang="ru-RU" dirty="0"/>
              <a:t>IQUackable</a:t>
            </a:r>
            <a:r>
              <a:rPr lang="ru-RU" altLang="ru-RU" dirty="0"/>
              <a:t>. И будет выводить на консоль. Аналогично класс</a:t>
            </a:r>
            <a:r>
              <a:rPr lang="en-US" altLang="ru-RU" dirty="0"/>
              <a:t> </a:t>
            </a:r>
            <a:r>
              <a:rPr lang="ru-RU" altLang="ru-RU" dirty="0"/>
              <a:t>Лететь с помощью крыльев </a:t>
            </a:r>
            <a:r>
              <a:rPr lang="en-US" altLang="ru-RU" dirty="0"/>
              <a:t>FlyWithWings</a:t>
            </a:r>
            <a:endParaRPr lang="ru-RU" altLang="ru-RU" dirty="0"/>
          </a:p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520A604-8A0C-0CDA-8882-0249D2E0076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FE0EF93-8B25-4041-9C6C-E32F07CE1CDF}" type="slidenum">
              <a:rPr lang="ru-RU" altLang="ru-RU"/>
              <a:pPr/>
              <a:t>47</a:t>
            </a:fld>
            <a:endParaRPr lang="ru-RU" altLang="ru-RU" dirty="0"/>
          </a:p>
        </p:txBody>
      </p:sp>
      <p:sp>
        <p:nvSpPr>
          <p:cNvPr id="352258" name="Rectangle 2">
            <a:extLst>
              <a:ext uri="{FF2B5EF4-FFF2-40B4-BE49-F238E27FC236}">
                <a16:creationId xmlns:a16="http://schemas.microsoft.com/office/drawing/2014/main" id="{01B93A95-12BD-5781-8B39-E91F80A806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20F6AC95-92FB-F179-ED75-B3E3434631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Теперь как мы должны заставить классы использовать эти данные реализации. Здесь есть два пути. Первый, и пожалуй, не очень корректный, это оставить базовый класс как есть, и указать в документации, что каждый класс обязан назначить себе класс </a:t>
            </a:r>
            <a:r>
              <a:rPr lang="en-US" altLang="ru-RU" dirty="0"/>
              <a:t>Behaviour</a:t>
            </a:r>
            <a:r>
              <a:rPr lang="ru-RU" altLang="ru-RU" dirty="0"/>
              <a:t>. Это не очень хорошо. Мы сделаем лучше и правильнее. Мы создаем в базовом классе конструктор по умолчанию. В котором мы определим, что </a:t>
            </a:r>
            <a:r>
              <a:rPr lang="en-US" altLang="ru-RU" dirty="0"/>
              <a:t>FlyBehaviour</a:t>
            </a:r>
            <a:r>
              <a:rPr lang="ru-RU" altLang="ru-RU" dirty="0"/>
              <a:t> будет равен </a:t>
            </a:r>
            <a:r>
              <a:rPr lang="en-US" altLang="ru-RU" dirty="0"/>
              <a:t>new FlyWithWings</a:t>
            </a:r>
            <a:r>
              <a:rPr lang="ru-RU" altLang="ru-RU" dirty="0"/>
              <a:t>. (</a:t>
            </a:r>
            <a:r>
              <a:rPr lang="ru-RU" altLang="ru-RU" b="1" dirty="0"/>
              <a:t>ДОБАВИТЬ ССЫЛКИ </a:t>
            </a:r>
            <a:r>
              <a:rPr lang="en-US" altLang="ru-RU" b="1" dirty="0"/>
              <a:t>using</a:t>
            </a:r>
            <a:r>
              <a:rPr lang="ru-RU" altLang="ru-RU" b="1" dirty="0"/>
              <a:t> и исправить </a:t>
            </a:r>
            <a:r>
              <a:rPr lang="en-US" altLang="ru-RU" b="1" dirty="0"/>
              <a:t>namespace!!!</a:t>
            </a:r>
            <a:r>
              <a:rPr lang="en-US" altLang="ru-RU" dirty="0"/>
              <a:t>) </a:t>
            </a:r>
            <a:r>
              <a:rPr lang="ru-RU" altLang="ru-RU" dirty="0"/>
              <a:t>Запускаем, все работает, но все утки и летают и крякают!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39EFAD3-36CB-C296-3B0A-D6C8F75A8F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67C764D-B004-429D-879C-CEBD224CEE3D}" type="slidenum">
              <a:rPr lang="ru-RU" altLang="ru-RU"/>
              <a:pPr/>
              <a:t>49</a:t>
            </a:fld>
            <a:endParaRPr lang="ru-RU" altLang="ru-RU" dirty="0"/>
          </a:p>
        </p:txBody>
      </p:sp>
      <p:sp>
        <p:nvSpPr>
          <p:cNvPr id="355330" name="Rectangle 2">
            <a:extLst>
              <a:ext uri="{FF2B5EF4-FFF2-40B4-BE49-F238E27FC236}">
                <a16:creationId xmlns:a16="http://schemas.microsoft.com/office/drawing/2014/main" id="{0100B7E0-B798-7A72-470E-275679A119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FC024EFD-54CA-461D-7946-EFCAB90C7C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У нас имеются простые классы </a:t>
            </a:r>
            <a:r>
              <a:rPr lang="en-US" altLang="ru-RU" dirty="0"/>
              <a:t>Duck</a:t>
            </a:r>
            <a:r>
              <a:rPr lang="ru-RU" altLang="ru-RU" dirty="0"/>
              <a:t>, которые похожи, но с разным методом </a:t>
            </a:r>
            <a:r>
              <a:rPr lang="en-US" altLang="ru-RU" dirty="0"/>
              <a:t>Draw</a:t>
            </a:r>
            <a:r>
              <a:rPr lang="ru-RU" altLang="ru-RU" dirty="0"/>
              <a:t>. Давайте теперь отключим возможность полетов и возможность кряканья. Как это сделать? Очевидно, поскольку у нас есть отдельная структура для кряканья и для полетов, мы можем создать новый класс </a:t>
            </a:r>
            <a:r>
              <a:rPr lang="en-US" altLang="ru-RU" dirty="0"/>
              <a:t>NoFly</a:t>
            </a:r>
            <a:r>
              <a:rPr lang="ru-RU" altLang="ru-RU" dirty="0"/>
              <a:t> от </a:t>
            </a:r>
            <a:r>
              <a:rPr lang="en-US" altLang="ru-RU" dirty="0"/>
              <a:t>IFlyable</a:t>
            </a:r>
            <a:r>
              <a:rPr lang="ru-RU" altLang="ru-RU" dirty="0"/>
              <a:t> и реализуем заглушку. Аналогично класс </a:t>
            </a:r>
            <a:r>
              <a:rPr lang="en-US" altLang="ru-RU" dirty="0"/>
              <a:t>NoQuack</a:t>
            </a:r>
            <a:r>
              <a:rPr lang="ru-RU" altLang="ru-RU" dirty="0"/>
              <a:t> с пустым методов.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92C7198-10CA-0A97-A2A6-5C32C8D5F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8A633C-F1AC-4948-B8F2-A6DB0293C6E3}" type="slidenum">
              <a:rPr lang="ru-RU" altLang="ru-RU"/>
              <a:pPr/>
              <a:t>50</a:t>
            </a:fld>
            <a:endParaRPr lang="ru-RU" altLang="ru-RU" dirty="0"/>
          </a:p>
        </p:txBody>
      </p:sp>
      <p:sp>
        <p:nvSpPr>
          <p:cNvPr id="356354" name="Rectangle 2">
            <a:extLst>
              <a:ext uri="{FF2B5EF4-FFF2-40B4-BE49-F238E27FC236}">
                <a16:creationId xmlns:a16="http://schemas.microsoft.com/office/drawing/2014/main" id="{C79B9CEF-42A1-E316-7D9E-ED79BE26EE4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77C39AE3-8770-8F0F-52DE-22FFF49507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Теперь для </a:t>
            </a:r>
            <a:r>
              <a:rPr lang="en-US" altLang="ru-RU" dirty="0"/>
              <a:t>WoodenDuck</a:t>
            </a:r>
            <a:r>
              <a:rPr lang="ru-RU" altLang="ru-RU" dirty="0"/>
              <a:t> переопределим конструктор и зададим в наши поля другие классы. </a:t>
            </a:r>
          </a:p>
          <a:p>
            <a:r>
              <a:rPr lang="ru-RU" altLang="ru-RU" dirty="0"/>
              <a:t>Тоже самое для резиновой утки. Но исключим только полеты.</a:t>
            </a:r>
            <a:endParaRPr lang="en-US" altLang="ru-RU" dirty="0"/>
          </a:p>
          <a:p>
            <a:r>
              <a:rPr lang="ru-RU" altLang="ru-RU" dirty="0"/>
              <a:t>Запускаем – все ок! Достаточно простая реализация того, что необходимо было получить.</a:t>
            </a:r>
          </a:p>
          <a:p>
            <a:r>
              <a:rPr lang="ru-RU" altLang="ru-RU" dirty="0"/>
              <a:t>Еще раз пройдем по программе. Есть базовый класс с 4 методами: абстрактный </a:t>
            </a:r>
            <a:r>
              <a:rPr lang="en-US" altLang="ru-RU" dirty="0"/>
              <a:t>Draw</a:t>
            </a:r>
            <a:r>
              <a:rPr lang="ru-RU" altLang="ru-RU" dirty="0"/>
              <a:t>, который должен все переопределить, </a:t>
            </a:r>
            <a:r>
              <a:rPr lang="en-US" altLang="ru-RU" dirty="0"/>
              <a:t>Swim</a:t>
            </a:r>
            <a:r>
              <a:rPr lang="ru-RU" altLang="ru-RU" dirty="0"/>
              <a:t>, реализованный прямо тут. И два метода переменных – используют внутри себя поля, которые являются интерфейсами. Интерфейсы строят вокруг себя новую структуру классов, которая позволяет описать вокруг себя поведение утки в полете и различное кряканье. Мы реализовали два поведения – полет с крыльями и не летать и два в кряканье – обычное и не кряканье. Мы получили легкую возможность модифицировать нашу программу по любому желанию. 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E3B49DE-2983-41A7-70A3-345406BBF5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764AAF0-AF66-4249-8B38-8DB2B13DAC23}" type="slidenum">
              <a:rPr lang="ru-RU" altLang="ru-RU"/>
              <a:pPr/>
              <a:t>51</a:t>
            </a:fld>
            <a:endParaRPr lang="ru-RU" altLang="ru-RU" dirty="0"/>
          </a:p>
        </p:txBody>
      </p:sp>
      <p:sp>
        <p:nvSpPr>
          <p:cNvPr id="359426" name="Rectangle 2">
            <a:extLst>
              <a:ext uri="{FF2B5EF4-FFF2-40B4-BE49-F238E27FC236}">
                <a16:creationId xmlns:a16="http://schemas.microsoft.com/office/drawing/2014/main" id="{618664A6-26C9-361B-057C-2C03D5DC828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42A5B96E-0016-5941-9258-31EF8A2CE4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Если мы захотим динамически изменять модель полетов и кряканья, мы сможем сделать следующее. Создаем в базовом классе новые методы.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C3C0C02-2B43-A9A0-0617-EF8A913D5E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236034-24D1-4FA9-80DD-1D658AFC5A73}" type="slidenum">
              <a:rPr lang="ru-RU" altLang="ru-RU"/>
              <a:pPr/>
              <a:t>52</a:t>
            </a:fld>
            <a:endParaRPr lang="ru-RU" altLang="ru-RU" dirty="0"/>
          </a:p>
        </p:txBody>
      </p:sp>
      <p:sp>
        <p:nvSpPr>
          <p:cNvPr id="364546" name="Rectangle 2">
            <a:extLst>
              <a:ext uri="{FF2B5EF4-FFF2-40B4-BE49-F238E27FC236}">
                <a16:creationId xmlns:a16="http://schemas.microsoft.com/office/drawing/2014/main" id="{0E1960A9-690E-937D-00B3-C8BF035FFD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A7BC7CDB-9256-60AF-F4EC-2A80EFE3CC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Если бы было несколько типов поведения, и много классов – была бы неуправляемая структура. В данном раскладе получилось все хорошо.</a:t>
            </a:r>
          </a:p>
          <a:p>
            <a:r>
              <a:rPr lang="ru-RU" altLang="ru-RU" dirty="0"/>
              <a:t>То, что мы реализовали – и есть паттерн Стратегия: отделение функционала какого-то поведения в отдельную структуру на основе интерфейса, и потом использовании этих действий внутри уже структуры классов и есть Стратегия. Как бы стратегия полетов или стратегия кряканий. Рассмотрим структуру наших классов после внесенных всех изменений. Слева набор всех классов, реализующих уток и наследующих </a:t>
            </a:r>
            <a:r>
              <a:rPr lang="en-US" altLang="ru-RU" dirty="0"/>
              <a:t>DuckBase</a:t>
            </a:r>
            <a:r>
              <a:rPr lang="ru-RU" altLang="ru-RU" dirty="0"/>
              <a:t>. 4 метода и 2 поля, которые являются интерфейсами. Эти интерфейсы выделены в отдельные группы, которые отделены от реализации уток, В них собраны отдельные аспекты, которые могут быть взаимозаменяемыми. Есть интерфейс </a:t>
            </a:r>
            <a:r>
              <a:rPr lang="en-US" altLang="ru-RU" dirty="0"/>
              <a:t>IFlyable</a:t>
            </a:r>
            <a:r>
              <a:rPr lang="ru-RU" altLang="ru-RU" dirty="0"/>
              <a:t>, который определяет метод </a:t>
            </a:r>
            <a:r>
              <a:rPr lang="en-US" altLang="ru-RU" dirty="0"/>
              <a:t>Fly</a:t>
            </a:r>
            <a:r>
              <a:rPr lang="ru-RU" altLang="ru-RU" dirty="0"/>
              <a:t>, и есть два класса, которые реализуют интерфейс, переопределяют метод </a:t>
            </a:r>
            <a:r>
              <a:rPr lang="en-US" altLang="ru-RU" dirty="0"/>
              <a:t>Fly</a:t>
            </a:r>
            <a:r>
              <a:rPr lang="ru-RU" altLang="ru-RU" dirty="0"/>
              <a:t> каждый в своей манере: пустой (для тех, кто не умеет летать) и Полет с крыльями.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27669DA-E2B1-8952-746C-01B36E813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212C0B-80CF-474B-BABD-F7500614E51F}" type="slidenum">
              <a:rPr lang="ru-RU" altLang="ru-RU"/>
              <a:pPr/>
              <a:t>54</a:t>
            </a:fld>
            <a:endParaRPr lang="ru-RU" altLang="ru-RU" dirty="0"/>
          </a:p>
        </p:txBody>
      </p:sp>
      <p:sp>
        <p:nvSpPr>
          <p:cNvPr id="315394" name="Rectangle 2">
            <a:extLst>
              <a:ext uri="{FF2B5EF4-FFF2-40B4-BE49-F238E27FC236}">
                <a16:creationId xmlns:a16="http://schemas.microsoft.com/office/drawing/2014/main" id="{FC634EE7-75C8-7C82-1687-08545117C9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24D42A13-4ABF-5C80-02AA-BF26EFC4C0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Команда – это не сборище людей (как футбольная команда), а Команда – это некое побуждение к действию (например, команда собаке «Апорт», «Фас»). </a:t>
            </a:r>
          </a:p>
          <a:p>
            <a:r>
              <a:rPr lang="ru-RU" altLang="ru-RU" dirty="0"/>
              <a:t>Команда – это действие, которое должно быть выполнено. Причем конкретная реализация этого действия должна быть скрыта от того, кто его инициирует. Другими словами, мы инкапсулируем не поведение, а некое действие внутри команды. 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06C3505-17A7-4834-6404-36D8EFDBB1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C983892-2B71-499E-9C9E-86189FF99BDC}" type="slidenum">
              <a:rPr lang="ru-RU" altLang="ru-RU"/>
              <a:pPr/>
              <a:t>56</a:t>
            </a:fld>
            <a:endParaRPr lang="ru-RU" altLang="ru-RU" dirty="0"/>
          </a:p>
        </p:txBody>
      </p:sp>
      <p:sp>
        <p:nvSpPr>
          <p:cNvPr id="318466" name="Rectangle 2">
            <a:extLst>
              <a:ext uri="{FF2B5EF4-FFF2-40B4-BE49-F238E27FC236}">
                <a16:creationId xmlns:a16="http://schemas.microsoft.com/office/drawing/2014/main" id="{2420577F-771D-6DF6-D714-3FBE58B923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1CF5D8FB-C96E-0B49-E988-B78135CFD5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 качестве примера рассмотрим пульт дистанционного управления. Причем не пульт управления каким-то конкретным одним устройством, а так называемый «умный» пульт, который может быть запрограммирован на управление различными системами в доме: включение телевизора, включение света, музыкального центра, отопления и прочих таких вещей. Т.е. пульт управления системой «Умный дом». Задача стоит в том, чтобы позволить программистам тратить как можно меньше времени и усилий на программирование этого пульта в случае каких-либо изменений и необходимости расширения его функций. Попробуем как всегда решить данную задачу в лоб, без использования паттернов. </a:t>
            </a:r>
          </a:p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3D4AFBD-F2E8-F9B3-0FB8-AD0E7B31C28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C26D3F-B870-4B70-8AB8-84A21835C82A}" type="slidenum">
              <a:rPr lang="ru-RU" altLang="ru-RU"/>
              <a:pPr/>
              <a:t>57</a:t>
            </a:fld>
            <a:endParaRPr lang="ru-RU" altLang="ru-RU" dirty="0"/>
          </a:p>
        </p:txBody>
      </p:sp>
      <p:sp>
        <p:nvSpPr>
          <p:cNvPr id="319490" name="Rectangle 2">
            <a:extLst>
              <a:ext uri="{FF2B5EF4-FFF2-40B4-BE49-F238E27FC236}">
                <a16:creationId xmlns:a16="http://schemas.microsoft.com/office/drawing/2014/main" id="{16F51BB7-36A5-72CF-0B0A-46DD7401CA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10CBBFD3-4AC4-509B-F494-8A2AAF35E6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Создадим класс RemoteControl, который и будет изображать работу нашего пульта. Предусмотрим у него метод </a:t>
            </a:r>
            <a:r>
              <a:rPr lang="en-US" altLang="ru-RU" dirty="0"/>
              <a:t>DrawMenu</a:t>
            </a:r>
            <a:r>
              <a:rPr lang="ru-RU" altLang="ru-RU" dirty="0"/>
              <a:t>, который будет выводить меню пульта на экран и метод PerformAction, который будет осуществлять всю работу пульта (пока оставим его пустым).</a:t>
            </a:r>
          </a:p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BF642B6-91C6-B028-CF68-69C9F2DFFFE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33A139-0FD4-4A78-89A8-849EE719BF83}" type="slidenum">
              <a:rPr lang="ru-RU" altLang="ru-RU"/>
              <a:pPr/>
              <a:t>58</a:t>
            </a:fld>
            <a:endParaRPr lang="ru-RU" altLang="ru-RU" dirty="0"/>
          </a:p>
        </p:txBody>
      </p:sp>
      <p:sp>
        <p:nvSpPr>
          <p:cNvPr id="316418" name="Rectangle 2">
            <a:extLst>
              <a:ext uri="{FF2B5EF4-FFF2-40B4-BE49-F238E27FC236}">
                <a16:creationId xmlns:a16="http://schemas.microsoft.com/office/drawing/2014/main" id="{5E3012DD-021B-BE2E-1AEC-C74538D752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06701FBC-7A23-5C4B-C643-067D883846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Создаем объект Пульт</a:t>
            </a:r>
            <a:r>
              <a:rPr lang="en-US" altLang="ru-RU" dirty="0"/>
              <a:t> </a:t>
            </a:r>
            <a:r>
              <a:rPr lang="ru-RU" altLang="ru-RU" dirty="0">
                <a:latin typeface="Consolas" panose="020B0609020204030204" pitchFamily="49" charset="0"/>
              </a:rPr>
              <a:t>RemoteControl</a:t>
            </a:r>
            <a:r>
              <a:rPr lang="ru-RU" altLang="ru-RU" dirty="0"/>
              <a:t> и вызываем его методы </a:t>
            </a:r>
            <a:r>
              <a:rPr lang="ru-RU" altLang="ru-RU" dirty="0">
                <a:latin typeface="Consolas" panose="020B0609020204030204" pitchFamily="49" charset="0"/>
              </a:rPr>
              <a:t>DrawMenu</a:t>
            </a:r>
            <a:r>
              <a:rPr lang="en-US" altLang="ru-RU" dirty="0">
                <a:latin typeface="Consolas" panose="020B0609020204030204" pitchFamily="49" charset="0"/>
              </a:rPr>
              <a:t> </a:t>
            </a:r>
            <a:r>
              <a:rPr lang="ru-RU" altLang="ru-RU" dirty="0">
                <a:latin typeface="Consolas" panose="020B0609020204030204" pitchFamily="49" charset="0"/>
              </a:rPr>
              <a:t>и PerformAction. Пока у нас только меню работает.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5AAC8D3-628A-E79A-1B64-A4FED2FB0A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2CEBF6-AAB5-40AB-B253-D898AADD37A1}" type="slidenum">
              <a:rPr lang="ru-RU" altLang="ru-RU"/>
              <a:pPr/>
              <a:t>59</a:t>
            </a:fld>
            <a:endParaRPr lang="ru-RU" altLang="ru-RU" dirty="0"/>
          </a:p>
        </p:txBody>
      </p:sp>
      <p:sp>
        <p:nvSpPr>
          <p:cNvPr id="321538" name="Rectangle 2">
            <a:extLst>
              <a:ext uri="{FF2B5EF4-FFF2-40B4-BE49-F238E27FC236}">
                <a16:creationId xmlns:a16="http://schemas.microsoft.com/office/drawing/2014/main" id="{0729B94D-63F9-EF65-7B11-2015A9B62F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1539" name="Rectangle 3">
            <a:extLst>
              <a:ext uri="{FF2B5EF4-FFF2-40B4-BE49-F238E27FC236}">
                <a16:creationId xmlns:a16="http://schemas.microsoft.com/office/drawing/2014/main" id="{450C7C8B-1F52-FD1E-8E7B-DB48924FE9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Представим, что это физическое устройство с шестью кнопками управления и кнопкой включения самого пульта. Этот метод сейчас в лоб вызывает методы работы оборудования.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96AC03EF-C97F-1CA5-B69F-B80DEEF977B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6DAD16E-B4C8-4308-AB81-560896D457B2}" type="slidenum">
              <a:rPr lang="ru-RU" altLang="ru-RU"/>
              <a:pPr/>
              <a:t>60</a:t>
            </a:fld>
            <a:endParaRPr lang="ru-RU" altLang="ru-RU" dirty="0"/>
          </a:p>
        </p:txBody>
      </p:sp>
      <p:sp>
        <p:nvSpPr>
          <p:cNvPr id="322562" name="Rectangle 2">
            <a:extLst>
              <a:ext uri="{FF2B5EF4-FFF2-40B4-BE49-F238E27FC236}">
                <a16:creationId xmlns:a16="http://schemas.microsoft.com/office/drawing/2014/main" id="{DF1A39B4-8808-4695-FBFD-2D4F69E8A78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2563" name="Rectangle 3">
            <a:extLst>
              <a:ext uri="{FF2B5EF4-FFF2-40B4-BE49-F238E27FC236}">
                <a16:creationId xmlns:a16="http://schemas.microsoft.com/office/drawing/2014/main" id="{8D4CA384-3521-DE52-B518-0472FEBA2B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dirty="0"/>
              <a:t>Методы по сути заглушки для данного примера. Представьте себе, что тут будет реальная работа сложных устройств, что это методы, написанные на ассемблере и управляют контроллерами устройств.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Код в </a:t>
            </a:r>
            <a:r>
              <a:rPr lang="ru-RU" altLang="ru-RU" dirty="0">
                <a:latin typeface="Consolas" panose="020B0609020204030204" pitchFamily="49" charset="0"/>
              </a:rPr>
              <a:t>PerformAction плохой в плане масштабируемости: он совершенно не масштабируем. Представьте себе, что мы купили чайник, и хотим его добавить в пульт. Представьте себе реальную модель «умный дом». Вы его купили, вызвали настройщика, он вам настроил все имеющиеся у вас устройства: кнопка 1 – вкл. свет, 2 – вкл. ТВ, 3 – музыку и т.д. Все просто – пользуйтесь, если что – читайте инструкцию. Вы покупаете чайник и хотите его добавить. Открываете инструкцию, а там написано: для того, чтобы добавить новое устройство, надо разобрать пульт, открутить шесть болтов, отпаять микросхему такую-то, найти в магазине электроники конденсатор </a:t>
            </a:r>
            <a:r>
              <a:rPr lang="en-US" altLang="ru-RU" dirty="0">
                <a:latin typeface="Consolas" panose="020B0609020204030204" pitchFamily="49" charset="0"/>
              </a:rPr>
              <a:t>ZX-675</a:t>
            </a:r>
            <a:r>
              <a:rPr lang="ru-RU" altLang="ru-RU" dirty="0">
                <a:latin typeface="Consolas" panose="020B0609020204030204" pitchFamily="49" charset="0"/>
              </a:rPr>
              <a:t>, припаять его к плате в нужном месте (см. схему, схема приложена, пульт ведь дорогой, вся распайка нарисована довольно подробно), но у вас должны быть навыки чтения схем, чтобы добавить еще одну кнопку управления чайником. Понятно, что такой подход не клиентоориентированный, и сложен для восприятия человеку без технического образования, но и человеку с техническим образованием. Т.е. вы отдали огромное количество денег за такую систему управления домом и потом должны вручную паять, доделывать или вызывать мастера, что тоже не хорошо.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51915E8-EFC6-450C-D203-2C84EBF7E2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E989026-C0C6-4E65-BB90-361BDE40A16C}" type="slidenum">
              <a:rPr lang="ru-RU" altLang="ru-RU"/>
              <a:pPr/>
              <a:t>61</a:t>
            </a:fld>
            <a:endParaRPr lang="ru-RU" altLang="ru-RU" dirty="0"/>
          </a:p>
        </p:txBody>
      </p:sp>
      <p:sp>
        <p:nvSpPr>
          <p:cNvPr id="384002" name="Rectangle 2">
            <a:extLst>
              <a:ext uri="{FF2B5EF4-FFF2-40B4-BE49-F238E27FC236}">
                <a16:creationId xmlns:a16="http://schemas.microsoft.com/office/drawing/2014/main" id="{8ED756C4-F3EC-66C5-55E4-5F1A752B74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4003" name="Rectangle 3">
            <a:extLst>
              <a:ext uri="{FF2B5EF4-FFF2-40B4-BE49-F238E27FC236}">
                <a16:creationId xmlns:a16="http://schemas.microsoft.com/office/drawing/2014/main" id="{16CC28CC-1272-274C-896D-76CC319350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endParaRPr lang="ru-RU" altLang="ru-RU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3BC62D3-F61E-2234-EB08-EA7FAD1DDD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8E00C9E-330E-456C-804C-F7DEF59A3583}" type="slidenum">
              <a:rPr lang="ru-RU" altLang="ru-RU"/>
              <a:pPr/>
              <a:t>62</a:t>
            </a:fld>
            <a:endParaRPr lang="ru-RU" altLang="ru-RU" dirty="0"/>
          </a:p>
        </p:txBody>
      </p:sp>
      <p:sp>
        <p:nvSpPr>
          <p:cNvPr id="323586" name="Rectangle 2">
            <a:extLst>
              <a:ext uri="{FF2B5EF4-FFF2-40B4-BE49-F238E27FC236}">
                <a16:creationId xmlns:a16="http://schemas.microsoft.com/office/drawing/2014/main" id="{D2718AD9-E853-1383-8AE3-541190477B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DC874A68-3EC0-A598-D006-90697DBA26E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1000" dirty="0">
                <a:latin typeface="Consolas" panose="020B0609020204030204" pitchFamily="49" charset="0"/>
              </a:rPr>
              <a:t>Посмотрим программу, у нас ситуация такая же: если мы не имеем доступа к внутренностям класса </a:t>
            </a:r>
            <a:r>
              <a:rPr lang="en-US" altLang="ru-RU" sz="1000" dirty="0">
                <a:latin typeface="Consolas" panose="020B0609020204030204" pitchFamily="49" charset="0"/>
              </a:rPr>
              <a:t>RemoteControl</a:t>
            </a:r>
            <a:r>
              <a:rPr lang="ru-RU" altLang="ru-RU" sz="1000" dirty="0">
                <a:latin typeface="Consolas" panose="020B0609020204030204" pitchFamily="49" charset="0"/>
              </a:rPr>
              <a:t>, то мы не сможем добавить функцию включения/выключения чайника в исходный код. Нам нужно брать исходный код у разработчиков, вносить туда вручную изменения, компилировать его заново и заливать снова на пульт. Даже если мы хотим всего лишь перенастроить пульт, сделать кнопку 1, которую легче нажимать, ответственной за ТВ, а свет переместить на кнопку 2. Как это сделать? Абсолютно также: лезть в исходный код класса, изменять там, и снова его заливать на пульт. Для таких целей, для инкапсуляции действия, чтобы класс, который вызывает действия, не знал, что он вызывает, и ему было вообще все равно, что вызывать, чтобы он мог подменять одно другим, и существует паттерн Команда. Рассмотрим его сразу, а потом посмотрим как он выглядит в теории. Посмотрим, как можно с помощью паттерна Команда сделать нашу жизнь легче и более гибкой. </a:t>
            </a:r>
            <a:r>
              <a:rPr lang="ru-RU" altLang="ru-RU" sz="1000" b="1" dirty="0">
                <a:latin typeface="Consolas" panose="020B0609020204030204" pitchFamily="49" charset="0"/>
              </a:rPr>
              <a:t>СОЗДАЕМ ПАПКУ ДЛЯ КОМАНД </a:t>
            </a:r>
            <a:r>
              <a:rPr lang="en-US" altLang="ru-RU" sz="1000" b="1" dirty="0">
                <a:latin typeface="Consolas" panose="020B0609020204030204" pitchFamily="49" charset="0"/>
              </a:rPr>
              <a:t>COMMANDS</a:t>
            </a:r>
            <a:r>
              <a:rPr lang="ru-RU" altLang="ru-RU" sz="1000" dirty="0">
                <a:latin typeface="Consolas" panose="020B0609020204030204" pitchFamily="49" charset="0"/>
              </a:rPr>
              <a:t>. И начнем с создания интерфейса </a:t>
            </a:r>
            <a:r>
              <a:rPr lang="en-US" altLang="ru-RU" sz="1000" dirty="0">
                <a:latin typeface="Consolas" panose="020B0609020204030204" pitchFamily="49" charset="0"/>
              </a:rPr>
              <a:t>ICommand</a:t>
            </a:r>
            <a:r>
              <a:rPr lang="ru-RU" altLang="ru-RU" sz="1000" dirty="0">
                <a:latin typeface="Consolas" panose="020B0609020204030204" pitchFamily="49" charset="0"/>
              </a:rPr>
              <a:t>, у которого будет всего лишь один единственный метод </a:t>
            </a:r>
            <a:r>
              <a:rPr lang="en-US" altLang="ru-RU" sz="1000" dirty="0">
                <a:latin typeface="Consolas" panose="020B0609020204030204" pitchFamily="49" charset="0"/>
              </a:rPr>
              <a:t>Execute</a:t>
            </a:r>
            <a:r>
              <a:rPr lang="ru-RU" altLang="ru-RU" sz="1000" dirty="0">
                <a:latin typeface="Consolas" panose="020B0609020204030204" pitchFamily="49" charset="0"/>
              </a:rPr>
              <a:t>. Этот метод не принимает параметры и ничего не возвращает, т.к. это обусловлено нашим примером. Если же нужно будет, чтобы команда принимала параметр на вход или набор параметров, или чтобы она возвращала какой-то ответ, можно применить следующий способ: передавать параметр типа </a:t>
            </a:r>
            <a:r>
              <a:rPr lang="en-US" altLang="ru-RU" sz="1000" dirty="0" err="1">
                <a:latin typeface="Consolas" panose="020B0609020204030204" pitchFamily="49" charset="0"/>
              </a:rPr>
              <a:t>IRequest</a:t>
            </a:r>
            <a:r>
              <a:rPr lang="en-US" altLang="ru-RU" sz="1000" dirty="0">
                <a:latin typeface="Consolas" panose="020B0609020204030204" pitchFamily="49" charset="0"/>
              </a:rPr>
              <a:t> </a:t>
            </a:r>
            <a:r>
              <a:rPr lang="ru-RU" altLang="ru-RU" sz="1000" dirty="0">
                <a:latin typeface="Consolas" panose="020B0609020204030204" pitchFamily="49" charset="0"/>
              </a:rPr>
              <a:t>(поскольку это интерфейс, то передавать мы можем целое семейство различных команд, каждой команде свои необходимые параметры), а </a:t>
            </a:r>
            <a:r>
              <a:rPr lang="en-US" altLang="ru-RU" sz="1000" dirty="0">
                <a:latin typeface="Consolas" panose="020B0609020204030204" pitchFamily="49" charset="0"/>
              </a:rPr>
              <a:t>IRespose – </a:t>
            </a:r>
            <a:r>
              <a:rPr lang="ru-RU" altLang="ru-RU" sz="1000" dirty="0">
                <a:latin typeface="Consolas" panose="020B0609020204030204" pitchFamily="49" charset="0"/>
              </a:rPr>
              <a:t>тоже целый набор различных классов, которые нам могут быть нужны.</a:t>
            </a:r>
            <a:endParaRPr lang="ru-RU" altLang="ru-RU" sz="1000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79B90A8-22CC-1036-50AA-FFDFB39831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161B152-6EC1-4752-8B7F-54731521CFCF}" type="slidenum">
              <a:rPr lang="ru-RU" altLang="ru-RU"/>
              <a:pPr/>
              <a:t>63</a:t>
            </a:fld>
            <a:endParaRPr lang="ru-RU" altLang="ru-RU" dirty="0"/>
          </a:p>
        </p:txBody>
      </p:sp>
      <p:sp>
        <p:nvSpPr>
          <p:cNvPr id="324610" name="Rectangle 2">
            <a:extLst>
              <a:ext uri="{FF2B5EF4-FFF2-40B4-BE49-F238E27FC236}">
                <a16:creationId xmlns:a16="http://schemas.microsoft.com/office/drawing/2014/main" id="{9910A311-44F6-310E-C672-4C00848000C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4611" name="Rectangle 3">
            <a:extLst>
              <a:ext uri="{FF2B5EF4-FFF2-40B4-BE49-F238E27FC236}">
                <a16:creationId xmlns:a16="http://schemas.microsoft.com/office/drawing/2014/main" id="{32EFAE4A-5993-3340-E332-6AAAA8E688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Паттерн Команда заключается именно в этом: объявление интерфейса с методом </a:t>
            </a:r>
            <a:r>
              <a:rPr lang="en-US" altLang="ru-RU" dirty="0"/>
              <a:t>Execute</a:t>
            </a:r>
            <a:r>
              <a:rPr lang="ru-RU" altLang="ru-RU" dirty="0"/>
              <a:t> и созданием наследников от этого интерфейса. </a:t>
            </a:r>
          </a:p>
          <a:p>
            <a:r>
              <a:rPr lang="ru-RU" altLang="ru-RU" dirty="0"/>
              <a:t>Создаем три класса для каждого устройства, с которым работает наш пульт. Все классы реализую интерфейс </a:t>
            </a:r>
            <a:r>
              <a:rPr lang="en-US" altLang="ru-RU" dirty="0"/>
              <a:t>ICommand</a:t>
            </a:r>
            <a:r>
              <a:rPr lang="ru-RU" altLang="ru-RU" dirty="0"/>
              <a:t> и реализуют метод </a:t>
            </a:r>
            <a:r>
              <a:rPr lang="en-US" altLang="ru-RU" dirty="0"/>
              <a:t>Execute</a:t>
            </a:r>
            <a:r>
              <a:rPr lang="ru-RU" altLang="ru-RU" dirty="0"/>
              <a:t>. 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9B41298-37BE-A374-A3A1-8FA3CF001E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761F1E5-9E2D-43A8-B75F-A40E789CFDB1}" type="slidenum">
              <a:rPr lang="ru-RU" altLang="ru-RU"/>
              <a:pPr/>
              <a:t>64</a:t>
            </a:fld>
            <a:endParaRPr lang="ru-RU" altLang="ru-RU" dirty="0"/>
          </a:p>
        </p:txBody>
      </p:sp>
      <p:sp>
        <p:nvSpPr>
          <p:cNvPr id="389122" name="Rectangle 2">
            <a:extLst>
              <a:ext uri="{FF2B5EF4-FFF2-40B4-BE49-F238E27FC236}">
                <a16:creationId xmlns:a16="http://schemas.microsoft.com/office/drawing/2014/main" id="{AB26207F-19EA-8E45-B371-C67A6B832C8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23" name="Rectangle 3">
            <a:extLst>
              <a:ext uri="{FF2B5EF4-FFF2-40B4-BE49-F238E27FC236}">
                <a16:creationId xmlns:a16="http://schemas.microsoft.com/office/drawing/2014/main" id="{7FD1C5A1-614C-356A-7908-76930F8AC39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Паттерн Команда заключается именно в этом: объявление интерфейса с методом </a:t>
            </a:r>
            <a:r>
              <a:rPr lang="en-US" altLang="ru-RU" dirty="0"/>
              <a:t>Execute</a:t>
            </a:r>
            <a:r>
              <a:rPr lang="ru-RU" altLang="ru-RU" dirty="0"/>
              <a:t> и созданием наследников от этого интерфейса. </a:t>
            </a:r>
          </a:p>
          <a:p>
            <a:r>
              <a:rPr lang="ru-RU" altLang="ru-RU" dirty="0"/>
              <a:t>Создаем три класса для каждого устройства, с которым работает наш пульт. Все классы реализую интерфейс </a:t>
            </a:r>
            <a:r>
              <a:rPr lang="en-US" altLang="ru-RU" dirty="0"/>
              <a:t>ICommand</a:t>
            </a:r>
            <a:r>
              <a:rPr lang="ru-RU" altLang="ru-RU" dirty="0"/>
              <a:t> и реализуют метод </a:t>
            </a:r>
            <a:r>
              <a:rPr lang="en-US" altLang="ru-RU" dirty="0"/>
              <a:t>Execute</a:t>
            </a:r>
            <a:r>
              <a:rPr lang="ru-RU" altLang="ru-RU" dirty="0"/>
              <a:t>. 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198EBA0-C551-EED8-8054-9C47D3F7436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5B5D74C-A424-4F5E-A5EA-90FB0E974781}" type="slidenum">
              <a:rPr lang="ru-RU" altLang="ru-RU"/>
              <a:pPr/>
              <a:t>65</a:t>
            </a:fld>
            <a:endParaRPr lang="ru-RU" altLang="ru-RU" dirty="0"/>
          </a:p>
        </p:txBody>
      </p:sp>
      <p:sp>
        <p:nvSpPr>
          <p:cNvPr id="325634" name="Rectangle 2">
            <a:extLst>
              <a:ext uri="{FF2B5EF4-FFF2-40B4-BE49-F238E27FC236}">
                <a16:creationId xmlns:a16="http://schemas.microsoft.com/office/drawing/2014/main" id="{DED24EAC-94E7-78F8-3DFD-EC4159E56A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5635" name="Rectangle 3">
            <a:extLst>
              <a:ext uri="{FF2B5EF4-FFF2-40B4-BE49-F238E27FC236}">
                <a16:creationId xmlns:a16="http://schemas.microsoft.com/office/drawing/2014/main" id="{C9031676-54DC-D5E1-E3B3-01C715652F8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Посмотрим, как использовать команды, которые мы внутри себя зашили. Мы сразу же сделаем «умную» конструкцию. В классе объявим поле типа словарь </a:t>
            </a:r>
            <a:r>
              <a:rPr lang="en-US" altLang="ru-RU" dirty="0"/>
              <a:t>Dictionary</a:t>
            </a:r>
            <a:r>
              <a:rPr lang="ru-RU" altLang="ru-RU" dirty="0"/>
              <a:t> – коллекция ключей и значений, у которого в качестве первого ключа будет строка, а в качестве второго значения – </a:t>
            </a:r>
            <a:r>
              <a:rPr lang="en-US" altLang="ru-RU" dirty="0"/>
              <a:t>ICommand</a:t>
            </a:r>
            <a:r>
              <a:rPr lang="ru-RU" altLang="ru-RU" dirty="0"/>
              <a:t>. Назовем его </a:t>
            </a:r>
            <a:r>
              <a:rPr lang="en-US" altLang="ru-RU" dirty="0"/>
              <a:t>commands</a:t>
            </a:r>
            <a:r>
              <a:rPr lang="ru-RU" altLang="ru-RU" dirty="0"/>
              <a:t>. А в конструкторе добавим в это поле имеющиеся пока три «прямых» метода</a:t>
            </a:r>
            <a:r>
              <a:rPr lang="en-US" altLang="ru-RU" dirty="0"/>
              <a:t> </a:t>
            </a:r>
            <a:r>
              <a:rPr lang="ru-RU" altLang="ru-RU" dirty="0"/>
              <a:t>для включения оборудования, связав их с «ключами» - клавишами для нажатия. Методы выключения пока не будем реализовывать т.к. они будут реализовываться немного по другому, поэтому пока про них просто забудем. </a:t>
            </a:r>
            <a:r>
              <a:rPr lang="ru-RU" altLang="ru-RU" b="1" dirty="0"/>
              <a:t>И УДАЛИТЬ МЕТОДЫ ОБОРУДОВАНИЯ.</a:t>
            </a:r>
            <a:r>
              <a:rPr lang="ru-RU" altLang="ru-RU" dirty="0"/>
              <a:t> Все, мы реализовали с помощью паттерна Команда тот же функционал, который был и вначале (ну, за исключением обратных методов, которые мы убрали) </a:t>
            </a:r>
            <a:r>
              <a:rPr lang="ru-RU" altLang="ru-RU" b="1" dirty="0"/>
              <a:t>ЗАПУСКАЕМ</a:t>
            </a:r>
            <a:r>
              <a:rPr lang="ru-RU" altLang="ru-RU" dirty="0"/>
              <a:t>. Что мы имеем? Мы избавились от громоздкой конструкции </a:t>
            </a:r>
            <a:r>
              <a:rPr lang="en-US" altLang="ru-RU" dirty="0"/>
              <a:t>switch</a:t>
            </a:r>
            <a:r>
              <a:rPr lang="ru-RU" altLang="ru-RU" dirty="0"/>
              <a:t>, заменив ее двумя строками</a:t>
            </a:r>
            <a:r>
              <a:rPr lang="en-US" altLang="ru-RU" dirty="0"/>
              <a:t> </a:t>
            </a:r>
            <a:r>
              <a:rPr lang="ru-RU" altLang="ru-RU" dirty="0"/>
              <a:t>(см. ремарку). Чтобы не подчеркивалось, добавим оператор ??, который возвращает либо левую часть, либо правую, если слева был </a:t>
            </a:r>
            <a:r>
              <a:rPr lang="en-US" altLang="ru-RU" dirty="0"/>
              <a:t>null</a:t>
            </a:r>
            <a:r>
              <a:rPr lang="ru-RU" altLang="ru-RU" dirty="0"/>
              <a:t>. Просто студия чтобы не ругалась. Что мы имеем? ОТНОШЕНИЕ ВКЛЮЧЕНИЯ: использование одного класса другим классом. Работаем на уровне интерфейса, а не реализации. Пока наш класс </a:t>
            </a:r>
            <a:r>
              <a:rPr lang="en-US" altLang="ru-RU" dirty="0"/>
              <a:t>RemoteControl</a:t>
            </a:r>
            <a:r>
              <a:rPr lang="ru-RU" altLang="ru-RU" dirty="0"/>
              <a:t> еще знает про три класса, но это пока мы еще не реализовали полностью паттерн – способ назначения клавиш на команды. </a:t>
            </a:r>
            <a:endParaRPr lang="ru-RU" altLang="ru-RU" b="1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57DC27B-BCA9-3010-582A-B0E6AF3FF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EA56867-BF5A-420E-BECD-6BF28EA46D9A}" type="slidenum">
              <a:rPr lang="ru-RU" altLang="ru-RU"/>
              <a:pPr/>
              <a:t>66</a:t>
            </a:fld>
            <a:endParaRPr lang="ru-RU" altLang="ru-RU" dirty="0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E167E6BD-F147-BD68-FF46-B7DA44794EE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5916B8A3-E4E9-1793-13AA-76707258E5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Давайте у каждой команды переопределим метод (он есть у каждого класса по умолчанию) </a:t>
            </a:r>
            <a:r>
              <a:rPr lang="en-US" altLang="ru-RU" dirty="0"/>
              <a:t>ToString</a:t>
            </a:r>
            <a:r>
              <a:rPr lang="ru-RU" altLang="ru-RU" dirty="0"/>
              <a:t>(). Это метод, который возвращает некоторое строковое представление объекта, когда вызываем этот метод.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2F986C3-43ED-8FEA-BCC4-45FC3C524C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13E8C7-4864-44A9-AED6-85DC81B74981}" type="slidenum">
              <a:rPr lang="ru-RU" altLang="ru-RU"/>
              <a:pPr/>
              <a:t>67</a:t>
            </a:fld>
            <a:endParaRPr lang="ru-RU" altLang="ru-RU" dirty="0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66042498-63A3-5CFF-51D1-3AF9C0934E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2ACE19DB-9233-56CB-6A89-7A0106435F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Модифицируем меню. Будем генерировать его автоматически. Для каждой нашей команды в </a:t>
            </a:r>
            <a:r>
              <a:rPr lang="en-US" altLang="ru-RU" dirty="0"/>
              <a:t>commands</a:t>
            </a:r>
            <a:r>
              <a:rPr lang="ru-RU" altLang="ru-RU" dirty="0"/>
              <a:t>, для каждого ключа в нашем словаре, мы будем писать на экране его строковое представление. Используем подстановки </a:t>
            </a:r>
            <a:r>
              <a:rPr lang="en-US" altLang="ru-RU" dirty="0"/>
              <a:t>{0}</a:t>
            </a:r>
            <a:r>
              <a:rPr lang="ru-RU" altLang="ru-RU" dirty="0"/>
              <a:t> и </a:t>
            </a:r>
            <a:r>
              <a:rPr lang="en-US" altLang="ru-RU" dirty="0"/>
              <a:t>{1}</a:t>
            </a:r>
            <a:r>
              <a:rPr lang="ru-RU" altLang="ru-RU" dirty="0"/>
              <a:t>. Запустим, видим 1 и 2 – включают свет. Уберем 2 из переопределения. </a:t>
            </a:r>
          </a:p>
          <a:p>
            <a:r>
              <a:rPr lang="ru-RU" altLang="ru-RU" dirty="0"/>
              <a:t>Какие преимущества паттерна Команда. Мы получили класс </a:t>
            </a:r>
            <a:r>
              <a:rPr lang="en-US" altLang="ru-RU" dirty="0"/>
              <a:t>RemoteControl</a:t>
            </a:r>
            <a:r>
              <a:rPr lang="ru-RU" altLang="ru-RU" dirty="0"/>
              <a:t>, который никоим образом ничего не знает о том, какие подсистемы в нем есть. Чем он управляет, и что происходит в тот момент, когда нажимают на кнопку. Он знает лишь, что что-то должно произойти. Иным словами, если говорить в терминологии наших классов и объектов, то </a:t>
            </a:r>
            <a:r>
              <a:rPr lang="en-US" altLang="ru-RU" dirty="0"/>
              <a:t>RemoteControl </a:t>
            </a:r>
            <a:r>
              <a:rPr lang="ru-RU" altLang="ru-RU" dirty="0"/>
              <a:t>зависит только от интерфейса </a:t>
            </a:r>
            <a:r>
              <a:rPr lang="en-US" altLang="ru-RU" dirty="0"/>
              <a:t>ICommand</a:t>
            </a:r>
            <a:r>
              <a:rPr lang="ru-RU" altLang="ru-RU" dirty="0"/>
              <a:t>, и больше ни от чего. Таким образом мы получили слабую связность между нашими модулями. Между пультом и теми устройствами, которыми он управляет. Теперь, добавить чайник, с которого мы начинали, не составляет никакого труда. 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63E5CDA-FCB3-B9B4-61F9-D1BAF39AF0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7A54895-7AC0-4A5F-86BC-B8611800F519}" type="slidenum">
              <a:rPr lang="ru-RU" altLang="ru-RU"/>
              <a:pPr/>
              <a:t>68</a:t>
            </a:fld>
            <a:endParaRPr lang="ru-RU" altLang="ru-RU" dirty="0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86317DFE-FC80-242C-5355-6982807148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6AC161B1-EBBD-0F65-3312-0F114D91A23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Создадим метод по назначению команды на некоторую кнопку</a:t>
            </a:r>
            <a:r>
              <a:rPr lang="en-US" altLang="ru-RU" dirty="0"/>
              <a:t> </a:t>
            </a:r>
            <a:r>
              <a:rPr lang="ru-RU" altLang="ru-RU" dirty="0">
                <a:latin typeface="Consolas" panose="020B0609020204030204" pitchFamily="49" charset="0"/>
              </a:rPr>
              <a:t>SetCommandForButton. Первый параметр – номер кнопки, второй – сама назначаемая команда.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Можно было бы написать, как в конструкторе, но тогда надо было бы проверять, нет ли уже такого ключа в словаре. Если есть – перезаписывать, иначе – переопределять. А предложенная строка позволяет автоматически, если ключ не существует в словаре, добавить его. Если ключ существует, он будет перезаписан.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E28A41C-1E3F-9409-F0F2-C3C735FEAE0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250DE33-50C2-4BAF-A049-BCB6E36E4B1E}" type="slidenum">
              <a:rPr lang="ru-RU" altLang="ru-RU"/>
              <a:pPr/>
              <a:t>69</a:t>
            </a:fld>
            <a:endParaRPr lang="ru-RU" altLang="ru-RU" dirty="0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272CA886-696E-B424-8833-BD71C08B33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7B24A606-C6B1-CFD6-219E-D8F5B6D131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Переопределим кнопку. Поменяем кнопку 1 включить свет, на кнопку 2 – включить свет. Проверяем – работает, теперь у нас обе кнопки включают свет. Но это мелочи.</a:t>
            </a: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28B01664-FD1E-E09E-6E37-651825A64D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650C9A2-02A7-40B6-9188-F2CF8074ED40}" type="slidenum">
              <a:rPr lang="ru-RU" altLang="ru-RU"/>
              <a:pPr/>
              <a:t>70</a:t>
            </a:fld>
            <a:endParaRPr lang="ru-RU" altLang="ru-RU" dirty="0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C9A95682-7B90-CBEC-942E-F31CF1EC6E2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8BF10C95-EA62-26FC-76F9-C0706E18A0F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Закрепим на теории основы паттерна Команда в его базовом исполнении. Официальное определение. Пока мы увидели только инкапсуляцию вызова, параметризацию еще не реализовали. Отмену и поддержку тоже не реализовали. </a:t>
            </a: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3B67E1A-3458-DE8F-B78B-79D8D93CCB8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ACEC9A7-E0B1-4830-9295-77E067EAE2E3}" type="slidenum">
              <a:rPr lang="ru-RU" altLang="ru-RU"/>
              <a:pPr/>
              <a:t>72</a:t>
            </a:fld>
            <a:endParaRPr lang="ru-RU" altLang="ru-RU" dirty="0"/>
          </a:p>
        </p:txBody>
      </p:sp>
      <p:sp>
        <p:nvSpPr>
          <p:cNvPr id="338946" name="Rectangle 2">
            <a:extLst>
              <a:ext uri="{FF2B5EF4-FFF2-40B4-BE49-F238E27FC236}">
                <a16:creationId xmlns:a16="http://schemas.microsoft.com/office/drawing/2014/main" id="{8AFFDF43-A453-B727-556E-93454171586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82A4461C-CB09-491A-AC1D-7638982DCD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dirty="0"/>
              <a:t>Как мы можем видеть, эта диаграмма не совсем соответствует нашему проекту. Это классическая диаграмма классов паттерна Команда. Помимо классов </a:t>
            </a:r>
            <a:r>
              <a:rPr lang="en-US" altLang="ru-RU" dirty="0"/>
              <a:t>ICommand, ConcreteCommand </a:t>
            </a:r>
            <a:r>
              <a:rPr lang="ru-RU" altLang="ru-RU" dirty="0"/>
              <a:t>и </a:t>
            </a:r>
            <a:r>
              <a:rPr lang="en-US" altLang="ru-RU" dirty="0"/>
              <a:t>Client</a:t>
            </a:r>
            <a:r>
              <a:rPr lang="ru-RU" altLang="ru-RU" dirty="0"/>
              <a:t>,</a:t>
            </a:r>
            <a:r>
              <a:rPr lang="en-US" altLang="ru-RU" dirty="0"/>
              <a:t> </a:t>
            </a:r>
            <a:r>
              <a:rPr lang="ru-RU" altLang="ru-RU" dirty="0"/>
              <a:t>мы видим </a:t>
            </a:r>
            <a:r>
              <a:rPr lang="en-US" altLang="ru-RU" dirty="0"/>
              <a:t>Invoker</a:t>
            </a:r>
            <a:r>
              <a:rPr lang="ru-RU" altLang="ru-RU" dirty="0"/>
              <a:t> и класс </a:t>
            </a:r>
            <a:r>
              <a:rPr lang="en-US" altLang="ru-RU" dirty="0"/>
              <a:t>Receiver</a:t>
            </a:r>
            <a:r>
              <a:rPr lang="ru-RU" altLang="ru-RU" dirty="0"/>
              <a:t>. 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Класс </a:t>
            </a:r>
            <a:r>
              <a:rPr lang="en-US" altLang="ru-RU" dirty="0"/>
              <a:t>Client</a:t>
            </a:r>
            <a:r>
              <a:rPr lang="ru-RU" altLang="ru-RU" dirty="0"/>
              <a:t> – это класс, который вызывает нашу команду и каким-то образом ее параметризует. В нашем проекте класс </a:t>
            </a:r>
            <a:r>
              <a:rPr lang="en-US" altLang="ru-RU" dirty="0"/>
              <a:t>Client </a:t>
            </a:r>
            <a:r>
              <a:rPr lang="ru-RU" altLang="ru-RU" dirty="0"/>
              <a:t>– это был класс </a:t>
            </a:r>
            <a:r>
              <a:rPr lang="en-US" altLang="ru-RU" dirty="0"/>
              <a:t>Program</a:t>
            </a:r>
            <a:r>
              <a:rPr lang="ru-RU" altLang="ru-RU" dirty="0"/>
              <a:t>, который вызывается в момент запуска приложения. Он использует </a:t>
            </a:r>
            <a:r>
              <a:rPr lang="en-US" altLang="ru-RU" dirty="0"/>
              <a:t>ConcreteComand</a:t>
            </a:r>
            <a:r>
              <a:rPr lang="ru-RU" altLang="ru-RU" dirty="0"/>
              <a:t> и использует </a:t>
            </a:r>
            <a:r>
              <a:rPr lang="en-US" altLang="ru-RU" dirty="0"/>
              <a:t>Receiver</a:t>
            </a:r>
            <a:r>
              <a:rPr lang="ru-RU" altLang="ru-RU" dirty="0"/>
              <a:t>, который использует </a:t>
            </a:r>
            <a:r>
              <a:rPr lang="en-US" altLang="ru-RU" dirty="0"/>
              <a:t>ConcreteCommand</a:t>
            </a:r>
            <a:r>
              <a:rPr lang="ru-RU" altLang="ru-RU" dirty="0"/>
              <a:t>. У нас этого не было. Мы сделали несколько упрощенную версию команды, которая сама внутри себя производила некоторые действия: включала свет, ТВ и т.д. На самом деле команда является посредником между Клиентом и Ресивером. Ресивер – это некий класс, который умеет работать непосредственно с физическим каким-то объектом, в нашем случае свет, т.е. Ресивер – это выключатель света. А команда – она всего лишь посредник, она посылает этому ресиверу запросы вкл.свет и выкл.свет. Она сама этого делать не умеет. Сейчас попробуем это реализовать. </a:t>
            </a:r>
          </a:p>
          <a:p>
            <a:pPr>
              <a:lnSpc>
                <a:spcPct val="90000"/>
              </a:lnSpc>
            </a:pPr>
            <a:r>
              <a:rPr lang="en-US" altLang="ru-RU" dirty="0"/>
              <a:t>Icommand </a:t>
            </a:r>
            <a:r>
              <a:rPr lang="ru-RU" altLang="ru-RU" dirty="0"/>
              <a:t>– это интерфейс, все как у нас и есть. А </a:t>
            </a:r>
            <a:r>
              <a:rPr lang="en-US" altLang="ru-RU" dirty="0"/>
              <a:t>Invoker – </a:t>
            </a:r>
            <a:r>
              <a:rPr lang="ru-RU" altLang="ru-RU" dirty="0"/>
              <a:t>это класс </a:t>
            </a:r>
            <a:r>
              <a:rPr lang="en-US" altLang="ru-RU" dirty="0" err="1"/>
              <a:t>RemoteControl</a:t>
            </a:r>
            <a:r>
              <a:rPr lang="en-US" altLang="ru-RU" dirty="0"/>
              <a:t> </a:t>
            </a:r>
            <a:r>
              <a:rPr lang="ru-RU" altLang="ru-RU" dirty="0"/>
              <a:t> у нас, т.е. это тот, кто эти команды может хранить в себе и в нужные моменты может их вызвать. Т.е. </a:t>
            </a:r>
            <a:r>
              <a:rPr lang="en-US" altLang="ru-RU" dirty="0"/>
              <a:t>RemoteControl </a:t>
            </a:r>
            <a:r>
              <a:rPr lang="ru-RU" altLang="ru-RU" dirty="0"/>
              <a:t>хранил у нас команды, и когда нужно было по запросу пользователя, эта команда и вызывалась. Т.е. Классическая диаграмма классов у нас почти соблюдена, но не до конца. Давайте это исправим. </a:t>
            </a: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A4657E3-DCF0-D3CC-9898-035A38B570B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4C027AB-1801-4B02-9749-F2A0B97E00E6}" type="slidenum">
              <a:rPr lang="ru-RU" altLang="ru-RU"/>
              <a:pPr/>
              <a:t>73</a:t>
            </a:fld>
            <a:endParaRPr lang="ru-RU" altLang="ru-RU" dirty="0"/>
          </a:p>
        </p:txBody>
      </p:sp>
      <p:sp>
        <p:nvSpPr>
          <p:cNvPr id="339970" name="Rectangle 2">
            <a:extLst>
              <a:ext uri="{FF2B5EF4-FFF2-40B4-BE49-F238E27FC236}">
                <a16:creationId xmlns:a16="http://schemas.microsoft.com/office/drawing/2014/main" id="{A9FA517D-4572-811D-C39D-CC3E1F65C0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9971" name="Rectangle 3">
            <a:extLst>
              <a:ext uri="{FF2B5EF4-FFF2-40B4-BE49-F238E27FC236}">
                <a16:creationId xmlns:a16="http://schemas.microsoft.com/office/drawing/2014/main" id="{A20FBBDB-B264-AE8C-15D8-CA2D3BEE03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b="1" dirty="0"/>
              <a:t>СОЗДАЕМ ПАПКУ </a:t>
            </a:r>
            <a:r>
              <a:rPr lang="en-US" altLang="ru-RU" b="1" dirty="0"/>
              <a:t>ControlledSystems</a:t>
            </a:r>
            <a:r>
              <a:rPr lang="ru-RU" altLang="ru-RU" dirty="0"/>
              <a:t>. И в ней 4 класса: </a:t>
            </a:r>
            <a:r>
              <a:rPr lang="en-US" altLang="ru-RU" dirty="0"/>
              <a:t>Light, Music, Teapot, TV</a:t>
            </a:r>
            <a:r>
              <a:rPr lang="ru-RU" altLang="ru-RU" dirty="0"/>
              <a:t>. Они все совершенно одинаковые, имеют два метода: </a:t>
            </a:r>
            <a:r>
              <a:rPr lang="en-US" altLang="ru-RU" dirty="0"/>
              <a:t>TurnOn </a:t>
            </a:r>
            <a:r>
              <a:rPr lang="ru-RU" altLang="ru-RU" dirty="0"/>
              <a:t>и </a:t>
            </a:r>
            <a:r>
              <a:rPr lang="en-US" altLang="ru-RU" dirty="0"/>
              <a:t>TurnOff</a:t>
            </a:r>
            <a:r>
              <a:rPr lang="ru-RU" altLang="ru-RU" dirty="0"/>
              <a:t>, и свойство </a:t>
            </a:r>
            <a:r>
              <a:rPr lang="en-US" altLang="ru-RU" dirty="0"/>
              <a:t>State</a:t>
            </a:r>
            <a:r>
              <a:rPr lang="ru-RU" altLang="ru-RU" dirty="0"/>
              <a:t>. Мы намеренно не выделяем их в базовый класс, т.к. в реальной жизни все это объекты разной природы, и наследовать их от чего-либо одного было бы не очень корректно. Хотя в нашей программе реально напрашивается выделение общего функционала в базовый класс. Но мы не будем сейчас обращать на это внимание, предполагая, что это реальные объекты различной природы. Это по сути своей класс Ресивер, который умеет работать с реальными объектами. Т.е. если это </a:t>
            </a:r>
            <a:r>
              <a:rPr lang="en-US" altLang="ru-RU" dirty="0"/>
              <a:t>Light</a:t>
            </a:r>
            <a:r>
              <a:rPr lang="ru-RU" altLang="ru-RU" dirty="0"/>
              <a:t>, то он умеет включать и выключать свет, и хранить его состояние: включен он или выключен в данный момент. Аналогично и друге классы для своих устройств. </a:t>
            </a: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77442C3-A353-A935-F39C-6A3F240F1B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891B362-565A-47BB-98C0-A78E86561E92}" type="slidenum">
              <a:rPr lang="ru-RU" altLang="ru-RU"/>
              <a:pPr/>
              <a:t>75</a:t>
            </a:fld>
            <a:endParaRPr lang="ru-RU" altLang="ru-RU" dirty="0"/>
          </a:p>
        </p:txBody>
      </p:sp>
      <p:sp>
        <p:nvSpPr>
          <p:cNvPr id="342018" name="Rectangle 2">
            <a:extLst>
              <a:ext uri="{FF2B5EF4-FFF2-40B4-BE49-F238E27FC236}">
                <a16:creationId xmlns:a16="http://schemas.microsoft.com/office/drawing/2014/main" id="{02552CC4-59DF-DDE7-1D49-760D0D37C42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2019" name="Rectangle 3">
            <a:extLst>
              <a:ext uri="{FF2B5EF4-FFF2-40B4-BE49-F238E27FC236}">
                <a16:creationId xmlns:a16="http://schemas.microsoft.com/office/drawing/2014/main" id="{DF5C84B8-093C-C641-BD7A-3D5E6B0C2C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Что касается команд, они тоже несколько видоизменились, и мы теперь можем наблюдать ту самую связь, которая была на диаграмме между </a:t>
            </a:r>
            <a:r>
              <a:rPr lang="en-US" altLang="ru-RU" dirty="0"/>
              <a:t>ConcretCommand </a:t>
            </a:r>
            <a:r>
              <a:rPr lang="ru-RU" altLang="ru-RU" dirty="0"/>
              <a:t>и </a:t>
            </a:r>
            <a:r>
              <a:rPr lang="en-US" altLang="ru-RU" dirty="0"/>
              <a:t>Reciver</a:t>
            </a:r>
            <a:r>
              <a:rPr lang="ru-RU" altLang="ru-RU" dirty="0"/>
              <a:t>. У команд появился публичный конструктор, который принимает в качестве параметра объект Света. Внутри команды теперь вместо непосредственно включения света, мы вызываем нужный метод у самого объекта. Чем это хорошо? Если у нас пульт включает свет в нужной комнате, в которой я сейчас нахожусь. Т.е. свет должен включаться отдельно для каждой комнаты. Объект </a:t>
            </a:r>
            <a:r>
              <a:rPr lang="en-US" altLang="ru-RU" dirty="0"/>
              <a:t>Light</a:t>
            </a:r>
            <a:r>
              <a:rPr lang="ru-RU" altLang="ru-RU" dirty="0"/>
              <a:t> может включать свет как во всей квартире, так и в каждой комнате отдельно. Мы создаём столько экземпляров объектов </a:t>
            </a:r>
            <a:r>
              <a:rPr lang="en-US" altLang="ru-RU" dirty="0"/>
              <a:t>Light</a:t>
            </a:r>
            <a:r>
              <a:rPr lang="ru-RU" altLang="ru-RU" dirty="0"/>
              <a:t>, сколько нужно, но управляет ими всем объект один – </a:t>
            </a:r>
            <a:r>
              <a:rPr lang="en-US" altLang="ru-RU" dirty="0"/>
              <a:t>LightCommand</a:t>
            </a:r>
            <a:r>
              <a:rPr lang="ru-RU" altLang="ru-RU" dirty="0"/>
              <a:t>. Мы его парметризуем тем объектом, который нам нужен, т.е. мы берем нужный объект </a:t>
            </a:r>
            <a:r>
              <a:rPr lang="en-US" altLang="ru-RU" dirty="0"/>
              <a:t>Light</a:t>
            </a:r>
            <a:r>
              <a:rPr lang="ru-RU" altLang="ru-RU" dirty="0"/>
              <a:t>, передаем его вместо параметра в конструктор, и значит команда будет работать с гостиной и только с ней. Если берем гостиную, то свет будет в гостиной, если передадим свет ванной – то будем управляться свет в ванной. Но один класс </a:t>
            </a:r>
            <a:r>
              <a:rPr lang="en-US" altLang="ru-RU" dirty="0"/>
              <a:t>LightCommand</a:t>
            </a:r>
            <a:r>
              <a:rPr lang="ru-RU" altLang="ru-RU" dirty="0"/>
              <a:t>. И плюс в том, что подменяя эту команду, мы абстрагировали ее от реального прибора. Например, поменяв лампы накаливания на светодиодные, нам не нужно менять команду и перепрограммировав пульт, нам нужно лишь изменить класс </a:t>
            </a:r>
            <a:r>
              <a:rPr lang="en-US" altLang="ru-RU" dirty="0"/>
              <a:t>Light</a:t>
            </a:r>
            <a:r>
              <a:rPr lang="ru-RU" altLang="ru-RU" dirty="0"/>
              <a:t> и все будет работать. Все классы можно рассматривать как базовые для своих подклассов. Свет: накаливания, светодиодный, и т.д. Музыка: стереосистема, плейер и др. муз. Установка. </a:t>
            </a: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4FA3233-5275-49AB-1B5C-11FBE98B15A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3DAEC9-01F6-4305-92EC-7CEF2E94335A}" type="slidenum">
              <a:rPr lang="ru-RU" altLang="ru-RU"/>
              <a:pPr/>
              <a:t>76</a:t>
            </a:fld>
            <a:endParaRPr lang="ru-RU" altLang="ru-RU" dirty="0"/>
          </a:p>
        </p:txBody>
      </p:sp>
      <p:sp>
        <p:nvSpPr>
          <p:cNvPr id="343042" name="Rectangle 2">
            <a:extLst>
              <a:ext uri="{FF2B5EF4-FFF2-40B4-BE49-F238E27FC236}">
                <a16:creationId xmlns:a16="http://schemas.microsoft.com/office/drawing/2014/main" id="{A6C12215-19B5-1D75-F43A-A04EDED45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3043" name="Rectangle 3">
            <a:extLst>
              <a:ext uri="{FF2B5EF4-FFF2-40B4-BE49-F238E27FC236}">
                <a16:creationId xmlns:a16="http://schemas.microsoft.com/office/drawing/2014/main" id="{FE808449-7ABA-AB23-C9C8-0B9E0822C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Пульт переработали так, что он теперь не выводит меню и не взаимодействует с пользователем. И это верно. Пульт только управляет чем-то. Он не взаимодействует с пользователем. Пользователь взаимодействует с пультом через какой-то посредник. В данном случае все это взаимодействие вынесли в Программ и </a:t>
            </a:r>
            <a:r>
              <a:rPr lang="en-US" altLang="ru-RU" dirty="0"/>
              <a:t>Main</a:t>
            </a:r>
            <a:r>
              <a:rPr lang="ru-RU" altLang="ru-RU" dirty="0"/>
              <a:t>, здесь осталась </a:t>
            </a:r>
            <a:r>
              <a:rPr lang="ru-RU" altLang="ru-RU" dirty="0" err="1"/>
              <a:t>менюшка</a:t>
            </a:r>
            <a:r>
              <a:rPr lang="ru-RU" altLang="ru-RU" dirty="0"/>
              <a:t>, но она теперь в методе </a:t>
            </a:r>
            <a:r>
              <a:rPr lang="en-US" altLang="ru-RU" dirty="0"/>
              <a:t>ToString</a:t>
            </a:r>
            <a:r>
              <a:rPr lang="ru-RU" altLang="ru-RU" dirty="0"/>
              <a:t>. Так было просто логичнее. </a:t>
            </a:r>
            <a:r>
              <a:rPr lang="ru-RU" altLang="ru-RU" b="1" dirty="0"/>
              <a:t>УБРАТЬ </a:t>
            </a:r>
            <a:r>
              <a:rPr lang="en-US" altLang="ru-RU" b="1" dirty="0"/>
              <a:t>Draw</a:t>
            </a:r>
            <a:r>
              <a:rPr lang="ru-RU" altLang="ru-RU" b="1" dirty="0"/>
              <a:t> и </a:t>
            </a:r>
            <a:r>
              <a:rPr lang="ru-RU" altLang="ru-RU" b="1" dirty="0">
                <a:latin typeface="Consolas" panose="020B0609020204030204" pitchFamily="49" charset="0"/>
              </a:rPr>
              <a:t>PerformAction.</a:t>
            </a:r>
            <a:r>
              <a:rPr lang="ru-RU" altLang="ru-RU" dirty="0">
                <a:latin typeface="Consolas" panose="020B0609020204030204" pitchFamily="49" charset="0"/>
              </a:rPr>
              <a:t> </a:t>
            </a:r>
            <a:endParaRPr lang="ru-RU" altLang="ru-RU" b="1" dirty="0">
              <a:latin typeface="Consolas" panose="020B0609020204030204" pitchFamily="49" charset="0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69D1B08-160C-A76D-C3AF-C10AD187ADD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DA8DB576-FCDC-4DB2-93C3-05785C2AA571}" type="slidenum">
              <a:rPr lang="ru-RU" altLang="ru-RU"/>
              <a:pPr/>
              <a:t>77</a:t>
            </a:fld>
            <a:endParaRPr lang="ru-RU" altLang="ru-RU" dirty="0"/>
          </a:p>
        </p:txBody>
      </p:sp>
      <p:sp>
        <p:nvSpPr>
          <p:cNvPr id="344066" name="Rectangle 2">
            <a:extLst>
              <a:ext uri="{FF2B5EF4-FFF2-40B4-BE49-F238E27FC236}">
                <a16:creationId xmlns:a16="http://schemas.microsoft.com/office/drawing/2014/main" id="{0094B922-720A-48F1-B3EB-819A9B5D034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4067" name="Rectangle 3">
            <a:extLst>
              <a:ext uri="{FF2B5EF4-FFF2-40B4-BE49-F238E27FC236}">
                <a16:creationId xmlns:a16="http://schemas.microsoft.com/office/drawing/2014/main" id="{3810821F-9606-72A2-136B-0948506920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Здесь вывод меню, ввод от пользователя, и вызов нажатия кнопки. Мы приблизились к реальному пульту. Мы говорим, я хочу нажать на кнопку, и потом передаем кнопку пульту. Внешне ничего не изменилось. Это введение прослойки ресивера. </a:t>
            </a: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56A9A2B-C5EB-2B8D-C31D-104B235AAD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292612A-D8E9-4FC8-8262-562762A06A56}" type="slidenum">
              <a:rPr lang="ru-RU" altLang="ru-RU"/>
              <a:pPr/>
              <a:t>78</a:t>
            </a:fld>
            <a:endParaRPr lang="ru-RU" altLang="ru-RU" dirty="0"/>
          </a:p>
        </p:txBody>
      </p:sp>
      <p:sp>
        <p:nvSpPr>
          <p:cNvPr id="345090" name="Rectangle 2">
            <a:extLst>
              <a:ext uri="{FF2B5EF4-FFF2-40B4-BE49-F238E27FC236}">
                <a16:creationId xmlns:a16="http://schemas.microsoft.com/office/drawing/2014/main" id="{B5CF8B25-7E6E-F407-9512-D0A320F8B42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84891000-E924-C13F-76DD-62252A7279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Рассмотрим операции отмены. Это возможность выполним команду, каким-то образом откатиться назад, в состояние которое было до выполнения этой команды. Грубо говоря, как в Ворд отмена </a:t>
            </a:r>
            <a:r>
              <a:rPr lang="en-US" altLang="ru-RU" dirty="0"/>
              <a:t>Ctrl+Z</a:t>
            </a:r>
            <a:r>
              <a:rPr lang="ru-RU" altLang="ru-RU" dirty="0"/>
              <a:t>. Удалили, вернули. В паттерне Команда это тоже можно реализовать. В интерфейсе </a:t>
            </a:r>
            <a:r>
              <a:rPr lang="en-US" altLang="ru-RU" dirty="0"/>
              <a:t>ICommand </a:t>
            </a:r>
            <a:r>
              <a:rPr lang="ru-RU" altLang="ru-RU" dirty="0"/>
              <a:t>сделаем метод </a:t>
            </a:r>
            <a:r>
              <a:rPr lang="en-US" altLang="ru-RU" dirty="0"/>
              <a:t>Undo</a:t>
            </a:r>
            <a:endParaRPr lang="ru-RU" altLang="ru-RU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45A818CA-628F-2802-4C0B-78D16AD56E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482D513-E39E-4999-A3AC-B31FA8DBEEE1}" type="slidenum">
              <a:rPr lang="ru-RU" altLang="ru-RU"/>
              <a:pPr/>
              <a:t>79</a:t>
            </a:fld>
            <a:endParaRPr lang="ru-RU" altLang="ru-RU" dirty="0"/>
          </a:p>
        </p:txBody>
      </p:sp>
      <p:sp>
        <p:nvSpPr>
          <p:cNvPr id="349186" name="Rectangle 2">
            <a:extLst>
              <a:ext uri="{FF2B5EF4-FFF2-40B4-BE49-F238E27FC236}">
                <a16:creationId xmlns:a16="http://schemas.microsoft.com/office/drawing/2014/main" id="{60927768-D198-F6E2-5636-E85BB0AB136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9187" name="Rectangle 3">
            <a:extLst>
              <a:ext uri="{FF2B5EF4-FFF2-40B4-BE49-F238E27FC236}">
                <a16:creationId xmlns:a16="http://schemas.microsoft.com/office/drawing/2014/main" id="{07B00C07-5D91-B478-38FF-C82FCD6958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Далее реализовываем эту команду во всех классах-наследниках. Пока этот метод везде пустой. Как ведет себя пульт? Мы можем включить телевизор и выключить телевизор. Это делается одной и той же кнопкой: Вкл/Выкл. В нашем случае мы дадим возможность Команде решать, что производить в момент </a:t>
            </a:r>
            <a:r>
              <a:rPr lang="en-US" altLang="ru-RU" dirty="0"/>
              <a:t>Undo</a:t>
            </a:r>
            <a:r>
              <a:rPr lang="ru-RU" altLang="ru-RU" dirty="0"/>
              <a:t>. Т.е. </a:t>
            </a:r>
            <a:r>
              <a:rPr lang="en-US" altLang="ru-RU" dirty="0"/>
              <a:t>undo </a:t>
            </a:r>
            <a:r>
              <a:rPr lang="ru-RU" altLang="ru-RU" dirty="0"/>
              <a:t>просто должна откатывать на одну ступень назад.  </a:t>
            </a: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B642B61-84F4-A87F-3332-4D6216DC5F9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B3517D3-5A9B-4177-9BCD-B5F8FF94D8B8}" type="slidenum">
              <a:rPr lang="ru-RU" altLang="ru-RU"/>
              <a:pPr/>
              <a:t>80</a:t>
            </a:fld>
            <a:endParaRPr lang="ru-RU" altLang="ru-RU" dirty="0"/>
          </a:p>
        </p:txBody>
      </p:sp>
      <p:sp>
        <p:nvSpPr>
          <p:cNvPr id="350210" name="Rectangle 2">
            <a:extLst>
              <a:ext uri="{FF2B5EF4-FFF2-40B4-BE49-F238E27FC236}">
                <a16:creationId xmlns:a16="http://schemas.microsoft.com/office/drawing/2014/main" id="{F9FCD729-3527-E4CB-2A7D-8E013DDA9D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0211" name="Rectangle 3">
            <a:extLst>
              <a:ext uri="{FF2B5EF4-FFF2-40B4-BE49-F238E27FC236}">
                <a16:creationId xmlns:a16="http://schemas.microsoft.com/office/drawing/2014/main" id="{3D3E0283-1ADA-340B-77A7-C03CA1891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Новый метод </a:t>
            </a: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C523E42-6D00-D31B-1B74-3CCF93916B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3EF41A-AD6C-48AF-806C-994435AB3190}" type="slidenum">
              <a:rPr lang="ru-RU" altLang="ru-RU"/>
              <a:pPr/>
              <a:t>82</a:t>
            </a:fld>
            <a:endParaRPr lang="ru-RU" altLang="ru-RU" dirty="0"/>
          </a:p>
        </p:txBody>
      </p:sp>
      <p:sp>
        <p:nvSpPr>
          <p:cNvPr id="354306" name="Rectangle 2">
            <a:extLst>
              <a:ext uri="{FF2B5EF4-FFF2-40B4-BE49-F238E27FC236}">
                <a16:creationId xmlns:a16="http://schemas.microsoft.com/office/drawing/2014/main" id="{FB0D45ED-A021-0BB2-D12D-81ABA0A3AB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4307" name="Rectangle 3">
            <a:extLst>
              <a:ext uri="{FF2B5EF4-FFF2-40B4-BE49-F238E27FC236}">
                <a16:creationId xmlns:a16="http://schemas.microsoft.com/office/drawing/2014/main" id="{90509815-8B80-B3F3-EF93-8EA0BE7778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Реализуем откат с сохранением состояния. Нажимаем вкл 5 раз и откат 5 раз. В этот момент должен быть реальный откат. (Можно сделать откат для музыки)</a:t>
            </a:r>
          </a:p>
          <a:p>
            <a:r>
              <a:rPr lang="ru-RU" altLang="ru-RU" dirty="0"/>
              <a:t>Для демонстрации сделаем свет трехдиапазонный. + выкл.  </a:t>
            </a: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5CC3080-03B2-B811-AD1E-0A592E7769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667B1D-4406-4895-831B-7B5BFB85C37C}" type="slidenum">
              <a:rPr lang="ru-RU" altLang="ru-RU"/>
              <a:pPr/>
              <a:t>83</a:t>
            </a:fld>
            <a:endParaRPr lang="ru-RU" altLang="ru-RU" dirty="0"/>
          </a:p>
        </p:txBody>
      </p:sp>
      <p:sp>
        <p:nvSpPr>
          <p:cNvPr id="356354" name="Rectangle 2">
            <a:extLst>
              <a:ext uri="{FF2B5EF4-FFF2-40B4-BE49-F238E27FC236}">
                <a16:creationId xmlns:a16="http://schemas.microsoft.com/office/drawing/2014/main" id="{3FD7430D-3E0B-A856-8D97-579DD1816D6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6355" name="Rectangle 3">
            <a:extLst>
              <a:ext uri="{FF2B5EF4-FFF2-40B4-BE49-F238E27FC236}">
                <a16:creationId xmlns:a16="http://schemas.microsoft.com/office/drawing/2014/main" id="{92EB0E0D-81F7-8473-955A-C66702518E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Циклически. Переключение состояний, а не включение</a:t>
            </a:r>
          </a:p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E0F6A2C-4B0E-DBAE-6690-9789C348A6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1B3701-802A-4945-B51F-860C817BFCA7}" type="slidenum">
              <a:rPr lang="ru-RU" altLang="ru-RU"/>
              <a:pPr/>
              <a:t>84</a:t>
            </a:fld>
            <a:endParaRPr lang="ru-RU" altLang="ru-RU" dirty="0"/>
          </a:p>
        </p:txBody>
      </p:sp>
      <p:sp>
        <p:nvSpPr>
          <p:cNvPr id="367618" name="Rectangle 2">
            <a:extLst>
              <a:ext uri="{FF2B5EF4-FFF2-40B4-BE49-F238E27FC236}">
                <a16:creationId xmlns:a16="http://schemas.microsoft.com/office/drawing/2014/main" id="{FE90A43A-B098-B3A6-6149-80A72B2AF08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7619" name="Rectangle 3">
            <a:extLst>
              <a:ext uri="{FF2B5EF4-FFF2-40B4-BE49-F238E27FC236}">
                <a16:creationId xmlns:a16="http://schemas.microsoft.com/office/drawing/2014/main" id="{1DEACA32-7D2E-3B3B-3B64-DFDA08349C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Проверим. Добавим в </a:t>
            </a:r>
            <a:r>
              <a:rPr lang="en-US" altLang="ru-RU" dirty="0"/>
              <a:t>Main </a:t>
            </a:r>
            <a:r>
              <a:rPr lang="ru-RU" altLang="ru-RU" dirty="0"/>
              <a:t>несколько вызовов потом несколько отмен. Отмена работает неправильно!</a:t>
            </a: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BD04650-04F3-2B6A-0F93-D996693FD3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31AC0D2-187E-41F0-8B65-811A813F387C}" type="slidenum">
              <a:rPr lang="ru-RU" altLang="ru-RU"/>
              <a:pPr/>
              <a:t>85</a:t>
            </a:fld>
            <a:endParaRPr lang="ru-RU" altLang="ru-RU" dirty="0"/>
          </a:p>
        </p:txBody>
      </p:sp>
      <p:sp>
        <p:nvSpPr>
          <p:cNvPr id="368642" name="Rectangle 2">
            <a:extLst>
              <a:ext uri="{FF2B5EF4-FFF2-40B4-BE49-F238E27FC236}">
                <a16:creationId xmlns:a16="http://schemas.microsoft.com/office/drawing/2014/main" id="{523F0FBA-DC32-9756-6FB1-BACCE72564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43" name="Rectangle 3">
            <a:extLst>
              <a:ext uri="{FF2B5EF4-FFF2-40B4-BE49-F238E27FC236}">
                <a16:creationId xmlns:a16="http://schemas.microsoft.com/office/drawing/2014/main" id="{1F225FE7-213F-7CB2-5331-06EC38F9A43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Добавим поле для сохранения предыдущего состояния. При инициализации – выключено. При вызове – запоминаем. При отмене – надо возвращаться к конкретному состоянию. А значит нужен метод для задания конкретного состояния. Создаем его в классе </a:t>
            </a:r>
            <a:r>
              <a:rPr lang="en-US" altLang="ru-RU" dirty="0"/>
              <a:t>Light</a:t>
            </a:r>
            <a:endParaRPr lang="ru-RU" altLang="ru-RU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3D2555D-4DC4-52B8-7AA4-4993CED30F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2D283BB-FF98-452A-92CC-F223ABBF5B74}" type="slidenum">
              <a:rPr lang="ru-RU" altLang="ru-RU"/>
              <a:pPr/>
              <a:t>86</a:t>
            </a:fld>
            <a:endParaRPr lang="ru-RU" altLang="ru-RU" dirty="0"/>
          </a:p>
        </p:txBody>
      </p:sp>
      <p:sp>
        <p:nvSpPr>
          <p:cNvPr id="371714" name="Rectangle 2">
            <a:extLst>
              <a:ext uri="{FF2B5EF4-FFF2-40B4-BE49-F238E27FC236}">
                <a16:creationId xmlns:a16="http://schemas.microsoft.com/office/drawing/2014/main" id="{F7650D84-ECBD-E82D-24DB-93D9757931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1715" name="Rectangle 3">
            <a:extLst>
              <a:ext uri="{FF2B5EF4-FFF2-40B4-BE49-F238E27FC236}">
                <a16:creationId xmlns:a16="http://schemas.microsoft.com/office/drawing/2014/main" id="{2ACC9344-727D-D619-EEE3-18AA5D4A5C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Т.к. часто приходится печатать тип света, вынесем его в новый метод (приватный). Он выводит, какой свет горит</a:t>
            </a: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268FA79-0258-0893-6238-7F96091ED0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DB6B9E8-9838-4F86-A1BD-64F819DF7026}" type="slidenum">
              <a:rPr lang="ru-RU" altLang="ru-RU"/>
              <a:pPr/>
              <a:t>87</a:t>
            </a:fld>
            <a:endParaRPr lang="ru-RU" altLang="ru-RU" dirty="0"/>
          </a:p>
        </p:txBody>
      </p:sp>
      <p:sp>
        <p:nvSpPr>
          <p:cNvPr id="372738" name="Rectangle 2">
            <a:extLst>
              <a:ext uri="{FF2B5EF4-FFF2-40B4-BE49-F238E27FC236}">
                <a16:creationId xmlns:a16="http://schemas.microsoft.com/office/drawing/2014/main" id="{1A50DDC1-AB33-4A98-4376-BB990280191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2739" name="Rectangle 3">
            <a:extLst>
              <a:ext uri="{FF2B5EF4-FFF2-40B4-BE49-F238E27FC236}">
                <a16:creationId xmlns:a16="http://schemas.microsoft.com/office/drawing/2014/main" id="{2A197A58-8527-B954-EBF7-76FED66A12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Печатаем состояние света. </a:t>
            </a:r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5B31B01-49EC-9DA8-C23E-69442C0850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5ADB29-2267-4085-B9E6-9F4FE17A8BBA}" type="slidenum">
              <a:rPr lang="ru-RU" altLang="ru-RU"/>
              <a:pPr/>
              <a:t>88</a:t>
            </a:fld>
            <a:endParaRPr lang="ru-RU" altLang="ru-RU" dirty="0"/>
          </a:p>
        </p:txBody>
      </p:sp>
      <p:sp>
        <p:nvSpPr>
          <p:cNvPr id="373762" name="Rectangle 2">
            <a:extLst>
              <a:ext uri="{FF2B5EF4-FFF2-40B4-BE49-F238E27FC236}">
                <a16:creationId xmlns:a16="http://schemas.microsoft.com/office/drawing/2014/main" id="{F4B7F3EA-462E-4838-DB06-A00823CF33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3763" name="Rectangle 3">
            <a:extLst>
              <a:ext uri="{FF2B5EF4-FFF2-40B4-BE49-F238E27FC236}">
                <a16:creationId xmlns:a16="http://schemas.microsoft.com/office/drawing/2014/main" id="{182F49D5-40DC-7C73-54E2-C79137027C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Изменения в классах, чтобы выводился тип света при любых изменениях.</a:t>
            </a:r>
          </a:p>
          <a:p>
            <a:r>
              <a:rPr lang="ru-RU" altLang="ru-RU" dirty="0"/>
              <a:t>Сделали в Лайте цикличное переключение света. Вместо вкл/выкл – добавляется метод для установки определенного состояния лампы. Вместо вывода в разных местах – печать из одного места.</a:t>
            </a:r>
          </a:p>
          <a:p>
            <a:r>
              <a:rPr lang="ru-RU" altLang="ru-RU" dirty="0"/>
              <a:t>В ЛайтКомманд – в </a:t>
            </a:r>
            <a:r>
              <a:rPr lang="en-US" altLang="ru-RU" dirty="0"/>
              <a:t>execute </a:t>
            </a:r>
            <a:r>
              <a:rPr lang="ru-RU" altLang="ru-RU" dirty="0"/>
              <a:t>вызов метода изменения состояния.</a:t>
            </a:r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3BCF165-4D19-B4AA-914C-83F69E2BA54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DE036AA-4A75-434B-9B2E-1F44FF9701BD}" type="slidenum">
              <a:rPr lang="ru-RU" altLang="ru-RU"/>
              <a:pPr/>
              <a:t>89</a:t>
            </a:fld>
            <a:endParaRPr lang="ru-RU" altLang="ru-RU" dirty="0"/>
          </a:p>
        </p:txBody>
      </p:sp>
      <p:sp>
        <p:nvSpPr>
          <p:cNvPr id="374786" name="Rectangle 2">
            <a:extLst>
              <a:ext uri="{FF2B5EF4-FFF2-40B4-BE49-F238E27FC236}">
                <a16:creationId xmlns:a16="http://schemas.microsoft.com/office/drawing/2014/main" id="{AA8EC641-DB0E-C116-1454-AA91C0D744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4787" name="Rectangle 3">
            <a:extLst>
              <a:ext uri="{FF2B5EF4-FFF2-40B4-BE49-F238E27FC236}">
                <a16:creationId xmlns:a16="http://schemas.microsoft.com/office/drawing/2014/main" id="{482FC45F-0316-BFC3-2A42-27F5089A6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Для тестирования  несколько вперед, один назад. Если ещё один назад добавим – опять неправильно работает. </a:t>
            </a:r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F7D4EA5B-9871-857E-2A5E-2AAD7C68215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4B8AF9D-3689-49EB-8838-56AD6411F9B8}" type="slidenum">
              <a:rPr lang="ru-RU" altLang="ru-RU"/>
              <a:pPr/>
              <a:t>90</a:t>
            </a:fld>
            <a:endParaRPr lang="ru-RU" altLang="ru-RU" dirty="0"/>
          </a:p>
        </p:txBody>
      </p:sp>
      <p:sp>
        <p:nvSpPr>
          <p:cNvPr id="375810" name="Rectangle 2">
            <a:extLst>
              <a:ext uri="{FF2B5EF4-FFF2-40B4-BE49-F238E27FC236}">
                <a16:creationId xmlns:a16="http://schemas.microsoft.com/office/drawing/2014/main" id="{B3CA2806-6E95-9F19-48C0-4336926C1A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5811" name="Rectangle 3">
            <a:extLst>
              <a:ext uri="{FF2B5EF4-FFF2-40B4-BE49-F238E27FC236}">
                <a16:creationId xmlns:a16="http://schemas.microsoft.com/office/drawing/2014/main" id="{2715BEB8-6D42-AE4C-FBB7-8B3628109A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Добавим хранилище, которое будет сохранять все предыдущие состояния нашей программы.  Стек – тип данных, который хранит в себе некоторые объекты, но доступ только к верхнему элементу. – </a:t>
            </a:r>
            <a:r>
              <a:rPr lang="en-US" altLang="ru-RU" dirty="0"/>
              <a:t>FILO</a:t>
            </a:r>
            <a:r>
              <a:rPr lang="ru-RU" altLang="ru-RU" dirty="0"/>
              <a:t> – Первый пришел последний ушел, как стопка мытых тарелок. </a:t>
            </a:r>
            <a:r>
              <a:rPr lang="en-US" altLang="ru-RU" dirty="0"/>
              <a:t>Push – </a:t>
            </a:r>
            <a:r>
              <a:rPr lang="ru-RU" altLang="ru-RU" dirty="0"/>
              <a:t>положить, протолкнуть в стек. </a:t>
            </a:r>
            <a:r>
              <a:rPr lang="en-US" altLang="ru-RU" dirty="0"/>
              <a:t>Pup</a:t>
            </a:r>
            <a:r>
              <a:rPr lang="ru-RU" altLang="ru-RU" dirty="0"/>
              <a:t> – изъять, выдавить из стека. Это стандартные методы для стека.</a:t>
            </a:r>
          </a:p>
          <a:p>
            <a:r>
              <a:rPr lang="ru-RU" altLang="ru-RU" dirty="0"/>
              <a:t>Когда выбираем из стека  -надо проверять, что там что-то еще есть (отслеживание на пустоту). Аналогично можно сделать операцию </a:t>
            </a:r>
            <a:r>
              <a:rPr lang="en-US" altLang="ru-RU" dirty="0"/>
              <a:t>Redo</a:t>
            </a:r>
            <a:r>
              <a:rPr lang="ru-RU" altLang="ru-RU" dirty="0"/>
              <a:t>.</a:t>
            </a:r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560B8B1-C30F-35F2-E99C-F8151F1923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9481DAE2-0028-4DD7-8F7A-4D60792F30B0}" type="slidenum">
              <a:rPr lang="ru-RU" altLang="ru-RU"/>
              <a:pPr/>
              <a:t>91</a:t>
            </a:fld>
            <a:endParaRPr lang="ru-RU" altLang="ru-RU" dirty="0"/>
          </a:p>
        </p:txBody>
      </p:sp>
      <p:sp>
        <p:nvSpPr>
          <p:cNvPr id="376834" name="Rectangle 2">
            <a:extLst>
              <a:ext uri="{FF2B5EF4-FFF2-40B4-BE49-F238E27FC236}">
                <a16:creationId xmlns:a16="http://schemas.microsoft.com/office/drawing/2014/main" id="{305F29A9-7F50-4E17-8DEE-C28A757CB8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6835" name="Rectangle 3">
            <a:extLst>
              <a:ext uri="{FF2B5EF4-FFF2-40B4-BE49-F238E27FC236}">
                <a16:creationId xmlns:a16="http://schemas.microsoft.com/office/drawing/2014/main" id="{651A8FE2-41C2-70E5-DF29-3713B53211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Макрокоманда сочетает в себе несколько команд. Например, мы хотим включать телевизор и ставить чайник – сочетаем два в одном и назначаем на кнопку в пульте. Мы внутри команды должны хранить список команд – через список. В конструкторе – создаем этот список. Тогда для выполнения – перебор всех и все выполнить. В Отмене – тоже самое. </a:t>
            </a:r>
            <a:r>
              <a:rPr lang="en-US" altLang="ru-RU" dirty="0"/>
              <a:t>ToString</a:t>
            </a:r>
            <a:r>
              <a:rPr lang="ru-RU" altLang="ru-RU" dirty="0"/>
              <a:t> – можно скопировать.</a:t>
            </a:r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23A688B-0EDE-A7A5-7A8C-AD2BD0E39CD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EC2D6D7-C325-42C2-8C41-A1FAED09E63C}" type="slidenum">
              <a:rPr lang="ru-RU" altLang="ru-RU"/>
              <a:pPr/>
              <a:t>101</a:t>
            </a:fld>
            <a:endParaRPr lang="ru-RU" altLang="ru-RU" dirty="0"/>
          </a:p>
        </p:txBody>
      </p:sp>
      <p:sp>
        <p:nvSpPr>
          <p:cNvPr id="326658" name="Rectangle 2">
            <a:extLst>
              <a:ext uri="{FF2B5EF4-FFF2-40B4-BE49-F238E27FC236}">
                <a16:creationId xmlns:a16="http://schemas.microsoft.com/office/drawing/2014/main" id="{38641785-8631-CC82-B88E-8BCC7F8A3C6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6659" name="Rectangle 3">
            <a:extLst>
              <a:ext uri="{FF2B5EF4-FFF2-40B4-BE49-F238E27FC236}">
                <a16:creationId xmlns:a16="http://schemas.microsoft.com/office/drawing/2014/main" id="{C5886630-7B80-8997-5DC9-B4E0A06AB3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Стиральная машина с виду – белый ящик, состоящий из устройств: система работы водой, нагреватель, двигатель, отжим… Как будет выглядеть процесс работы, если у нас есть 4 устройства, но нет самой машинки.</a:t>
            </a:r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C92055E-3873-EF96-72D9-5731B2FE67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6EECC5F-DB57-41AD-965D-4296C282DC76}" type="slidenum">
              <a:rPr lang="ru-RU" altLang="ru-RU"/>
              <a:pPr/>
              <a:t>105</a:t>
            </a:fld>
            <a:endParaRPr lang="ru-RU" altLang="ru-RU" dirty="0"/>
          </a:p>
        </p:txBody>
      </p:sp>
      <p:sp>
        <p:nvSpPr>
          <p:cNvPr id="327682" name="Rectangle 2">
            <a:extLst>
              <a:ext uri="{FF2B5EF4-FFF2-40B4-BE49-F238E27FC236}">
                <a16:creationId xmlns:a16="http://schemas.microsoft.com/office/drawing/2014/main" id="{A44093DB-02B9-019A-EFF8-75B6A8CB22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683" name="Rectangle 3">
            <a:extLst>
              <a:ext uri="{FF2B5EF4-FFF2-40B4-BE49-F238E27FC236}">
                <a16:creationId xmlns:a16="http://schemas.microsoft.com/office/drawing/2014/main" id="{5B8724B2-A864-F630-A9C4-148C80D73B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Как будет выглядеть процесс без самой машинки? Нам нужны все 4 устройства</a:t>
            </a:r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0C3A8313-59F0-A3F0-C79D-7A2F34D562A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D9D3256-A1E2-40CE-B634-1EFD788607F8}" type="slidenum">
              <a:rPr lang="ru-RU" altLang="ru-RU"/>
              <a:pPr/>
              <a:t>106</a:t>
            </a:fld>
            <a:endParaRPr lang="ru-RU" altLang="ru-RU" dirty="0"/>
          </a:p>
        </p:txBody>
      </p:sp>
      <p:sp>
        <p:nvSpPr>
          <p:cNvPr id="328706" name="Rectangle 2">
            <a:extLst>
              <a:ext uri="{FF2B5EF4-FFF2-40B4-BE49-F238E27FC236}">
                <a16:creationId xmlns:a16="http://schemas.microsoft.com/office/drawing/2014/main" id="{468CD470-919C-4ECC-0866-93A1ED9D55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8707" name="Rectangle 3">
            <a:extLst>
              <a:ext uri="{FF2B5EF4-FFF2-40B4-BE49-F238E27FC236}">
                <a16:creationId xmlns:a16="http://schemas.microsoft.com/office/drawing/2014/main" id="{3FB8A514-289A-EA0D-53AC-9D6C673F6F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Что нужно сделать, чтобы постирать белье? Определить тип белья: для хлопка – одни параметры, для шерсти – другие. Для хлопка:</a:t>
            </a:r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2A70F69-2EEB-ADD6-C1C2-21D7D8665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F131107-B4DE-400C-8981-3524F4247779}" type="slidenum">
              <a:rPr lang="ru-RU" altLang="ru-RU"/>
              <a:pPr/>
              <a:t>107</a:t>
            </a:fld>
            <a:endParaRPr lang="ru-RU" altLang="ru-RU" dirty="0"/>
          </a:p>
        </p:txBody>
      </p:sp>
      <p:sp>
        <p:nvSpPr>
          <p:cNvPr id="329730" name="Rectangle 2">
            <a:extLst>
              <a:ext uri="{FF2B5EF4-FFF2-40B4-BE49-F238E27FC236}">
                <a16:creationId xmlns:a16="http://schemas.microsoft.com/office/drawing/2014/main" id="{3E0D68AE-6731-DC21-0107-BB3730DE538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9731" name="Rectangle 3">
            <a:extLst>
              <a:ext uri="{FF2B5EF4-FFF2-40B4-BE49-F238E27FC236}">
                <a16:creationId xmlns:a16="http://schemas.microsoft.com/office/drawing/2014/main" id="{7DF44CCA-9541-BDEE-2E18-CB73B9885D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Неудобство использования разрозненных классов в программе. Удобнее использовать что-то обобщенное, что позволило бы все скрыть и иметь обобщенный интерфейс.</a:t>
            </a:r>
          </a:p>
          <a:p>
            <a:r>
              <a:rPr lang="ru-RU" altLang="ru-RU" dirty="0"/>
              <a:t>Фасад – обобщение разрозненных классов и интерфейсов посредством композиции.</a:t>
            </a:r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612E749-E617-1EE3-02CB-AAF1E23E5F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5049315-DB70-4C50-95B7-608AB890450E}" type="slidenum">
              <a:rPr lang="ru-RU" altLang="ru-RU"/>
              <a:pPr/>
              <a:t>108</a:t>
            </a:fld>
            <a:endParaRPr lang="ru-RU" altLang="ru-RU" dirty="0"/>
          </a:p>
        </p:txBody>
      </p:sp>
      <p:sp>
        <p:nvSpPr>
          <p:cNvPr id="330754" name="Rectangle 2">
            <a:extLst>
              <a:ext uri="{FF2B5EF4-FFF2-40B4-BE49-F238E27FC236}">
                <a16:creationId xmlns:a16="http://schemas.microsoft.com/office/drawing/2014/main" id="{4F2AB8CE-45C9-E275-B4C6-958CAD4B1DC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0755" name="Rectangle 3">
            <a:extLst>
              <a:ext uri="{FF2B5EF4-FFF2-40B4-BE49-F238E27FC236}">
                <a16:creationId xmlns:a16="http://schemas.microsoft.com/office/drawing/2014/main" id="{091AA991-4B36-E003-4162-AD5589FFD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Введем абстракцию высокого уровня – СМ. До этого были абстракции низкого уровня. Сейчас более высокого – она будет являться Фасадом.</a:t>
            </a:r>
          </a:p>
          <a:p>
            <a:r>
              <a:rPr lang="ru-RU" altLang="ru-RU" dirty="0"/>
              <a:t>Нужный поля из устройств и конструктор, который все внутренние поля будет инициализировать.</a:t>
            </a:r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62B6AE5-8536-E0B9-A7AD-F340494290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A422D4B-3485-44CB-98B6-66A2DC778811}" type="slidenum">
              <a:rPr lang="ru-RU" altLang="ru-RU"/>
              <a:pPr/>
              <a:t>109</a:t>
            </a:fld>
            <a:endParaRPr lang="ru-RU" altLang="ru-RU" dirty="0"/>
          </a:p>
        </p:txBody>
      </p:sp>
      <p:sp>
        <p:nvSpPr>
          <p:cNvPr id="331778" name="Rectangle 2">
            <a:extLst>
              <a:ext uri="{FF2B5EF4-FFF2-40B4-BE49-F238E27FC236}">
                <a16:creationId xmlns:a16="http://schemas.microsoft.com/office/drawing/2014/main" id="{E4ADC0C0-B65C-11F3-AEFC-6A4F1FC891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1779" name="Rectangle 3">
            <a:extLst>
              <a:ext uri="{FF2B5EF4-FFF2-40B4-BE49-F238E27FC236}">
                <a16:creationId xmlns:a16="http://schemas.microsoft.com/office/drawing/2014/main" id="{CCCA1ED8-7F1E-8C73-034A-806894989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Фасад обобщает с помощью композиции множество разрозненных систем в одну общую. Нам нужно объединить все системы в одну. Создадим два метода – два режима стирки. Первый – для стирки хлопка, второй – шерсти.</a:t>
            </a:r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7F604F7-1AB5-C7CC-209B-1A151AE56C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74BF8B8-690C-4BDF-A22D-44469FB62522}" type="slidenum">
              <a:rPr lang="ru-RU" altLang="ru-RU"/>
              <a:pPr/>
              <a:t>111</a:t>
            </a:fld>
            <a:endParaRPr lang="ru-RU" altLang="ru-RU" dirty="0"/>
          </a:p>
        </p:txBody>
      </p:sp>
      <p:sp>
        <p:nvSpPr>
          <p:cNvPr id="332802" name="Rectangle 2">
            <a:extLst>
              <a:ext uri="{FF2B5EF4-FFF2-40B4-BE49-F238E27FC236}">
                <a16:creationId xmlns:a16="http://schemas.microsoft.com/office/drawing/2014/main" id="{4AE63184-02F8-E398-0931-50BC7C5020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7EA74951-DD34-70BD-7B04-D649805AA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Тогда нужно создать объект этой абстракции – СМ, передать ей устройства. И запустить нужную программу стирки.</a:t>
            </a:r>
          </a:p>
          <a:p>
            <a:r>
              <a:rPr lang="ru-RU" altLang="ru-RU" dirty="0"/>
              <a:t>Мы ввели новую абстракцию с программами стирки. Нам не нужно выставлять температуру и т.д. Выбираем тип белья – и все, нажимаем старт, т.к. в машину заложена вся программа. СМ не делает сама ничего, она делегирует свои обязанности подсистемам. Фасад вместо знания 20 методов позволяет знать 1.</a:t>
            </a:r>
          </a:p>
          <a:p>
            <a:r>
              <a:rPr lang="ru-RU" altLang="ru-RU" dirty="0"/>
              <a:t>Фасад может использоваться в системах реальных. Есть множество подсистем: работа с БД, отчеты и т.д. Причем часть из них связаны: нужно подкл. К БД, чтобы получить отчет. Система должна их объединить и скрыть от нас. Нам нужно только сказать, что мы хотим получить отчет</a:t>
            </a:r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9E13EC5-DEDC-FCA2-8149-1816EE9534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011542E-C398-422B-8BE8-F28028D5B16A}" type="slidenum">
              <a:rPr lang="ru-RU" altLang="ru-RU"/>
              <a:pPr/>
              <a:t>112</a:t>
            </a:fld>
            <a:endParaRPr lang="ru-RU" altLang="ru-RU" dirty="0"/>
          </a:p>
        </p:txBody>
      </p:sp>
      <p:sp>
        <p:nvSpPr>
          <p:cNvPr id="333826" name="Rectangle 2">
            <a:extLst>
              <a:ext uri="{FF2B5EF4-FFF2-40B4-BE49-F238E27FC236}">
                <a16:creationId xmlns:a16="http://schemas.microsoft.com/office/drawing/2014/main" id="{805E68AA-A6E0-4423-EB7B-00B79735559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3827" name="Rectangle 3">
            <a:extLst>
              <a:ext uri="{FF2B5EF4-FFF2-40B4-BE49-F238E27FC236}">
                <a16:creationId xmlns:a16="http://schemas.microsoft.com/office/drawing/2014/main" id="{C03623FB-782A-6DAC-AD91-26BC32AE1B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Внимание требует принцип проектирования – принцип минимальной информированности. Когда мы взаимодействием с объектом – то только с ним. Если объект возвращает нам объект, то так не должно быть…</a:t>
            </a:r>
          </a:p>
          <a:p>
            <a:r>
              <a:rPr lang="ru-RU" altLang="ru-RU" dirty="0"/>
              <a:t>Термометр – возвращает градус</a:t>
            </a: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8A6CA82-17E1-FED1-11D5-AEC5CAEE96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2BD6708-D87E-464E-AE97-EE4D5C9FCC34}" type="slidenum">
              <a:rPr lang="ru-RU" altLang="ru-RU"/>
              <a:pPr/>
              <a:t>113</a:t>
            </a:fld>
            <a:endParaRPr lang="ru-RU" altLang="ru-RU" dirty="0"/>
          </a:p>
        </p:txBody>
      </p:sp>
      <p:sp>
        <p:nvSpPr>
          <p:cNvPr id="334850" name="Rectangle 2">
            <a:extLst>
              <a:ext uri="{FF2B5EF4-FFF2-40B4-BE49-F238E27FC236}">
                <a16:creationId xmlns:a16="http://schemas.microsoft.com/office/drawing/2014/main" id="{55D53E52-1E8B-D39B-E98D-4DFC2AB7326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A99ABF81-0132-94EC-046F-1631E00541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СМ возвращает термометр</a:t>
            </a: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A1F81D-610F-D0AA-3B82-B1836C5EC00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429597E-0E2A-4712-9823-E2A8E7CA1B0B}" type="slidenum">
              <a:rPr lang="ru-RU" altLang="ru-RU"/>
              <a:pPr/>
              <a:t>114</a:t>
            </a:fld>
            <a:endParaRPr lang="ru-RU" altLang="ru-RU" dirty="0"/>
          </a:p>
        </p:txBody>
      </p:sp>
      <p:sp>
        <p:nvSpPr>
          <p:cNvPr id="335874" name="Rectangle 2">
            <a:extLst>
              <a:ext uri="{FF2B5EF4-FFF2-40B4-BE49-F238E27FC236}">
                <a16:creationId xmlns:a16="http://schemas.microsoft.com/office/drawing/2014/main" id="{9B1160C8-3BCF-2866-27CB-729CFFF9A1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5875" name="Rectangle 3">
            <a:extLst>
              <a:ext uri="{FF2B5EF4-FFF2-40B4-BE49-F238E27FC236}">
                <a16:creationId xmlns:a16="http://schemas.microsoft.com/office/drawing/2014/main" id="{BAA13047-57A3-942D-0076-F047F16DDAC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Так нельзя. Мы не должны знать ничего про нагреватель и термометр в нем… мы знаем лишь про стиралку.</a:t>
            </a:r>
          </a:p>
          <a:p>
            <a:endParaRPr lang="ru-RU" altLang="ru-RU" dirty="0"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32C642B-AECA-3581-FEB8-2DB5C18659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8B5444A-9227-4329-AADD-8F7575B673AF}" type="slidenum">
              <a:rPr lang="ru-RU" altLang="ru-RU"/>
              <a:pPr/>
              <a:t>116</a:t>
            </a:fld>
            <a:endParaRPr lang="ru-RU" altLang="ru-RU" dirty="0"/>
          </a:p>
        </p:txBody>
      </p:sp>
      <p:sp>
        <p:nvSpPr>
          <p:cNvPr id="336898" name="Rectangle 2">
            <a:extLst>
              <a:ext uri="{FF2B5EF4-FFF2-40B4-BE49-F238E27FC236}">
                <a16:creationId xmlns:a16="http://schemas.microsoft.com/office/drawing/2014/main" id="{AEEF6A28-1CC4-5EE1-AF09-995D204CCA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6899" name="Rectangle 3">
            <a:extLst>
              <a:ext uri="{FF2B5EF4-FFF2-40B4-BE49-F238E27FC236}">
                <a16:creationId xmlns:a16="http://schemas.microsoft.com/office/drawing/2014/main" id="{1B738631-B9FC-ADA2-3931-0DFD310573E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Чем меньше мы знаем про окружающее – тем лучше.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none" baseline="0">
                <a:solidFill>
                  <a:schemeClr val="tx2"/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sz="1400" baseline="0">
                <a:solidFill>
                  <a:schemeClr val="tx2"/>
                </a:solidFill>
              </a:defRPr>
            </a:lvl1pPr>
          </a:lstStyle>
          <a:p>
            <a:fld id="{A0A2F6FC-EE19-4C53-89FC-3FD46DC92945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sz="1400" baseline="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sz="2800" baseline="0"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grpSp>
        <p:nvGrpSpPr>
          <p:cNvPr id="9" name="Group 8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606201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ACB9B5-97F0-4CD3-9EE2-686E7D47C766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332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94F3F10-173A-4E6F-B38C-61DCCC5EEBC2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accent1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384851552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1593669"/>
            <a:ext cx="4447786" cy="427373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1593669"/>
            <a:ext cx="4447786" cy="427373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1FC6C5-F6E9-4A4C-BEE8-3935CB8804F5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75879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637903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4352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2348104"/>
            <a:ext cx="4443984" cy="3824095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1516952"/>
            <a:ext cx="4443984" cy="637903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2348105"/>
            <a:ext cx="4443984" cy="382409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A3B5E1-EFC8-4C25-A495-808989DD1F06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498195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1E7598-84D1-440B-8982-E8E0DAA6A224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3145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27334D-1B82-42F7-9266-175D07518434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66761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EC28221-FD38-4B0E-8557-C0015D481C3A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863344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dirty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AB2B49A-17DB-4A6A-9EE5-37F08DA90557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59398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1637211"/>
            <a:ext cx="9601200" cy="423018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DA773B-889F-433E-9B99-C16FEF5A9948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7633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8D3F88-26ED-49DF-B159-89578D252E1D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13815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596538"/>
            <a:ext cx="9601200" cy="7336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1506583"/>
            <a:ext cx="9601200" cy="47548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71600" y="6374670"/>
            <a:ext cx="1146333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6D841B05-A7C2-46A1-88A2-F0E5A6839CC1}" type="datetime1">
              <a:rPr lang="ru-RU" smtClean="0"/>
              <a:t>05.10.2025</a:t>
            </a:fld>
            <a:endParaRPr lang="ru-R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74514" y="6374670"/>
            <a:ext cx="6461075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endParaRPr lang="ru-R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92170" y="6374670"/>
            <a:ext cx="12806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aseline="0">
                <a:solidFill>
                  <a:schemeClr val="tx2"/>
                </a:solidFill>
                <a:latin typeface="Georgia" panose="02040502050405020303" pitchFamily="18" charset="0"/>
              </a:defRPr>
            </a:lvl1pPr>
          </a:lstStyle>
          <a:p>
            <a:fld id="{25A42088-C730-408A-A823-60BED1AFCEA0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40443674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96" r:id="rId1"/>
    <p:sldLayoutId id="2147484097" r:id="rId2"/>
    <p:sldLayoutId id="2147484098" r:id="rId3"/>
    <p:sldLayoutId id="2147484099" r:id="rId4"/>
    <p:sldLayoutId id="2147484100" r:id="rId5"/>
    <p:sldLayoutId id="2147484101" r:id="rId6"/>
    <p:sldLayoutId id="2147484102" r:id="rId7"/>
    <p:sldLayoutId id="2147484103" r:id="rId8"/>
    <p:sldLayoutId id="2147484104" r:id="rId9"/>
    <p:sldLayoutId id="2147484105" r:id="rId10"/>
    <p:sldLayoutId id="2147484106" r:id="rId11"/>
  </p:sldLayoutIdLst>
  <p:hf hdr="0" ftr="0" dt="0"/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3600" kern="1200" baseline="0">
          <a:solidFill>
            <a:schemeClr val="tx2"/>
          </a:solidFill>
          <a:latin typeface="Georgia" panose="02040502050405020303" pitchFamily="18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Tx/>
        <a:buNone/>
        <a:defRPr sz="20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1pPr>
      <a:lvl2pPr marL="5303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20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2pPr>
      <a:lvl3pPr marL="9875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3pPr>
      <a:lvl4pPr marL="14447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800" i="1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4pPr>
      <a:lvl5pPr marL="1901952" indent="0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Tx/>
        <a:buNone/>
        <a:defRPr sz="1600" kern="1200" baseline="0">
          <a:solidFill>
            <a:schemeClr val="tx2"/>
          </a:solidFill>
          <a:latin typeface="Georgia" panose="02040502050405020303" pitchFamily="18" charset="0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0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7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6.xml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6.xml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6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6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6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0F56258-0E67-7C7B-2850-681FD0BB75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sz="6000"/>
              <a:t>Лекция 13  </a:t>
            </a:r>
            <a:br>
              <a:rPr lang="ru-RU" sz="6000" dirty="0"/>
            </a:br>
            <a:r>
              <a:rPr lang="ru-RU" sz="5400" dirty="0"/>
              <a:t> </a:t>
            </a:r>
            <a:r>
              <a:rPr lang="ru-RU" sz="4800" dirty="0"/>
              <a:t>Паттерны. Продолжение</a:t>
            </a:r>
            <a:endParaRPr lang="ru-RU" sz="60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9DB230C-D752-D32B-FD0D-4169200468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/>
          </a:bodyPr>
          <a:lstStyle/>
          <a:p>
            <a:r>
              <a:rPr lang="ru-RU" dirty="0"/>
              <a:t>Технология разработки программного обеспечения</a:t>
            </a:r>
          </a:p>
          <a:p>
            <a:r>
              <a:rPr lang="ru-RU" dirty="0"/>
              <a:t>Преподаватель: Челищева Лилия Дмитриевна</a:t>
            </a:r>
          </a:p>
        </p:txBody>
      </p:sp>
    </p:spTree>
    <p:extLst>
      <p:ext uri="{BB962C8B-B14F-4D97-AF65-F5344CB8AC3E}">
        <p14:creationId xmlns:p14="http://schemas.microsoft.com/office/powerpoint/2010/main" val="1586075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88C73D-79F7-D916-3A32-26FDDC81BA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600" dirty="0"/>
              <a:t>Паттерны проектирования: Шаблонный метод (</a:t>
            </a:r>
            <a:r>
              <a:rPr lang="en-US" altLang="ru-RU" sz="4600" dirty="0"/>
              <a:t>Template Method)</a:t>
            </a:r>
            <a:endParaRPr lang="ru-RU" altLang="ru-RU" sz="4600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DF76833-DF52-23F2-CA4C-AD8DCFA34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</a:t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6F20EDE8-CF57-4FAF-674C-3533753E2E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Определение</a:t>
            </a:r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F3497295-95C2-4FB3-432D-E5FF2DB808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Шаблонный метод</a:t>
            </a:r>
            <a:r>
              <a:rPr lang="ru-RU" altLang="ru-RU" sz="2400" dirty="0"/>
              <a:t> (</a:t>
            </a:r>
            <a:r>
              <a:rPr lang="ru-RU" altLang="ru-RU" sz="2400" b="1" dirty="0"/>
              <a:t>Template method</a:t>
            </a:r>
            <a:r>
              <a:rPr lang="ru-RU" altLang="ru-RU" sz="2400" dirty="0"/>
              <a:t>) — это поведенческий шаблон проектирования, который определяет алгоритм, некоторые методы которого делегируются подклассам, позволяя тем самым переопределить некоторые шаги алгоритма не меняя его структуры.</a:t>
            </a:r>
            <a:endParaRPr lang="en-US" altLang="ru-RU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41F5D7B-095E-7C69-07EB-B598487CA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</a:t>
            </a:fld>
            <a:endParaRPr lang="ru-RU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B0B900E8-41D7-0159-45E3-18FE222F1C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596538"/>
            <a:ext cx="10582508" cy="733697"/>
          </a:xfrm>
        </p:spPr>
        <p:txBody>
          <a:bodyPr>
            <a:normAutofit/>
          </a:bodyPr>
          <a:lstStyle/>
          <a:p>
            <a:r>
              <a:rPr lang="ru-RU" altLang="ru-RU" sz="4000" dirty="0"/>
              <a:t>Назначение паттерна Шаблонный метод</a:t>
            </a:r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C51F5FCD-BD44-825D-9735-9775A60CAAA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784195"/>
            <a:ext cx="9601200" cy="4477267"/>
          </a:xfrm>
        </p:spPr>
        <p:txBody>
          <a:bodyPr>
            <a:normAutofit/>
          </a:bodyPr>
          <a:lstStyle/>
          <a:p>
            <a:r>
              <a:rPr lang="ru-RU" altLang="ru-RU" sz="2800" dirty="0"/>
              <a:t>Паттерн Template Method определяет основу алгоритма и позволяет подклассам изменить некоторые шаги этого алгоритма без изменения его общей структуры.</a:t>
            </a:r>
          </a:p>
          <a:p>
            <a:r>
              <a:rPr lang="ru-RU" altLang="ru-RU" sz="2800" dirty="0"/>
              <a:t>Базовый класс определяет шаги алгоритма с помощью абстрактных операций, а производные классы их реализуют.</a:t>
            </a:r>
          </a:p>
          <a:p>
            <a:endParaRPr lang="ru-RU" altLang="ru-RU" sz="28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912E4F-2553-CD5D-89C2-DC2ABAE26F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</a:t>
            </a:fld>
            <a:endParaRPr lang="ru-RU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274FB334-1684-E06D-D64C-F365C4B4223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Решаемая проблема</a:t>
            </a:r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4086F811-CA5C-6B1C-6B20-D9E073744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Имеются два разных, но в тоже время очень похожих компонента. Вы хотите внести изменения в оба компонента, избежав дублирования кода.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9BDA7A9-0F92-C53F-B085-59787CBA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</a:t>
            </a:fld>
            <a:endParaRPr lang="ru-RU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33348E2E-5406-C616-9B4F-D7E40A2F32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Обсуждение паттерна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0D655E25-F6FA-BBB4-792D-B82181FF64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330235"/>
            <a:ext cx="9601200" cy="4931227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ru-RU" altLang="ru-RU" i="1" dirty="0"/>
              <a:t>Проектировщик компонента решает, какие шаги алгоритма являются неизменными (или стандартными), а какие изменяемыми (или настраиваемыми). Абстрактный базовый класс реализует стандартные шаги алгоритма и может предоставлять (или нет) реализацию по умолчанию для настраиваемых шагов. Изменяемые шаги могут (или должны) предоставляться клиентом компонента в конкретных производных классах.</a:t>
            </a:r>
          </a:p>
          <a:p>
            <a:pPr>
              <a:lnSpc>
                <a:spcPct val="80000"/>
              </a:lnSpc>
            </a:pPr>
            <a:r>
              <a:rPr lang="ru-RU" altLang="ru-RU" i="1" dirty="0"/>
              <a:t>Проектировщик компонента определяет необходимые шаги алгоритма, порядок их выполнения, но позволяет клиентам компонента расширять или замещать некоторые из этих шагов.</a:t>
            </a:r>
          </a:p>
          <a:p>
            <a:pPr>
              <a:lnSpc>
                <a:spcPct val="80000"/>
              </a:lnSpc>
            </a:pPr>
            <a:r>
              <a:rPr lang="ru-RU" altLang="ru-RU" i="1" dirty="0"/>
              <a:t>Паттерн Template Method широко применяется в каркасах приложений (frameworks). Каждый каркас реализует неизменные части архитектуры в предметной области, а также определяет те части, которые могут или должны настраиваться клиентом. Таким образом, каркас приложения становится "центром вселенной", а настройки клиента являются просто "третьей планетой от Солнца". Эту инвертированную структуру кода ласково называют принципом Голливуда - "Не звоните нам, мы сами вам позвоним".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672F254-7D28-0C6C-93CE-D1B410218E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</a:t>
            </a:fld>
            <a:endParaRPr lang="ru-RU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F9D69724-BFA6-0C23-27C2-B50572E509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UML</a:t>
            </a:r>
            <a:r>
              <a:rPr lang="ru-RU" altLang="ru-RU" dirty="0"/>
              <a:t>-диаграмма паттерна</a:t>
            </a:r>
          </a:p>
        </p:txBody>
      </p:sp>
      <p:pic>
        <p:nvPicPr>
          <p:cNvPr id="317445" name="Picture 5" descr="UML-диаграмма классов паттерна Template Method">
            <a:extLst>
              <a:ext uri="{FF2B5EF4-FFF2-40B4-BE49-F238E27FC236}">
                <a16:creationId xmlns:a16="http://schemas.microsoft.com/office/drawing/2014/main" id="{93FDFF73-4549-F824-0526-F19008C007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3" y="1482726"/>
            <a:ext cx="7885112" cy="4899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C5FCE49-1AEF-F40B-929C-4BF5465C0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</a:t>
            </a:fld>
            <a:endParaRPr lang="ru-RU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892B6B68-8104-FE19-2D17-BC6CE6D401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Пример паттерна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703461AD-440B-323F-343D-66AEB3A407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Паттерн Template Method определяет основу алгоритма и позволяет подклассам изменить некоторые шаги этого алгоритма без изменения его общей структуры. Строители зданий используют шаблонный метод при проектировании новых домов. Здесь могут использоваться уже существующие типовые планы, в которых модифицируются только отдельные части. 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AF8913B-7F6A-5F62-B906-59A8CFA001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</a:t>
            </a:fld>
            <a:endParaRPr lang="ru-RU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Rectangle 4">
            <a:extLst>
              <a:ext uri="{FF2B5EF4-FFF2-40B4-BE49-F238E27FC236}">
                <a16:creationId xmlns:a16="http://schemas.microsoft.com/office/drawing/2014/main" id="{1A6C7BD1-0D49-CE8C-5706-5DD6EE4D80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Пример паттерна </a:t>
            </a:r>
            <a:r>
              <a:rPr lang="en-US" altLang="ru-RU" sz="4000" dirty="0"/>
              <a:t>Template Method</a:t>
            </a:r>
            <a:endParaRPr lang="ru-RU" altLang="ru-RU" sz="4000" dirty="0"/>
          </a:p>
        </p:txBody>
      </p:sp>
      <p:pic>
        <p:nvPicPr>
          <p:cNvPr id="320518" name="Picture 6" descr="Пример паттерна Template Method">
            <a:extLst>
              <a:ext uri="{FF2B5EF4-FFF2-40B4-BE49-F238E27FC236}">
                <a16:creationId xmlns:a16="http://schemas.microsoft.com/office/drawing/2014/main" id="{39D62FDE-7E54-0788-073E-B92B87B564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063" y="1498601"/>
            <a:ext cx="6697662" cy="5114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6A16B7A-488C-BBC4-9AF8-9C62F947D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</a:t>
            </a:fld>
            <a:endParaRPr lang="ru-R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4" name="Rectangle 4">
            <a:extLst>
              <a:ext uri="{FF2B5EF4-FFF2-40B4-BE49-F238E27FC236}">
                <a16:creationId xmlns:a16="http://schemas.microsoft.com/office/drawing/2014/main" id="{5A7F8671-47AC-1ECA-3D97-99460E61C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Использование паттерна</a:t>
            </a:r>
          </a:p>
        </p:txBody>
      </p:sp>
      <p:sp>
        <p:nvSpPr>
          <p:cNvPr id="322565" name="Rectangle 5">
            <a:extLst>
              <a:ext uri="{FF2B5EF4-FFF2-40B4-BE49-F238E27FC236}">
                <a16:creationId xmlns:a16="http://schemas.microsoft.com/office/drawing/2014/main" id="{D8644002-24C0-6890-0223-ACD3F1DBDE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Исследуйте алгоритм и решите, какие шаги являются стандартными, а какие должны определяться подклассами.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Создайте новый абстрактный базовый класс, в котором будет реализован принцип "не звоните нам, мы сами вам позвоним".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Поместите в новый класс основу алгоритма (шаблонный метод) и определения стандартных шагов.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Для каждого шага, требующего различные реализации, определите "замещающий" виртуальный метод. Этот метод может иметь реализацию по умолчанию или быть чисто виртуальным.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Вызовите "замещающий" метод из шаблонного метода.</a:t>
            </a:r>
          </a:p>
          <a:p>
            <a:pPr marL="457200" indent="-457200">
              <a:lnSpc>
                <a:spcPct val="80000"/>
              </a:lnSpc>
              <a:buFont typeface="+mj-lt"/>
              <a:buAutoNum type="arabicPeriod"/>
            </a:pPr>
            <a:r>
              <a:rPr lang="ru-RU" altLang="ru-RU" sz="2400" dirty="0"/>
              <a:t>Создайте подклассы от нового абстрактного базового класса и реализуйте в них "замещающие" методы.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C0E05967-5E46-C94A-D784-CE8FC0875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</a:t>
            </a:fld>
            <a:endParaRPr lang="ru-RU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8" name="Rectangle 4">
            <a:extLst>
              <a:ext uri="{FF2B5EF4-FFF2-40B4-BE49-F238E27FC236}">
                <a16:creationId xmlns:a16="http://schemas.microsoft.com/office/drawing/2014/main" id="{A533101D-8845-8BAD-DC2A-B95A6782E5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Приготовление двух блюд</a:t>
            </a:r>
          </a:p>
        </p:txBody>
      </p:sp>
      <p:pic>
        <p:nvPicPr>
          <p:cNvPr id="297990" name="Picture 6">
            <a:extLst>
              <a:ext uri="{FF2B5EF4-FFF2-40B4-BE49-F238E27FC236}">
                <a16:creationId xmlns:a16="http://schemas.microsoft.com/office/drawing/2014/main" id="{A6E43B37-BBE7-50B4-59C6-823A00FE06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80" t="20538" r="52953" b="18863"/>
          <a:stretch>
            <a:fillRect/>
          </a:stretch>
        </p:blipFill>
        <p:spPr bwMode="auto">
          <a:xfrm>
            <a:off x="2208214" y="1303339"/>
            <a:ext cx="7272337" cy="5500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6C67EC8-2801-1D8D-5FBD-65D78DC3A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</a:t>
            </a:fld>
            <a:endParaRPr lang="ru-RU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4" name="Rectangle 4">
            <a:extLst>
              <a:ext uri="{FF2B5EF4-FFF2-40B4-BE49-F238E27FC236}">
                <a16:creationId xmlns:a16="http://schemas.microsoft.com/office/drawing/2014/main" id="{F0CD0011-1EB5-115B-1716-4FFF05902C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</a:t>
            </a:r>
            <a:br>
              <a:rPr lang="en-US" altLang="ru-RU" sz="4000" dirty="0"/>
            </a:br>
            <a:r>
              <a:rPr lang="en-US" altLang="ru-RU" sz="4000" dirty="0"/>
              <a:t>Hamburger</a:t>
            </a:r>
            <a:endParaRPr lang="ru-RU" altLang="ru-RU" sz="4000" dirty="0"/>
          </a:p>
        </p:txBody>
      </p:sp>
      <p:pic>
        <p:nvPicPr>
          <p:cNvPr id="296965" name="Picture 5">
            <a:extLst>
              <a:ext uri="{FF2B5EF4-FFF2-40B4-BE49-F238E27FC236}">
                <a16:creationId xmlns:a16="http://schemas.microsoft.com/office/drawing/2014/main" id="{E3601AD1-BFF1-37CF-B39B-D42AF6CE28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" t="17459" r="70668" b="16168"/>
          <a:stretch>
            <a:fillRect/>
          </a:stretch>
        </p:blipFill>
        <p:spPr bwMode="auto">
          <a:xfrm>
            <a:off x="5159376" y="188914"/>
            <a:ext cx="4748213" cy="666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ABA6B02-F8F1-B1E1-352A-4D9BB9D0C5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12</a:t>
            </a:fld>
            <a:endParaRPr lang="ru-RU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B081607C-78E0-32BC-5DA7-416EA0123F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>
                <a:latin typeface="Consolas" panose="020B0609020204030204" pitchFamily="49" charset="0"/>
              </a:rPr>
              <a:t>Класс </a:t>
            </a:r>
            <a:br>
              <a:rPr lang="ru-RU" altLang="ru-RU" sz="4000" dirty="0">
                <a:latin typeface="Consolas" panose="020B0609020204030204" pitchFamily="49" charset="0"/>
              </a:rPr>
            </a:br>
            <a:r>
              <a:rPr lang="ru-RU" altLang="ru-RU" sz="4000" dirty="0">
                <a:latin typeface="Consolas" panose="020B0609020204030204" pitchFamily="49" charset="0"/>
              </a:rPr>
              <a:t>HotDog</a:t>
            </a:r>
          </a:p>
        </p:txBody>
      </p:sp>
      <p:pic>
        <p:nvPicPr>
          <p:cNvPr id="290822" name="Picture 6">
            <a:extLst>
              <a:ext uri="{FF2B5EF4-FFF2-40B4-BE49-F238E27FC236}">
                <a16:creationId xmlns:a16="http://schemas.microsoft.com/office/drawing/2014/main" id="{F8B1B093-835D-0C15-4FCA-3BD3BF1BEF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68" t="17075" r="70119" b="15126"/>
          <a:stretch>
            <a:fillRect/>
          </a:stretch>
        </p:blipFill>
        <p:spPr bwMode="auto">
          <a:xfrm>
            <a:off x="5029201" y="404814"/>
            <a:ext cx="4595813" cy="645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548C70C-DB1F-D0AA-8081-1FD1A500A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13</a:t>
            </a:fld>
            <a:endParaRPr lang="ru-RU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6389D26D-DB1E-E373-8E28-5C2C3E0983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 Класс FastFood</a:t>
            </a:r>
          </a:p>
        </p:txBody>
      </p:sp>
      <p:pic>
        <p:nvPicPr>
          <p:cNvPr id="301061" name="Picture 5">
            <a:extLst>
              <a:ext uri="{FF2B5EF4-FFF2-40B4-BE49-F238E27FC236}">
                <a16:creationId xmlns:a16="http://schemas.microsoft.com/office/drawing/2014/main" id="{7AEC8B9F-735F-5885-9324-25F094706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29800" r="71217" b="30141"/>
          <a:stretch>
            <a:fillRect/>
          </a:stretch>
        </p:blipFill>
        <p:spPr bwMode="auto">
          <a:xfrm>
            <a:off x="1992313" y="1268414"/>
            <a:ext cx="5543550" cy="5272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ADCF7DFE-07C3-60D4-2BC7-C92635BBA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14</a:t>
            </a:fld>
            <a:endParaRPr lang="ru-RU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E180D61A-A7DF-A76E-6C55-CBDE993923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Абстрактный класс FastFood</a:t>
            </a:r>
          </a:p>
        </p:txBody>
      </p:sp>
      <p:pic>
        <p:nvPicPr>
          <p:cNvPr id="306180" name="Picture 4">
            <a:extLst>
              <a:ext uri="{FF2B5EF4-FFF2-40B4-BE49-F238E27FC236}">
                <a16:creationId xmlns:a16="http://schemas.microsoft.com/office/drawing/2014/main" id="{636A9E25-6AE7-1BA2-345E-C6EB264AAD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88" t="24660" r="71779" b="39403"/>
          <a:stretch>
            <a:fillRect/>
          </a:stretch>
        </p:blipFill>
        <p:spPr bwMode="auto">
          <a:xfrm>
            <a:off x="2279651" y="1484314"/>
            <a:ext cx="5832475" cy="5102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905EEED-C733-1083-6503-164EDD4D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15</a:t>
            </a:fld>
            <a:endParaRPr lang="ru-RU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8FEED9CA-B975-3314-EB5A-FC7C212A6F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Изменения в класса-наследниках</a:t>
            </a:r>
          </a:p>
        </p:txBody>
      </p:sp>
      <p:pic>
        <p:nvPicPr>
          <p:cNvPr id="305156" name="Picture 4">
            <a:extLst>
              <a:ext uri="{FF2B5EF4-FFF2-40B4-BE49-F238E27FC236}">
                <a16:creationId xmlns:a16="http://schemas.microsoft.com/office/drawing/2014/main" id="{20FE223C-D944-97CA-A532-673BEA10B4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" t="19135" r="70377" b="31567"/>
          <a:stretch>
            <a:fillRect/>
          </a:stretch>
        </p:blipFill>
        <p:spPr bwMode="auto">
          <a:xfrm>
            <a:off x="3575050" y="1268414"/>
            <a:ext cx="4895850" cy="55895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2C6586BD-D445-8EF8-23BD-FE7405F82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16</a:t>
            </a:fld>
            <a:endParaRPr lang="ru-RU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7A77C8E0-3DE3-1426-C85F-275DA0E76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Изменения в абстрактном классе FastFood</a:t>
            </a:r>
          </a:p>
        </p:txBody>
      </p:sp>
      <p:pic>
        <p:nvPicPr>
          <p:cNvPr id="304132" name="Picture 4">
            <a:extLst>
              <a:ext uri="{FF2B5EF4-FFF2-40B4-BE49-F238E27FC236}">
                <a16:creationId xmlns:a16="http://schemas.microsoft.com/office/drawing/2014/main" id="{4CD4BF67-7754-212E-BE6E-C15FEB5B83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 t="21307" r="65691" b="20901"/>
          <a:stretch>
            <a:fillRect/>
          </a:stretch>
        </p:blipFill>
        <p:spPr bwMode="auto">
          <a:xfrm>
            <a:off x="4367214" y="1125538"/>
            <a:ext cx="5094287" cy="5732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1E57BFE-2AE0-6C1C-C590-2EB2D230B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17</a:t>
            </a:fld>
            <a:endParaRPr lang="ru-RU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8D379246-A760-69AC-78D5-54CBB22D70D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1"/>
            <a:ext cx="8686800" cy="1027113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Итоговый класс-наследник </a:t>
            </a:r>
            <a:r>
              <a:rPr lang="en-US" altLang="ru-RU" sz="4000" dirty="0"/>
              <a:t>Hamburger</a:t>
            </a:r>
            <a:endParaRPr lang="ru-RU" altLang="ru-RU" sz="4000" dirty="0"/>
          </a:p>
        </p:txBody>
      </p:sp>
      <p:pic>
        <p:nvPicPr>
          <p:cNvPr id="300036" name="Picture 4">
            <a:extLst>
              <a:ext uri="{FF2B5EF4-FFF2-40B4-BE49-F238E27FC236}">
                <a16:creationId xmlns:a16="http://schemas.microsoft.com/office/drawing/2014/main" id="{E0888FA3-3E18-54A4-62A0-B398035D7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57" t="24638" r="67630" b="44542"/>
          <a:stretch>
            <a:fillRect/>
          </a:stretch>
        </p:blipFill>
        <p:spPr bwMode="auto">
          <a:xfrm>
            <a:off x="3000376" y="2154239"/>
            <a:ext cx="5832475" cy="3722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C6C36AB-847E-24A8-3E66-B57387261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18</a:t>
            </a:fld>
            <a:endParaRPr lang="ru-RU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CCC94AF7-BD9B-1E99-98D2-61E1F20487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Итоговый класс-наследник HotDog</a:t>
            </a:r>
          </a:p>
        </p:txBody>
      </p:sp>
      <p:pic>
        <p:nvPicPr>
          <p:cNvPr id="308229" name="Picture 5">
            <a:extLst>
              <a:ext uri="{FF2B5EF4-FFF2-40B4-BE49-F238E27FC236}">
                <a16:creationId xmlns:a16="http://schemas.microsoft.com/office/drawing/2014/main" id="{F87831BA-0441-9A7D-E1E2-D3A15B67FC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38" t="24660" r="67349" b="46581"/>
          <a:stretch>
            <a:fillRect/>
          </a:stretch>
        </p:blipFill>
        <p:spPr bwMode="auto">
          <a:xfrm>
            <a:off x="2640013" y="1844676"/>
            <a:ext cx="7129462" cy="424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370293F3-B6DB-2DE6-8B70-14E48406B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19</a:t>
            </a:fld>
            <a:endParaRPr lang="ru-RU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709FA97A-AB09-ED3C-1740-4DA1DF5157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FastFood: новый метод для реализации выбора</a:t>
            </a:r>
          </a:p>
        </p:txBody>
      </p:sp>
      <p:pic>
        <p:nvPicPr>
          <p:cNvPr id="310276" name="Picture 4">
            <a:extLst>
              <a:ext uri="{FF2B5EF4-FFF2-40B4-BE49-F238E27FC236}">
                <a16:creationId xmlns:a16="http://schemas.microsoft.com/office/drawing/2014/main" id="{3B223046-2232-98AC-5859-7F89470B4E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9" t="22600" r="66789" b="40443"/>
          <a:stretch>
            <a:fillRect/>
          </a:stretch>
        </p:blipFill>
        <p:spPr bwMode="auto">
          <a:xfrm>
            <a:off x="2927350" y="1773238"/>
            <a:ext cx="6121400" cy="454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527A8AE-1585-CCE8-BCFF-AB6B8B11BD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20</a:t>
            </a:fld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26CD9F52-3394-D626-EBC6-F7610134E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Изменение в классе-наследнике: возможность выбора</a:t>
            </a:r>
          </a:p>
        </p:txBody>
      </p:sp>
      <p:pic>
        <p:nvPicPr>
          <p:cNvPr id="309252" name="Picture 4">
            <a:extLst>
              <a:ext uri="{FF2B5EF4-FFF2-40B4-BE49-F238E27FC236}">
                <a16:creationId xmlns:a16="http://schemas.microsoft.com/office/drawing/2014/main" id="{046AAB12-280F-9643-EAC8-69E0A7C19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50" t="30435" r="54063" b="27469"/>
          <a:stretch>
            <a:fillRect/>
          </a:stretch>
        </p:blipFill>
        <p:spPr bwMode="auto">
          <a:xfrm>
            <a:off x="2063751" y="1700214"/>
            <a:ext cx="7993063" cy="461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1A4314-506B-41CA-8E9A-69AF3AA1D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21</a:t>
            </a:fld>
            <a:endParaRPr lang="ru-RU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289E371-FFB8-1658-D38A-66DF6DE968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600" dirty="0"/>
              <a:t>Паттерны проектирования: Стратегия (</a:t>
            </a:r>
            <a:r>
              <a:rPr lang="en-US" altLang="ru-RU" sz="4600" dirty="0"/>
              <a:t>Strategy)</a:t>
            </a:r>
            <a:endParaRPr lang="ru-RU" altLang="ru-RU" sz="4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F99B205-7AE4-4B71-CA02-2706BACFC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22</a:t>
            </a:fld>
            <a:endParaRPr lang="ru-RU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79C18298-AA1C-3215-55A8-08B28029E69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Стратегия (</a:t>
            </a:r>
            <a:r>
              <a:rPr lang="en-US" altLang="ru-RU" dirty="0"/>
              <a:t>Strategy)</a:t>
            </a:r>
            <a:endParaRPr lang="ru-RU" altLang="ru-RU" dirty="0"/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0B2EF54E-2E3B-6C03-E29A-EA794E7848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Стратегия</a:t>
            </a:r>
            <a:r>
              <a:rPr lang="ru-RU" altLang="ru-RU" sz="2400" dirty="0"/>
              <a:t> — поведенческий шаблон, который позволяет выбрать поведение программы в процессе выполнения в зависимости от контекста путем инкапсуляции нескольких алгоритмов в разных классах.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038A0C5-22CF-40C0-27DF-B99967FE13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23</a:t>
            </a:fld>
            <a:endParaRPr lang="ru-RU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DAE5989C-785E-BBA1-C72C-1E61E93B25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Архитектура программы «Утки»</a:t>
            </a:r>
          </a:p>
        </p:txBody>
      </p:sp>
      <p:pic>
        <p:nvPicPr>
          <p:cNvPr id="307204" name="Рисунок 5" descr="Вырезка экрана">
            <a:extLst>
              <a:ext uri="{FF2B5EF4-FFF2-40B4-BE49-F238E27FC236}">
                <a16:creationId xmlns:a16="http://schemas.microsoft.com/office/drawing/2014/main" id="{625525C4-2654-8CE2-D0E9-185CB2EDFB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48025" y="2205038"/>
            <a:ext cx="5695950" cy="4305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Выноска-облако 6">
            <a:extLst>
              <a:ext uri="{FF2B5EF4-FFF2-40B4-BE49-F238E27FC236}">
                <a16:creationId xmlns:a16="http://schemas.microsoft.com/office/drawing/2014/main" id="{DA717CA2-1595-959A-E90A-87561D3FE8DC}"/>
              </a:ext>
            </a:extLst>
          </p:cNvPr>
          <p:cNvSpPr/>
          <p:nvPr/>
        </p:nvSpPr>
        <p:spPr>
          <a:xfrm>
            <a:off x="7248525" y="1266826"/>
            <a:ext cx="1911350" cy="1008063"/>
          </a:xfrm>
          <a:prstGeom prst="cloudCallout">
            <a:avLst>
              <a:gd name="adj1" fmla="val -75913"/>
              <a:gd name="adj2" fmla="val 72719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 dirty="0">
                <a:latin typeface="Century Gothic" panose="020B0502020202020204" pitchFamily="34" charset="0"/>
              </a:rPr>
              <a:t>Базовый класс</a:t>
            </a:r>
          </a:p>
        </p:txBody>
      </p:sp>
      <p:sp>
        <p:nvSpPr>
          <p:cNvPr id="8" name="Выноска-облако 7">
            <a:extLst>
              <a:ext uri="{FF2B5EF4-FFF2-40B4-BE49-F238E27FC236}">
                <a16:creationId xmlns:a16="http://schemas.microsoft.com/office/drawing/2014/main" id="{BBBE2674-E45C-5ADA-3B4C-FA71FE1BA3B3}"/>
              </a:ext>
            </a:extLst>
          </p:cNvPr>
          <p:cNvSpPr/>
          <p:nvPr/>
        </p:nvSpPr>
        <p:spPr>
          <a:xfrm>
            <a:off x="2640014" y="2168526"/>
            <a:ext cx="2663825" cy="936625"/>
          </a:xfrm>
          <a:prstGeom prst="cloudCallout">
            <a:avLst>
              <a:gd name="adj1" fmla="val 51603"/>
              <a:gd name="adj2" fmla="val 941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sz="1400" b="1" dirty="0">
                <a:latin typeface="Century Gothic" panose="020B0502020202020204" pitchFamily="34" charset="0"/>
              </a:rPr>
              <a:t>Утки умеют:</a:t>
            </a:r>
          </a:p>
          <a:p>
            <a:pPr algn="ctr"/>
            <a:r>
              <a:rPr lang="ru-RU" altLang="ru-RU" sz="1400" b="1" dirty="0">
                <a:latin typeface="Century Gothic" panose="020B0502020202020204" pitchFamily="34" charset="0"/>
              </a:rPr>
              <a:t>крякать, плавать,  показывать себя</a:t>
            </a:r>
          </a:p>
        </p:txBody>
      </p:sp>
      <p:sp>
        <p:nvSpPr>
          <p:cNvPr id="9" name="Выноска-облако 8">
            <a:extLst>
              <a:ext uri="{FF2B5EF4-FFF2-40B4-BE49-F238E27FC236}">
                <a16:creationId xmlns:a16="http://schemas.microsoft.com/office/drawing/2014/main" id="{554F8EE7-37C7-1B15-EC0B-C69EDD2C98C3}"/>
              </a:ext>
            </a:extLst>
          </p:cNvPr>
          <p:cNvSpPr/>
          <p:nvPr/>
        </p:nvSpPr>
        <p:spPr>
          <a:xfrm>
            <a:off x="7540625" y="4005263"/>
            <a:ext cx="2808288" cy="1008062"/>
          </a:xfrm>
          <a:prstGeom prst="cloudCallout">
            <a:avLst>
              <a:gd name="adj1" fmla="val -91916"/>
              <a:gd name="adj2" fmla="val 7399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 dirty="0">
                <a:latin typeface="Century Gothic" panose="020B0502020202020204" pitchFamily="34" charset="0"/>
              </a:rPr>
              <a:t>Реализации различных видов уток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5E3E521-7D7C-D902-C4B3-F2F56E2F23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24</a:t>
            </a:fld>
            <a:endParaRPr lang="ru-RU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7A69BCDE-9E57-41D9-8284-453D56BD4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Базовый класс: </a:t>
            </a:r>
            <a:r>
              <a:rPr lang="en-US" altLang="ru-RU" dirty="0"/>
              <a:t>DuckBase</a:t>
            </a:r>
            <a:endParaRPr lang="ru-RU" altLang="ru-RU" dirty="0"/>
          </a:p>
        </p:txBody>
      </p:sp>
      <p:pic>
        <p:nvPicPr>
          <p:cNvPr id="311300" name="Picture 4">
            <a:extLst>
              <a:ext uri="{FF2B5EF4-FFF2-40B4-BE49-F238E27FC236}">
                <a16:creationId xmlns:a16="http://schemas.microsoft.com/office/drawing/2014/main" id="{87FC27DE-3E8A-AA18-C7AA-9418B20AA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81" t="25250" r="73438" b="34647"/>
          <a:stretch>
            <a:fillRect/>
          </a:stretch>
        </p:blipFill>
        <p:spPr bwMode="auto">
          <a:xfrm>
            <a:off x="3143250" y="1311276"/>
            <a:ext cx="5976938" cy="5546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D280335-703F-4C13-1DF0-BB0631D887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25</a:t>
            </a:fld>
            <a:endParaRPr lang="ru-RU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9E79D05A-AA38-1DC5-C1F9-D7F330C65AA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Абстрактный метод</a:t>
            </a:r>
          </a:p>
        </p:txBody>
      </p:sp>
      <p:sp>
        <p:nvSpPr>
          <p:cNvPr id="382979" name="Rectangle 3">
            <a:extLst>
              <a:ext uri="{FF2B5EF4-FFF2-40B4-BE49-F238E27FC236}">
                <a16:creationId xmlns:a16="http://schemas.microsoft.com/office/drawing/2014/main" id="{59113157-5AD8-6176-AE47-7713A93299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u-RU" altLang="ru-RU" sz="2400" b="1" dirty="0"/>
              <a:t>Абстрактный метод</a:t>
            </a:r>
            <a:r>
              <a:rPr lang="ru-RU" altLang="ru-RU" sz="2400" dirty="0"/>
              <a:t> (или </a:t>
            </a:r>
            <a:r>
              <a:rPr lang="ru-RU" altLang="ru-RU" sz="2400" b="1" dirty="0"/>
              <a:t>чистый виртуальный метод</a:t>
            </a:r>
            <a:r>
              <a:rPr lang="ru-RU" altLang="ru-RU" sz="2400" dirty="0"/>
              <a:t> (</a:t>
            </a:r>
            <a:r>
              <a:rPr lang="ru-RU" altLang="ru-RU" sz="2400" b="1" dirty="0"/>
              <a:t>pure virtual method</a:t>
            </a:r>
            <a:r>
              <a:rPr lang="ru-RU" altLang="ru-RU" sz="2400" dirty="0"/>
              <a:t> — часто неверно переводится как </a:t>
            </a:r>
            <a:r>
              <a:rPr lang="ru-RU" altLang="ru-RU" sz="2400" b="1" dirty="0"/>
              <a:t>чисто виртуальный метод</a:t>
            </a:r>
            <a:r>
              <a:rPr lang="ru-RU" altLang="ru-RU" sz="2400" dirty="0"/>
              <a:t>)) — в объектно-ориентированном программировании, метод класса, реализация для которого отсутствует. Класс, содержащий абстрактные методы, также принято называть </a:t>
            </a:r>
            <a:r>
              <a:rPr lang="ru-RU" altLang="ru-RU" sz="2400" b="1" dirty="0"/>
              <a:t>абстрактным</a:t>
            </a:r>
            <a:r>
              <a:rPr lang="ru-RU" altLang="ru-RU" sz="2400" dirty="0"/>
              <a:t>. 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Абстрактные методы зачастую путают с виртуальными. Абстрактный метод подлежит определению в классах-наследниках, поэтому его можно отнести к виртуальным, но не каждый виртуальный метод является абстрактным.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606D9F0-39E5-DD81-C259-09E8CB36B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26</a:t>
            </a:fld>
            <a:endParaRPr lang="ru-RU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AB16AFEE-653F-E6D5-364C-6D0C03DC7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Классы-наследники: </a:t>
            </a:r>
            <a:r>
              <a:rPr lang="en-US" altLang="ru-RU" sz="4000" dirty="0"/>
              <a:t>SimpleDuck, ExoticDuck, GreenDuck</a:t>
            </a:r>
            <a:endParaRPr lang="ru-RU" altLang="ru-RU" sz="4000" dirty="0"/>
          </a:p>
        </p:txBody>
      </p:sp>
      <p:pic>
        <p:nvPicPr>
          <p:cNvPr id="313348" name="Picture 4">
            <a:extLst>
              <a:ext uri="{FF2B5EF4-FFF2-40B4-BE49-F238E27FC236}">
                <a16:creationId xmlns:a16="http://schemas.microsoft.com/office/drawing/2014/main" id="{D8FDE46B-BB6E-414F-BCE7-DA1D9942E0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34534" r="66573" b="46988"/>
          <a:stretch>
            <a:fillRect/>
          </a:stretch>
        </p:blipFill>
        <p:spPr bwMode="auto">
          <a:xfrm>
            <a:off x="1992314" y="1700213"/>
            <a:ext cx="7240587" cy="25320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3350" name="Picture 6">
            <a:extLst>
              <a:ext uri="{FF2B5EF4-FFF2-40B4-BE49-F238E27FC236}">
                <a16:creationId xmlns:a16="http://schemas.microsoft.com/office/drawing/2014/main" id="{ACFBCD2A-FD35-E4D6-309D-592AAFC985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t="34534" r="66240" b="46988"/>
          <a:stretch>
            <a:fillRect/>
          </a:stretch>
        </p:blipFill>
        <p:spPr bwMode="auto">
          <a:xfrm>
            <a:off x="1919289" y="4341814"/>
            <a:ext cx="7240587" cy="2516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C6A48F-9AAC-5887-FE83-EB4EE20CC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27</a:t>
            </a:fld>
            <a:endParaRPr lang="ru-RU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714" name="Rectangle 2">
            <a:extLst>
              <a:ext uri="{FF2B5EF4-FFF2-40B4-BE49-F238E27FC236}">
                <a16:creationId xmlns:a16="http://schemas.microsoft.com/office/drawing/2014/main" id="{373136D1-2E91-C720-8356-7BDC8D300D0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Классы-наследники: </a:t>
            </a:r>
            <a:r>
              <a:rPr lang="en-US" altLang="ru-RU" sz="4000" dirty="0"/>
              <a:t>SimpleDuck, ExoticDuck, GreenDuck</a:t>
            </a:r>
            <a:endParaRPr lang="ru-RU" altLang="ru-RU" sz="4000" dirty="0"/>
          </a:p>
        </p:txBody>
      </p:sp>
      <p:pic>
        <p:nvPicPr>
          <p:cNvPr id="371717" name="Picture 5">
            <a:extLst>
              <a:ext uri="{FF2B5EF4-FFF2-40B4-BE49-F238E27FC236}">
                <a16:creationId xmlns:a16="http://schemas.microsoft.com/office/drawing/2014/main" id="{BDD0757D-2868-66BB-C9B0-D69FDE0AA4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10" t="34799" r="67085" b="46988"/>
          <a:stretch>
            <a:fillRect/>
          </a:stretch>
        </p:blipFill>
        <p:spPr bwMode="auto">
          <a:xfrm>
            <a:off x="1847851" y="2349501"/>
            <a:ext cx="7237413" cy="2555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4647971-C2E0-8A87-3794-502E0F2FC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28</a:t>
            </a:fld>
            <a:endParaRPr lang="ru-RU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6070EA76-36D4-8A18-8E7C-B6A5BAE656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Класс </a:t>
            </a:r>
            <a:r>
              <a:rPr lang="en-US" altLang="ru-RU" dirty="0"/>
              <a:t>Program</a:t>
            </a:r>
            <a:r>
              <a:rPr lang="ru-RU" altLang="ru-RU" dirty="0"/>
              <a:t>: полиморфизм</a:t>
            </a:r>
          </a:p>
        </p:txBody>
      </p:sp>
      <p:pic>
        <p:nvPicPr>
          <p:cNvPr id="315398" name="Picture 6">
            <a:extLst>
              <a:ext uri="{FF2B5EF4-FFF2-40B4-BE49-F238E27FC236}">
                <a16:creationId xmlns:a16="http://schemas.microsoft.com/office/drawing/2014/main" id="{FB05F594-C15C-6CCF-EE9A-2F53CCBED1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06" t="36371" r="67723" b="24388"/>
          <a:stretch>
            <a:fillRect/>
          </a:stretch>
        </p:blipFill>
        <p:spPr bwMode="auto">
          <a:xfrm>
            <a:off x="1847851" y="1384301"/>
            <a:ext cx="6911975" cy="5338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15399" name="Picture 7">
            <a:extLst>
              <a:ext uri="{FF2B5EF4-FFF2-40B4-BE49-F238E27FC236}">
                <a16:creationId xmlns:a16="http://schemas.microsoft.com/office/drawing/2014/main" id="{D0A9DBA9-AD88-392F-7557-520EB6BF79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9600" y="4148138"/>
            <a:ext cx="3708400" cy="27098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D7C485F-B6D6-1A05-96CD-C4C4FF7DC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29</a:t>
            </a:fld>
            <a:endParaRPr lang="ru-RU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2F5E9D03-FA8E-90B8-EF18-225B47377C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sz="4000" dirty="0"/>
              <a:t>DuckBase</a:t>
            </a:r>
            <a:r>
              <a:rPr lang="ru-RU" altLang="ru-RU" sz="4000" dirty="0"/>
              <a:t>: метод </a:t>
            </a:r>
            <a:r>
              <a:rPr lang="en-US" altLang="ru-RU" sz="4000" dirty="0"/>
              <a:t>Fly</a:t>
            </a:r>
            <a:r>
              <a:rPr lang="ru-RU" altLang="ru-RU" sz="4000" dirty="0"/>
              <a:t> и его вызов</a:t>
            </a:r>
          </a:p>
        </p:txBody>
      </p:sp>
      <p:pic>
        <p:nvPicPr>
          <p:cNvPr id="319495" name="Picture 7">
            <a:extLst>
              <a:ext uri="{FF2B5EF4-FFF2-40B4-BE49-F238E27FC236}">
                <a16:creationId xmlns:a16="http://schemas.microsoft.com/office/drawing/2014/main" id="{13517BBD-9870-A3C3-6807-5BFFEAD88B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27333" r="64032" b="40805"/>
          <a:stretch>
            <a:fillRect/>
          </a:stretch>
        </p:blipFill>
        <p:spPr bwMode="auto">
          <a:xfrm>
            <a:off x="1919288" y="1989138"/>
            <a:ext cx="6121400" cy="3332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F46F0F6-D039-806B-8661-CAEECF642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30</a:t>
            </a:fld>
            <a:endParaRPr lang="ru-RU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810" name="Rectangle 2">
            <a:extLst>
              <a:ext uri="{FF2B5EF4-FFF2-40B4-BE49-F238E27FC236}">
                <a16:creationId xmlns:a16="http://schemas.microsoft.com/office/drawing/2014/main" id="{C4595EEC-953E-1065-1B9D-B7475E40CF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81200" y="476251"/>
            <a:ext cx="8686800" cy="1027113"/>
          </a:xfrm>
        </p:spPr>
        <p:txBody>
          <a:bodyPr/>
          <a:lstStyle/>
          <a:p>
            <a:r>
              <a:rPr lang="en-US" altLang="ru-RU" sz="4000" dirty="0"/>
              <a:t>DuckBase</a:t>
            </a:r>
            <a:r>
              <a:rPr lang="ru-RU" altLang="ru-RU" sz="4000" dirty="0"/>
              <a:t>: метод </a:t>
            </a:r>
            <a:r>
              <a:rPr lang="en-US" altLang="ru-RU" sz="4000" dirty="0"/>
              <a:t>Fly</a:t>
            </a:r>
            <a:r>
              <a:rPr lang="ru-RU" altLang="ru-RU" sz="4000" dirty="0"/>
              <a:t> и его вызов</a:t>
            </a:r>
          </a:p>
        </p:txBody>
      </p:sp>
      <p:pic>
        <p:nvPicPr>
          <p:cNvPr id="375813" name="Picture 5">
            <a:extLst>
              <a:ext uri="{FF2B5EF4-FFF2-40B4-BE49-F238E27FC236}">
                <a16:creationId xmlns:a16="http://schemas.microsoft.com/office/drawing/2014/main" id="{BE126B61-950D-5A0D-A45D-9EE00D812A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36154" r="66801" b="19247"/>
          <a:stretch>
            <a:fillRect/>
          </a:stretch>
        </p:blipFill>
        <p:spPr bwMode="auto">
          <a:xfrm>
            <a:off x="1524000" y="1565276"/>
            <a:ext cx="6337300" cy="529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5816" name="Picture 8">
            <a:extLst>
              <a:ext uri="{FF2B5EF4-FFF2-40B4-BE49-F238E27FC236}">
                <a16:creationId xmlns:a16="http://schemas.microsoft.com/office/drawing/2014/main" id="{EFD0EC09-4B37-B6E4-610F-951A477DD7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1400" y="3946526"/>
            <a:ext cx="3276600" cy="2911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023CA05-653E-5768-6FA5-540AA6248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31</a:t>
            </a:fld>
            <a:endParaRPr lang="ru-RU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3D7EA001-454D-8B7E-64E2-3F7A4C74BA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ru-RU" sz="4000" dirty="0"/>
              <a:t>WoodenDuck</a:t>
            </a:r>
            <a:r>
              <a:rPr lang="ru-RU" altLang="ru-RU" sz="4000" dirty="0"/>
              <a:t> и </a:t>
            </a:r>
            <a:r>
              <a:rPr lang="en-US" altLang="ru-RU" sz="4000" dirty="0"/>
              <a:t>RubberDuck</a:t>
            </a:r>
            <a:r>
              <a:rPr lang="ru-RU" altLang="ru-RU" sz="4000" dirty="0"/>
              <a:t>: деревянная и резиновая утки</a:t>
            </a:r>
          </a:p>
        </p:txBody>
      </p:sp>
      <p:sp>
        <p:nvSpPr>
          <p:cNvPr id="317449" name="Rectangle 9">
            <a:extLst>
              <a:ext uri="{FF2B5EF4-FFF2-40B4-BE49-F238E27FC236}">
                <a16:creationId xmlns:a16="http://schemas.microsoft.com/office/drawing/2014/main" id="{651009E0-41E5-AED5-5CF8-BE287DBA07C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Реализовать самостоятельно</a:t>
            </a:r>
          </a:p>
          <a:p>
            <a:endParaRPr lang="ru-RU" altLang="ru-RU" dirty="0"/>
          </a:p>
        </p:txBody>
      </p:sp>
      <p:pic>
        <p:nvPicPr>
          <p:cNvPr id="317450" name="Picture 10">
            <a:extLst>
              <a:ext uri="{FF2B5EF4-FFF2-40B4-BE49-F238E27FC236}">
                <a16:creationId xmlns:a16="http://schemas.microsoft.com/office/drawing/2014/main" id="{0EBB21AC-A8F9-C22C-8E5B-B3D6A0C2FD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3926" y="2060576"/>
            <a:ext cx="4664075" cy="4797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84D5288-5D9A-A5A7-3C30-42AC0B643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32</a:t>
            </a:fld>
            <a:endParaRPr lang="ru-RU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>
            <a:extLst>
              <a:ext uri="{FF2B5EF4-FFF2-40B4-BE49-F238E27FC236}">
                <a16:creationId xmlns:a16="http://schemas.microsoft.com/office/drawing/2014/main" id="{65CF972E-7C3F-0E81-0472-FEB5077350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Новая архитектура с полетами </a:t>
            </a:r>
          </a:p>
        </p:txBody>
      </p:sp>
      <p:pic>
        <p:nvPicPr>
          <p:cNvPr id="321540" name="Рисунок 3" descr="Вырезка экрана">
            <a:extLst>
              <a:ext uri="{FF2B5EF4-FFF2-40B4-BE49-F238E27FC236}">
                <a16:creationId xmlns:a16="http://schemas.microsoft.com/office/drawing/2014/main" id="{6D8F4B94-AF37-5CFC-1569-A3A157E789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1916114"/>
            <a:ext cx="6088062" cy="4459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Выноска-облако 4">
            <a:extLst>
              <a:ext uri="{FF2B5EF4-FFF2-40B4-BE49-F238E27FC236}">
                <a16:creationId xmlns:a16="http://schemas.microsoft.com/office/drawing/2014/main" id="{B9675947-280E-6EBE-2470-39471324EEF2}"/>
              </a:ext>
            </a:extLst>
          </p:cNvPr>
          <p:cNvSpPr/>
          <p:nvPr/>
        </p:nvSpPr>
        <p:spPr>
          <a:xfrm>
            <a:off x="7751763" y="1700213"/>
            <a:ext cx="2736850" cy="1008062"/>
          </a:xfrm>
          <a:prstGeom prst="cloudCallout">
            <a:avLst>
              <a:gd name="adj1" fmla="val -46165"/>
              <a:gd name="adj2" fmla="val 11077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 dirty="0">
                <a:latin typeface="Century Gothic" panose="020B0502020202020204" pitchFamily="34" charset="0"/>
              </a:rPr>
              <a:t>Резиновая утка не умет летать</a:t>
            </a:r>
          </a:p>
        </p:txBody>
      </p:sp>
      <p:sp>
        <p:nvSpPr>
          <p:cNvPr id="6" name="Выноска-облако 5">
            <a:extLst>
              <a:ext uri="{FF2B5EF4-FFF2-40B4-BE49-F238E27FC236}">
                <a16:creationId xmlns:a16="http://schemas.microsoft.com/office/drawing/2014/main" id="{79D3A91D-357B-63E5-0A56-A83DC6F74415}"/>
              </a:ext>
            </a:extLst>
          </p:cNvPr>
          <p:cNvSpPr/>
          <p:nvPr/>
        </p:nvSpPr>
        <p:spPr>
          <a:xfrm>
            <a:off x="7751763" y="4102101"/>
            <a:ext cx="2736850" cy="1343025"/>
          </a:xfrm>
          <a:prstGeom prst="cloudCallout">
            <a:avLst>
              <a:gd name="adj1" fmla="val -56944"/>
              <a:gd name="adj2" fmla="val 73811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ru-RU" altLang="ru-RU" b="1" dirty="0">
                <a:latin typeface="Century Gothic" panose="020B0502020202020204" pitchFamily="34" charset="0"/>
              </a:rPr>
              <a:t>Деревянная утка не умет ни летать, ни крякать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B7B3A7D-A291-69FC-3165-F6C56443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33</a:t>
            </a:fld>
            <a:endParaRPr lang="ru-RU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>
            <a:extLst>
              <a:ext uri="{FF2B5EF4-FFF2-40B4-BE49-F238E27FC236}">
                <a16:creationId xmlns:a16="http://schemas.microsoft.com/office/drawing/2014/main" id="{A9FDB32C-2BD0-ABBD-A06C-D2235A3CC8D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altLang="ru-RU" sz="4000" dirty="0"/>
              <a:t>Виртуальные методы </a:t>
            </a:r>
            <a:r>
              <a:rPr lang="en-US" altLang="ru-RU" sz="4000" dirty="0"/>
              <a:t>Fly() </a:t>
            </a:r>
            <a:r>
              <a:rPr lang="ru-RU" altLang="ru-RU" sz="4000" dirty="0"/>
              <a:t>и </a:t>
            </a:r>
            <a:r>
              <a:rPr lang="en-US" altLang="ru-RU" sz="4000" dirty="0"/>
              <a:t>Quack()</a:t>
            </a:r>
            <a:endParaRPr lang="ru-RU" altLang="ru-RU" sz="4000" dirty="0"/>
          </a:p>
        </p:txBody>
      </p:sp>
      <p:sp>
        <p:nvSpPr>
          <p:cNvPr id="325637" name="Rectangle 5">
            <a:extLst>
              <a:ext uri="{FF2B5EF4-FFF2-40B4-BE49-F238E27FC236}">
                <a16:creationId xmlns:a16="http://schemas.microsoft.com/office/drawing/2014/main" id="{6D8A6779-2C03-5F6C-9831-BA1C253BAE5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Сделать методы </a:t>
            </a:r>
            <a:r>
              <a:rPr lang="en-US" altLang="ru-RU" dirty="0"/>
              <a:t>Fly() </a:t>
            </a:r>
            <a:r>
              <a:rPr lang="ru-RU" altLang="ru-RU" dirty="0"/>
              <a:t>и </a:t>
            </a:r>
            <a:r>
              <a:rPr lang="en-US" altLang="ru-RU" dirty="0"/>
              <a:t>Quack()</a:t>
            </a:r>
            <a:r>
              <a:rPr lang="ru-RU" altLang="ru-RU" dirty="0"/>
              <a:t> базового класса </a:t>
            </a:r>
            <a:r>
              <a:rPr lang="en-US" altLang="ru-RU" dirty="0"/>
              <a:t>DuckBase </a:t>
            </a:r>
            <a:r>
              <a:rPr lang="ru-RU" altLang="ru-RU" dirty="0"/>
              <a:t>виртуальными.</a:t>
            </a:r>
          </a:p>
          <a:p>
            <a:r>
              <a:rPr lang="ru-RU" altLang="ru-RU" b="1" dirty="0"/>
              <a:t>Виртуальным</a:t>
            </a:r>
            <a:r>
              <a:rPr lang="ru-RU" altLang="ru-RU" dirty="0"/>
              <a:t> называется такой </a:t>
            </a:r>
            <a:r>
              <a:rPr lang="ru-RU" altLang="ru-RU" b="1" dirty="0"/>
              <a:t>метод</a:t>
            </a:r>
            <a:r>
              <a:rPr lang="ru-RU" altLang="ru-RU" dirty="0"/>
              <a:t>, который объявляется как virtual в базовом классе. </a:t>
            </a:r>
            <a:r>
              <a:rPr lang="ru-RU" altLang="ru-RU" b="1" dirty="0"/>
              <a:t>Виртуальный метод</a:t>
            </a:r>
            <a:r>
              <a:rPr lang="ru-RU" altLang="ru-RU" dirty="0"/>
              <a:t> отличается тем, что он может быть переопределен в одном или нескольких производных классах. Следовательно, у каждого производного класса может быть свой вариант </a:t>
            </a:r>
            <a:r>
              <a:rPr lang="ru-RU" altLang="ru-RU" b="1" dirty="0"/>
              <a:t>виртуального метода</a:t>
            </a:r>
            <a:r>
              <a:rPr lang="ru-RU" altLang="ru-RU" dirty="0"/>
              <a:t>. </a:t>
            </a:r>
          </a:p>
          <a:p>
            <a:endParaRPr lang="ru-RU" alt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AF576D-49E0-89CC-F7DF-1A70DE46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34</a:t>
            </a:fld>
            <a:endParaRPr lang="ru-RU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>
            <a:extLst>
              <a:ext uri="{FF2B5EF4-FFF2-40B4-BE49-F238E27FC236}">
                <a16:creationId xmlns:a16="http://schemas.microsoft.com/office/drawing/2014/main" id="{4C62FCBC-4F20-7B78-D06E-688596AFE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Реализация виртуальных методов в классах-наследниках</a:t>
            </a:r>
          </a:p>
        </p:txBody>
      </p:sp>
      <p:pic>
        <p:nvPicPr>
          <p:cNvPr id="326663" name="Picture 7">
            <a:extLst>
              <a:ext uri="{FF2B5EF4-FFF2-40B4-BE49-F238E27FC236}">
                <a16:creationId xmlns:a16="http://schemas.microsoft.com/office/drawing/2014/main" id="{A0867320-B43A-8CBF-2C33-89E29F8381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6" t="33093" r="73987" b="51877"/>
          <a:stretch>
            <a:fillRect/>
          </a:stretch>
        </p:blipFill>
        <p:spPr bwMode="auto">
          <a:xfrm>
            <a:off x="1774825" y="2060575"/>
            <a:ext cx="4464050" cy="17287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6664" name="Picture 8">
            <a:extLst>
              <a:ext uri="{FF2B5EF4-FFF2-40B4-BE49-F238E27FC236}">
                <a16:creationId xmlns:a16="http://schemas.microsoft.com/office/drawing/2014/main" id="{38E58317-2B44-4A81-2B8F-5D3A667094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1" t="30916" r="74548" b="47578"/>
          <a:stretch>
            <a:fillRect/>
          </a:stretch>
        </p:blipFill>
        <p:spPr bwMode="auto">
          <a:xfrm>
            <a:off x="1847850" y="4149725"/>
            <a:ext cx="4248150" cy="24209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6665" name="Picture 9">
            <a:extLst>
              <a:ext uri="{FF2B5EF4-FFF2-40B4-BE49-F238E27FC236}">
                <a16:creationId xmlns:a16="http://schemas.microsoft.com/office/drawing/2014/main" id="{E4FA3995-C4BA-7D3C-EBB6-764A20F57F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4564" y="2400300"/>
            <a:ext cx="4643437" cy="445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FAFBA62-1FB6-1E85-09DC-CAD143250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35</a:t>
            </a:fld>
            <a:endParaRPr lang="ru-RU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026" name="Rectangle 2">
            <a:extLst>
              <a:ext uri="{FF2B5EF4-FFF2-40B4-BE49-F238E27FC236}">
                <a16:creationId xmlns:a16="http://schemas.microsoft.com/office/drawing/2014/main" id="{B3DB4962-C0C7-20F9-13EF-2E6D161F2D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Интерфейс</a:t>
            </a:r>
          </a:p>
        </p:txBody>
      </p:sp>
      <p:sp>
        <p:nvSpPr>
          <p:cNvPr id="385027" name="Rectangle 3">
            <a:extLst>
              <a:ext uri="{FF2B5EF4-FFF2-40B4-BE49-F238E27FC236}">
                <a16:creationId xmlns:a16="http://schemas.microsoft.com/office/drawing/2014/main" id="{3DA23EB4-BD23-7C2B-ED62-A639EA4E92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b="1" dirty="0"/>
              <a:t>Интерфейс</a:t>
            </a:r>
            <a:r>
              <a:rPr lang="ru-RU" altLang="ru-RU" dirty="0"/>
              <a:t> (англ. </a:t>
            </a:r>
            <a:r>
              <a:rPr lang="ru-RU" altLang="ru-RU" b="1" dirty="0"/>
              <a:t>interface</a:t>
            </a:r>
            <a:r>
              <a:rPr lang="ru-RU" altLang="ru-RU" dirty="0"/>
              <a:t> — поверхность раздела, перегородка) — граница раздела двух систем, устройств или программ, определённая их характеристиками, характеристиками соединения, сигналов обмена и т. п. </a:t>
            </a:r>
          </a:p>
          <a:p>
            <a:r>
              <a:rPr lang="ru-RU" altLang="ru-RU" b="1" dirty="0"/>
              <a:t>Интерфейс</a:t>
            </a:r>
            <a:r>
              <a:rPr lang="ru-RU" altLang="ru-RU" dirty="0"/>
              <a:t> в </a:t>
            </a:r>
            <a:r>
              <a:rPr lang="en-US" altLang="ru-RU" b="1" dirty="0"/>
              <a:t>C#</a:t>
            </a:r>
            <a:r>
              <a:rPr lang="ru-RU" altLang="ru-RU" dirty="0"/>
              <a:t> содержит только сигнатуры методов, свойств, событий или индексаторов. Класс или структура, которые реализуют интерфейс, должны реализовать члены этого интерфейса, указанные в его определении.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0ED6C30-A92E-ED5C-E2D0-061DB30089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36</a:t>
            </a:fld>
            <a:endParaRPr lang="ru-RU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050" name="Rectangle 2">
            <a:extLst>
              <a:ext uri="{FF2B5EF4-FFF2-40B4-BE49-F238E27FC236}">
                <a16:creationId xmlns:a16="http://schemas.microsoft.com/office/drawing/2014/main" id="{895C3D7B-E9DD-FBDD-2BC2-B6171D59E5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Интерфейс</a:t>
            </a:r>
          </a:p>
        </p:txBody>
      </p:sp>
      <p:sp>
        <p:nvSpPr>
          <p:cNvPr id="386051" name="Rectangle 3">
            <a:extLst>
              <a:ext uri="{FF2B5EF4-FFF2-40B4-BE49-F238E27FC236}">
                <a16:creationId xmlns:a16="http://schemas.microsoft.com/office/drawing/2014/main" id="{676F3162-E29C-249A-75C8-49C2194B09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599" y="1506583"/>
            <a:ext cx="10415239" cy="4754879"/>
          </a:xfrm>
        </p:spPr>
        <p:txBody>
          <a:bodyPr>
            <a:normAutofit/>
          </a:bodyPr>
          <a:lstStyle/>
          <a:p>
            <a:r>
              <a:rPr lang="ru-RU" altLang="ru-RU" sz="2400" dirty="0"/>
              <a:t>Интерфейс содержит определения для группы определенного функционала, который класс или структура могут реализовывать</a:t>
            </a:r>
          </a:p>
          <a:p>
            <a:r>
              <a:rPr lang="ru-RU" altLang="ru-RU" sz="2400" dirty="0"/>
              <a:t>С помощью интерфейсов можно, например, включить поведение из нескольких источников в классе. Эта возможность важна в C#, поскольку язык не поддерживает множественное наследование классов.</a:t>
            </a:r>
          </a:p>
          <a:p>
            <a:r>
              <a:rPr lang="ru-RU" altLang="ru-RU" sz="2400" dirty="0"/>
              <a:t>Определяется интерфейс с помощью ключевого слова </a:t>
            </a:r>
            <a:r>
              <a:rPr lang="ru-RU" altLang="ru-RU" sz="2400" b="1" dirty="0"/>
              <a:t>интерфейс</a:t>
            </a:r>
            <a:r>
              <a:rPr lang="ru-RU" altLang="ru-RU" sz="2400" dirty="0"/>
              <a:t> (</a:t>
            </a:r>
            <a:r>
              <a:rPr lang="ru-RU" altLang="ru-RU" sz="2400" b="1" dirty="0"/>
              <a:t>interface</a:t>
            </a:r>
            <a:r>
              <a:rPr lang="ru-RU" altLang="ru-RU" sz="2400" dirty="0"/>
              <a:t>).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4E9B5433-DE1D-4F80-AF9B-F6080AB9F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37</a:t>
            </a:fld>
            <a:endParaRPr lang="ru-RU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>
            <a:extLst>
              <a:ext uri="{FF2B5EF4-FFF2-40B4-BE49-F238E27FC236}">
                <a16:creationId xmlns:a16="http://schemas.microsoft.com/office/drawing/2014/main" id="{19E79A75-99DD-2046-E6FA-2E45B262DC7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Интерфейсы: </a:t>
            </a:r>
            <a:r>
              <a:rPr lang="en-US" altLang="ru-RU" sz="4000" dirty="0"/>
              <a:t>IFlyable, IQuackable</a:t>
            </a:r>
            <a:endParaRPr lang="ru-RU" altLang="ru-RU" sz="4000" dirty="0"/>
          </a:p>
        </p:txBody>
      </p:sp>
      <p:pic>
        <p:nvPicPr>
          <p:cNvPr id="329732" name="Picture 4">
            <a:extLst>
              <a:ext uri="{FF2B5EF4-FFF2-40B4-BE49-F238E27FC236}">
                <a16:creationId xmlns:a16="http://schemas.microsoft.com/office/drawing/2014/main" id="{6573ABBB-DA9D-0B8A-9854-371D904BC2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34619" r="81186" b="53148"/>
          <a:stretch>
            <a:fillRect/>
          </a:stretch>
        </p:blipFill>
        <p:spPr bwMode="auto">
          <a:xfrm>
            <a:off x="2063751" y="2060575"/>
            <a:ext cx="3451225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29733" name="Picture 5">
            <a:extLst>
              <a:ext uri="{FF2B5EF4-FFF2-40B4-BE49-F238E27FC236}">
                <a16:creationId xmlns:a16="http://schemas.microsoft.com/office/drawing/2014/main" id="{06C73B30-B449-B47C-A39B-F76F35C037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68" t="34631" r="79919" b="54228"/>
          <a:stretch>
            <a:fillRect/>
          </a:stretch>
        </p:blipFill>
        <p:spPr bwMode="auto">
          <a:xfrm>
            <a:off x="2063750" y="4292601"/>
            <a:ext cx="3671888" cy="143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03EC72-4A16-9F7F-87D5-41AC0243FF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38</a:t>
            </a:fld>
            <a:endParaRPr lang="ru-RU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92FC31D9-4646-AE9B-0285-6486D26F7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Изменения в базовом классе и классах-наследниках</a:t>
            </a:r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DC91A122-83FB-18FB-665B-DA94A0275C1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744824"/>
            <a:ext cx="9601200" cy="4516638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public abstract class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DuckBase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    public void</a:t>
            </a:r>
            <a:r>
              <a:rPr lang="ru-RU" altLang="ru-RU" sz="1800" b="1" dirty="0">
                <a:latin typeface="Consolas" panose="020B0609020204030204" pitchFamily="49" charset="0"/>
              </a:rPr>
              <a:t> Swim()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800" b="1" dirty="0">
                <a:latin typeface="Consolas" panose="020B0609020204030204" pitchFamily="49" charset="0"/>
              </a:rPr>
              <a:t>.WriteLine(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"I'm swimming"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}</a:t>
            </a:r>
            <a:endParaRPr lang="en-US" altLang="ru-RU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    public abstract void</a:t>
            </a:r>
            <a:r>
              <a:rPr lang="ru-RU" altLang="ru-RU" sz="1800" b="1" dirty="0">
                <a:latin typeface="Consolas" panose="020B0609020204030204" pitchFamily="49" charset="0"/>
              </a:rPr>
              <a:t> Display();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  <a:endParaRPr lang="en-US" altLang="ru-RU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endParaRPr lang="ru-RU" altLang="ru-RU" sz="1800" dirty="0"/>
          </a:p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class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ExoticDuck</a:t>
            </a:r>
            <a:r>
              <a:rPr lang="ru-RU" altLang="ru-RU" sz="1800" b="1" dirty="0">
                <a:latin typeface="Consolas" panose="020B0609020204030204" pitchFamily="49" charset="0"/>
              </a:rPr>
              <a:t> :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DuckBase</a:t>
            </a:r>
            <a:r>
              <a:rPr lang="en-US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, IFlyable, IQuackable</a:t>
            </a:r>
            <a:endParaRPr lang="ru-RU" altLang="ru-RU" sz="1800" b="1" dirty="0">
              <a:solidFill>
                <a:srgbClr val="008080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public override void</a:t>
            </a:r>
            <a:r>
              <a:rPr lang="ru-RU" altLang="ru-RU" sz="1800" b="1" dirty="0">
                <a:latin typeface="Consolas" panose="020B0609020204030204" pitchFamily="49" charset="0"/>
              </a:rPr>
              <a:t> Display()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 </a:t>
            </a:r>
            <a:r>
              <a:rPr lang="en-US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800" b="1" dirty="0">
                <a:latin typeface="Consolas" panose="020B0609020204030204" pitchFamily="49" charset="0"/>
              </a:rPr>
              <a:t>.WriteLine(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800" b="1" dirty="0">
                <a:solidFill>
                  <a:srgbClr val="990000"/>
                </a:solidFill>
              </a:rPr>
              <a:t>Hi! I'm a Exotic Duck!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  <a:r>
              <a:rPr lang="en-US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  <a:endParaRPr lang="en-US" altLang="ru-RU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en-US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   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public void</a:t>
            </a:r>
            <a:r>
              <a:rPr lang="ru-RU" altLang="ru-RU" sz="1800" b="1" dirty="0">
                <a:latin typeface="Consolas" panose="020B0609020204030204" pitchFamily="49" charset="0"/>
              </a:rPr>
              <a:t> Quack()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 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800" b="1" dirty="0">
                <a:latin typeface="Consolas" panose="020B0609020204030204" pitchFamily="49" charset="0"/>
              </a:rPr>
              <a:t>.WriteLine(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"Quack! Quack!"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  <a:r>
              <a:rPr lang="en-US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latin typeface="Consolas" panose="020B0609020204030204" pitchFamily="49" charset="0"/>
              </a:rPr>
              <a:t> }</a:t>
            </a:r>
          </a:p>
          <a:p>
            <a:pPr>
              <a:lnSpc>
                <a:spcPct val="80000"/>
              </a:lnSpc>
            </a:pPr>
            <a:r>
              <a:rPr lang="en-US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   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public </a:t>
            </a:r>
            <a:r>
              <a:rPr lang="en-US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virtual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void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en-US" altLang="ru-RU" sz="1800" b="1" dirty="0">
                <a:latin typeface="Consolas" panose="020B0609020204030204" pitchFamily="49" charset="0"/>
              </a:rPr>
              <a:t>Fly</a:t>
            </a:r>
            <a:r>
              <a:rPr lang="ru-RU" altLang="ru-RU" sz="1800" b="1" dirty="0">
                <a:latin typeface="Consolas" panose="020B0609020204030204" pitchFamily="49" charset="0"/>
              </a:rPr>
              <a:t>()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 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800" b="1" dirty="0">
                <a:latin typeface="Consolas" panose="020B0609020204030204" pitchFamily="49" charset="0"/>
              </a:rPr>
              <a:t>.WriteLine(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"I'm </a:t>
            </a:r>
            <a:r>
              <a:rPr lang="en-US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fly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ing"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  <a:r>
              <a:rPr lang="en-US" altLang="ru-RU" sz="1800" b="1" dirty="0">
                <a:latin typeface="Consolas" panose="020B0609020204030204" pitchFamily="49" charset="0"/>
              </a:rPr>
              <a:t>  </a:t>
            </a: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A1DD364-6701-AAC0-7334-DBC55C609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39</a:t>
            </a:fld>
            <a:endParaRPr lang="ru-RU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2E3CF5B2-CD4E-657C-CCAA-930053216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Ошибки компиляции: решение</a:t>
            </a:r>
          </a:p>
        </p:txBody>
      </p:sp>
      <p:sp>
        <p:nvSpPr>
          <p:cNvPr id="334851" name="Rectangle 3">
            <a:extLst>
              <a:ext uri="{FF2B5EF4-FFF2-40B4-BE49-F238E27FC236}">
                <a16:creationId xmlns:a16="http://schemas.microsoft.com/office/drawing/2014/main" id="{A2B4D9CE-EBD4-F2CA-AADD-891A7F3691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class</a:t>
            </a:r>
            <a:r>
              <a:rPr lang="ru-RU" altLang="ru-RU" b="1" dirty="0">
                <a:latin typeface="Consolas" panose="020B0609020204030204" pitchFamily="49" charset="0"/>
              </a:rPr>
              <a:t> </a:t>
            </a:r>
            <a:r>
              <a:rPr lang="ru-RU" altLang="ru-RU" b="1" dirty="0">
                <a:solidFill>
                  <a:srgbClr val="008080"/>
                </a:solidFill>
                <a:latin typeface="Consolas" panose="020B0609020204030204" pitchFamily="49" charset="0"/>
              </a:rPr>
              <a:t>Program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{   </a:t>
            </a: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static void</a:t>
            </a:r>
            <a:r>
              <a:rPr lang="ru-RU" altLang="ru-RU" b="1" dirty="0">
                <a:latin typeface="Consolas" panose="020B0609020204030204" pitchFamily="49" charset="0"/>
              </a:rPr>
              <a:t> Main(</a:t>
            </a: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string</a:t>
            </a:r>
            <a:r>
              <a:rPr lang="ru-RU" altLang="ru-RU" b="1" dirty="0">
                <a:latin typeface="Consolas" panose="020B0609020204030204" pitchFamily="49" charset="0"/>
              </a:rPr>
              <a:t>[] args)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{   ...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        foreach</a:t>
            </a:r>
            <a:r>
              <a:rPr lang="ru-RU" altLang="ru-RU" b="1" dirty="0">
                <a:latin typeface="Consolas" panose="020B0609020204030204" pitchFamily="49" charset="0"/>
              </a:rPr>
              <a:t>(</a:t>
            </a: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var</a:t>
            </a:r>
            <a:r>
              <a:rPr lang="ru-RU" altLang="ru-RU" b="1" dirty="0">
                <a:latin typeface="Consolas" panose="020B0609020204030204" pitchFamily="49" charset="0"/>
              </a:rPr>
              <a:t> duck </a:t>
            </a:r>
            <a:r>
              <a:rPr lang="ru-RU" altLang="ru-RU" b="1" dirty="0">
                <a:solidFill>
                  <a:srgbClr val="003399"/>
                </a:solidFill>
                <a:latin typeface="Consolas" panose="020B0609020204030204" pitchFamily="49" charset="0"/>
              </a:rPr>
              <a:t>in</a:t>
            </a:r>
            <a:r>
              <a:rPr lang="ru-RU" altLang="ru-RU" b="1" dirty="0">
                <a:latin typeface="Consolas" panose="020B0609020204030204" pitchFamily="49" charset="0"/>
              </a:rPr>
              <a:t> ducks)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{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    duck.Display();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    duck.Swim();</a:t>
            </a:r>
          </a:p>
          <a:p>
            <a:pPr>
              <a:lnSpc>
                <a:spcPct val="9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</a:t>
            </a:r>
            <a:r>
              <a:rPr lang="ru-RU" altLang="ru-RU" b="1" dirty="0">
                <a:latin typeface="Consolas" panose="020B0609020204030204" pitchFamily="49" charset="0"/>
              </a:rPr>
              <a:t>if(duck is IQuackable)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        (duck as IQuackable).Quack();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    if(duck is IFlyable)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        (duck as IFlyable).Fly();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90000"/>
              </a:lnSpc>
            </a:pPr>
            <a:r>
              <a:rPr lang="ru-RU" altLang="ru-RU" b="1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19C4C2F-00FF-8BF8-3105-5F14B257F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40</a:t>
            </a:fld>
            <a:endParaRPr lang="ru-RU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>
            <a:extLst>
              <a:ext uri="{FF2B5EF4-FFF2-40B4-BE49-F238E27FC236}">
                <a16:creationId xmlns:a16="http://schemas.microsoft.com/office/drawing/2014/main" id="{2B3E128E-3D7C-F362-546E-A1AAE3DB64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Проблемы текущей реализации</a:t>
            </a:r>
          </a:p>
        </p:txBody>
      </p:sp>
      <p:sp>
        <p:nvSpPr>
          <p:cNvPr id="338947" name="Rectangle 3">
            <a:extLst>
              <a:ext uri="{FF2B5EF4-FFF2-40B4-BE49-F238E27FC236}">
                <a16:creationId xmlns:a16="http://schemas.microsoft.com/office/drawing/2014/main" id="{B30D8432-2B58-0E1B-ABB8-C6DA17A432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ru-RU" altLang="ru-RU" dirty="0"/>
              <a:t>При использовании наследования некоторые классы наследуют ненужный функционал</a:t>
            </a:r>
          </a:p>
          <a:p>
            <a:pPr>
              <a:lnSpc>
                <a:spcPct val="90000"/>
              </a:lnSpc>
            </a:pPr>
            <a:endParaRPr lang="ru-RU" altLang="ru-RU" dirty="0"/>
          </a:p>
          <a:p>
            <a:pPr>
              <a:lnSpc>
                <a:spcPct val="90000"/>
              </a:lnSpc>
            </a:pPr>
            <a:r>
              <a:rPr lang="ru-RU" altLang="ru-RU" dirty="0"/>
              <a:t>При использовании интерфейсов необходимо повторно реализовывать один и тот же код во всех классах</a:t>
            </a:r>
          </a:p>
          <a:p>
            <a:pPr>
              <a:lnSpc>
                <a:spcPct val="90000"/>
              </a:lnSpc>
            </a:pPr>
            <a:endParaRPr lang="ru-RU" altLang="ru-RU" dirty="0"/>
          </a:p>
          <a:p>
            <a:pPr>
              <a:lnSpc>
                <a:spcPct val="90000"/>
              </a:lnSpc>
            </a:pPr>
            <a:r>
              <a:rPr lang="ru-RU" altLang="ru-RU" dirty="0"/>
              <a:t>Проблема дальнейшего сопровождения программы</a:t>
            </a:r>
          </a:p>
          <a:p>
            <a:pPr>
              <a:lnSpc>
                <a:spcPct val="90000"/>
              </a:lnSpc>
            </a:pPr>
            <a:endParaRPr lang="ru-RU" altLang="ru-RU" dirty="0"/>
          </a:p>
          <a:p>
            <a:pPr>
              <a:lnSpc>
                <a:spcPct val="90000"/>
              </a:lnSpc>
            </a:pPr>
            <a:r>
              <a:rPr lang="ru-RU" altLang="ru-RU" dirty="0"/>
              <a:t>ИЗМЕНЕНИЯ – главный враг проектирования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8E9F663-997D-552A-01D4-570A4BEFEE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41</a:t>
            </a:fld>
            <a:endParaRPr lang="ru-RU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>
            <a:extLst>
              <a:ext uri="{FF2B5EF4-FFF2-40B4-BE49-F238E27FC236}">
                <a16:creationId xmlns:a16="http://schemas.microsoft.com/office/drawing/2014/main" id="{0680E1EE-6D85-A575-E083-78D41549350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Принцип проектирования</a:t>
            </a:r>
          </a:p>
        </p:txBody>
      </p:sp>
      <p:sp>
        <p:nvSpPr>
          <p:cNvPr id="337923" name="Rectangle 3">
            <a:extLst>
              <a:ext uri="{FF2B5EF4-FFF2-40B4-BE49-F238E27FC236}">
                <a16:creationId xmlns:a16="http://schemas.microsoft.com/office/drawing/2014/main" id="{DD263694-D94E-CA43-9A47-158799EA98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/>
            <a:endParaRPr lang="ru-RU" altLang="ru-RU" dirty="0"/>
          </a:p>
          <a:p>
            <a:r>
              <a:rPr lang="ru-RU" altLang="ru-RU" dirty="0"/>
              <a:t>Отделите изменяющиеся части приложения от тех, которые изменяться не будут, и объедините их в отдельный аспект</a:t>
            </a:r>
          </a:p>
          <a:p>
            <a:endParaRPr lang="ru-RU" altLang="ru-RU" dirty="0"/>
          </a:p>
          <a:p>
            <a:r>
              <a:rPr lang="ru-RU" altLang="ru-RU" dirty="0"/>
              <a:t>Надо программировать на уровне интерфейсов, а не на уровне реализаций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89D8B48-053A-74BF-A084-F4343793C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42</a:t>
            </a:fld>
            <a:endParaRPr lang="ru-RU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018" name="Rectangle 2">
            <a:extLst>
              <a:ext uri="{FF2B5EF4-FFF2-40B4-BE49-F238E27FC236}">
                <a16:creationId xmlns:a16="http://schemas.microsoft.com/office/drawing/2014/main" id="{F5708BF8-6ED4-9636-3D4E-1AFC88D4115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Отделение аспектов</a:t>
            </a:r>
          </a:p>
        </p:txBody>
      </p:sp>
      <p:graphicFrame>
        <p:nvGraphicFramePr>
          <p:cNvPr id="342036" name="Group 20">
            <a:extLst>
              <a:ext uri="{FF2B5EF4-FFF2-40B4-BE49-F238E27FC236}">
                <a16:creationId xmlns:a16="http://schemas.microsoft.com/office/drawing/2014/main" id="{3DB390DB-D479-7AA2-7FB6-ED6477139506}"/>
              </a:ext>
            </a:extLst>
          </p:cNvPr>
          <p:cNvGraphicFramePr>
            <a:graphicFrameLocks noGrp="1"/>
          </p:cNvGraphicFramePr>
          <p:nvPr/>
        </p:nvGraphicFramePr>
        <p:xfrm>
          <a:off x="1992314" y="1773239"/>
          <a:ext cx="8207375" cy="4606926"/>
        </p:xfrm>
        <a:graphic>
          <a:graphicData uri="http://schemas.openxmlformats.org/drawingml/2006/table">
            <a:tbl>
              <a:tblPr/>
              <a:tblGrid>
                <a:gridCol w="4103687">
                  <a:extLst>
                    <a:ext uri="{9D8B030D-6E8A-4147-A177-3AD203B41FA5}">
                      <a16:colId xmlns:a16="http://schemas.microsoft.com/office/drawing/2014/main" val="3196120656"/>
                    </a:ext>
                  </a:extLst>
                </a:gridCol>
                <a:gridCol w="4103688">
                  <a:extLst>
                    <a:ext uri="{9D8B030D-6E8A-4147-A177-3AD203B41FA5}">
                      <a16:colId xmlns:a16="http://schemas.microsoft.com/office/drawing/2014/main" val="1051755028"/>
                    </a:ext>
                  </a:extLst>
                </a:gridCol>
              </a:tblGrid>
              <a:tr h="503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Постоянные части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ru-RU" altLang="ru-RU" sz="17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Переменные части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folHlink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3188894"/>
                  </a:ext>
                </a:extLst>
              </a:tr>
              <a:tr h="410368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EDB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7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SzPct val="65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8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altLang="ru-RU" sz="17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CED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5433991"/>
                  </a:ext>
                </a:extLst>
              </a:tr>
            </a:tbl>
          </a:graphicData>
        </a:graphic>
      </p:graphicFrame>
      <p:sp>
        <p:nvSpPr>
          <p:cNvPr id="4" name="Блок-схема: узел 3">
            <a:extLst>
              <a:ext uri="{FF2B5EF4-FFF2-40B4-BE49-F238E27FC236}">
                <a16:creationId xmlns:a16="http://schemas.microsoft.com/office/drawing/2014/main" id="{573A3DE8-3811-9FE7-A5DF-6020FEA51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35188" y="2511426"/>
            <a:ext cx="1657350" cy="1584325"/>
          </a:xfrm>
          <a:prstGeom prst="flowChartConnector">
            <a:avLst/>
          </a:prstGeom>
          <a:solidFill>
            <a:schemeClr val="folHlink"/>
          </a:solidFill>
          <a:ln w="25400" algn="ctr">
            <a:solidFill>
              <a:srgbClr val="BC2665"/>
            </a:solidFill>
            <a:round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b="1" dirty="0">
                <a:latin typeface="Century Gothic" panose="020B0502020202020204" pitchFamily="34" charset="0"/>
              </a:rPr>
              <a:t>Display</a:t>
            </a:r>
            <a:endParaRPr lang="ru-RU" altLang="ru-RU" b="1" dirty="0">
              <a:latin typeface="Century Gothic" panose="020B0502020202020204" pitchFamily="34" charset="0"/>
            </a:endParaRPr>
          </a:p>
        </p:txBody>
      </p:sp>
      <p:sp>
        <p:nvSpPr>
          <p:cNvPr id="5" name="Блок-схема: узел 4">
            <a:extLst>
              <a:ext uri="{FF2B5EF4-FFF2-40B4-BE49-F238E27FC236}">
                <a16:creationId xmlns:a16="http://schemas.microsoft.com/office/drawing/2014/main" id="{B6E937DC-35FB-9BF1-1F41-F14BA933BF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74544" y="4365625"/>
            <a:ext cx="1657350" cy="1584325"/>
          </a:xfrm>
          <a:prstGeom prst="flowChartConnector">
            <a:avLst/>
          </a:prstGeom>
          <a:solidFill>
            <a:schemeClr val="folHlink"/>
          </a:solidFill>
          <a:ln w="25400" algn="ctr">
            <a:solidFill>
              <a:srgbClr val="BC2665"/>
            </a:solidFill>
            <a:round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b="1" dirty="0">
                <a:latin typeface="Century Gothic" panose="020B0502020202020204" pitchFamily="34" charset="0"/>
              </a:rPr>
              <a:t>Fly</a:t>
            </a:r>
            <a:endParaRPr lang="ru-RU" altLang="ru-RU" b="1" dirty="0">
              <a:latin typeface="Century Gothic" panose="020B0502020202020204" pitchFamily="34" charset="0"/>
            </a:endParaRPr>
          </a:p>
        </p:txBody>
      </p:sp>
      <p:sp>
        <p:nvSpPr>
          <p:cNvPr id="6" name="Блок-схема: узел 5">
            <a:extLst>
              <a:ext uri="{FF2B5EF4-FFF2-40B4-BE49-F238E27FC236}">
                <a16:creationId xmlns:a16="http://schemas.microsoft.com/office/drawing/2014/main" id="{A550A66A-09DE-818E-498E-358D8B9EA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8475" y="4365626"/>
            <a:ext cx="1657350" cy="1584325"/>
          </a:xfrm>
          <a:prstGeom prst="flowChartConnector">
            <a:avLst/>
          </a:prstGeom>
          <a:solidFill>
            <a:schemeClr val="folHlink"/>
          </a:solidFill>
          <a:ln w="25400" algn="ctr">
            <a:solidFill>
              <a:srgbClr val="BC2665"/>
            </a:solidFill>
            <a:round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b="1" dirty="0">
                <a:latin typeface="Century Gothic" panose="020B0502020202020204" pitchFamily="34" charset="0"/>
              </a:rPr>
              <a:t>Swim</a:t>
            </a:r>
            <a:endParaRPr lang="ru-RU" altLang="ru-RU" b="1" dirty="0">
              <a:latin typeface="Century Gothic" panose="020B0502020202020204" pitchFamily="34" charset="0"/>
            </a:endParaRPr>
          </a:p>
        </p:txBody>
      </p:sp>
      <p:sp>
        <p:nvSpPr>
          <p:cNvPr id="7" name="Блок-схема: узел 6">
            <a:extLst>
              <a:ext uri="{FF2B5EF4-FFF2-40B4-BE49-F238E27FC236}">
                <a16:creationId xmlns:a16="http://schemas.microsoft.com/office/drawing/2014/main" id="{4B653CE5-0DE1-B798-4AF4-D7AC5622A8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17194" y="2511426"/>
            <a:ext cx="1657350" cy="1584325"/>
          </a:xfrm>
          <a:prstGeom prst="flowChartConnector">
            <a:avLst/>
          </a:prstGeom>
          <a:solidFill>
            <a:schemeClr val="folHlink"/>
          </a:solidFill>
          <a:ln w="25400" algn="ctr">
            <a:solidFill>
              <a:srgbClr val="BC2665"/>
            </a:solidFill>
            <a:round/>
            <a:headEnd/>
            <a:tailEnd/>
          </a:ln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ru-RU" b="1" dirty="0">
                <a:latin typeface="Century Gothic" panose="020B0502020202020204" pitchFamily="34" charset="0"/>
              </a:rPr>
              <a:t>Quack</a:t>
            </a:r>
            <a:endParaRPr lang="ru-RU" altLang="ru-RU" b="1" dirty="0">
              <a:latin typeface="Century Gothic" panose="020B0502020202020204" pitchFamily="34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F03B5C7-B199-2F34-E00D-C3D281F5D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43</a:t>
            </a:fld>
            <a:endParaRPr lang="ru-RU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114" name="Rectangle 2">
            <a:extLst>
              <a:ext uri="{FF2B5EF4-FFF2-40B4-BE49-F238E27FC236}">
                <a16:creationId xmlns:a16="http://schemas.microsoft.com/office/drawing/2014/main" id="{2CE3E148-1494-C53A-F461-50E95A8FC4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DuckBase</a:t>
            </a:r>
            <a:r>
              <a:rPr lang="ru-RU" altLang="ru-RU" dirty="0"/>
              <a:t>: поля-интерфейсы</a:t>
            </a:r>
          </a:p>
        </p:txBody>
      </p:sp>
      <p:pic>
        <p:nvPicPr>
          <p:cNvPr id="346117" name="Picture 5">
            <a:extLst>
              <a:ext uri="{FF2B5EF4-FFF2-40B4-BE49-F238E27FC236}">
                <a16:creationId xmlns:a16="http://schemas.microsoft.com/office/drawing/2014/main" id="{FC11A6EB-9D06-4509-CB87-2BE345E49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21173" r="72890" b="38768"/>
          <a:stretch>
            <a:fillRect/>
          </a:stretch>
        </p:blipFill>
        <p:spPr bwMode="auto">
          <a:xfrm>
            <a:off x="2279651" y="1484314"/>
            <a:ext cx="5256213" cy="5126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B3BC160-6D22-2CC8-E93B-BF91468E21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44</a:t>
            </a:fld>
            <a:endParaRPr lang="ru-RU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090" name="Rectangle 2">
            <a:extLst>
              <a:ext uri="{FF2B5EF4-FFF2-40B4-BE49-F238E27FC236}">
                <a16:creationId xmlns:a16="http://schemas.microsoft.com/office/drawing/2014/main" id="{4C9BBF87-E971-06E1-7277-C8F081F2E11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Изменения в классах-потомках</a:t>
            </a:r>
          </a:p>
        </p:txBody>
      </p:sp>
      <p:sp>
        <p:nvSpPr>
          <p:cNvPr id="345091" name="Rectangle 3">
            <a:extLst>
              <a:ext uri="{FF2B5EF4-FFF2-40B4-BE49-F238E27FC236}">
                <a16:creationId xmlns:a16="http://schemas.microsoft.com/office/drawing/2014/main" id="{17E6E92A-1F16-B94A-280F-718334927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class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ExoticDuck</a:t>
            </a:r>
            <a:r>
              <a:rPr lang="ru-RU" altLang="ru-RU" sz="1800" b="1" dirty="0">
                <a:latin typeface="Consolas" panose="020B0609020204030204" pitchFamily="49" charset="0"/>
              </a:rPr>
              <a:t> :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DuckBase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public override void</a:t>
            </a:r>
            <a:r>
              <a:rPr lang="ru-RU" altLang="ru-RU" sz="1800" b="1" dirty="0">
                <a:latin typeface="Consolas" panose="020B0609020204030204" pitchFamily="49" charset="0"/>
              </a:rPr>
              <a:t> Display()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 </a:t>
            </a:r>
            <a:r>
              <a:rPr lang="en-US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Console</a:t>
            </a:r>
            <a:r>
              <a:rPr lang="ru-RU" altLang="ru-RU" sz="1800" b="1" dirty="0">
                <a:latin typeface="Consolas" panose="020B0609020204030204" pitchFamily="49" charset="0"/>
              </a:rPr>
              <a:t>.WriteLine(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800" b="1" dirty="0">
                <a:solidFill>
                  <a:srgbClr val="990000"/>
                </a:solidFill>
              </a:rPr>
              <a:t>Hi! I'm a Exotic Duck!</a:t>
            </a:r>
            <a:r>
              <a:rPr lang="ru-RU" altLang="ru-RU" sz="1800" b="1" dirty="0">
                <a:solidFill>
                  <a:srgbClr val="990000"/>
                </a:solidFill>
                <a:latin typeface="Consolas" panose="020B0609020204030204" pitchFamily="49" charset="0"/>
              </a:rPr>
              <a:t>"</a:t>
            </a:r>
            <a:r>
              <a:rPr lang="ru-RU" altLang="ru-RU" sz="1800" b="1" dirty="0">
                <a:latin typeface="Consolas" panose="020B0609020204030204" pitchFamily="49" charset="0"/>
              </a:rPr>
              <a:t>);</a:t>
            </a:r>
            <a:r>
              <a:rPr lang="en-US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  <a:endParaRPr lang="en-US" altLang="ru-RU" sz="1800" b="1" dirty="0"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ru-RU" altLang="ru-RU" sz="1800" b="1" dirty="0">
              <a:solidFill>
                <a:srgbClr val="003399"/>
              </a:solidFill>
              <a:latin typeface="Consolas" panose="020B0609020204030204" pitchFamily="49" charset="0"/>
            </a:endParaRP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class</a:t>
            </a:r>
            <a:r>
              <a:rPr lang="ru-RU" altLang="ru-RU" sz="1800" b="1" dirty="0">
                <a:latin typeface="Consolas" panose="020B0609020204030204" pitchFamily="49" charset="0"/>
              </a:rPr>
              <a:t> </a:t>
            </a:r>
            <a:r>
              <a:rPr lang="ru-RU" altLang="ru-RU" sz="1800" b="1" dirty="0">
                <a:solidFill>
                  <a:srgbClr val="008080"/>
                </a:solidFill>
                <a:latin typeface="Consolas" panose="020B0609020204030204" pitchFamily="49" charset="0"/>
              </a:rPr>
              <a:t>Program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{  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static void</a:t>
            </a:r>
            <a:r>
              <a:rPr lang="ru-RU" altLang="ru-RU" sz="1800" b="1" dirty="0">
                <a:latin typeface="Consolas" panose="020B0609020204030204" pitchFamily="49" charset="0"/>
              </a:rPr>
              <a:t> Main(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string</a:t>
            </a:r>
            <a:r>
              <a:rPr lang="ru-RU" altLang="ru-RU" sz="1800" b="1" dirty="0">
                <a:latin typeface="Consolas" panose="020B0609020204030204" pitchFamily="49" charset="0"/>
              </a:rPr>
              <a:t>[] args)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{   ...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        foreach</a:t>
            </a:r>
            <a:r>
              <a:rPr lang="ru-RU" altLang="ru-RU" sz="1800" b="1" dirty="0">
                <a:latin typeface="Consolas" panose="020B0609020204030204" pitchFamily="49" charset="0"/>
              </a:rPr>
              <a:t>(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var</a:t>
            </a:r>
            <a:r>
              <a:rPr lang="ru-RU" altLang="ru-RU" sz="1800" b="1" dirty="0">
                <a:latin typeface="Consolas" panose="020B0609020204030204" pitchFamily="49" charset="0"/>
              </a:rPr>
              <a:t> duck </a:t>
            </a:r>
            <a:r>
              <a:rPr lang="ru-RU" altLang="ru-RU" sz="1800" b="1" dirty="0">
                <a:solidFill>
                  <a:srgbClr val="003399"/>
                </a:solidFill>
                <a:latin typeface="Consolas" panose="020B0609020204030204" pitchFamily="49" charset="0"/>
              </a:rPr>
              <a:t>in</a:t>
            </a:r>
            <a:r>
              <a:rPr lang="ru-RU" altLang="ru-RU" sz="1800" b="1" dirty="0">
                <a:latin typeface="Consolas" panose="020B0609020204030204" pitchFamily="49" charset="0"/>
              </a:rPr>
              <a:t> ducks)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    duck.Display();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    duck.Swim();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    duck.Quack();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    duck.Fly();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sz="1800" b="1" dirty="0">
                <a:latin typeface="Consolas" panose="020B0609020204030204" pitchFamily="49" charset="0"/>
              </a:rPr>
              <a:t>}</a:t>
            </a:r>
            <a:endParaRPr lang="ru-RU" altLang="ru-RU" sz="18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FABD2AB-4B7E-F42E-48C7-B57C73AD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45</a:t>
            </a:fld>
            <a:endParaRPr lang="ru-RU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73015372-2E1F-5914-6C31-D6F0FD7064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Классы </a:t>
            </a:r>
            <a:r>
              <a:rPr lang="en-US" altLang="ru-RU" sz="4000" dirty="0"/>
              <a:t>SimpleQuack</a:t>
            </a:r>
            <a:r>
              <a:rPr lang="ru-RU" altLang="ru-RU" sz="4000" dirty="0"/>
              <a:t> и </a:t>
            </a:r>
            <a:r>
              <a:rPr lang="en-US" altLang="ru-RU" sz="4000" dirty="0"/>
              <a:t>FlyWithWings</a:t>
            </a:r>
            <a:endParaRPr lang="ru-RU" altLang="ru-RU" sz="4000" dirty="0"/>
          </a:p>
        </p:txBody>
      </p:sp>
      <p:pic>
        <p:nvPicPr>
          <p:cNvPr id="336902" name="Picture 6">
            <a:extLst>
              <a:ext uri="{FF2B5EF4-FFF2-40B4-BE49-F238E27FC236}">
                <a16:creationId xmlns:a16="http://schemas.microsoft.com/office/drawing/2014/main" id="{74251784-A141-9B8C-52A2-95590AAF9A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34534" r="73987" b="46988"/>
          <a:stretch>
            <a:fillRect/>
          </a:stretch>
        </p:blipFill>
        <p:spPr bwMode="auto">
          <a:xfrm>
            <a:off x="1774825" y="1773238"/>
            <a:ext cx="4464050" cy="211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6903" name="Picture 7">
            <a:extLst>
              <a:ext uri="{FF2B5EF4-FFF2-40B4-BE49-F238E27FC236}">
                <a16:creationId xmlns:a16="http://schemas.microsoft.com/office/drawing/2014/main" id="{D85ECFB0-0DF8-330F-1080-CAA4D867D2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34534" r="53584" b="46988"/>
          <a:stretch>
            <a:fillRect/>
          </a:stretch>
        </p:blipFill>
        <p:spPr bwMode="auto">
          <a:xfrm>
            <a:off x="1871664" y="4437063"/>
            <a:ext cx="8796337" cy="21129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3D41A8A-145B-06EC-AF64-C63BF4797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46</a:t>
            </a:fld>
            <a:endParaRPr lang="ru-RU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69E07C27-199A-32C4-CE40-4A324FACEEE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DuckBase</a:t>
            </a:r>
            <a:r>
              <a:rPr lang="ru-RU" altLang="ru-RU" dirty="0"/>
              <a:t>: конструктор</a:t>
            </a:r>
          </a:p>
        </p:txBody>
      </p:sp>
      <p:pic>
        <p:nvPicPr>
          <p:cNvPr id="351238" name="Picture 6">
            <a:extLst>
              <a:ext uri="{FF2B5EF4-FFF2-40B4-BE49-F238E27FC236}">
                <a16:creationId xmlns:a16="http://schemas.microsoft.com/office/drawing/2014/main" id="{C17349D1-20F6-4E92-4F19-CCEEDE7565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21173" r="71230" b="38768"/>
          <a:stretch>
            <a:fillRect/>
          </a:stretch>
        </p:blipFill>
        <p:spPr bwMode="auto">
          <a:xfrm>
            <a:off x="1774825" y="1484314"/>
            <a:ext cx="5545138" cy="5030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CE53229-B131-7FC5-D9F1-EC15ECF69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47</a:t>
            </a:fld>
            <a:endParaRPr lang="ru-RU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242" name="Rectangle 2">
            <a:extLst>
              <a:ext uri="{FF2B5EF4-FFF2-40B4-BE49-F238E27FC236}">
                <a16:creationId xmlns:a16="http://schemas.microsoft.com/office/drawing/2014/main" id="{4390B1B2-1837-825A-F67D-66B6A59417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Запуск: начинаем все с начала!</a:t>
            </a:r>
          </a:p>
        </p:txBody>
      </p:sp>
      <p:pic>
        <p:nvPicPr>
          <p:cNvPr id="394244" name="Picture 4">
            <a:extLst>
              <a:ext uri="{FF2B5EF4-FFF2-40B4-BE49-F238E27FC236}">
                <a16:creationId xmlns:a16="http://schemas.microsoft.com/office/drawing/2014/main" id="{20A50BF9-47EB-F00B-0688-A903F0497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1477963"/>
            <a:ext cx="6337300" cy="5111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D95EC2-9552-3885-5B3C-C7454501F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48</a:t>
            </a:fld>
            <a:endParaRPr lang="ru-RU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>
            <a:extLst>
              <a:ext uri="{FF2B5EF4-FFF2-40B4-BE49-F238E27FC236}">
                <a16:creationId xmlns:a16="http://schemas.microsoft.com/office/drawing/2014/main" id="{AC6755B8-975D-8E4C-7D7A-2A4E7AD7E0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Классы </a:t>
            </a:r>
            <a:r>
              <a:rPr lang="en-US" altLang="ru-RU" dirty="0"/>
              <a:t>NoFly</a:t>
            </a:r>
            <a:r>
              <a:rPr lang="ru-RU" altLang="ru-RU" dirty="0"/>
              <a:t> и </a:t>
            </a:r>
            <a:r>
              <a:rPr lang="en-US" altLang="ru-RU" dirty="0"/>
              <a:t>NoQuack</a:t>
            </a:r>
            <a:endParaRPr lang="ru-RU" altLang="ru-RU" dirty="0"/>
          </a:p>
        </p:txBody>
      </p:sp>
      <p:pic>
        <p:nvPicPr>
          <p:cNvPr id="354309" name="Picture 5">
            <a:extLst>
              <a:ext uri="{FF2B5EF4-FFF2-40B4-BE49-F238E27FC236}">
                <a16:creationId xmlns:a16="http://schemas.microsoft.com/office/drawing/2014/main" id="{F4C67CF7-27A7-13C2-58C5-504614F4BA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34607" r="78416" b="50069"/>
          <a:stretch>
            <a:fillRect/>
          </a:stretch>
        </p:blipFill>
        <p:spPr bwMode="auto">
          <a:xfrm>
            <a:off x="2279650" y="1844675"/>
            <a:ext cx="4076700" cy="202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4310" name="Picture 6">
            <a:extLst>
              <a:ext uri="{FF2B5EF4-FFF2-40B4-BE49-F238E27FC236}">
                <a16:creationId xmlns:a16="http://schemas.microsoft.com/office/drawing/2014/main" id="{F04F19B6-6308-CF58-909F-D8AB5B581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34607" r="76208" b="50069"/>
          <a:stretch>
            <a:fillRect/>
          </a:stretch>
        </p:blipFill>
        <p:spPr bwMode="auto">
          <a:xfrm>
            <a:off x="2135189" y="4365625"/>
            <a:ext cx="4752975" cy="2027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2CE4B8-44DE-C987-6CF1-CECAC87A7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49</a:t>
            </a:fld>
            <a:endParaRPr lang="ru-RU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282" name="Rectangle 2">
            <a:extLst>
              <a:ext uri="{FF2B5EF4-FFF2-40B4-BE49-F238E27FC236}">
                <a16:creationId xmlns:a16="http://schemas.microsoft.com/office/drawing/2014/main" id="{461A6783-BFDD-FC65-1F48-F69939D9812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Переопределяем конструкторы</a:t>
            </a:r>
          </a:p>
        </p:txBody>
      </p:sp>
      <p:pic>
        <p:nvPicPr>
          <p:cNvPr id="353287" name="Picture 7">
            <a:extLst>
              <a:ext uri="{FF2B5EF4-FFF2-40B4-BE49-F238E27FC236}">
                <a16:creationId xmlns:a16="http://schemas.microsoft.com/office/drawing/2014/main" id="{EF2C794B-AC9A-F17F-7EC2-6C6676BD5F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27985" r="73988" b="48007"/>
          <a:stretch>
            <a:fillRect/>
          </a:stretch>
        </p:blipFill>
        <p:spPr bwMode="auto">
          <a:xfrm>
            <a:off x="1703389" y="1412875"/>
            <a:ext cx="4276725" cy="26304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3288" name="Picture 8">
            <a:extLst>
              <a:ext uri="{FF2B5EF4-FFF2-40B4-BE49-F238E27FC236}">
                <a16:creationId xmlns:a16="http://schemas.microsoft.com/office/drawing/2014/main" id="{04483329-9EC0-F4B7-17BF-5DEF7D0ACF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0" t="36594" r="73987" b="40807"/>
          <a:stretch>
            <a:fillRect/>
          </a:stretch>
        </p:blipFill>
        <p:spPr bwMode="auto">
          <a:xfrm>
            <a:off x="1558926" y="4149725"/>
            <a:ext cx="4391025" cy="247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53285" name="Picture 5">
            <a:extLst>
              <a:ext uri="{FF2B5EF4-FFF2-40B4-BE49-F238E27FC236}">
                <a16:creationId xmlns:a16="http://schemas.microsoft.com/office/drawing/2014/main" id="{1684093A-E637-EC43-1BEC-03258882F7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5638" y="3144838"/>
            <a:ext cx="4932362" cy="3713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8296BC3-718D-CCE7-39C7-D05C6127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50</a:t>
            </a:fld>
            <a:endParaRPr lang="ru-RU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CD1CCEDF-43D3-3272-272A-900D2C5E9F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599" y="596538"/>
            <a:ext cx="10560205" cy="733697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Динамическое изменение полета и кряканья</a:t>
            </a:r>
          </a:p>
        </p:txBody>
      </p:sp>
      <p:pic>
        <p:nvPicPr>
          <p:cNvPr id="358404" name="Picture 4">
            <a:extLst>
              <a:ext uri="{FF2B5EF4-FFF2-40B4-BE49-F238E27FC236}">
                <a16:creationId xmlns:a16="http://schemas.microsoft.com/office/drawing/2014/main" id="{9A67A23E-ACE1-F20C-3D20-96AF43D14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77" t="19853" r="61823" b="28488"/>
          <a:stretch>
            <a:fillRect/>
          </a:stretch>
        </p:blipFill>
        <p:spPr bwMode="auto">
          <a:xfrm>
            <a:off x="1847850" y="1484314"/>
            <a:ext cx="6408738" cy="537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3D23D1-A445-9A29-D68E-5BEA9523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51</a:t>
            </a:fld>
            <a:endParaRPr lang="ru-RU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498" name="Rectangle 2">
            <a:extLst>
              <a:ext uri="{FF2B5EF4-FFF2-40B4-BE49-F238E27FC236}">
                <a16:creationId xmlns:a16="http://schemas.microsoft.com/office/drawing/2014/main" id="{F6C036CA-F097-FE91-D1C6-9BCB88ECD5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Результат</a:t>
            </a:r>
          </a:p>
        </p:txBody>
      </p:sp>
      <p:pic>
        <p:nvPicPr>
          <p:cNvPr id="362500" name="Рисунок 3" descr="Вырезка экрана">
            <a:extLst>
              <a:ext uri="{FF2B5EF4-FFF2-40B4-BE49-F238E27FC236}">
                <a16:creationId xmlns:a16="http://schemas.microsoft.com/office/drawing/2014/main" id="{C7C8268E-AC52-507B-F990-17BDD1498EE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-24000" contras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7850" y="1620839"/>
            <a:ext cx="8434388" cy="4962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7DDEFA6-1913-9F20-8930-1F5CB24F22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52</a:t>
            </a:fld>
            <a:endParaRPr lang="ru-RU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493373E1-2F74-EE36-B111-D4822C073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600" dirty="0"/>
              <a:t>Паттерны проектирования: Команда (</a:t>
            </a:r>
            <a:r>
              <a:rPr lang="en-US" altLang="ru-RU" sz="4600" dirty="0"/>
              <a:t>Command)</a:t>
            </a:r>
            <a:endParaRPr lang="ru-RU" altLang="ru-RU" sz="4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2DCF292-EC2B-7B87-F8B2-BDA3B31F3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53</a:t>
            </a:fld>
            <a:endParaRPr lang="ru-RU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770" name="Rectangle 2">
            <a:extLst>
              <a:ext uri="{FF2B5EF4-FFF2-40B4-BE49-F238E27FC236}">
                <a16:creationId xmlns:a16="http://schemas.microsoft.com/office/drawing/2014/main" id="{0C0534B9-E1BC-224F-E82A-A95B802001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Определение</a:t>
            </a:r>
          </a:p>
        </p:txBody>
      </p:sp>
      <p:sp>
        <p:nvSpPr>
          <p:cNvPr id="288771" name="Rectangle 3">
            <a:extLst>
              <a:ext uri="{FF2B5EF4-FFF2-40B4-BE49-F238E27FC236}">
                <a16:creationId xmlns:a16="http://schemas.microsoft.com/office/drawing/2014/main" id="{33DF7DD9-12BE-113C-B995-9570F76A79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Команда</a:t>
            </a:r>
            <a:r>
              <a:rPr lang="ru-RU" altLang="ru-RU" sz="2400" dirty="0"/>
              <a:t> (</a:t>
            </a:r>
            <a:r>
              <a:rPr lang="ru-RU" altLang="ru-RU" sz="2400" i="1" dirty="0"/>
              <a:t>Command</a:t>
            </a:r>
            <a:r>
              <a:rPr lang="ru-RU" altLang="ru-RU" sz="2400" dirty="0"/>
              <a:t>) — поведенческий шаблон проектирования, используемый при объектно-ориентированном программировании, представляющий действие. </a:t>
            </a:r>
          </a:p>
          <a:p>
            <a:endParaRPr lang="en-US" altLang="ru-RU" sz="2400" dirty="0"/>
          </a:p>
          <a:p>
            <a:r>
              <a:rPr lang="ru-RU" altLang="ru-RU" sz="2400" dirty="0"/>
              <a:t>Объект Команды заключает в себе само действие и его параметры.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4A5EEF8-B5B5-2044-3842-21152D6A6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54</a:t>
            </a:fld>
            <a:endParaRPr lang="ru-RU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435DBF4B-65AC-964C-982A-2FB6EC9EE12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Цель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16595F45-BFCB-111E-BB39-CEDF150BF1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Создание структуры, в которой класс-отправитель и класс-получатель не зависят друг от друга напрямую. </a:t>
            </a:r>
          </a:p>
          <a:p>
            <a:endParaRPr lang="ru-RU" altLang="ru-RU" sz="2400" dirty="0"/>
          </a:p>
          <a:p>
            <a:r>
              <a:rPr lang="ru-RU" altLang="ru-RU" sz="2400" dirty="0"/>
              <a:t>Организация обратного вызова к классу, который включает в себя класс-отправитель.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B37AA51-00CA-D8E5-E5E6-3FA0A0703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55</a:t>
            </a:fld>
            <a:endParaRPr lang="ru-RU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C1DA0574-0531-17F7-2994-5A8377EE9D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Описание</a:t>
            </a:r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1ECC58E3-B4A1-35E6-8CAA-C96BDA7C5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Паттерн поведения объектов, известен также под именем Action (действие).</a:t>
            </a:r>
          </a:p>
          <a:p>
            <a:endParaRPr lang="ru-RU" altLang="ru-RU" sz="2400" dirty="0"/>
          </a:p>
          <a:p>
            <a:r>
              <a:rPr lang="ru-RU" altLang="ru-RU" sz="2400" dirty="0"/>
              <a:t>Обеспечивает обработку команды в виде объекта, что позволяет сохранять её, передавать в качестве параметра методам, а также возвращать её в виде результата, как и любой другой объект.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EB1B6DB-2712-4978-6C31-8CA03A339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56</a:t>
            </a:fld>
            <a:endParaRPr lang="ru-RU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4" name="Rectangle 4">
            <a:extLst>
              <a:ext uri="{FF2B5EF4-FFF2-40B4-BE49-F238E27FC236}">
                <a16:creationId xmlns:a16="http://schemas.microsoft.com/office/drawing/2014/main" id="{B1591BCF-25F2-57AF-76CD-F8D7CDA1A9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Класс Пульт RemoteControl</a:t>
            </a:r>
          </a:p>
        </p:txBody>
      </p:sp>
      <p:pic>
        <p:nvPicPr>
          <p:cNvPr id="317448" name="Picture 8">
            <a:extLst>
              <a:ext uri="{FF2B5EF4-FFF2-40B4-BE49-F238E27FC236}">
                <a16:creationId xmlns:a16="http://schemas.microsoft.com/office/drawing/2014/main" id="{E3C14449-1C67-6726-54E1-38E8096FD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1336676"/>
            <a:ext cx="6769100" cy="515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548B98E-A3E7-CC45-4D9D-E6A237BC0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57</a:t>
            </a:fld>
            <a:endParaRPr lang="ru-RU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94D48F92-8793-0B09-50B7-2E4B7A6FAA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Главная программа</a:t>
            </a:r>
          </a:p>
        </p:txBody>
      </p:sp>
      <p:pic>
        <p:nvPicPr>
          <p:cNvPr id="289797" name="Picture 5">
            <a:extLst>
              <a:ext uri="{FF2B5EF4-FFF2-40B4-BE49-F238E27FC236}">
                <a16:creationId xmlns:a16="http://schemas.microsoft.com/office/drawing/2014/main" id="{739B9981-04E5-9ABA-201D-681CAFB04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1700213"/>
            <a:ext cx="7559675" cy="3981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21719A-E330-F727-CF1B-2CEEEF41B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58</a:t>
            </a:fld>
            <a:endParaRPr lang="ru-RU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22" name="Rectangle 6">
            <a:extLst>
              <a:ext uri="{FF2B5EF4-FFF2-40B4-BE49-F238E27FC236}">
                <a16:creationId xmlns:a16="http://schemas.microsoft.com/office/drawing/2014/main" id="{29C08F8E-7939-0635-BAC7-923AA3D2DA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</a:t>
            </a:r>
            <a:r>
              <a:rPr lang="en-US" altLang="ru-RU" sz="4000" dirty="0"/>
              <a:t>RemoteControl</a:t>
            </a:r>
            <a:r>
              <a:rPr lang="ru-RU" altLang="ru-RU" sz="4000" dirty="0"/>
              <a:t>: </a:t>
            </a:r>
            <a:br>
              <a:rPr lang="en-US" altLang="ru-RU" sz="4000" dirty="0"/>
            </a:br>
            <a:r>
              <a:rPr lang="ru-RU" altLang="ru-RU" sz="4000" dirty="0"/>
              <a:t>метод PerformAction</a:t>
            </a:r>
          </a:p>
        </p:txBody>
      </p:sp>
      <p:pic>
        <p:nvPicPr>
          <p:cNvPr id="290825" name="Picture 9">
            <a:extLst>
              <a:ext uri="{FF2B5EF4-FFF2-40B4-BE49-F238E27FC236}">
                <a16:creationId xmlns:a16="http://schemas.microsoft.com/office/drawing/2014/main" id="{E768B102-4BED-695F-28A3-A730AD1128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1747838"/>
            <a:ext cx="5688013" cy="511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3D87103-3537-06C7-884A-F21695F47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59</a:t>
            </a:fld>
            <a:endParaRPr lang="ru-RU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Rectangle 4">
            <a:extLst>
              <a:ext uri="{FF2B5EF4-FFF2-40B4-BE49-F238E27FC236}">
                <a16:creationId xmlns:a16="http://schemas.microsoft.com/office/drawing/2014/main" id="{3ED9D6FD-95A1-7950-4D97-2DE9F271E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</a:t>
            </a:r>
            <a:r>
              <a:rPr lang="en-US" altLang="ru-RU" sz="4000" dirty="0"/>
              <a:t>RemoteControl</a:t>
            </a:r>
            <a:r>
              <a:rPr lang="ru-RU" altLang="ru-RU" sz="4000" dirty="0"/>
              <a:t>: </a:t>
            </a:r>
            <a:br>
              <a:rPr lang="en-US" altLang="ru-RU" sz="4000" dirty="0"/>
            </a:br>
            <a:r>
              <a:rPr lang="ru-RU" altLang="ru-RU" sz="4000" dirty="0"/>
              <a:t>методы работы оборудования</a:t>
            </a:r>
          </a:p>
        </p:txBody>
      </p:sp>
      <p:pic>
        <p:nvPicPr>
          <p:cNvPr id="320518" name="Picture 6">
            <a:extLst>
              <a:ext uri="{FF2B5EF4-FFF2-40B4-BE49-F238E27FC236}">
                <a16:creationId xmlns:a16="http://schemas.microsoft.com/office/drawing/2014/main" id="{C0B1440A-6261-3E7A-3274-B9E65CFDE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0014" y="1628775"/>
            <a:ext cx="6624637" cy="4375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DE0434C-053C-9B7F-C195-D92226EBF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60</a:t>
            </a:fld>
            <a:endParaRPr lang="ru-RU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978" name="Rectangle 2">
            <a:extLst>
              <a:ext uri="{FF2B5EF4-FFF2-40B4-BE49-F238E27FC236}">
                <a16:creationId xmlns:a16="http://schemas.microsoft.com/office/drawing/2014/main" id="{0747D54C-E16E-6A04-B8AB-C05943824F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</a:t>
            </a:r>
            <a:r>
              <a:rPr lang="en-US" altLang="ru-RU" sz="4000" dirty="0"/>
              <a:t>RemoteControl</a:t>
            </a:r>
            <a:r>
              <a:rPr lang="ru-RU" altLang="ru-RU" sz="4000" dirty="0"/>
              <a:t>: </a:t>
            </a:r>
            <a:br>
              <a:rPr lang="en-US" altLang="ru-RU" sz="4000" dirty="0"/>
            </a:br>
            <a:r>
              <a:rPr lang="ru-RU" altLang="ru-RU" sz="4000" dirty="0"/>
              <a:t>методы работы оборудования</a:t>
            </a:r>
          </a:p>
        </p:txBody>
      </p:sp>
      <p:sp>
        <p:nvSpPr>
          <p:cNvPr id="382980" name="Rectangle 4">
            <a:extLst>
              <a:ext uri="{FF2B5EF4-FFF2-40B4-BE49-F238E27FC236}">
                <a16:creationId xmlns:a16="http://schemas.microsoft.com/office/drawing/2014/main" id="{6F08E0FD-3150-8A39-744B-A7EEDE6FA2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ru-RU" altLang="ru-RU" dirty="0"/>
          </a:p>
          <a:p>
            <a:r>
              <a:rPr lang="ru-RU" altLang="ru-RU" dirty="0"/>
              <a:t>Добавьте самостоятельно недостающие методы класса и отладьте работу приложения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FA1F992-1679-37B7-7874-E8367B99D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61</a:t>
            </a:fld>
            <a:endParaRPr lang="ru-RU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2" name="Rectangle 4">
            <a:extLst>
              <a:ext uri="{FF2B5EF4-FFF2-40B4-BE49-F238E27FC236}">
                <a16:creationId xmlns:a16="http://schemas.microsoft.com/office/drawing/2014/main" id="{6C9132FB-11B4-1E70-C5A7-A023FD8E8F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Интерфейс </a:t>
            </a:r>
            <a:r>
              <a:rPr lang="en-US" altLang="ru-RU" dirty="0"/>
              <a:t>ICommand</a:t>
            </a:r>
            <a:endParaRPr lang="ru-RU" altLang="ru-RU" dirty="0"/>
          </a:p>
        </p:txBody>
      </p:sp>
      <p:sp>
        <p:nvSpPr>
          <p:cNvPr id="299013" name="Rectangle 5">
            <a:extLst>
              <a:ext uri="{FF2B5EF4-FFF2-40B4-BE49-F238E27FC236}">
                <a16:creationId xmlns:a16="http://schemas.microsoft.com/office/drawing/2014/main" id="{851AB4B2-3F5F-BB1D-0A0C-A7977B2828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703389" y="1628776"/>
            <a:ext cx="8785225" cy="1584325"/>
          </a:xfrm>
        </p:spPr>
        <p:txBody>
          <a:bodyPr/>
          <a:lstStyle/>
          <a:p>
            <a:r>
              <a:rPr lang="ru-RU" altLang="ru-RU" dirty="0"/>
              <a:t>Создать папку </a:t>
            </a:r>
            <a:r>
              <a:rPr lang="en-US" altLang="ru-RU" dirty="0"/>
              <a:t>Coomands</a:t>
            </a:r>
            <a:r>
              <a:rPr lang="ru-RU" altLang="ru-RU" dirty="0"/>
              <a:t>, в которой будут размещаться все команды. </a:t>
            </a:r>
          </a:p>
          <a:p>
            <a:r>
              <a:rPr lang="ru-RU" altLang="ru-RU" dirty="0"/>
              <a:t>Начнем с интерфейса Команды </a:t>
            </a:r>
            <a:r>
              <a:rPr lang="en-US" altLang="ru-RU" dirty="0"/>
              <a:t>ICommand</a:t>
            </a:r>
            <a:endParaRPr lang="ru-RU" altLang="ru-RU" dirty="0"/>
          </a:p>
        </p:txBody>
      </p:sp>
      <p:pic>
        <p:nvPicPr>
          <p:cNvPr id="299014" name="Picture 6">
            <a:extLst>
              <a:ext uri="{FF2B5EF4-FFF2-40B4-BE49-F238E27FC236}">
                <a16:creationId xmlns:a16="http://schemas.microsoft.com/office/drawing/2014/main" id="{550570FC-CE2A-DB6A-0552-AC6DF63D8C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0" y="3573464"/>
            <a:ext cx="5435600" cy="235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4BBA50-85F2-FEDA-FB41-C9660A1AC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62</a:t>
            </a:fld>
            <a:endParaRPr lang="ru-RU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05D271CA-90CB-BC4D-B803-AA1CEC8F43F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Наследники – классы для работы с устройствами</a:t>
            </a:r>
          </a:p>
        </p:txBody>
      </p:sp>
      <p:pic>
        <p:nvPicPr>
          <p:cNvPr id="296964" name="Picture 4">
            <a:extLst>
              <a:ext uri="{FF2B5EF4-FFF2-40B4-BE49-F238E27FC236}">
                <a16:creationId xmlns:a16="http://schemas.microsoft.com/office/drawing/2014/main" id="{88F840DA-D3C2-B695-143B-72B0BF5F40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1700213"/>
            <a:ext cx="5184775" cy="2209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96965" name="Picture 5">
            <a:extLst>
              <a:ext uri="{FF2B5EF4-FFF2-40B4-BE49-F238E27FC236}">
                <a16:creationId xmlns:a16="http://schemas.microsoft.com/office/drawing/2014/main" id="{FD6DB52E-9F4F-97F9-0AB0-12A35253EA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1" y="4076701"/>
            <a:ext cx="4900613" cy="2193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05EFD24-B273-66D6-9134-6EE952F69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63</a:t>
            </a:fld>
            <a:endParaRPr lang="ru-RU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098" name="Rectangle 2">
            <a:extLst>
              <a:ext uri="{FF2B5EF4-FFF2-40B4-BE49-F238E27FC236}">
                <a16:creationId xmlns:a16="http://schemas.microsoft.com/office/drawing/2014/main" id="{D43C63BF-167B-CC46-7D1C-8E70F809FD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Наследники – классы для работы с устройствами</a:t>
            </a:r>
          </a:p>
        </p:txBody>
      </p:sp>
      <p:pic>
        <p:nvPicPr>
          <p:cNvPr id="388101" name="Picture 5">
            <a:extLst>
              <a:ext uri="{FF2B5EF4-FFF2-40B4-BE49-F238E27FC236}">
                <a16:creationId xmlns:a16="http://schemas.microsoft.com/office/drawing/2014/main" id="{E3D83094-69CC-51FB-CD9E-79C0D45A4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550" y="2708276"/>
            <a:ext cx="5473700" cy="2176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01F099E-3E4A-5150-81BC-B267B722F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64</a:t>
            </a:fld>
            <a:endParaRPr lang="ru-RU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8" name="Rectangle 4">
            <a:extLst>
              <a:ext uri="{FF2B5EF4-FFF2-40B4-BE49-F238E27FC236}">
                <a16:creationId xmlns:a16="http://schemas.microsoft.com/office/drawing/2014/main" id="{968CDCED-3D34-5D45-C652-C023AFBA3D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Класс RemoteControl: внедрение классов оборудования</a:t>
            </a:r>
          </a:p>
        </p:txBody>
      </p:sp>
      <p:pic>
        <p:nvPicPr>
          <p:cNvPr id="297991" name="Picture 7">
            <a:extLst>
              <a:ext uri="{FF2B5EF4-FFF2-40B4-BE49-F238E27FC236}">
                <a16:creationId xmlns:a16="http://schemas.microsoft.com/office/drawing/2014/main" id="{160B90F7-EBEE-FA0E-B883-B4A54BA072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3" y="1484314"/>
            <a:ext cx="5199062" cy="53736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6F29436-3203-7129-0FB6-4C236BC27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65</a:t>
            </a:fld>
            <a:endParaRPr lang="ru-RU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>
            <a:extLst>
              <a:ext uri="{FF2B5EF4-FFF2-40B4-BE49-F238E27FC236}">
                <a16:creationId xmlns:a16="http://schemas.microsoft.com/office/drawing/2014/main" id="{365F054E-4997-BA93-60A9-9C4413D1D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Метод </a:t>
            </a:r>
            <a:r>
              <a:rPr lang="en-US" altLang="ru-RU" sz="4000" dirty="0"/>
              <a:t>ToString() </a:t>
            </a:r>
            <a:r>
              <a:rPr lang="ru-RU" altLang="ru-RU" sz="4000" dirty="0"/>
              <a:t>во всех командах</a:t>
            </a:r>
          </a:p>
        </p:txBody>
      </p:sp>
      <p:pic>
        <p:nvPicPr>
          <p:cNvPr id="300037" name="Picture 5">
            <a:extLst>
              <a:ext uri="{FF2B5EF4-FFF2-40B4-BE49-F238E27FC236}">
                <a16:creationId xmlns:a16="http://schemas.microsoft.com/office/drawing/2014/main" id="{45B30743-CFA2-B8EC-B005-F4B65CDD3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2175" y="2349500"/>
            <a:ext cx="5113338" cy="365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4DA3867-B46F-91AC-9890-3F9717D4E1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66</a:t>
            </a:fld>
            <a:endParaRPr lang="ru-RU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62BCBF5F-627E-5FFB-5D6A-2DA8D6778B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Модификация метода-меню</a:t>
            </a:r>
          </a:p>
        </p:txBody>
      </p:sp>
      <p:pic>
        <p:nvPicPr>
          <p:cNvPr id="303109" name="Picture 5">
            <a:extLst>
              <a:ext uri="{FF2B5EF4-FFF2-40B4-BE49-F238E27FC236}">
                <a16:creationId xmlns:a16="http://schemas.microsoft.com/office/drawing/2014/main" id="{E01C20DC-C1BE-1B6C-173B-1A4C50C9A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4" y="1628776"/>
            <a:ext cx="6264275" cy="497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E15973E7-C7A7-0E2E-BD5C-F98379E5E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67</a:t>
            </a:fld>
            <a:endParaRPr lang="ru-RU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60" name="Rectangle 4">
            <a:extLst>
              <a:ext uri="{FF2B5EF4-FFF2-40B4-BE49-F238E27FC236}">
                <a16:creationId xmlns:a16="http://schemas.microsoft.com/office/drawing/2014/main" id="{4DC74FFF-06AB-3B69-E17D-E06F9CF2AC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Метод SetCommandForButton: Назначение команды кнопке</a:t>
            </a:r>
            <a:r>
              <a:rPr lang="en-US" altLang="ru-RU" sz="4000" dirty="0"/>
              <a:t> </a:t>
            </a:r>
            <a:r>
              <a:rPr lang="ru-RU" altLang="ru-RU" sz="4000" dirty="0"/>
              <a:t>и изменение конструктора</a:t>
            </a:r>
          </a:p>
        </p:txBody>
      </p:sp>
      <p:pic>
        <p:nvPicPr>
          <p:cNvPr id="301064" name="Picture 8">
            <a:extLst>
              <a:ext uri="{FF2B5EF4-FFF2-40B4-BE49-F238E27FC236}">
                <a16:creationId xmlns:a16="http://schemas.microsoft.com/office/drawing/2014/main" id="{DEEAC5DC-CA71-C9A5-C935-D30BB66988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9" y="2098676"/>
            <a:ext cx="7921625" cy="4759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3B85747-CE0B-8281-0245-7526FA84B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68</a:t>
            </a:fld>
            <a:endParaRPr lang="ru-RU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0018AE9B-86DC-B49B-153B-224C32B7333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Переопределение кнопки</a:t>
            </a:r>
          </a:p>
        </p:txBody>
      </p:sp>
      <p:pic>
        <p:nvPicPr>
          <p:cNvPr id="302086" name="Picture 6">
            <a:extLst>
              <a:ext uri="{FF2B5EF4-FFF2-40B4-BE49-F238E27FC236}">
                <a16:creationId xmlns:a16="http://schemas.microsoft.com/office/drawing/2014/main" id="{C0565505-E25F-1794-FEAF-985118B8F7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7351" y="1412875"/>
            <a:ext cx="6481763" cy="5270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08446D3-F10A-9F64-1CA1-17B65AC5E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69</a:t>
            </a:fld>
            <a:endParaRPr lang="ru-RU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>
            <a:extLst>
              <a:ext uri="{FF2B5EF4-FFF2-40B4-BE49-F238E27FC236}">
                <a16:creationId xmlns:a16="http://schemas.microsoft.com/office/drawing/2014/main" id="{5FFC1BB2-F8C4-0034-2700-F498E7A4B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Паттерн Команда </a:t>
            </a:r>
            <a:r>
              <a:rPr lang="en-US" altLang="ru-RU" dirty="0"/>
              <a:t>Command</a:t>
            </a:r>
            <a:endParaRPr lang="ru-RU" altLang="ru-RU" dirty="0"/>
          </a:p>
        </p:txBody>
      </p:sp>
      <p:sp>
        <p:nvSpPr>
          <p:cNvPr id="332803" name="Rectangle 3">
            <a:extLst>
              <a:ext uri="{FF2B5EF4-FFF2-40B4-BE49-F238E27FC236}">
                <a16:creationId xmlns:a16="http://schemas.microsoft.com/office/drawing/2014/main" id="{DBEC78CF-7525-7203-96C3-22D7063DAC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Паттерн Команда </a:t>
            </a:r>
            <a:r>
              <a:rPr lang="ru-RU" altLang="ru-RU" sz="2400" dirty="0"/>
              <a:t>инкапсулирует запрос в виде объекта, позволяя параметризировать клиентские запросы другими объектами, с возможностью отмены операций и поддержкой состояния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1BCB5AF-65ED-D03A-C9E4-EC7DC4975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70</a:t>
            </a:fld>
            <a:endParaRPr lang="ru-RU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>
            <a:extLst>
              <a:ext uri="{FF2B5EF4-FFF2-40B4-BE49-F238E27FC236}">
                <a16:creationId xmlns:a16="http://schemas.microsoft.com/office/drawing/2014/main" id="{3451D69A-1955-5D82-2D7E-4AA9EE0BC2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Диаграмма классов проекта</a:t>
            </a:r>
          </a:p>
        </p:txBody>
      </p:sp>
      <p:pic>
        <p:nvPicPr>
          <p:cNvPr id="336900" name="Picture 4">
            <a:extLst>
              <a:ext uri="{FF2B5EF4-FFF2-40B4-BE49-F238E27FC236}">
                <a16:creationId xmlns:a16="http://schemas.microsoft.com/office/drawing/2014/main" id="{91A929E8-AA08-66FC-3255-7FD746B3EE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1700213"/>
            <a:ext cx="9144000" cy="4176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57FF4B2-1242-A822-A2A2-FC1E0716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71</a:t>
            </a:fld>
            <a:endParaRPr lang="ru-RU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>
            <a:extLst>
              <a:ext uri="{FF2B5EF4-FFF2-40B4-BE49-F238E27FC236}">
                <a16:creationId xmlns:a16="http://schemas.microsoft.com/office/drawing/2014/main" id="{CCDCAC73-6AA2-E095-F8A7-FE6113964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Диаграмма классов </a:t>
            </a:r>
          </a:p>
        </p:txBody>
      </p:sp>
      <p:pic>
        <p:nvPicPr>
          <p:cNvPr id="334852" name="Рисунок 3" descr="Вырезка экрана">
            <a:extLst>
              <a:ext uri="{FF2B5EF4-FFF2-40B4-BE49-F238E27FC236}">
                <a16:creationId xmlns:a16="http://schemas.microsoft.com/office/drawing/2014/main" id="{AD697017-056F-0599-BBC2-4BE8D2511F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3750" y="1341438"/>
            <a:ext cx="8135938" cy="5003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4739AC6-4D8C-CFC2-F7AD-EC317C68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72</a:t>
            </a:fld>
            <a:endParaRPr lang="ru-RU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435B99DA-0168-2AC1-2586-A97849C7A9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Классы реальных устройств</a:t>
            </a:r>
          </a:p>
        </p:txBody>
      </p:sp>
      <p:pic>
        <p:nvPicPr>
          <p:cNvPr id="311301" name="Picture 5">
            <a:extLst>
              <a:ext uri="{FF2B5EF4-FFF2-40B4-BE49-F238E27FC236}">
                <a16:creationId xmlns:a16="http://schemas.microsoft.com/office/drawing/2014/main" id="{235D5742-A4EA-D9E5-34D9-C028F16478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1341438"/>
            <a:ext cx="6337300" cy="50784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EF51568-C662-3162-98D3-5EE20A769A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73</a:t>
            </a:fld>
            <a:endParaRPr lang="ru-RU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994" name="Rectangle 2">
            <a:extLst>
              <a:ext uri="{FF2B5EF4-FFF2-40B4-BE49-F238E27FC236}">
                <a16:creationId xmlns:a16="http://schemas.microsoft.com/office/drawing/2014/main" id="{EF00BA59-15A2-83E2-89BB-79125A725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Тип </a:t>
            </a:r>
            <a:r>
              <a:rPr lang="en-US" altLang="ru-RU" dirty="0"/>
              <a:t>State </a:t>
            </a:r>
            <a:r>
              <a:rPr lang="ru-RU" altLang="ru-RU" dirty="0"/>
              <a:t>Перечисление</a:t>
            </a:r>
          </a:p>
        </p:txBody>
      </p:sp>
      <p:pic>
        <p:nvPicPr>
          <p:cNvPr id="340997" name="Picture 5">
            <a:extLst>
              <a:ext uri="{FF2B5EF4-FFF2-40B4-BE49-F238E27FC236}">
                <a16:creationId xmlns:a16="http://schemas.microsoft.com/office/drawing/2014/main" id="{D1EA0872-9A72-9107-EE20-9B38752B94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08438" y="2025651"/>
            <a:ext cx="3382962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6A14AB-7E84-6851-589C-BD80860F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74</a:t>
            </a:fld>
            <a:endParaRPr lang="ru-RU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542405DE-7BDF-45CD-3292-6CCB55F3279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Изменения в классах команд</a:t>
            </a:r>
          </a:p>
        </p:txBody>
      </p:sp>
      <p:pic>
        <p:nvPicPr>
          <p:cNvPr id="310278" name="Picture 6">
            <a:extLst>
              <a:ext uri="{FF2B5EF4-FFF2-40B4-BE49-F238E27FC236}">
                <a16:creationId xmlns:a16="http://schemas.microsoft.com/office/drawing/2014/main" id="{0FE4015C-CD97-82AE-FD4E-2189901695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3614" y="1341438"/>
            <a:ext cx="4713287" cy="5256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2862B80-73FD-08E3-0F4C-E1933DFA3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75</a:t>
            </a:fld>
            <a:endParaRPr lang="ru-RU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346" name="Rectangle 2">
            <a:extLst>
              <a:ext uri="{FF2B5EF4-FFF2-40B4-BE49-F238E27FC236}">
                <a16:creationId xmlns:a16="http://schemas.microsoft.com/office/drawing/2014/main" id="{1E8B8D99-DF94-DFD6-CE45-4150F0F8B3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RemoteControl</a:t>
            </a:r>
            <a:r>
              <a:rPr lang="ru-RU" altLang="ru-RU" dirty="0"/>
              <a:t> изменения</a:t>
            </a:r>
          </a:p>
        </p:txBody>
      </p:sp>
      <p:pic>
        <p:nvPicPr>
          <p:cNvPr id="313349" name="Picture 5">
            <a:extLst>
              <a:ext uri="{FF2B5EF4-FFF2-40B4-BE49-F238E27FC236}">
                <a16:creationId xmlns:a16="http://schemas.microsoft.com/office/drawing/2014/main" id="{08F3E757-F31C-2C23-ABA4-5334BB85D8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214" y="1268414"/>
            <a:ext cx="7310437" cy="5330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331A2E-2F42-2E00-9675-94265D9764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76</a:t>
            </a:fld>
            <a:endParaRPr lang="ru-RU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75EC5144-66F6-8986-AEE8-530C004EC4D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Main</a:t>
            </a:r>
            <a:r>
              <a:rPr lang="ru-RU" altLang="ru-RU" dirty="0"/>
              <a:t> изменения</a:t>
            </a:r>
          </a:p>
        </p:txBody>
      </p:sp>
      <p:pic>
        <p:nvPicPr>
          <p:cNvPr id="312324" name="Picture 4">
            <a:extLst>
              <a:ext uri="{FF2B5EF4-FFF2-40B4-BE49-F238E27FC236}">
                <a16:creationId xmlns:a16="http://schemas.microsoft.com/office/drawing/2014/main" id="{DE11B93A-105A-1567-9D27-E72B4355D6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4114" y="1370014"/>
            <a:ext cx="7445375" cy="5487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26F602-AE2C-F488-89B9-1A12A41E4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77</a:t>
            </a:fld>
            <a:endParaRPr lang="ru-RU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5F1E269F-73B4-BEC4-90CB-8C4A5B8686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Операции отмены</a:t>
            </a:r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A4374D94-3BB7-5C89-3A56-D2A3D3408C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 interface ICommand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    void Execute();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    void Undo();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A8EA4D5F-FC06-A476-8FC8-0663A6296A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78</a:t>
            </a:fld>
            <a:endParaRPr lang="ru-RU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62" name="Rectangle 2">
            <a:extLst>
              <a:ext uri="{FF2B5EF4-FFF2-40B4-BE49-F238E27FC236}">
                <a16:creationId xmlns:a16="http://schemas.microsoft.com/office/drawing/2014/main" id="{5BDCD90E-5292-06F4-0E58-C8D84BD23B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Метод </a:t>
            </a:r>
            <a:r>
              <a:rPr lang="en-US" altLang="ru-RU" sz="4000" dirty="0"/>
              <a:t>Undo</a:t>
            </a:r>
            <a:r>
              <a:rPr lang="ru-RU" altLang="ru-RU" sz="4000" dirty="0"/>
              <a:t> в классах-наследниках команд</a:t>
            </a:r>
          </a:p>
        </p:txBody>
      </p:sp>
      <p:sp>
        <p:nvSpPr>
          <p:cNvPr id="348163" name="Rectangle 3">
            <a:extLst>
              <a:ext uri="{FF2B5EF4-FFF2-40B4-BE49-F238E27FC236}">
                <a16:creationId xmlns:a16="http://schemas.microsoft.com/office/drawing/2014/main" id="{4E2C4735-B174-EDC3-C80C-3EAAE37045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public void Undo()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	</a:t>
            </a:r>
            <a:r>
              <a:rPr lang="en-US" altLang="ru-RU" dirty="0">
                <a:latin typeface="Consolas" panose="020B0609020204030204" pitchFamily="49" charset="0"/>
              </a:rPr>
              <a:t>music.TurnOff();</a:t>
            </a:r>
            <a:endParaRPr lang="ru-RU" altLang="ru-RU" dirty="0">
              <a:latin typeface="Consolas" panose="020B0609020204030204" pitchFamily="49" charset="0"/>
            </a:endParaRPr>
          </a:p>
          <a:p>
            <a:r>
              <a:rPr lang="ru-RU" altLang="ru-RU" dirty="0">
                <a:latin typeface="Consolas" panose="020B0609020204030204" pitchFamily="49" charset="0"/>
              </a:rPr>
              <a:t>}</a:t>
            </a:r>
            <a:endParaRPr lang="en-US" altLang="ru-RU" dirty="0">
              <a:latin typeface="Consolas" panose="020B0609020204030204" pitchFamily="49" charset="0"/>
            </a:endParaRPr>
          </a:p>
          <a:p>
            <a:endParaRPr lang="en-US" altLang="ru-RU" dirty="0">
              <a:latin typeface="Consolas" panose="020B0609020204030204" pitchFamily="49" charset="0"/>
            </a:endParaRPr>
          </a:p>
          <a:p>
            <a:endParaRPr lang="en-US" altLang="ru-RU" dirty="0">
              <a:latin typeface="Consolas" panose="020B0609020204030204" pitchFamily="49" charset="0"/>
            </a:endParaRPr>
          </a:p>
          <a:p>
            <a:r>
              <a:rPr lang="ru-RU" altLang="ru-RU" dirty="0">
                <a:latin typeface="Consolas" panose="020B0609020204030204" pitchFamily="49" charset="0"/>
              </a:rPr>
              <a:t>Внесите изменения во все классы команд</a:t>
            </a:r>
          </a:p>
          <a:p>
            <a:endParaRPr lang="ru-RU" altLang="ru-RU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F6ACB4A8-DD55-E249-DF1B-9CBDBA582A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79</a:t>
            </a:fld>
            <a:endParaRPr lang="ru-RU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138" name="Rectangle 2">
            <a:extLst>
              <a:ext uri="{FF2B5EF4-FFF2-40B4-BE49-F238E27FC236}">
                <a16:creationId xmlns:a16="http://schemas.microsoft.com/office/drawing/2014/main" id="{FCDC6414-9470-83DA-0368-9E8EFFEEA6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Изменения в </a:t>
            </a:r>
            <a:r>
              <a:rPr lang="en-US" altLang="ru-RU" dirty="0"/>
              <a:t>RemoveControl</a:t>
            </a:r>
            <a:endParaRPr lang="ru-RU" altLang="ru-RU" dirty="0"/>
          </a:p>
        </p:txBody>
      </p:sp>
      <p:sp>
        <p:nvSpPr>
          <p:cNvPr id="347139" name="Rectangle 3">
            <a:extLst>
              <a:ext uri="{FF2B5EF4-FFF2-40B4-BE49-F238E27FC236}">
                <a16:creationId xmlns:a16="http://schemas.microsoft.com/office/drawing/2014/main" id="{DE869205-D1AE-9208-0602-DA80B78745A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public void UndoButton(string buttonId)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if (commands.ContainsKey(buttonId))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    commands[buttonId].Undo();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  <a:p>
            <a:endParaRPr lang="ru-RU" altLang="ru-RU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968A6CE-E0C1-7815-E47E-0103FB27F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80</a:t>
            </a:fld>
            <a:endParaRPr lang="ru-RU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258" name="Rectangle 2">
            <a:extLst>
              <a:ext uri="{FF2B5EF4-FFF2-40B4-BE49-F238E27FC236}">
                <a16:creationId xmlns:a16="http://schemas.microsoft.com/office/drawing/2014/main" id="{C9EE9982-6101-FD88-24A8-857AB36E05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В </a:t>
            </a:r>
            <a:r>
              <a:rPr lang="en-US" altLang="ru-RU" sz="4000" dirty="0"/>
              <a:t>Main</a:t>
            </a:r>
            <a:r>
              <a:rPr lang="ru-RU" altLang="ru-RU" sz="4000" dirty="0"/>
              <a:t> для вызова отмены после ее вызова просто добавьте отмену:</a:t>
            </a:r>
          </a:p>
        </p:txBody>
      </p:sp>
      <p:sp>
        <p:nvSpPr>
          <p:cNvPr id="352259" name="Rectangle 3">
            <a:extLst>
              <a:ext uri="{FF2B5EF4-FFF2-40B4-BE49-F238E27FC236}">
                <a16:creationId xmlns:a16="http://schemas.microsoft.com/office/drawing/2014/main" id="{0FF30FDC-2966-B690-B269-8AD4DCFBE6B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1" y="1817688"/>
            <a:ext cx="8785225" cy="5040312"/>
          </a:xfrm>
        </p:spPr>
        <p:txBody>
          <a:bodyPr/>
          <a:lstStyle/>
          <a:p>
            <a:endParaRPr lang="ru-RU" altLang="ru-RU" dirty="0"/>
          </a:p>
          <a:p>
            <a:r>
              <a:rPr lang="ru-RU" altLang="ru-RU" dirty="0"/>
              <a:t>remote.PushButton(buttonId);</a:t>
            </a:r>
          </a:p>
          <a:p>
            <a:r>
              <a:rPr lang="ru-RU" altLang="ru-RU" dirty="0"/>
              <a:t>remote.UndoButton(buttonId);</a:t>
            </a:r>
          </a:p>
          <a:p>
            <a:endParaRPr lang="ru-RU" alt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92CDE4-AC56-5879-F2E5-F0B5E84EF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81</a:t>
            </a:fld>
            <a:endParaRPr lang="ru-RU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234" name="Rectangle 2">
            <a:extLst>
              <a:ext uri="{FF2B5EF4-FFF2-40B4-BE49-F238E27FC236}">
                <a16:creationId xmlns:a16="http://schemas.microsoft.com/office/drawing/2014/main" id="{95AADAE3-2047-456C-9AA3-FDEDD98BCD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Состояния света</a:t>
            </a:r>
          </a:p>
        </p:txBody>
      </p:sp>
      <p:sp>
        <p:nvSpPr>
          <p:cNvPr id="351235" name="Rectangle 3">
            <a:extLst>
              <a:ext uri="{FF2B5EF4-FFF2-40B4-BE49-F238E27FC236}">
                <a16:creationId xmlns:a16="http://schemas.microsoft.com/office/drawing/2014/main" id="{C9F10FB8-7B0C-BAA4-9F24-2B59FC1B7CC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public enum LightState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Off = 0,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Low = 1,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Medium = 2,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Hight = 3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43B1C40-C12A-BF38-8633-B7ADA200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82</a:t>
            </a:fld>
            <a:endParaRPr lang="ru-RU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330" name="Rectangle 2">
            <a:extLst>
              <a:ext uri="{FF2B5EF4-FFF2-40B4-BE49-F238E27FC236}">
                <a16:creationId xmlns:a16="http://schemas.microsoft.com/office/drawing/2014/main" id="{099CA2F0-16E3-B065-04C8-C97D754769F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Изменения в классе </a:t>
            </a:r>
            <a:r>
              <a:rPr lang="en-US" altLang="ru-RU" sz="4000" dirty="0"/>
              <a:t>Light</a:t>
            </a:r>
            <a:r>
              <a:rPr lang="ru-RU" altLang="ru-RU" sz="4000" dirty="0"/>
              <a:t> для многосостояний </a:t>
            </a:r>
          </a:p>
        </p:txBody>
      </p:sp>
      <p:sp>
        <p:nvSpPr>
          <p:cNvPr id="355331" name="Rectangle 3">
            <a:extLst>
              <a:ext uri="{FF2B5EF4-FFF2-40B4-BE49-F238E27FC236}">
                <a16:creationId xmlns:a16="http://schemas.microsoft.com/office/drawing/2014/main" id="{9D9A8128-DE8C-234F-B6E6-565B10A3467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773044"/>
            <a:ext cx="9601200" cy="4488418"/>
          </a:xfrm>
        </p:spPr>
        <p:txBody>
          <a:bodyPr numCol="3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class Light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public LightState State { get; set; }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public void ToggleLight()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switch(State)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case LightState.Off: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State = LightState.Low;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Console.WriteLine("Свет тусклый");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case LightState.Low: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State = LightState.Medium;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Console.WriteLine("Свет средний");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case LightState.Medium: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State = LightState.Hight;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Console.WriteLine("Свет яркий");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case LightState.Hight: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State = LightState.Low;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Console.WriteLine("Свет тусклый");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DF5B8D-A991-B54F-97A7-F4E0217C7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83</a:t>
            </a:fld>
            <a:endParaRPr lang="ru-RU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378" name="Rectangle 2">
            <a:extLst>
              <a:ext uri="{FF2B5EF4-FFF2-40B4-BE49-F238E27FC236}">
                <a16:creationId xmlns:a16="http://schemas.microsoft.com/office/drawing/2014/main" id="{0A030A44-7177-BAD5-F20F-AFF27AD491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Изменения вызова в </a:t>
            </a:r>
            <a:r>
              <a:rPr lang="en-US" altLang="ru-RU" sz="4000" dirty="0"/>
              <a:t>LightCommand</a:t>
            </a:r>
            <a:endParaRPr lang="ru-RU" altLang="ru-RU" sz="4000" dirty="0"/>
          </a:p>
        </p:txBody>
      </p:sp>
      <p:sp>
        <p:nvSpPr>
          <p:cNvPr id="357379" name="Rectangle 3">
            <a:extLst>
              <a:ext uri="{FF2B5EF4-FFF2-40B4-BE49-F238E27FC236}">
                <a16:creationId xmlns:a16="http://schemas.microsoft.com/office/drawing/2014/main" id="{7A08D76E-20C4-35D7-73F0-DE9D908B5A2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altLang="ru-RU" sz="2400" dirty="0">
                <a:latin typeface="Consolas" panose="020B0609020204030204" pitchFamily="49" charset="0"/>
              </a:rPr>
              <a:t>class LightCommand : ICommand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{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public void Execute()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{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    light.ToggleLight();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}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public void Undo()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{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    light.TurnOff();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    }</a:t>
            </a:r>
          </a:p>
          <a:p>
            <a:r>
              <a:rPr lang="ru-RU" altLang="ru-RU" sz="2400" dirty="0">
                <a:latin typeface="Consolas" panose="020B0609020204030204" pitchFamily="49" charset="0"/>
              </a:rPr>
              <a:t>}</a:t>
            </a:r>
          </a:p>
          <a:p>
            <a:endParaRPr lang="ru-RU" altLang="ru-RU" sz="2400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A24173D-5397-8285-6E0A-CE26E17098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84</a:t>
            </a:fld>
            <a:endParaRPr lang="ru-RU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02" name="Rectangle 2">
            <a:extLst>
              <a:ext uri="{FF2B5EF4-FFF2-40B4-BE49-F238E27FC236}">
                <a16:creationId xmlns:a16="http://schemas.microsoft.com/office/drawing/2014/main" id="{DB49C8A6-EF00-63D4-5E69-22BBDF6635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Изменения для сохранения предыдущего состояния</a:t>
            </a:r>
          </a:p>
        </p:txBody>
      </p:sp>
      <p:sp>
        <p:nvSpPr>
          <p:cNvPr id="358403" name="Rectangle 3">
            <a:extLst>
              <a:ext uri="{FF2B5EF4-FFF2-40B4-BE49-F238E27FC236}">
                <a16:creationId xmlns:a16="http://schemas.microsoft.com/office/drawing/2014/main" id="{B806551D-54E7-1EDD-9B25-DE265B8E4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class LightCommand : ICommand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private Light light;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private LightState previousState;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LightCommand(Light light)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this.light = light;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previousState = </a:t>
            </a:r>
            <a:r>
              <a:rPr lang="en-US" altLang="ru-RU" dirty="0">
                <a:latin typeface="Consolas" panose="020B0609020204030204" pitchFamily="49" charset="0"/>
              </a:rPr>
              <a:t>LightState.Off</a:t>
            </a:r>
            <a:r>
              <a:rPr lang="ru-RU" altLang="ru-RU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Execute()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previousState = light.State;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light.ToggleLight();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Undo()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light.SetState(previousState);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B8E2CA8-FEE8-E2D1-094B-CC5C53003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85</a:t>
            </a:fld>
            <a:endParaRPr lang="ru-RU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690" name="Rectangle 2">
            <a:extLst>
              <a:ext uri="{FF2B5EF4-FFF2-40B4-BE49-F238E27FC236}">
                <a16:creationId xmlns:a16="http://schemas.microsoft.com/office/drawing/2014/main" id="{2EB7E221-B91E-A2F3-4724-3F69D95BBF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Новый метод в </a:t>
            </a:r>
            <a:r>
              <a:rPr lang="en-US" altLang="ru-RU" dirty="0"/>
              <a:t>Light</a:t>
            </a:r>
            <a:endParaRPr lang="ru-RU" altLang="ru-RU" dirty="0"/>
          </a:p>
        </p:txBody>
      </p:sp>
      <p:sp>
        <p:nvSpPr>
          <p:cNvPr id="370691" name="Rectangle 3">
            <a:extLst>
              <a:ext uri="{FF2B5EF4-FFF2-40B4-BE49-F238E27FC236}">
                <a16:creationId xmlns:a16="http://schemas.microsoft.com/office/drawing/2014/main" id="{565EF75C-0B37-6396-501A-BCAE46BC49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class Light 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public void SetState(LightState state) 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    State = state;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    PrintLight();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3AC5C0C-C095-D000-9E20-1F50E24DFD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86</a:t>
            </a:fld>
            <a:endParaRPr lang="ru-RU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426" name="Rectangle 2">
            <a:extLst>
              <a:ext uri="{FF2B5EF4-FFF2-40B4-BE49-F238E27FC236}">
                <a16:creationId xmlns:a16="http://schemas.microsoft.com/office/drawing/2014/main" id="{3A3495A4-5157-C983-FF2C-D1451541287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Новый метод в классе </a:t>
            </a:r>
            <a:r>
              <a:rPr lang="en-US" altLang="ru-RU" dirty="0"/>
              <a:t>Light</a:t>
            </a:r>
            <a:endParaRPr lang="ru-RU" altLang="ru-RU" dirty="0"/>
          </a:p>
        </p:txBody>
      </p:sp>
      <p:sp>
        <p:nvSpPr>
          <p:cNvPr id="359427" name="Rectangle 3">
            <a:extLst>
              <a:ext uri="{FF2B5EF4-FFF2-40B4-BE49-F238E27FC236}">
                <a16:creationId xmlns:a16="http://schemas.microsoft.com/office/drawing/2014/main" id="{F15EDDF9-6517-EDE6-767C-91914393C8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numCol="2"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class Light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private void PrintLight()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switch (State)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case LightState.Off: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Console.WriteLine("Свет выключен");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case LightState.Low: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Console.WriteLine("Свет тусклый");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case LightState.Medium: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Console.WriteLine("Свет средний");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case LightState.Hight: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Console.WriteLine("Свет яркий");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        break;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    }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sz="1800" dirty="0">
                <a:latin typeface="Consolas" panose="020B0609020204030204" pitchFamily="49" charset="0"/>
              </a:rPr>
              <a:t>}</a:t>
            </a:r>
          </a:p>
          <a:p>
            <a:pPr>
              <a:lnSpc>
                <a:spcPct val="80000"/>
              </a:lnSpc>
            </a:pPr>
            <a:endParaRPr lang="ru-RU" altLang="ru-RU" sz="1800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F1A5DCA-3375-E0C2-B702-D1279E31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87</a:t>
            </a:fld>
            <a:endParaRPr lang="ru-RU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666" name="Rectangle 2">
            <a:extLst>
              <a:ext uri="{FF2B5EF4-FFF2-40B4-BE49-F238E27FC236}">
                <a16:creationId xmlns:a16="http://schemas.microsoft.com/office/drawing/2014/main" id="{67BE4F37-43FB-DB21-D7F1-6E979D02C2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Изменения в методах </a:t>
            </a:r>
            <a:r>
              <a:rPr lang="en-US" altLang="ru-RU" dirty="0"/>
              <a:t>Light</a:t>
            </a:r>
            <a:endParaRPr lang="ru-RU" altLang="ru-RU" dirty="0"/>
          </a:p>
        </p:txBody>
      </p:sp>
      <p:sp>
        <p:nvSpPr>
          <p:cNvPr id="369667" name="Rectangle 3">
            <a:extLst>
              <a:ext uri="{FF2B5EF4-FFF2-40B4-BE49-F238E27FC236}">
                <a16:creationId xmlns:a16="http://schemas.microsoft.com/office/drawing/2014/main" id="{347E86D2-90CF-093D-2AEA-855F7DA81F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numCol="2">
            <a:normAutofit fontScale="92500" lnSpcReduction="10000"/>
          </a:bodyPr>
          <a:lstStyle/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class Light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ToggleLight()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switch(State)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case LightState.Off: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State = LightState.Low;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case LightState.Low: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State = LightState.Medium;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case LightState.Medium: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State = LightState.Hight;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case LightState.Hight: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State = LightState.</a:t>
            </a:r>
            <a:r>
              <a:rPr lang="en-US" altLang="ru-RU" dirty="0">
                <a:latin typeface="Consolas" panose="020B0609020204030204" pitchFamily="49" charset="0"/>
              </a:rPr>
              <a:t>Off</a:t>
            </a:r>
            <a:r>
              <a:rPr lang="ru-RU" altLang="ru-RU" dirty="0">
                <a:latin typeface="Consolas" panose="020B0609020204030204" pitchFamily="49" charset="0"/>
              </a:rPr>
              <a:t>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        break;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PrintLight();            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TurnOff()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State = LightState.Off;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PrintLight();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9901487-7969-5719-E2D1-C3E57DCDC5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88</a:t>
            </a:fld>
            <a:endParaRPr lang="ru-RU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474" name="Rectangle 2">
            <a:extLst>
              <a:ext uri="{FF2B5EF4-FFF2-40B4-BE49-F238E27FC236}">
                <a16:creationId xmlns:a16="http://schemas.microsoft.com/office/drawing/2014/main" id="{9E25504B-C91E-991A-C4F3-295D60DDC20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Изменения в </a:t>
            </a:r>
            <a:r>
              <a:rPr lang="en-US" altLang="ru-RU" sz="4000" dirty="0"/>
              <a:t>Main</a:t>
            </a:r>
            <a:r>
              <a:rPr lang="ru-RU" altLang="ru-RU" sz="4000" dirty="0"/>
              <a:t> для тестирования</a:t>
            </a:r>
          </a:p>
        </p:txBody>
      </p:sp>
      <p:sp>
        <p:nvSpPr>
          <p:cNvPr id="361475" name="Rectangle 3">
            <a:extLst>
              <a:ext uri="{FF2B5EF4-FFF2-40B4-BE49-F238E27FC236}">
                <a16:creationId xmlns:a16="http://schemas.microsoft.com/office/drawing/2014/main" id="{47D91186-FD50-47E9-45BC-0B294EEFB8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>
                <a:latin typeface="Consolas" panose="020B0609020204030204" pitchFamily="49" charset="0"/>
              </a:rPr>
              <a:t>var buttonId = Console.ReadLine();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remote.PushButton(buttonId);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remote.PushButton(buttonId);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remote.PushButton(buttonId);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remote.UndoButton(buttonId);</a:t>
            </a:r>
          </a:p>
          <a:p>
            <a:r>
              <a:rPr lang="ru-RU" altLang="ru-RU" dirty="0">
                <a:latin typeface="Consolas" panose="020B0609020204030204" pitchFamily="49" charset="0"/>
              </a:rPr>
              <a:t>// remote.UndoButton(buttonId);</a:t>
            </a:r>
          </a:p>
          <a:p>
            <a:endParaRPr lang="ru-RU" altLang="ru-RU" dirty="0">
              <a:latin typeface="Consolas" panose="020B0609020204030204" pitchFamily="49" charset="0"/>
            </a:endParaRP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49550E0-3CDF-0F17-2E65-ED321EA11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89</a:t>
            </a:fld>
            <a:endParaRPr lang="ru-RU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546" name="Rectangle 2">
            <a:extLst>
              <a:ext uri="{FF2B5EF4-FFF2-40B4-BE49-F238E27FC236}">
                <a16:creationId xmlns:a16="http://schemas.microsoft.com/office/drawing/2014/main" id="{AD0C40BC-1FD4-AECE-413A-AEF944C64C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Стек состояний</a:t>
            </a:r>
          </a:p>
        </p:txBody>
      </p:sp>
      <p:sp>
        <p:nvSpPr>
          <p:cNvPr id="364547" name="Rectangle 3">
            <a:extLst>
              <a:ext uri="{FF2B5EF4-FFF2-40B4-BE49-F238E27FC236}">
                <a16:creationId xmlns:a16="http://schemas.microsoft.com/office/drawing/2014/main" id="{6BE8E011-EC84-02AA-3EBB-3C79035CEB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class LightCommand : ICommand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private Light light;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private Stack&lt;LightState&gt; states;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LightCommand(Light light)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this.light = light;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states = new Stack&lt;LightState&gt;();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Execute()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states.Push(light.State);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light.ToggleLight();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public void Undo()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var prevState = states.Pop();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    light.SetState(prevState);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    }</a:t>
            </a:r>
          </a:p>
          <a:p>
            <a:pPr>
              <a:lnSpc>
                <a:spcPct val="80000"/>
              </a:lnSpc>
            </a:pPr>
            <a:r>
              <a:rPr lang="ru-RU" altLang="ru-RU" dirty="0"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6243846-5598-B221-0898-F002C6E5E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90</a:t>
            </a:fld>
            <a:endParaRPr lang="ru-RU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522" name="Rectangle 2">
            <a:extLst>
              <a:ext uri="{FF2B5EF4-FFF2-40B4-BE49-F238E27FC236}">
                <a16:creationId xmlns:a16="http://schemas.microsoft.com/office/drawing/2014/main" id="{A1BCDCFB-1CAD-22FB-547F-D6CE6CDD4C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sz="4000" dirty="0"/>
              <a:t>Макро- </a:t>
            </a:r>
            <a:br>
              <a:rPr lang="ru-RU" altLang="ru-RU" sz="4000" dirty="0"/>
            </a:br>
            <a:r>
              <a:rPr lang="ru-RU" altLang="ru-RU" sz="4000" dirty="0"/>
              <a:t>команда</a:t>
            </a:r>
          </a:p>
        </p:txBody>
      </p:sp>
      <p:pic>
        <p:nvPicPr>
          <p:cNvPr id="363524" name="Picture 4">
            <a:extLst>
              <a:ext uri="{FF2B5EF4-FFF2-40B4-BE49-F238E27FC236}">
                <a16:creationId xmlns:a16="http://schemas.microsoft.com/office/drawing/2014/main" id="{64B5F4F3-E958-5A1C-700F-E2EAA88CD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1738" y="404814"/>
            <a:ext cx="5213350" cy="645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12EB758-CF6A-3743-E287-175915D0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91</a:t>
            </a:fld>
            <a:endParaRPr lang="ru-RU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570" name="Rectangle 2">
            <a:extLst>
              <a:ext uri="{FF2B5EF4-FFF2-40B4-BE49-F238E27FC236}">
                <a16:creationId xmlns:a16="http://schemas.microsoft.com/office/drawing/2014/main" id="{7F1EB562-0193-A2E6-A6A8-96828BBD6F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Проверка макрокоманды</a:t>
            </a:r>
          </a:p>
        </p:txBody>
      </p:sp>
      <p:pic>
        <p:nvPicPr>
          <p:cNvPr id="365573" name="Picture 5">
            <a:extLst>
              <a:ext uri="{FF2B5EF4-FFF2-40B4-BE49-F238E27FC236}">
                <a16:creationId xmlns:a16="http://schemas.microsoft.com/office/drawing/2014/main" id="{9E922479-6AC7-0950-2BB1-10AEFC8D98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188" y="1247776"/>
            <a:ext cx="8532812" cy="561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2F0626A-279E-8187-E87F-57F87880C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92</a:t>
            </a:fld>
            <a:endParaRPr lang="ru-RU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F09FB52A-CB7A-7640-42FF-F86F9EB7C9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altLang="ru-RU" dirty="0"/>
              <a:t>Паттерны проектирования: Фасад (</a:t>
            </a:r>
            <a:r>
              <a:rPr lang="en-US" altLang="ru-RU" dirty="0"/>
              <a:t>Facade)</a:t>
            </a:r>
            <a:endParaRPr lang="ru-RU" altLang="ru-RU" dirty="0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AC9B85-F432-B378-82D6-94FE5F01C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93</a:t>
            </a:fld>
            <a:endParaRPr lang="ru-RU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>
            <a:extLst>
              <a:ext uri="{FF2B5EF4-FFF2-40B4-BE49-F238E27FC236}">
                <a16:creationId xmlns:a16="http://schemas.microsoft.com/office/drawing/2014/main" id="{A1E91BC1-7041-FB83-94FA-3F74DB096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Назначение паттерна Фасад</a:t>
            </a:r>
          </a:p>
        </p:txBody>
      </p:sp>
      <p:sp>
        <p:nvSpPr>
          <p:cNvPr id="296963" name="Rectangle 3">
            <a:extLst>
              <a:ext uri="{FF2B5EF4-FFF2-40B4-BE49-F238E27FC236}">
                <a16:creationId xmlns:a16="http://schemas.microsoft.com/office/drawing/2014/main" id="{012CA17A-1D82-FFFA-721C-E1D4BACE92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b="1" dirty="0"/>
              <a:t>Фасад </a:t>
            </a:r>
            <a:r>
              <a:rPr lang="ru-RU" altLang="ru-RU" sz="2400" dirty="0"/>
              <a:t>(</a:t>
            </a:r>
            <a:r>
              <a:rPr lang="ru-RU" altLang="ru-RU" sz="2400" b="1" dirty="0"/>
              <a:t>Facade</a:t>
            </a:r>
            <a:r>
              <a:rPr lang="ru-RU" altLang="ru-RU" sz="2400" dirty="0"/>
              <a:t>) — это поведенческий шаблон проектирования. Данный шаблон позволяет скрыть сложность системы путём сведения всех возможных вызовов к одному объекту, делегирующему их соответствующих объектам системы. </a:t>
            </a:r>
          </a:p>
          <a:p>
            <a:r>
              <a:rPr lang="ru-RU" altLang="ru-RU" sz="2400" dirty="0"/>
              <a:t>Паттерн Фасад (Facade) "обертывает" сложную подсистему более простым интерфейсом.</a:t>
            </a:r>
          </a:p>
          <a:p>
            <a:endParaRPr lang="ru-RU" altLang="ru-RU"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BC31135-2327-750F-CCBF-49108BFDA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94</a:t>
            </a:fld>
            <a:endParaRPr lang="ru-RU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>
            <a:extLst>
              <a:ext uri="{FF2B5EF4-FFF2-40B4-BE49-F238E27FC236}">
                <a16:creationId xmlns:a16="http://schemas.microsoft.com/office/drawing/2014/main" id="{233C55F8-53F9-3DC0-FF6C-98F945194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Решаемая проблема</a:t>
            </a:r>
          </a:p>
        </p:txBody>
      </p:sp>
      <p:sp>
        <p:nvSpPr>
          <p:cNvPr id="310275" name="Rectangle 3">
            <a:extLst>
              <a:ext uri="{FF2B5EF4-FFF2-40B4-BE49-F238E27FC236}">
                <a16:creationId xmlns:a16="http://schemas.microsoft.com/office/drawing/2014/main" id="{3816D388-E985-2F02-E94A-F3BC52FA456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Клиенты хотят получить упрощенный интерфейс к общей функциональности сложной подсистемы.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1953B10-25B5-73B7-1DF8-EA946EE97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95</a:t>
            </a:fld>
            <a:endParaRPr lang="ru-RU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>
            <a:extLst>
              <a:ext uri="{FF2B5EF4-FFF2-40B4-BE49-F238E27FC236}">
                <a16:creationId xmlns:a16="http://schemas.microsoft.com/office/drawing/2014/main" id="{C3F69BEB-26D0-423D-3378-86BAF1EDB0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Обсуждение паттерна Фасад</a:t>
            </a:r>
          </a:p>
        </p:txBody>
      </p:sp>
      <p:sp>
        <p:nvSpPr>
          <p:cNvPr id="319491" name="Rectangle 3">
            <a:extLst>
              <a:ext uri="{FF2B5EF4-FFF2-40B4-BE49-F238E27FC236}">
                <a16:creationId xmlns:a16="http://schemas.microsoft.com/office/drawing/2014/main" id="{C183F9E4-D668-3319-36F7-84A3FF4BB9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sz="2400" dirty="0"/>
              <a:t>Паттерн Facade инкапсулирует сложную подсистему в единственный интерфейсный объект. Это позволяет сократить время изучения подсистемы, а также способствует уменьшению степени связанности между подсистемой и потенциально большим количеством клиентов. С другой стороны, если фасад является единственной точкой доступа к подсистеме, то он будет ограничивать возможности, которые могут понадобиться "продвинутым" пользователям.</a:t>
            </a:r>
          </a:p>
          <a:p>
            <a:r>
              <a:rPr lang="ru-RU" altLang="ru-RU" sz="2400" dirty="0"/>
              <a:t>Объект Facade, реализующий функции посредника, должен оставаться довольно простым и не быть всезнающим "оракулом".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FA1E413-12BE-9A31-28D0-CA8796CB1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96</a:t>
            </a:fld>
            <a:endParaRPr lang="ru-RU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466" name="Rectangle 2">
            <a:extLst>
              <a:ext uri="{FF2B5EF4-FFF2-40B4-BE49-F238E27FC236}">
                <a16:creationId xmlns:a16="http://schemas.microsoft.com/office/drawing/2014/main" id="{74EA455D-A074-BCFA-B40A-9378E6CC6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Структура паттерна Фасад</a:t>
            </a:r>
          </a:p>
        </p:txBody>
      </p:sp>
      <p:sp>
        <p:nvSpPr>
          <p:cNvPr id="318467" name="Rectangle 3">
            <a:extLst>
              <a:ext uri="{FF2B5EF4-FFF2-40B4-BE49-F238E27FC236}">
                <a16:creationId xmlns:a16="http://schemas.microsoft.com/office/drawing/2014/main" id="{17AFCBB9-D051-9585-5E10-94EFA6B1E73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Клиенты общаются с подсистемой через Facade. При получении запроса от клиента объект Facade переадресует его нужному компоненту подсистемы. Для клиентов компоненты подсистемы остаются "тайной, покрытой мраком". 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8815017-BB72-F1E4-133C-C8ED53D16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97</a:t>
            </a:fld>
            <a:endParaRPr lang="ru-RU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6" name="Rectangle 4">
            <a:extLst>
              <a:ext uri="{FF2B5EF4-FFF2-40B4-BE49-F238E27FC236}">
                <a16:creationId xmlns:a16="http://schemas.microsoft.com/office/drawing/2014/main" id="{9704B78D-8AE5-421C-F21B-02A0561928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UML</a:t>
            </a:r>
            <a:r>
              <a:rPr lang="ru-RU" altLang="ru-RU" dirty="0"/>
              <a:t>-диаграмма классов</a:t>
            </a:r>
          </a:p>
        </p:txBody>
      </p:sp>
      <p:pic>
        <p:nvPicPr>
          <p:cNvPr id="320518" name="Picture 6" descr="Использование паттерна Facade">
            <a:extLst>
              <a:ext uri="{FF2B5EF4-FFF2-40B4-BE49-F238E27FC236}">
                <a16:creationId xmlns:a16="http://schemas.microsoft.com/office/drawing/2014/main" id="{DCE9D969-4E32-FB2A-C46E-F026EB66FD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2888" y="1724026"/>
            <a:ext cx="7092950" cy="5133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3D55C4D-0A29-8987-000D-EDE14137F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98</a:t>
            </a:fld>
            <a:endParaRPr lang="ru-RU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>
            <a:extLst>
              <a:ext uri="{FF2B5EF4-FFF2-40B4-BE49-F238E27FC236}">
                <a16:creationId xmlns:a16="http://schemas.microsoft.com/office/drawing/2014/main" id="{BEB23A88-9902-5850-3C0B-43623455094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Пример 1 паттерна Фасад</a:t>
            </a:r>
          </a:p>
        </p:txBody>
      </p:sp>
      <p:sp>
        <p:nvSpPr>
          <p:cNvPr id="323587" name="Rectangle 3">
            <a:extLst>
              <a:ext uri="{FF2B5EF4-FFF2-40B4-BE49-F238E27FC236}">
                <a16:creationId xmlns:a16="http://schemas.microsoft.com/office/drawing/2014/main" id="{D603CC04-F472-BAA0-8200-808DB11934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altLang="ru-RU" sz="2400" dirty="0"/>
              <a:t>Паттерн Facade определяет унифицированный высокоуровневый интерфейс к подсистеме, что упрощает ее использование. Покупатели сталкиваются с фасадом при заказе каталожных товаров по телефону. Покупатель звонит в службу поддержки клиентов и перечисляет товары, которые хочет приобрести. Представитель службы выступает в качестве "фасада", обеспечивая интерфейс к отделу исполнения заказов, отделу продаж и службе доставки.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C483C54-00CA-4B0F-0F2E-7659D5D561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99</a:t>
            </a:fld>
            <a:endParaRPr lang="ru-RU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2" name="Rectangle 4">
            <a:extLst>
              <a:ext uri="{FF2B5EF4-FFF2-40B4-BE49-F238E27FC236}">
                <a16:creationId xmlns:a16="http://schemas.microsoft.com/office/drawing/2014/main" id="{6F3C2A92-A622-1D9F-FC12-B486616953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dirty="0"/>
              <a:t>Пример 2 паттерна Фасад</a:t>
            </a:r>
          </a:p>
        </p:txBody>
      </p:sp>
      <p:sp>
        <p:nvSpPr>
          <p:cNvPr id="7" name="Объект 6">
            <a:extLst>
              <a:ext uri="{FF2B5EF4-FFF2-40B4-BE49-F238E27FC236}">
                <a16:creationId xmlns:a16="http://schemas.microsoft.com/office/drawing/2014/main" id="{CCEDA9B9-FADD-6612-ED42-637FC69DA4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/>
              <a:t>Рассмотрим работу стиральной машины, умеющей набирать и сливать воду, нагревать воду, вращать барабан и сушить постиранное.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0C75C5D-DE9C-A23A-5E5A-F4DF94941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pPr/>
              <a:t>100</a:t>
            </a:fld>
            <a:endParaRPr lang="ru-RU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794" name="Rectangle 2">
            <a:extLst>
              <a:ext uri="{FF2B5EF4-FFF2-40B4-BE49-F238E27FC236}">
                <a16:creationId xmlns:a16="http://schemas.microsoft.com/office/drawing/2014/main" id="{37CCEF47-CA11-D541-5952-1268649F64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289795" name="Rectangle 3">
            <a:extLst>
              <a:ext uri="{FF2B5EF4-FFF2-40B4-BE49-F238E27FC236}">
                <a16:creationId xmlns:a16="http://schemas.microsoft.com/office/drawing/2014/main" id="{2BE64F01-15EA-06B8-F968-874F77B8D4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sz="2400" dirty="0"/>
              <a:t> class WaterManagingSubsystem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{ // Подсистема работы с водой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public void FillWater(int litres)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{ // Наполнить воду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    Console.WriteLine("Fill with {0} litres of water", litres);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    // Залито Х литров воды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public void EmptyWater()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{ // Слить воду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    Console.WriteLine("Empty water tank");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    // Пустой резервуар для воды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sz="2400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3D44C80-7788-3803-E527-9A39448F52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101</a:t>
            </a:fld>
            <a:endParaRPr lang="ru-RU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818" name="Rectangle 2">
            <a:extLst>
              <a:ext uri="{FF2B5EF4-FFF2-40B4-BE49-F238E27FC236}">
                <a16:creationId xmlns:a16="http://schemas.microsoft.com/office/drawing/2014/main" id="{1102DB61-6262-C545-4E15-7DB772D2BB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290819" name="Rectangle 3">
            <a:extLst>
              <a:ext uri="{FF2B5EF4-FFF2-40B4-BE49-F238E27FC236}">
                <a16:creationId xmlns:a16="http://schemas.microsoft.com/office/drawing/2014/main" id="{09A4A085-D9D2-D7EA-CCFA-AB0B25B539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 class Thermo</a:t>
            </a:r>
          </a:p>
          <a:p>
            <a:r>
              <a:rPr lang="ru-RU" altLang="ru-RU" dirty="0"/>
              <a:t>    { // Термо</a:t>
            </a:r>
          </a:p>
          <a:p>
            <a:r>
              <a:rPr lang="ru-RU" altLang="ru-RU" dirty="0"/>
              <a:t>        public void WarmUp(int degrees)</a:t>
            </a:r>
          </a:p>
          <a:p>
            <a:r>
              <a:rPr lang="ru-RU" altLang="ru-RU" dirty="0"/>
              <a:t>        { // Подогреть воду</a:t>
            </a:r>
          </a:p>
          <a:p>
            <a:r>
              <a:rPr lang="ru-RU" altLang="ru-RU" dirty="0"/>
              <a:t>            Console.WriteLine("Warm for {0} degrees", degrees);</a:t>
            </a:r>
          </a:p>
          <a:p>
            <a:r>
              <a:rPr lang="ru-RU" altLang="ru-RU" dirty="0"/>
              <a:t>        } // Нагрето на Х градусов</a:t>
            </a:r>
          </a:p>
          <a:p>
            <a:r>
              <a:rPr lang="ru-RU" altLang="ru-RU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F16979E-1D29-4439-0F43-9C52034AC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102</a:t>
            </a:fld>
            <a:endParaRPr lang="ru-RU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106" name="Rectangle 2">
            <a:extLst>
              <a:ext uri="{FF2B5EF4-FFF2-40B4-BE49-F238E27FC236}">
                <a16:creationId xmlns:a16="http://schemas.microsoft.com/office/drawing/2014/main" id="{C1469672-C14D-7350-9401-4769D305F2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3107" name="Rectangle 3">
            <a:extLst>
              <a:ext uri="{FF2B5EF4-FFF2-40B4-BE49-F238E27FC236}">
                <a16:creationId xmlns:a16="http://schemas.microsoft.com/office/drawing/2014/main" id="{A19881D2-4F29-FB10-7357-145EB642C2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altLang="ru-RU" sz="2400" dirty="0"/>
              <a:t> class Engine</a:t>
            </a:r>
          </a:p>
          <a:p>
            <a:r>
              <a:rPr lang="ru-RU" altLang="ru-RU" sz="2400" dirty="0"/>
              <a:t>    { // Двигатель</a:t>
            </a:r>
          </a:p>
          <a:p>
            <a:r>
              <a:rPr lang="ru-RU" altLang="ru-RU" sz="2400" dirty="0"/>
              <a:t>        public void Rotate()</a:t>
            </a:r>
          </a:p>
          <a:p>
            <a:r>
              <a:rPr lang="ru-RU" altLang="ru-RU" sz="2400" dirty="0"/>
              <a:t>        { // Вращать барабан</a:t>
            </a:r>
          </a:p>
          <a:p>
            <a:r>
              <a:rPr lang="ru-RU" altLang="ru-RU" sz="2400" dirty="0"/>
              <a:t>            Console.WriteLine("Start rotating");</a:t>
            </a:r>
          </a:p>
          <a:p>
            <a:r>
              <a:rPr lang="ru-RU" altLang="ru-RU" sz="2400" dirty="0"/>
              <a:t>        }</a:t>
            </a:r>
          </a:p>
          <a:p>
            <a:r>
              <a:rPr lang="ru-RU" altLang="ru-RU" sz="2400" dirty="0"/>
              <a:t>        public void Stop()</a:t>
            </a:r>
          </a:p>
          <a:p>
            <a:r>
              <a:rPr lang="ru-RU" altLang="ru-RU" sz="2400" dirty="0"/>
              <a:t>        {</a:t>
            </a:r>
          </a:p>
          <a:p>
            <a:r>
              <a:rPr lang="ru-RU" altLang="ru-RU" sz="2400" dirty="0"/>
              <a:t>            Console.WriteLine("Stop rotating");</a:t>
            </a:r>
          </a:p>
          <a:p>
            <a:r>
              <a:rPr lang="ru-RU" altLang="ru-RU" sz="2400" dirty="0"/>
              <a:t>        }</a:t>
            </a:r>
          </a:p>
          <a:p>
            <a:r>
              <a:rPr lang="ru-RU" altLang="ru-RU" sz="2400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36C91D7-0EF8-F08F-8C49-53A0FB174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103</a:t>
            </a:fld>
            <a:endParaRPr lang="ru-RU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>
            <a:extLst>
              <a:ext uri="{FF2B5EF4-FFF2-40B4-BE49-F238E27FC236}">
                <a16:creationId xmlns:a16="http://schemas.microsoft.com/office/drawing/2014/main" id="{1F0FE7B1-0FB8-2E3C-3147-BC24E75B64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2083" name="Rectangle 3">
            <a:extLst>
              <a:ext uri="{FF2B5EF4-FFF2-40B4-BE49-F238E27FC236}">
                <a16:creationId xmlns:a16="http://schemas.microsoft.com/office/drawing/2014/main" id="{61DCB7EE-AABB-23D3-4A3B-BC80FBB9B2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 class Dryer</a:t>
            </a:r>
          </a:p>
          <a:p>
            <a:r>
              <a:rPr lang="ru-RU" altLang="ru-RU" dirty="0"/>
              <a:t>    { // Сушилка</a:t>
            </a:r>
          </a:p>
          <a:p>
            <a:r>
              <a:rPr lang="ru-RU" altLang="ru-RU" dirty="0"/>
              <a:t>        public void Dry(int seconds, int intensity)</a:t>
            </a:r>
          </a:p>
          <a:p>
            <a:r>
              <a:rPr lang="ru-RU" altLang="ru-RU" dirty="0"/>
              <a:t>        { // Длительность и интенсивность</a:t>
            </a:r>
          </a:p>
          <a:p>
            <a:r>
              <a:rPr lang="ru-RU" altLang="ru-RU" dirty="0"/>
              <a:t>            Console.WriteLine("Drying {0} seconds with intensity {1}", seconds, intensity);</a:t>
            </a:r>
          </a:p>
          <a:p>
            <a:r>
              <a:rPr lang="ru-RU" altLang="ru-RU" dirty="0"/>
              <a:t>        }</a:t>
            </a:r>
          </a:p>
          <a:p>
            <a:r>
              <a:rPr lang="ru-RU" altLang="ru-RU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3BBB4B7-0A0C-206D-7000-565CBD9A6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104</a:t>
            </a:fld>
            <a:endParaRPr lang="ru-RU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>
            <a:extLst>
              <a:ext uri="{FF2B5EF4-FFF2-40B4-BE49-F238E27FC236}">
                <a16:creationId xmlns:a16="http://schemas.microsoft.com/office/drawing/2014/main" id="{65D38568-E633-ABF4-2F7F-ABFD8292E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1059" name="Rectangle 3">
            <a:extLst>
              <a:ext uri="{FF2B5EF4-FFF2-40B4-BE49-F238E27FC236}">
                <a16:creationId xmlns:a16="http://schemas.microsoft.com/office/drawing/2014/main" id="{B514C79F-139C-197B-9A9F-81DB54A6DF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 static void Main(string[] args)</a:t>
            </a:r>
          </a:p>
          <a:p>
            <a:r>
              <a:rPr lang="ru-RU" altLang="ru-RU" dirty="0"/>
              <a:t>        {</a:t>
            </a:r>
          </a:p>
          <a:p>
            <a:r>
              <a:rPr lang="ru-RU" altLang="ru-RU" dirty="0"/>
              <a:t>            var water = new WaterManagingSubsystem();</a:t>
            </a:r>
          </a:p>
          <a:p>
            <a:r>
              <a:rPr lang="ru-RU" altLang="ru-RU" dirty="0"/>
              <a:t>            var thermo = new Thermo();</a:t>
            </a:r>
          </a:p>
          <a:p>
            <a:r>
              <a:rPr lang="ru-RU" altLang="ru-RU" dirty="0"/>
              <a:t>            var engine = new Engine();</a:t>
            </a:r>
          </a:p>
          <a:p>
            <a:r>
              <a:rPr lang="ru-RU" altLang="ru-RU" dirty="0"/>
              <a:t>            var dryer = new Dryer();</a:t>
            </a:r>
          </a:p>
          <a:p>
            <a:endParaRPr lang="ru-RU" alt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336DBE4-F82B-EF0C-B346-FA84A4D4F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105</a:t>
            </a:fld>
            <a:endParaRPr lang="ru-RU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>
            <a:extLst>
              <a:ext uri="{FF2B5EF4-FFF2-40B4-BE49-F238E27FC236}">
                <a16:creationId xmlns:a16="http://schemas.microsoft.com/office/drawing/2014/main" id="{DE916559-F596-B29C-2E8C-036CCB853E9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4131" name="Rectangle 3">
            <a:extLst>
              <a:ext uri="{FF2B5EF4-FFF2-40B4-BE49-F238E27FC236}">
                <a16:creationId xmlns:a16="http://schemas.microsoft.com/office/drawing/2014/main" id="{2173932F-BFAB-DD14-8FCD-70BEF18FE5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dirty="0"/>
              <a:t> // Cotton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water.FillWater(10);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thermo.WarmUp(80);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dryer.Dry(30, 1000);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water.FillWater(15);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thermo.WarmUp(40);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dryer.Dry(60, 1500);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DC8EFE39-A582-946F-B97F-534AD5E61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106</a:t>
            </a:fld>
            <a:endParaRPr lang="ru-RU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>
            <a:extLst>
              <a:ext uri="{FF2B5EF4-FFF2-40B4-BE49-F238E27FC236}">
                <a16:creationId xmlns:a16="http://schemas.microsoft.com/office/drawing/2014/main" id="{3E7F5473-5E73-46D9-AF12-D4D961D2B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5155" name="Rectangle 3">
            <a:extLst>
              <a:ext uri="{FF2B5EF4-FFF2-40B4-BE49-F238E27FC236}">
                <a16:creationId xmlns:a16="http://schemas.microsoft.com/office/drawing/2014/main" id="{1102E0C7-3397-7BF1-2674-F2D7422DC8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</a:pPr>
            <a:r>
              <a:rPr lang="ru-RU" altLang="ru-RU" dirty="0"/>
              <a:t> // Wool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water.FillWater(7);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thermo.WarmUp(30);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dryer.Dry(20, 500);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water.FillWater(10);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thermo.WarmUp(20);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dryer.Dry(30, 700);            </a:t>
            </a:r>
          </a:p>
          <a:p>
            <a:pPr>
              <a:lnSpc>
                <a:spcPct val="90000"/>
              </a:lnSpc>
            </a:pPr>
            <a:r>
              <a:rPr lang="ru-RU" altLang="ru-RU" dirty="0"/>
              <a:t>            Console.ReadKey();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0450613-A61F-EC62-49BC-CC942EBCD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107</a:t>
            </a:fld>
            <a:endParaRPr lang="ru-RU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3DD8E355-60AE-39FB-722E-E754EA8C533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2E8CCF3A-529E-1C77-9A9B-777385230A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dirty="0"/>
              <a:t> class WashindMachine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{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private Dryer _dryer;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private Engine _engine;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private Thermo _thermo;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private WaterManagingSubsystem _water;</a:t>
            </a:r>
          </a:p>
          <a:p>
            <a:pPr>
              <a:lnSpc>
                <a:spcPct val="80000"/>
              </a:lnSpc>
            </a:pPr>
            <a:endParaRPr lang="ru-RU" altLang="ru-RU" dirty="0"/>
          </a:p>
          <a:p>
            <a:pPr>
              <a:lnSpc>
                <a:spcPct val="80000"/>
              </a:lnSpc>
            </a:pPr>
            <a:r>
              <a:rPr lang="ru-RU" altLang="ru-RU" dirty="0"/>
              <a:t>        public WashindMachine(Dryer dryer, Engine engine, Thermo thermo, WaterManagingSubsystem water)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_dryer = dryer;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_engine = engine;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_thermo = thermo;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_water = water;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}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0A4C4C8C-34A9-439E-17BB-24457342A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108</a:t>
            </a:fld>
            <a:endParaRPr lang="ru-RU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>
            <a:extLst>
              <a:ext uri="{FF2B5EF4-FFF2-40B4-BE49-F238E27FC236}">
                <a16:creationId xmlns:a16="http://schemas.microsoft.com/office/drawing/2014/main" id="{E03611D2-469F-400F-16A7-03AC390FE4F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6179" name="Rectangle 3">
            <a:extLst>
              <a:ext uri="{FF2B5EF4-FFF2-40B4-BE49-F238E27FC236}">
                <a16:creationId xmlns:a16="http://schemas.microsoft.com/office/drawing/2014/main" id="{73DF9603-8705-9399-2732-AC879C0278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sz="1800" dirty="0"/>
              <a:t> public void WashCotton()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water.FillWater(10);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thermo.WarmUp(80);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dryer.Dry(30, 1000);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water.FillWater(15);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thermo.WarmUp(40);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    dryer.Dry(60, 1500);</a:t>
            </a:r>
          </a:p>
          <a:p>
            <a:pPr>
              <a:lnSpc>
                <a:spcPct val="80000"/>
              </a:lnSpc>
            </a:pPr>
            <a:r>
              <a:rPr lang="ru-RU" altLang="ru-RU" sz="1800" dirty="0"/>
              <a:t>    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22AD9A5D-3CEC-5612-0F23-F4126DBD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109</a:t>
            </a:fld>
            <a:endParaRPr lang="ru-RU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>
            <a:extLst>
              <a:ext uri="{FF2B5EF4-FFF2-40B4-BE49-F238E27FC236}">
                <a16:creationId xmlns:a16="http://schemas.microsoft.com/office/drawing/2014/main" id="{CC8A5AAA-9C56-6E40-0BD8-BBCDA924C0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9251" name="Rectangle 3">
            <a:extLst>
              <a:ext uri="{FF2B5EF4-FFF2-40B4-BE49-F238E27FC236}">
                <a16:creationId xmlns:a16="http://schemas.microsoft.com/office/drawing/2014/main" id="{0EA19CD4-D94C-1490-6040-335ABEABC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80000"/>
              </a:lnSpc>
            </a:pPr>
            <a:r>
              <a:rPr lang="ru-RU" altLang="ru-RU" dirty="0"/>
              <a:t> public void WashWool()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water.FillWater(7);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thermo.WarmUp(30);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dryer.Dry(20, 500);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water.FillWater(10);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thermo.WarmUp(20);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engine.Rotate();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engine.Stop();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water.EmptyWater();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dryer.Dry(30, 700);            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954A5B7-A678-0473-802A-83D4D0B14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110</a:t>
            </a:fld>
            <a:endParaRPr lang="ru-RU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>
            <a:extLst>
              <a:ext uri="{FF2B5EF4-FFF2-40B4-BE49-F238E27FC236}">
                <a16:creationId xmlns:a16="http://schemas.microsoft.com/office/drawing/2014/main" id="{C897C3E4-0F28-525A-30A7-8C3DAAA10F1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08227" name="Rectangle 3">
            <a:extLst>
              <a:ext uri="{FF2B5EF4-FFF2-40B4-BE49-F238E27FC236}">
                <a16:creationId xmlns:a16="http://schemas.microsoft.com/office/drawing/2014/main" id="{C23C6159-B7A0-0393-B063-1488AD4BD9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 numCol="2">
            <a:normAutofit/>
          </a:bodyPr>
          <a:lstStyle/>
          <a:p>
            <a:pPr>
              <a:lnSpc>
                <a:spcPct val="80000"/>
              </a:lnSpc>
            </a:pPr>
            <a:r>
              <a:rPr lang="ru-RU" altLang="ru-RU" dirty="0"/>
              <a:t> static void Main(string[] args)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{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var water = new WaterManagingSubsystem();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var thermo = new Thermo();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var engine = new Engine();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var dryer = new Dryer();</a:t>
            </a:r>
          </a:p>
          <a:p>
            <a:pPr>
              <a:lnSpc>
                <a:spcPct val="80000"/>
              </a:lnSpc>
            </a:pPr>
            <a:endParaRPr lang="ru-RU" altLang="ru-RU" dirty="0"/>
          </a:p>
          <a:p>
            <a:pPr>
              <a:lnSpc>
                <a:spcPct val="80000"/>
              </a:lnSpc>
            </a:pPr>
            <a:r>
              <a:rPr lang="ru-RU" altLang="ru-RU" dirty="0"/>
              <a:t>            var washingMachine = new WashindMachine(dryer, engine, thermo, water);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// Cotton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Console.WriteLine("Cotton");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washingMachine.WashCotton();</a:t>
            </a:r>
          </a:p>
          <a:p>
            <a:pPr>
              <a:lnSpc>
                <a:spcPct val="80000"/>
              </a:lnSpc>
            </a:pPr>
            <a:endParaRPr lang="ru-RU" altLang="ru-RU" dirty="0"/>
          </a:p>
          <a:p>
            <a:pPr>
              <a:lnSpc>
                <a:spcPct val="80000"/>
              </a:lnSpc>
            </a:pPr>
            <a:r>
              <a:rPr lang="ru-RU" altLang="ru-RU" dirty="0"/>
              <a:t>            // Wool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Console.WriteLine("Wool");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    washingMachine.WashWool();</a:t>
            </a:r>
          </a:p>
          <a:p>
            <a:pPr>
              <a:lnSpc>
                <a:spcPct val="80000"/>
              </a:lnSpc>
            </a:pPr>
            <a:endParaRPr lang="ru-RU" altLang="ru-RU" dirty="0"/>
          </a:p>
          <a:p>
            <a:pPr>
              <a:lnSpc>
                <a:spcPct val="80000"/>
              </a:lnSpc>
            </a:pPr>
            <a:r>
              <a:rPr lang="ru-RU" altLang="ru-RU" dirty="0"/>
              <a:t>            Console.ReadKey();</a:t>
            </a:r>
          </a:p>
          <a:p>
            <a:pPr>
              <a:lnSpc>
                <a:spcPct val="80000"/>
              </a:lnSpc>
            </a:pPr>
            <a:r>
              <a:rPr lang="ru-RU" altLang="ru-RU" dirty="0"/>
              <a:t>    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BAD30515-8E73-8673-5A96-279C70360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111</a:t>
            </a:fld>
            <a:endParaRPr lang="ru-RU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98" name="Rectangle 2">
            <a:extLst>
              <a:ext uri="{FF2B5EF4-FFF2-40B4-BE49-F238E27FC236}">
                <a16:creationId xmlns:a16="http://schemas.microsoft.com/office/drawing/2014/main" id="{CDFF59C6-1D14-547D-366A-83F95D192D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11299" name="Rectangle 3">
            <a:extLst>
              <a:ext uri="{FF2B5EF4-FFF2-40B4-BE49-F238E27FC236}">
                <a16:creationId xmlns:a16="http://schemas.microsoft.com/office/drawing/2014/main" id="{9B3B0E10-65D1-8514-CF92-715ABC77A7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ru-RU" altLang="ru-RU" sz="2400" dirty="0"/>
              <a:t>  class Thermo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{ // Термо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public void WarmUp(int degrees)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{ // Подогреть воду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    Console.WriteLine("Warm for {0} degrees", degrees);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} // Нагрето на Х градусов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Random rnd=new Random(100);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public int GetTemperature()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{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return rnd.Next();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    }</a:t>
            </a:r>
          </a:p>
          <a:p>
            <a:pPr>
              <a:lnSpc>
                <a:spcPct val="90000"/>
              </a:lnSpc>
            </a:pPr>
            <a:r>
              <a:rPr lang="ru-RU" altLang="ru-RU" sz="2400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7288A0BE-0E9A-F82B-5329-6E3C9BFB3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112</a:t>
            </a:fld>
            <a:endParaRPr lang="ru-RU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>
            <a:extLst>
              <a:ext uri="{FF2B5EF4-FFF2-40B4-BE49-F238E27FC236}">
                <a16:creationId xmlns:a16="http://schemas.microsoft.com/office/drawing/2014/main" id="{2B375179-EDD8-53EB-1D46-52020857FA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12323" name="Rectangle 3">
            <a:extLst>
              <a:ext uri="{FF2B5EF4-FFF2-40B4-BE49-F238E27FC236}">
                <a16:creationId xmlns:a16="http://schemas.microsoft.com/office/drawing/2014/main" id="{F4E2C2D1-3988-1A62-650F-EC9413EF716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altLang="ru-RU" sz="2400" dirty="0"/>
              <a:t> class WashindMachine</a:t>
            </a:r>
          </a:p>
          <a:p>
            <a:r>
              <a:rPr lang="ru-RU" altLang="ru-RU" sz="2400" dirty="0"/>
              <a:t>    {</a:t>
            </a:r>
          </a:p>
          <a:p>
            <a:r>
              <a:rPr lang="ru-RU" altLang="ru-RU" sz="2400" dirty="0"/>
              <a:t>        private Dryer dryer;</a:t>
            </a:r>
          </a:p>
          <a:p>
            <a:r>
              <a:rPr lang="ru-RU" altLang="ru-RU" sz="2400" dirty="0"/>
              <a:t>        private Engine engine;</a:t>
            </a:r>
          </a:p>
          <a:p>
            <a:r>
              <a:rPr lang="ru-RU" altLang="ru-RU" sz="2400" dirty="0"/>
              <a:t>        private Thermo thermo;</a:t>
            </a:r>
          </a:p>
          <a:p>
            <a:r>
              <a:rPr lang="ru-RU" altLang="ru-RU" sz="2400" dirty="0"/>
              <a:t>        private WaterManagingSubsystem water;</a:t>
            </a:r>
          </a:p>
          <a:p>
            <a:r>
              <a:rPr lang="ru-RU" altLang="ru-RU" sz="2400" dirty="0"/>
              <a:t>        public Thermo GetTermometer()</a:t>
            </a:r>
          </a:p>
          <a:p>
            <a:r>
              <a:rPr lang="ru-RU" altLang="ru-RU" sz="2400" dirty="0"/>
              <a:t>        {</a:t>
            </a:r>
          </a:p>
          <a:p>
            <a:r>
              <a:rPr lang="ru-RU" altLang="ru-RU" sz="2400" dirty="0"/>
              <a:t>            return thermo;</a:t>
            </a:r>
          </a:p>
          <a:p>
            <a:r>
              <a:rPr lang="ru-RU" altLang="ru-RU" sz="2400" dirty="0"/>
              <a:t>        }</a:t>
            </a:r>
          </a:p>
          <a:p>
            <a:r>
              <a:rPr lang="ru-RU" altLang="ru-RU" sz="2400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841BCB5E-484A-CF25-1AF8-C05EA9BFD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113</a:t>
            </a:fld>
            <a:endParaRPr lang="ru-RU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>
            <a:extLst>
              <a:ext uri="{FF2B5EF4-FFF2-40B4-BE49-F238E27FC236}">
                <a16:creationId xmlns:a16="http://schemas.microsoft.com/office/drawing/2014/main" id="{27D04E31-52A3-6D5D-D208-DB6A223A0C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14371" name="Rectangle 3">
            <a:extLst>
              <a:ext uri="{FF2B5EF4-FFF2-40B4-BE49-F238E27FC236}">
                <a16:creationId xmlns:a16="http://schemas.microsoft.com/office/drawing/2014/main" id="{3F18BD86-F5AD-D58A-32D0-D14699C40F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 int temp = washingMachine.GetTermometer(). GetTemperature();</a:t>
            </a:r>
          </a:p>
          <a:p>
            <a:r>
              <a:rPr lang="ru-RU" altLang="ru-RU" dirty="0"/>
              <a:t>            Console.WriteLine(temp);</a:t>
            </a:r>
          </a:p>
          <a:p>
            <a:endParaRPr lang="ru-RU" altLang="ru-RU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185BAE09-0318-7301-D3A9-212AA3970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114</a:t>
            </a:fld>
            <a:endParaRPr lang="ru-RU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>
            <a:extLst>
              <a:ext uri="{FF2B5EF4-FFF2-40B4-BE49-F238E27FC236}">
                <a16:creationId xmlns:a16="http://schemas.microsoft.com/office/drawing/2014/main" id="{3C8E7D49-2CF4-5DCA-B286-F046F40413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ru-RU" altLang="ru-RU" dirty="0"/>
          </a:p>
        </p:txBody>
      </p:sp>
      <p:sp>
        <p:nvSpPr>
          <p:cNvPr id="315395" name="Rectangle 3">
            <a:extLst>
              <a:ext uri="{FF2B5EF4-FFF2-40B4-BE49-F238E27FC236}">
                <a16:creationId xmlns:a16="http://schemas.microsoft.com/office/drawing/2014/main" id="{1303D14A-D629-DC1D-90D1-4A2C5F0FA16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altLang="ru-RU" dirty="0"/>
              <a:t> public int GetTemperature()</a:t>
            </a:r>
          </a:p>
          <a:p>
            <a:r>
              <a:rPr lang="ru-RU" altLang="ru-RU" dirty="0"/>
              <a:t>        {</a:t>
            </a:r>
          </a:p>
          <a:p>
            <a:r>
              <a:rPr lang="ru-RU" altLang="ru-RU" dirty="0"/>
              <a:t>            return thermo.GetTemperature();</a:t>
            </a:r>
          </a:p>
          <a:p>
            <a:r>
              <a:rPr lang="ru-RU" altLang="ru-RU" dirty="0"/>
              <a:t>        }</a:t>
            </a:r>
          </a:p>
          <a:p>
            <a:r>
              <a:rPr lang="ru-RU" altLang="ru-RU" dirty="0"/>
              <a:t>    }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0F3979C-F118-C3A5-BD4C-A418FFA2F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115</a:t>
            </a:fld>
            <a:endParaRPr lang="ru-RU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42" name="Rectangle 2">
            <a:extLst>
              <a:ext uri="{FF2B5EF4-FFF2-40B4-BE49-F238E27FC236}">
                <a16:creationId xmlns:a16="http://schemas.microsoft.com/office/drawing/2014/main" id="{99CBFDD2-6507-30F1-C4FD-5BFB1C20B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371600" y="596538"/>
            <a:ext cx="10348332" cy="733697"/>
          </a:xfrm>
        </p:spPr>
        <p:txBody>
          <a:bodyPr>
            <a:normAutofit fontScale="90000"/>
          </a:bodyPr>
          <a:lstStyle/>
          <a:p>
            <a:r>
              <a:rPr lang="ru-RU" altLang="ru-RU" sz="4000" dirty="0"/>
              <a:t>Принцип минимальной информированности</a:t>
            </a:r>
          </a:p>
        </p:txBody>
      </p:sp>
      <p:sp>
        <p:nvSpPr>
          <p:cNvPr id="317443" name="Rectangle 3">
            <a:extLst>
              <a:ext uri="{FF2B5EF4-FFF2-40B4-BE49-F238E27FC236}">
                <a16:creationId xmlns:a16="http://schemas.microsoft.com/office/drawing/2014/main" id="{77457848-4026-692D-3D1C-869F46DEB1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371600" y="1784195"/>
            <a:ext cx="9601200" cy="4477267"/>
          </a:xfrm>
        </p:spPr>
        <p:txBody>
          <a:bodyPr>
            <a:normAutofit/>
          </a:bodyPr>
          <a:lstStyle/>
          <a:p>
            <a:r>
              <a:rPr lang="ru-RU" altLang="ru-RU" sz="2400" dirty="0"/>
              <a:t>Внутри объекта можно вызывать </a:t>
            </a:r>
          </a:p>
          <a:p>
            <a:r>
              <a:rPr lang="ru-RU" altLang="ru-RU" sz="2400" dirty="0"/>
              <a:t>1. методы самого объекта</a:t>
            </a:r>
          </a:p>
          <a:p>
            <a:r>
              <a:rPr lang="ru-RU" altLang="ru-RU" sz="2400" dirty="0"/>
              <a:t>2. методы переданных объектов-параметров</a:t>
            </a:r>
          </a:p>
          <a:p>
            <a:r>
              <a:rPr lang="ru-RU" altLang="ru-RU" sz="2400" dirty="0"/>
              <a:t>3. методы объектов, созданные внутри метода</a:t>
            </a:r>
          </a:p>
          <a:p>
            <a:r>
              <a:rPr lang="ru-RU" altLang="ru-RU" sz="2400" dirty="0"/>
              <a:t>4. поля текущего объекта</a:t>
            </a:r>
          </a:p>
          <a:p>
            <a:endParaRPr lang="ru-RU" altLang="ru-RU" sz="24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D63FA8D-1CD5-6489-1476-7453E9CDBD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116</a:t>
            </a:fld>
            <a:endParaRPr lang="ru-RU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>
            <a:extLst>
              <a:ext uri="{FF2B5EF4-FFF2-40B4-BE49-F238E27FC236}">
                <a16:creationId xmlns:a16="http://schemas.microsoft.com/office/drawing/2014/main" id="{9BB13411-44E3-1E64-D45B-79011EEC4C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u-RU" altLang="ru-RU" sz="4000" dirty="0"/>
              <a:t>Использование паттерна Фасад</a:t>
            </a:r>
          </a:p>
        </p:txBody>
      </p:sp>
      <p:sp>
        <p:nvSpPr>
          <p:cNvPr id="316419" name="Rectangle 3">
            <a:extLst>
              <a:ext uri="{FF2B5EF4-FFF2-40B4-BE49-F238E27FC236}">
                <a16:creationId xmlns:a16="http://schemas.microsoft.com/office/drawing/2014/main" id="{376659DA-8463-C4F9-6003-DB4ADDBB6B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400" dirty="0"/>
              <a:t>Определите для подсистемы простой, унифицированный интерфейс.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400" dirty="0"/>
              <a:t>Спроектируйте класс "обертку", инкапсулирующий подсистему.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400" dirty="0"/>
              <a:t>Вся сложность подсистемы и взаимодействие ее компонентов скрыты от клиентов. "Фасад" / "обертка" переадресует пользовательские запросы подходящим методам подсистемы.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400" dirty="0"/>
              <a:t>Клиент использует только "фасад".</a:t>
            </a: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</a:pPr>
            <a:r>
              <a:rPr lang="ru-RU" altLang="ru-RU" sz="2400" dirty="0"/>
              <a:t>Рассмотрите вопрос о целесообразности создания дополнительных "фасадов".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5C5EC30E-BC23-F0E5-A3C7-D2A1F6DA6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A42088-C730-408A-A823-60BED1AFCEA0}" type="slidenum">
              <a:rPr lang="ru-RU" smtClean="0"/>
              <a:t>117</a:t>
            </a:fld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Уголки">
  <a:themeElements>
    <a:clrScheme name="Уголки">
      <a:dk1>
        <a:sysClr val="windowText" lastClr="000000"/>
      </a:dk1>
      <a:lt1>
        <a:sysClr val="window" lastClr="FFFFFF"/>
      </a:lt1>
      <a:dk2>
        <a:srgbClr val="1A2E40"/>
      </a:dk2>
      <a:lt2>
        <a:srgbClr val="EBE7DD"/>
      </a:lt2>
      <a:accent1>
        <a:srgbClr val="69A1AB"/>
      </a:accent1>
      <a:accent2>
        <a:srgbClr val="F2C418"/>
      </a:accent2>
      <a:accent3>
        <a:srgbClr val="87492C"/>
      </a:accent3>
      <a:accent4>
        <a:srgbClr val="4A845E"/>
      </a:accent4>
      <a:accent5>
        <a:srgbClr val="DC9528"/>
      </a:accent5>
      <a:accent6>
        <a:srgbClr val="9A5D78"/>
      </a:accent6>
      <a:hlink>
        <a:srgbClr val="66C8E3"/>
      </a:hlink>
      <a:folHlink>
        <a:srgbClr val="B162A1"/>
      </a:folHlink>
    </a:clrScheme>
    <a:fontScheme name="Уголки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Уголки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17F9D331-421E-442F-B033-AF5B21A4485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TM10001105[[fn=Уголки]]</Template>
  <TotalTime>127</TotalTime>
  <Words>9471</Words>
  <Application>Microsoft Office PowerPoint</Application>
  <PresentationFormat>Широкоэкранный</PresentationFormat>
  <Paragraphs>865</Paragraphs>
  <Slides>117</Slides>
  <Notes>80</Notes>
  <HiddenSlides>83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117</vt:i4>
      </vt:variant>
    </vt:vector>
  </HeadingPairs>
  <TitlesOfParts>
    <vt:vector size="124" baseType="lpstr">
      <vt:lpstr>Arial</vt:lpstr>
      <vt:lpstr>Calibri</vt:lpstr>
      <vt:lpstr>Century Gothic</vt:lpstr>
      <vt:lpstr>Consolas</vt:lpstr>
      <vt:lpstr>Franklin Gothic Book</vt:lpstr>
      <vt:lpstr>Georgia</vt:lpstr>
      <vt:lpstr>Уголки</vt:lpstr>
      <vt:lpstr>Лекция 13    Паттерны. Продолжение</vt:lpstr>
      <vt:lpstr>Паттерны проектирования: Шаблонный метод (Template Method)</vt:lpstr>
      <vt:lpstr>Определение</vt:lpstr>
      <vt:lpstr>Назначение паттерна Шаблонный метод</vt:lpstr>
      <vt:lpstr>Решаемая проблема</vt:lpstr>
      <vt:lpstr>Обсуждение паттерна</vt:lpstr>
      <vt:lpstr>UML-диаграмма паттерна</vt:lpstr>
      <vt:lpstr>Пример паттерна</vt:lpstr>
      <vt:lpstr>Пример паттерна Template Method</vt:lpstr>
      <vt:lpstr>Использование паттерна</vt:lpstr>
      <vt:lpstr>Приготовление двух блюд</vt:lpstr>
      <vt:lpstr>Класс  Hamburger</vt:lpstr>
      <vt:lpstr>Класс  HotDog</vt:lpstr>
      <vt:lpstr> Класс FastFood</vt:lpstr>
      <vt:lpstr>Абстрактный класс FastFood</vt:lpstr>
      <vt:lpstr>Изменения в класса-наследниках</vt:lpstr>
      <vt:lpstr>Изменения в абстрактном классе FastFood</vt:lpstr>
      <vt:lpstr>Итоговый класс-наследник Hamburger</vt:lpstr>
      <vt:lpstr>Итоговый класс-наследник HotDog</vt:lpstr>
      <vt:lpstr>Класс FastFood: новый метод для реализации выбора</vt:lpstr>
      <vt:lpstr>Изменение в классе-наследнике: возможность выбора</vt:lpstr>
      <vt:lpstr>Паттерны проектирования: Стратегия (Strategy)</vt:lpstr>
      <vt:lpstr>Стратегия (Strategy)</vt:lpstr>
      <vt:lpstr>Архитектура программы «Утки»</vt:lpstr>
      <vt:lpstr>Базовый класс: DuckBase</vt:lpstr>
      <vt:lpstr>Абстрактный метод</vt:lpstr>
      <vt:lpstr>Классы-наследники: SimpleDuck, ExoticDuck, GreenDuck</vt:lpstr>
      <vt:lpstr>Классы-наследники: SimpleDuck, ExoticDuck, GreenDuck</vt:lpstr>
      <vt:lpstr>Класс Program: полиморфизм</vt:lpstr>
      <vt:lpstr>DuckBase: метод Fly и его вызов</vt:lpstr>
      <vt:lpstr>DuckBase: метод Fly и его вызов</vt:lpstr>
      <vt:lpstr>WoodenDuck и RubberDuck: деревянная и резиновая утки</vt:lpstr>
      <vt:lpstr>Новая архитектура с полетами </vt:lpstr>
      <vt:lpstr>Виртуальные методы Fly() и Quack()</vt:lpstr>
      <vt:lpstr>Реализация виртуальных методов в классах-наследниках</vt:lpstr>
      <vt:lpstr>Интерфейс</vt:lpstr>
      <vt:lpstr>Интерфейс</vt:lpstr>
      <vt:lpstr>Интерфейсы: IFlyable, IQuackable</vt:lpstr>
      <vt:lpstr>Изменения в базовом классе и классах-наследниках</vt:lpstr>
      <vt:lpstr>Ошибки компиляции: решение</vt:lpstr>
      <vt:lpstr>Проблемы текущей реализации</vt:lpstr>
      <vt:lpstr>Принцип проектирования</vt:lpstr>
      <vt:lpstr>Отделение аспектов</vt:lpstr>
      <vt:lpstr>DuckBase: поля-интерфейсы</vt:lpstr>
      <vt:lpstr>Изменения в классах-потомках</vt:lpstr>
      <vt:lpstr>Классы SimpleQuack и FlyWithWings</vt:lpstr>
      <vt:lpstr>DuckBase: конструктор</vt:lpstr>
      <vt:lpstr>Запуск: начинаем все с начала!</vt:lpstr>
      <vt:lpstr>Классы NoFly и NoQuack</vt:lpstr>
      <vt:lpstr>Переопределяем конструкторы</vt:lpstr>
      <vt:lpstr>Динамическое изменение полета и кряканья</vt:lpstr>
      <vt:lpstr>Результат</vt:lpstr>
      <vt:lpstr>Паттерны проектирования: Команда (Command)</vt:lpstr>
      <vt:lpstr>Определение</vt:lpstr>
      <vt:lpstr>Цель</vt:lpstr>
      <vt:lpstr>Описание</vt:lpstr>
      <vt:lpstr>Класс Пульт RemoteControl</vt:lpstr>
      <vt:lpstr>Главная программа</vt:lpstr>
      <vt:lpstr>Класс RemoteControl:  метод PerformAction</vt:lpstr>
      <vt:lpstr>Класс RemoteControl:  методы работы оборудования</vt:lpstr>
      <vt:lpstr>Класс RemoteControl:  методы работы оборудования</vt:lpstr>
      <vt:lpstr>Интерфейс ICommand</vt:lpstr>
      <vt:lpstr>Наследники – классы для работы с устройствами</vt:lpstr>
      <vt:lpstr>Наследники – классы для работы с устройствами</vt:lpstr>
      <vt:lpstr>Класс RemoteControl: внедрение классов оборудования</vt:lpstr>
      <vt:lpstr>Метод ToString() во всех командах</vt:lpstr>
      <vt:lpstr>Модификация метода-меню</vt:lpstr>
      <vt:lpstr>Метод SetCommandForButton: Назначение команды кнопке и изменение конструктора</vt:lpstr>
      <vt:lpstr>Переопределение кнопки</vt:lpstr>
      <vt:lpstr>Паттерн Команда Command</vt:lpstr>
      <vt:lpstr>Диаграмма классов проекта</vt:lpstr>
      <vt:lpstr>Диаграмма классов </vt:lpstr>
      <vt:lpstr>Классы реальных устройств</vt:lpstr>
      <vt:lpstr>Тип State Перечисление</vt:lpstr>
      <vt:lpstr>Изменения в классах команд</vt:lpstr>
      <vt:lpstr>RemoteControl изменения</vt:lpstr>
      <vt:lpstr>Main изменения</vt:lpstr>
      <vt:lpstr>Операции отмены</vt:lpstr>
      <vt:lpstr>Метод Undo в классах-наследниках команд</vt:lpstr>
      <vt:lpstr>Изменения в RemoveControl</vt:lpstr>
      <vt:lpstr>В Main для вызова отмены после ее вызова просто добавьте отмену:</vt:lpstr>
      <vt:lpstr>Состояния света</vt:lpstr>
      <vt:lpstr>Изменения в классе Light для многосостояний </vt:lpstr>
      <vt:lpstr>Изменения вызова в LightCommand</vt:lpstr>
      <vt:lpstr>Изменения для сохранения предыдущего состояния</vt:lpstr>
      <vt:lpstr>Новый метод в Light</vt:lpstr>
      <vt:lpstr>Новый метод в классе Light</vt:lpstr>
      <vt:lpstr>Изменения в методах Light</vt:lpstr>
      <vt:lpstr>Изменения в Main для тестирования</vt:lpstr>
      <vt:lpstr>Стек состояний</vt:lpstr>
      <vt:lpstr>Макро-  команда</vt:lpstr>
      <vt:lpstr>Проверка макрокоманды</vt:lpstr>
      <vt:lpstr>Паттерны проектирования: Фасад (Facade)</vt:lpstr>
      <vt:lpstr>Назначение паттерна Фасад</vt:lpstr>
      <vt:lpstr>Решаемая проблема</vt:lpstr>
      <vt:lpstr>Обсуждение паттерна Фасад</vt:lpstr>
      <vt:lpstr>Структура паттерна Фасад</vt:lpstr>
      <vt:lpstr>UML-диаграмма классов</vt:lpstr>
      <vt:lpstr>Пример 1 паттерна Фасад</vt:lpstr>
      <vt:lpstr>Пример 2 паттерна Фасад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Принцип минимальной информированности</vt:lpstr>
      <vt:lpstr>Использование паттерна Фасад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Лекция …    Заголовок</dc:title>
  <dc:creator>Лилия Челищева</dc:creator>
  <cp:lastModifiedBy>Лилия Челищева</cp:lastModifiedBy>
  <cp:revision>8</cp:revision>
  <dcterms:created xsi:type="dcterms:W3CDTF">2023-09-01T22:02:12Z</dcterms:created>
  <dcterms:modified xsi:type="dcterms:W3CDTF">2025-10-05T09:30:24Z</dcterms:modified>
</cp:coreProperties>
</file>