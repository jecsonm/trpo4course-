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4095" r:id="rId1"/>
  </p:sldMasterIdLst>
  <p:notesMasterIdLst>
    <p:notesMasterId r:id="rId34"/>
  </p:notesMasterIdLst>
  <p:sldIdLst>
    <p:sldId id="256" r:id="rId2"/>
    <p:sldId id="257" r:id="rId3"/>
    <p:sldId id="258" r:id="rId4"/>
    <p:sldId id="260" r:id="rId5"/>
    <p:sldId id="259" r:id="rId6"/>
    <p:sldId id="261" r:id="rId7"/>
    <p:sldId id="262" r:id="rId8"/>
    <p:sldId id="263" r:id="rId9"/>
    <p:sldId id="264" r:id="rId10"/>
    <p:sldId id="265" r:id="rId11"/>
    <p:sldId id="266" r:id="rId12"/>
    <p:sldId id="268" r:id="rId13"/>
    <p:sldId id="269" r:id="rId14"/>
    <p:sldId id="270" r:id="rId15"/>
    <p:sldId id="272" r:id="rId16"/>
    <p:sldId id="273" r:id="rId17"/>
    <p:sldId id="271" r:id="rId18"/>
    <p:sldId id="274" r:id="rId19"/>
    <p:sldId id="275" r:id="rId20"/>
    <p:sldId id="280" r:id="rId21"/>
    <p:sldId id="276" r:id="rId22"/>
    <p:sldId id="277" r:id="rId23"/>
    <p:sldId id="278" r:id="rId24"/>
    <p:sldId id="279" r:id="rId25"/>
    <p:sldId id="281" r:id="rId26"/>
    <p:sldId id="282" r:id="rId27"/>
    <p:sldId id="283" r:id="rId28"/>
    <p:sldId id="284" r:id="rId29"/>
    <p:sldId id="285" r:id="rId30"/>
    <p:sldId id="286" r:id="rId31"/>
    <p:sldId id="287" r:id="rId32"/>
    <p:sldId id="28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B9F18C-B0EF-4C3B-831E-15C3CF792C09}" type="datetimeFigureOut">
              <a:rPr lang="ru-RU" smtClean="0"/>
              <a:t>05.09.2025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D3E470-2E3C-4AB4-A461-A838E60D5F10}" type="slidenum">
              <a:rPr lang="ru-RU" smtClean="0"/>
              <a:t>‹#›</a:t>
            </a:fld>
            <a:endParaRPr lang="ru-RU"/>
          </a:p>
        </p:txBody>
      </p:sp>
    </p:spTree>
    <p:extLst>
      <p:ext uri="{BB962C8B-B14F-4D97-AF65-F5344CB8AC3E}">
        <p14:creationId xmlns:p14="http://schemas.microsoft.com/office/powerpoint/2010/main" val="725914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none" baseline="0">
                <a:solidFill>
                  <a:schemeClr val="tx2"/>
                </a:solidFill>
              </a:defRPr>
            </a:lvl1pPr>
          </a:lstStyle>
          <a:p>
            <a:r>
              <a:rPr lang="ru-RU" dirty="0"/>
              <a:t>Образец заголовка</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sz="1400" baseline="0">
                <a:solidFill>
                  <a:schemeClr val="tx2"/>
                </a:solidFill>
              </a:defRPr>
            </a:lvl1pPr>
          </a:lstStyle>
          <a:p>
            <a:fld id="{D24FCE4A-E037-49CC-AF69-12A4988BE38E}" type="datetime1">
              <a:rPr lang="ru-RU" smtClean="0"/>
              <a:t>05.09.2025</a:t>
            </a:fld>
            <a:endParaRPr lang="ru-RU" dirty="0"/>
          </a:p>
        </p:txBody>
      </p:sp>
      <p:sp>
        <p:nvSpPr>
          <p:cNvPr id="5" name="Footer Placeholder 4"/>
          <p:cNvSpPr>
            <a:spLocks noGrp="1"/>
          </p:cNvSpPr>
          <p:nvPr>
            <p:ph type="ftr" sz="quarter" idx="11"/>
          </p:nvPr>
        </p:nvSpPr>
        <p:spPr>
          <a:xfrm>
            <a:off x="2584054" y="6453386"/>
            <a:ext cx="7023377" cy="404614"/>
          </a:xfrm>
        </p:spPr>
        <p:txBody>
          <a:bodyPr/>
          <a:lstStyle>
            <a:lvl1pPr algn="ctr">
              <a:defRPr sz="1400" baseline="0">
                <a:solidFill>
                  <a:schemeClr val="tx2"/>
                </a:solidFill>
              </a:defRPr>
            </a:lvl1pPr>
          </a:lstStyle>
          <a:p>
            <a:endParaRPr lang="ru-RU" dirty="0"/>
          </a:p>
        </p:txBody>
      </p:sp>
      <p:sp>
        <p:nvSpPr>
          <p:cNvPr id="6" name="Slide Number Placeholder 5"/>
          <p:cNvSpPr>
            <a:spLocks noGrp="1"/>
          </p:cNvSpPr>
          <p:nvPr>
            <p:ph type="sldNum" sz="quarter" idx="12"/>
          </p:nvPr>
        </p:nvSpPr>
        <p:spPr>
          <a:xfrm>
            <a:off x="9830683" y="6453386"/>
            <a:ext cx="1596292" cy="404614"/>
          </a:xfrm>
        </p:spPr>
        <p:txBody>
          <a:bodyPr/>
          <a:lstStyle>
            <a:lvl1pPr>
              <a:defRPr sz="2800" baseline="0">
                <a:solidFill>
                  <a:schemeClr val="tx2"/>
                </a:solidFill>
              </a:defRPr>
            </a:lvl1pPr>
          </a:lstStyle>
          <a:p>
            <a:fld id="{25A42088-C730-408A-A823-60BED1AFCEA0}" type="slidenum">
              <a:rPr lang="ru-RU" smtClean="0"/>
              <a:pPr/>
              <a:t>‹#›</a:t>
            </a:fld>
            <a:endParaRPr lang="ru-RU" dirty="0"/>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606201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C2BC256-CF22-4233-9857-77FD6DE4305F}" type="datetime1">
              <a:rPr lang="ru-RU" smtClean="0"/>
              <a:t>05.09.2025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723332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ru-RU"/>
              <a:t>Образец заголовка</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28F9FC76-01F9-4AB9-9526-B8F3E54B532E}" type="datetime1">
              <a:rPr lang="ru-RU" smtClean="0"/>
              <a:t>05.09.2025</a:t>
            </a:fld>
            <a:endParaRPr lang="ru-RU"/>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ru-RU"/>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25A42088-C730-408A-A823-60BED1AFCEA0}" type="slidenum">
              <a:rPr lang="ru-RU" smtClean="0"/>
              <a:t>‹#›</a:t>
            </a:fld>
            <a:endParaRPr lang="ru-RU"/>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38485155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ru-RU"/>
              <a:t>Образец заголовка</a:t>
            </a:r>
            <a:endParaRPr lang="en-US" dirty="0"/>
          </a:p>
        </p:txBody>
      </p:sp>
      <p:sp>
        <p:nvSpPr>
          <p:cNvPr id="3" name="Content Placeholder 2"/>
          <p:cNvSpPr>
            <a:spLocks noGrp="1"/>
          </p:cNvSpPr>
          <p:nvPr>
            <p:ph sz="half" idx="1"/>
          </p:nvPr>
        </p:nvSpPr>
        <p:spPr>
          <a:xfrm>
            <a:off x="1371600" y="1593669"/>
            <a:ext cx="4447786" cy="427373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4" name="Content Placeholder 3"/>
          <p:cNvSpPr>
            <a:spLocks noGrp="1"/>
          </p:cNvSpPr>
          <p:nvPr>
            <p:ph sz="half" idx="2"/>
          </p:nvPr>
        </p:nvSpPr>
        <p:spPr>
          <a:xfrm>
            <a:off x="6525403" y="1593669"/>
            <a:ext cx="4447786" cy="427373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E7EE593B-0741-4F91-B3F7-D86E2A3829EC}" type="datetime1">
              <a:rPr lang="ru-RU" smtClean="0"/>
              <a:t>05.09.2025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86758793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637903"/>
          </a:xfrm>
        </p:spPr>
        <p:txBody>
          <a:bodyPr/>
          <a:lstStyle>
            <a:lvl1pPr>
              <a:defRPr>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343524" y="1516952"/>
            <a:ext cx="4443984" cy="637903"/>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371600" y="2348104"/>
            <a:ext cx="4443984" cy="3824095"/>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525014" y="1516952"/>
            <a:ext cx="4443984" cy="637903"/>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525014" y="2348105"/>
            <a:ext cx="4443984" cy="3824094"/>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7A8E1F07-52A3-48D9-9F41-C3051238F9D9}" type="datetime1">
              <a:rPr lang="ru-RU" smtClean="0"/>
              <a:t>05.09.2025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13498195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E608CE4C-A5EC-4AB7-A9A4-27750E771CE5}" type="datetime1">
              <a:rPr lang="ru-RU" smtClean="0"/>
              <a:t>05.09.2025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63145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EB03B2-378A-41C0-B280-1C672D3B0406}" type="datetime1">
              <a:rPr lang="ru-RU" smtClean="0"/>
              <a:t>05.09.2025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966761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ru-RU"/>
              <a:t>Образец заголовка</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144C243-AD7B-4350-8781-0A627ED81D55}" type="datetime1">
              <a:rPr lang="ru-RU" smtClean="0"/>
              <a:t>05.09.2025</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5A42088-C730-408A-A823-60BED1AFCEA0}"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6334413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0666B70E-4DCD-4E75-B5FA-FB4983BEDB2D}" type="datetime1">
              <a:rPr lang="ru-RU" smtClean="0"/>
              <a:t>05.09.2025</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5A42088-C730-408A-A823-60BED1AFCEA0}"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45939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1637211"/>
            <a:ext cx="9601200" cy="4230189"/>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68EB5A6-BF52-47B6-9BBF-2892C814B698}" type="datetime1">
              <a:rPr lang="ru-RU" smtClean="0"/>
              <a:t>05.09.2025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59763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2B5C8FEC-7C05-4726-9EBD-62047155F109}" type="datetime1">
              <a:rPr lang="ru-RU" smtClean="0"/>
              <a:t>05.09.2025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313815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596538"/>
            <a:ext cx="9601200" cy="733697"/>
          </a:xfrm>
          <a:prstGeom prst="rect">
            <a:avLst/>
          </a:prstGeom>
        </p:spPr>
        <p:txBody>
          <a:bodyPr vert="horz" lIns="91440" tIns="45720" rIns="91440" bIns="45720" rtlCol="0" anchor="t">
            <a:normAutofit/>
          </a:bodyPr>
          <a:lstStyle/>
          <a:p>
            <a:r>
              <a:rPr lang="ru-RU" dirty="0"/>
              <a:t>Образец заголовка</a:t>
            </a:r>
            <a:endParaRPr lang="en-US" dirty="0"/>
          </a:p>
        </p:txBody>
      </p:sp>
      <p:sp>
        <p:nvSpPr>
          <p:cNvPr id="3" name="Text Placeholder 2"/>
          <p:cNvSpPr>
            <a:spLocks noGrp="1"/>
          </p:cNvSpPr>
          <p:nvPr>
            <p:ph type="body" idx="1"/>
          </p:nvPr>
        </p:nvSpPr>
        <p:spPr>
          <a:xfrm>
            <a:off x="1371600" y="1506583"/>
            <a:ext cx="9601200" cy="4754879"/>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4" name="Date Placeholder 3"/>
          <p:cNvSpPr>
            <a:spLocks noGrp="1"/>
          </p:cNvSpPr>
          <p:nvPr>
            <p:ph type="dt" sz="half" idx="2"/>
          </p:nvPr>
        </p:nvSpPr>
        <p:spPr>
          <a:xfrm>
            <a:off x="1371600" y="6374670"/>
            <a:ext cx="1146333" cy="404614"/>
          </a:xfrm>
          <a:prstGeom prst="rect">
            <a:avLst/>
          </a:prstGeom>
        </p:spPr>
        <p:txBody>
          <a:bodyPr vert="horz" lIns="91440" tIns="45720" rIns="91440" bIns="45720" rtlCol="0" anchor="ctr"/>
          <a:lstStyle>
            <a:lvl1pPr algn="l">
              <a:defRPr sz="1400" baseline="0">
                <a:solidFill>
                  <a:schemeClr val="tx2"/>
                </a:solidFill>
                <a:latin typeface="Georgia" panose="02040502050405020303" pitchFamily="18" charset="0"/>
              </a:defRPr>
            </a:lvl1pPr>
          </a:lstStyle>
          <a:p>
            <a:fld id="{B5DAF34B-A6AB-40A2-8DC7-57C71D49F463}" type="datetime1">
              <a:rPr lang="ru-RU" smtClean="0"/>
              <a:t>05.09.2025</a:t>
            </a:fld>
            <a:endParaRPr lang="ru-RU"/>
          </a:p>
        </p:txBody>
      </p:sp>
      <p:sp>
        <p:nvSpPr>
          <p:cNvPr id="5" name="Footer Placeholder 4"/>
          <p:cNvSpPr>
            <a:spLocks noGrp="1"/>
          </p:cNvSpPr>
          <p:nvPr>
            <p:ph type="ftr" sz="quarter" idx="3"/>
          </p:nvPr>
        </p:nvSpPr>
        <p:spPr>
          <a:xfrm>
            <a:off x="2874514" y="6374670"/>
            <a:ext cx="6461075" cy="404614"/>
          </a:xfrm>
          <a:prstGeom prst="rect">
            <a:avLst/>
          </a:prstGeom>
        </p:spPr>
        <p:txBody>
          <a:bodyPr vert="horz" lIns="91440" tIns="45720" rIns="91440" bIns="45720" rtlCol="0" anchor="ctr"/>
          <a:lstStyle>
            <a:lvl1pPr algn="l">
              <a:defRPr sz="1400" baseline="0">
                <a:solidFill>
                  <a:schemeClr val="tx2"/>
                </a:solidFill>
                <a:latin typeface="Georgia" panose="02040502050405020303" pitchFamily="18" charset="0"/>
              </a:defRPr>
            </a:lvl1pPr>
          </a:lstStyle>
          <a:p>
            <a:endParaRPr lang="ru-RU" dirty="0"/>
          </a:p>
        </p:txBody>
      </p:sp>
      <p:sp>
        <p:nvSpPr>
          <p:cNvPr id="6" name="Slide Number Placeholder 5"/>
          <p:cNvSpPr>
            <a:spLocks noGrp="1"/>
          </p:cNvSpPr>
          <p:nvPr>
            <p:ph type="sldNum" sz="quarter" idx="4"/>
          </p:nvPr>
        </p:nvSpPr>
        <p:spPr>
          <a:xfrm>
            <a:off x="9692170" y="6374670"/>
            <a:ext cx="1280630" cy="404614"/>
          </a:xfrm>
          <a:prstGeom prst="rect">
            <a:avLst/>
          </a:prstGeom>
        </p:spPr>
        <p:txBody>
          <a:bodyPr vert="horz" lIns="91440" tIns="45720" rIns="91440" bIns="45720" rtlCol="0" anchor="ctr"/>
          <a:lstStyle>
            <a:lvl1pPr algn="r">
              <a:defRPr sz="2800" baseline="0">
                <a:solidFill>
                  <a:schemeClr val="tx2"/>
                </a:solidFill>
                <a:latin typeface="Georgia" panose="02040502050405020303" pitchFamily="18" charset="0"/>
              </a:defRPr>
            </a:lvl1pPr>
          </a:lstStyle>
          <a:p>
            <a:fld id="{25A42088-C730-408A-A823-60BED1AFCEA0}" type="slidenum">
              <a:rPr lang="ru-RU" smtClean="0"/>
              <a:pPr/>
              <a:t>‹#›</a:t>
            </a:fld>
            <a:endParaRPr lang="ru-RU"/>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44367473"/>
      </p:ext>
    </p:extLst>
  </p:cSld>
  <p:clrMap bg1="lt1" tx1="dk1" bg2="lt2" tx2="dk2" accent1="accent1" accent2="accent2" accent3="accent3" accent4="accent4" accent5="accent5" accent6="accent6" hlink="hlink" folHlink="folHlink"/>
  <p:sldLayoutIdLst>
    <p:sldLayoutId id="2147484096"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hf hdr="0" ftr="0" dt="0"/>
  <p:txStyles>
    <p:titleStyle>
      <a:lvl1pPr algn="l" defTabSz="914400" rtl="0" eaLnBrk="1" latinLnBrk="0" hangingPunct="1">
        <a:lnSpc>
          <a:spcPct val="89000"/>
        </a:lnSpc>
        <a:spcBef>
          <a:spcPct val="0"/>
        </a:spcBef>
        <a:buNone/>
        <a:defRPr sz="3600" kern="1200" baseline="0">
          <a:solidFill>
            <a:schemeClr val="tx2"/>
          </a:solidFill>
          <a:latin typeface="Georgia" panose="02040502050405020303" pitchFamily="18" charset="0"/>
          <a:ea typeface="+mj-ea"/>
          <a:cs typeface="+mj-cs"/>
        </a:defRPr>
      </a:lvl1pPr>
    </p:titleStyle>
    <p:bodyStyle>
      <a:lvl1pPr marL="0" indent="0" algn="l" defTabSz="914400" rtl="0" eaLnBrk="1" latinLnBrk="0" hangingPunct="1">
        <a:lnSpc>
          <a:spcPct val="94000"/>
        </a:lnSpc>
        <a:spcBef>
          <a:spcPts val="1000"/>
        </a:spcBef>
        <a:spcAft>
          <a:spcPts val="200"/>
        </a:spcAft>
        <a:buFontTx/>
        <a:buNone/>
        <a:defRPr sz="2000" kern="1200" baseline="0">
          <a:solidFill>
            <a:schemeClr val="tx2"/>
          </a:solidFill>
          <a:latin typeface="Georgia" panose="02040502050405020303" pitchFamily="18" charset="0"/>
          <a:ea typeface="+mn-ea"/>
          <a:cs typeface="+mn-cs"/>
        </a:defRPr>
      </a:lvl1pPr>
      <a:lvl2pPr marL="530352" indent="0" algn="l" defTabSz="914400" rtl="0" eaLnBrk="1" latinLnBrk="0" hangingPunct="1">
        <a:lnSpc>
          <a:spcPct val="94000"/>
        </a:lnSpc>
        <a:spcBef>
          <a:spcPts val="500"/>
        </a:spcBef>
        <a:spcAft>
          <a:spcPts val="200"/>
        </a:spcAft>
        <a:buFontTx/>
        <a:buNone/>
        <a:defRPr sz="2000" i="1" kern="1200" baseline="0">
          <a:solidFill>
            <a:schemeClr val="tx2"/>
          </a:solidFill>
          <a:latin typeface="Georgia" panose="02040502050405020303" pitchFamily="18" charset="0"/>
          <a:ea typeface="+mn-ea"/>
          <a:cs typeface="+mn-cs"/>
        </a:defRPr>
      </a:lvl2pPr>
      <a:lvl3pPr marL="987552" indent="0" algn="l" defTabSz="914400" rtl="0" eaLnBrk="1" latinLnBrk="0" hangingPunct="1">
        <a:lnSpc>
          <a:spcPct val="94000"/>
        </a:lnSpc>
        <a:spcBef>
          <a:spcPts val="500"/>
        </a:spcBef>
        <a:spcAft>
          <a:spcPts val="200"/>
        </a:spcAft>
        <a:buFontTx/>
        <a:buNone/>
        <a:defRPr sz="1800" kern="1200" baseline="0">
          <a:solidFill>
            <a:schemeClr val="tx2"/>
          </a:solidFill>
          <a:latin typeface="Georgia" panose="02040502050405020303" pitchFamily="18" charset="0"/>
          <a:ea typeface="+mn-ea"/>
          <a:cs typeface="+mn-cs"/>
        </a:defRPr>
      </a:lvl3pPr>
      <a:lvl4pPr marL="1444752" indent="0" algn="l" defTabSz="914400" rtl="0" eaLnBrk="1" latinLnBrk="0" hangingPunct="1">
        <a:lnSpc>
          <a:spcPct val="94000"/>
        </a:lnSpc>
        <a:spcBef>
          <a:spcPts val="500"/>
        </a:spcBef>
        <a:spcAft>
          <a:spcPts val="200"/>
        </a:spcAft>
        <a:buFontTx/>
        <a:buNone/>
        <a:defRPr sz="1800" i="1" kern="1200" baseline="0">
          <a:solidFill>
            <a:schemeClr val="tx2"/>
          </a:solidFill>
          <a:latin typeface="Georgia" panose="02040502050405020303" pitchFamily="18" charset="0"/>
          <a:ea typeface="+mn-ea"/>
          <a:cs typeface="+mn-cs"/>
        </a:defRPr>
      </a:lvl4pPr>
      <a:lvl5pPr marL="1901952" indent="0" algn="l" defTabSz="914400" rtl="0" eaLnBrk="1" latinLnBrk="0" hangingPunct="1">
        <a:lnSpc>
          <a:spcPct val="94000"/>
        </a:lnSpc>
        <a:spcBef>
          <a:spcPts val="500"/>
        </a:spcBef>
        <a:spcAft>
          <a:spcPts val="200"/>
        </a:spcAft>
        <a:buFontTx/>
        <a:buNone/>
        <a:defRPr sz="1600" kern="1200" baseline="0">
          <a:solidFill>
            <a:schemeClr val="tx2"/>
          </a:solidFill>
          <a:latin typeface="Georgia" panose="02040502050405020303" pitchFamily="18" charset="0"/>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elma365.com/ru/articles/urok-1-vvod-v-notaciyu-bpmn/" TargetMode="External"/><Relationship Id="rId2" Type="http://schemas.openxmlformats.org/officeDocument/2006/relationships/hyperlink" Target="https://stormbpmn.com/bpmn/element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F56258-0E67-7C7B-2850-681FD0BB7579}"/>
              </a:ext>
            </a:extLst>
          </p:cNvPr>
          <p:cNvSpPr>
            <a:spLocks noGrp="1"/>
          </p:cNvSpPr>
          <p:nvPr>
            <p:ph type="ctrTitle"/>
          </p:nvPr>
        </p:nvSpPr>
        <p:spPr>
          <a:xfrm>
            <a:off x="1336929" y="1739293"/>
            <a:ext cx="9517625" cy="2098226"/>
          </a:xfrm>
        </p:spPr>
        <p:txBody>
          <a:bodyPr/>
          <a:lstStyle/>
          <a:p>
            <a:r>
              <a:rPr lang="ru-RU" sz="6000" dirty="0"/>
              <a:t>Лекция 4 </a:t>
            </a:r>
            <a:br>
              <a:rPr lang="ru-RU" sz="6000" dirty="0"/>
            </a:br>
            <a:r>
              <a:rPr lang="ru-RU" sz="4400" dirty="0"/>
              <a:t>Моделирование предметной области и бизнес-процессов. </a:t>
            </a:r>
            <a:r>
              <a:rPr lang="en-US" sz="4400" dirty="0"/>
              <a:t>BPMN</a:t>
            </a:r>
            <a:endParaRPr lang="ru-RU" sz="4400" dirty="0"/>
          </a:p>
        </p:txBody>
      </p:sp>
      <p:sp>
        <p:nvSpPr>
          <p:cNvPr id="3" name="Подзаголовок 2">
            <a:extLst>
              <a:ext uri="{FF2B5EF4-FFF2-40B4-BE49-F238E27FC236}">
                <a16:creationId xmlns:a16="http://schemas.microsoft.com/office/drawing/2014/main" id="{29DB230C-D752-D32B-FD0D-416920046857}"/>
              </a:ext>
            </a:extLst>
          </p:cNvPr>
          <p:cNvSpPr>
            <a:spLocks noGrp="1"/>
          </p:cNvSpPr>
          <p:nvPr>
            <p:ph type="subTitle" idx="1"/>
          </p:nvPr>
        </p:nvSpPr>
        <p:spPr/>
        <p:txBody>
          <a:bodyPr>
            <a:normAutofit fontScale="92500"/>
          </a:bodyPr>
          <a:lstStyle/>
          <a:p>
            <a:r>
              <a:rPr lang="ru-RU" dirty="0"/>
              <a:t>Технология разработки программного обеспечения</a:t>
            </a:r>
          </a:p>
          <a:p>
            <a:r>
              <a:rPr lang="ru-RU" dirty="0"/>
              <a:t>Преподаватель: Челищева Лилия Дмитриевна</a:t>
            </a:r>
          </a:p>
        </p:txBody>
      </p:sp>
    </p:spTree>
    <p:extLst>
      <p:ext uri="{BB962C8B-B14F-4D97-AF65-F5344CB8AC3E}">
        <p14:creationId xmlns:p14="http://schemas.microsoft.com/office/powerpoint/2010/main" val="1586075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9282F9-4D3C-BC75-AAA6-3F765CAB3012}"/>
              </a:ext>
            </a:extLst>
          </p:cNvPr>
          <p:cNvSpPr>
            <a:spLocks noGrp="1"/>
          </p:cNvSpPr>
          <p:nvPr>
            <p:ph type="title"/>
          </p:nvPr>
        </p:nvSpPr>
        <p:spPr/>
        <p:txBody>
          <a:bodyPr/>
          <a:lstStyle/>
          <a:p>
            <a:r>
              <a:rPr lang="ru-RU" dirty="0"/>
              <a:t>Моделирование предметной области</a:t>
            </a:r>
          </a:p>
        </p:txBody>
      </p:sp>
      <p:sp>
        <p:nvSpPr>
          <p:cNvPr id="3" name="Объект 2">
            <a:extLst>
              <a:ext uri="{FF2B5EF4-FFF2-40B4-BE49-F238E27FC236}">
                <a16:creationId xmlns:a16="http://schemas.microsoft.com/office/drawing/2014/main" id="{FEFC71DD-32F2-11BD-C730-C9C91CC71465}"/>
              </a:ext>
            </a:extLst>
          </p:cNvPr>
          <p:cNvSpPr>
            <a:spLocks noGrp="1"/>
          </p:cNvSpPr>
          <p:nvPr>
            <p:ph idx="1"/>
          </p:nvPr>
        </p:nvSpPr>
        <p:spPr/>
        <p:txBody>
          <a:bodyPr>
            <a:normAutofit/>
          </a:bodyPr>
          <a:lstStyle/>
          <a:p>
            <a:r>
              <a:rPr lang="ru-RU" sz="2400" dirty="0"/>
              <a:t>В основе проектирования ИС лежит </a:t>
            </a:r>
            <a:r>
              <a:rPr lang="ru-RU" sz="2400" b="1" dirty="0"/>
              <a:t>моделирование предметной области</a:t>
            </a:r>
            <a:r>
              <a:rPr lang="ru-RU" sz="2400" dirty="0"/>
              <a:t>. Для того чтобы получить адекватный предметной области проект ИС в виде системы правильно работающих программ, необходимо иметь целостное, системное представление модели, которое отражает все аспекты функционирования будущей информационной системы. При этом под моделью предметной области понимается некоторая система, имитирующая структуру или функционирование исследуемой предметной области и отвечающая основному требованию – быть адекватной этой области.</a:t>
            </a:r>
          </a:p>
        </p:txBody>
      </p:sp>
      <p:sp>
        <p:nvSpPr>
          <p:cNvPr id="4" name="Номер слайда 3">
            <a:extLst>
              <a:ext uri="{FF2B5EF4-FFF2-40B4-BE49-F238E27FC236}">
                <a16:creationId xmlns:a16="http://schemas.microsoft.com/office/drawing/2014/main" id="{D71D505D-A966-076C-A1FB-EA145D9B0C05}"/>
              </a:ext>
            </a:extLst>
          </p:cNvPr>
          <p:cNvSpPr>
            <a:spLocks noGrp="1"/>
          </p:cNvSpPr>
          <p:nvPr>
            <p:ph type="sldNum" sz="quarter" idx="12"/>
          </p:nvPr>
        </p:nvSpPr>
        <p:spPr/>
        <p:txBody>
          <a:bodyPr/>
          <a:lstStyle/>
          <a:p>
            <a:fld id="{25A42088-C730-408A-A823-60BED1AFCEA0}" type="slidenum">
              <a:rPr lang="ru-RU" smtClean="0"/>
              <a:t>2</a:t>
            </a:fld>
            <a:endParaRPr lang="ru-RU"/>
          </a:p>
        </p:txBody>
      </p:sp>
    </p:spTree>
    <p:extLst>
      <p:ext uri="{BB962C8B-B14F-4D97-AF65-F5344CB8AC3E}">
        <p14:creationId xmlns:p14="http://schemas.microsoft.com/office/powerpoint/2010/main" val="4196434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D71CF4-F33F-0638-DB5F-F5C0864741FE}"/>
              </a:ext>
            </a:extLst>
          </p:cNvPr>
          <p:cNvSpPr>
            <a:spLocks noGrp="1"/>
          </p:cNvSpPr>
          <p:nvPr>
            <p:ph type="title"/>
          </p:nvPr>
        </p:nvSpPr>
        <p:spPr/>
        <p:txBody>
          <a:bodyPr/>
          <a:lstStyle/>
          <a:p>
            <a:r>
              <a:rPr lang="ru-RU" dirty="0"/>
              <a:t>Требования к моделям </a:t>
            </a:r>
            <a:r>
              <a:rPr lang="ru-RU" dirty="0" err="1"/>
              <a:t>предм</a:t>
            </a:r>
            <a:r>
              <a:rPr lang="ru-RU" dirty="0"/>
              <a:t>. обл.</a:t>
            </a:r>
          </a:p>
        </p:txBody>
      </p:sp>
      <p:sp>
        <p:nvSpPr>
          <p:cNvPr id="3" name="Объект 2">
            <a:extLst>
              <a:ext uri="{FF2B5EF4-FFF2-40B4-BE49-F238E27FC236}">
                <a16:creationId xmlns:a16="http://schemas.microsoft.com/office/drawing/2014/main" id="{50290AFA-7B44-EB2B-C2BD-8AA8D14DD914}"/>
              </a:ext>
            </a:extLst>
          </p:cNvPr>
          <p:cNvSpPr>
            <a:spLocks noGrp="1"/>
          </p:cNvSpPr>
          <p:nvPr>
            <p:ph idx="1"/>
          </p:nvPr>
        </p:nvSpPr>
        <p:spPr>
          <a:xfrm>
            <a:off x="1371600" y="1506583"/>
            <a:ext cx="9601200" cy="4868087"/>
          </a:xfrm>
        </p:spPr>
        <p:txBody>
          <a:bodyPr>
            <a:normAutofit fontScale="92500" lnSpcReduction="10000"/>
          </a:bodyPr>
          <a:lstStyle/>
          <a:p>
            <a:pPr marL="342900" indent="-342900">
              <a:buFont typeface="Wingdings" panose="05000000000000000000" pitchFamily="2" charset="2"/>
              <a:buChar char="v"/>
            </a:pPr>
            <a:r>
              <a:rPr lang="ru-RU" sz="2400" dirty="0"/>
              <a:t>формализация, обеспечивающая однозначное описание структуры предметной области;</a:t>
            </a:r>
          </a:p>
          <a:p>
            <a:pPr marL="342900" indent="-342900">
              <a:buFont typeface="Wingdings" panose="05000000000000000000" pitchFamily="2" charset="2"/>
              <a:buChar char="v"/>
            </a:pPr>
            <a:r>
              <a:rPr lang="ru-RU" sz="2400" dirty="0"/>
              <a:t>понятность для заказчиков и разработчиков на основе применения графических средств отображения модели;</a:t>
            </a:r>
          </a:p>
          <a:p>
            <a:pPr marL="342900" indent="-342900">
              <a:buFont typeface="Wingdings" panose="05000000000000000000" pitchFamily="2" charset="2"/>
              <a:buChar char="v"/>
            </a:pPr>
            <a:r>
              <a:rPr lang="ru-RU" sz="2400" dirty="0"/>
              <a:t>реализуемость, подразумевающая наличие средств физической реализации модели предметной области в ИС;</a:t>
            </a:r>
          </a:p>
          <a:p>
            <a:pPr marL="342900" indent="-342900">
              <a:buFont typeface="Wingdings" panose="05000000000000000000" pitchFamily="2" charset="2"/>
              <a:buChar char="v"/>
            </a:pPr>
            <a:r>
              <a:rPr lang="ru-RU" sz="2400" dirty="0"/>
              <a:t>обеспечение оценки эффективности реализации модели предметной области на основе определенных методов и вычисляемых показателей.</a:t>
            </a:r>
          </a:p>
          <a:p>
            <a:pPr marL="342900" indent="-342900">
              <a:buFont typeface="Wingdings" panose="05000000000000000000" pitchFamily="2" charset="2"/>
              <a:buChar char="v"/>
            </a:pPr>
            <a:endParaRPr lang="ru-RU" sz="2400" dirty="0"/>
          </a:p>
          <a:p>
            <a:r>
              <a:rPr lang="ru-RU" sz="2400" dirty="0"/>
              <a:t>Для реализации перечисленных требований, как правило, строится система моделей, которая отражает </a:t>
            </a:r>
            <a:r>
              <a:rPr lang="ru-RU" sz="2400" b="1" dirty="0"/>
              <a:t>структурный и оценочный аспекты </a:t>
            </a:r>
            <a:r>
              <a:rPr lang="ru-RU" sz="2400" dirty="0"/>
              <a:t>функционирования предметной области.</a:t>
            </a:r>
          </a:p>
        </p:txBody>
      </p:sp>
      <p:sp>
        <p:nvSpPr>
          <p:cNvPr id="4" name="Номер слайда 3">
            <a:extLst>
              <a:ext uri="{FF2B5EF4-FFF2-40B4-BE49-F238E27FC236}">
                <a16:creationId xmlns:a16="http://schemas.microsoft.com/office/drawing/2014/main" id="{4CDB6F1E-778A-CB68-5E28-34F7DED30AE3}"/>
              </a:ext>
            </a:extLst>
          </p:cNvPr>
          <p:cNvSpPr>
            <a:spLocks noGrp="1"/>
          </p:cNvSpPr>
          <p:nvPr>
            <p:ph type="sldNum" sz="quarter" idx="12"/>
          </p:nvPr>
        </p:nvSpPr>
        <p:spPr/>
        <p:txBody>
          <a:bodyPr/>
          <a:lstStyle/>
          <a:p>
            <a:fld id="{25A42088-C730-408A-A823-60BED1AFCEA0}" type="slidenum">
              <a:rPr lang="ru-RU" smtClean="0"/>
              <a:t>3</a:t>
            </a:fld>
            <a:endParaRPr lang="ru-RU"/>
          </a:p>
        </p:txBody>
      </p:sp>
    </p:spTree>
    <p:extLst>
      <p:ext uri="{BB962C8B-B14F-4D97-AF65-F5344CB8AC3E}">
        <p14:creationId xmlns:p14="http://schemas.microsoft.com/office/powerpoint/2010/main" val="3265568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3B0165-9DB8-F542-9CF3-FCB10E5E62C1}"/>
              </a:ext>
            </a:extLst>
          </p:cNvPr>
          <p:cNvSpPr>
            <a:spLocks noGrp="1"/>
          </p:cNvSpPr>
          <p:nvPr>
            <p:ph type="title"/>
          </p:nvPr>
        </p:nvSpPr>
        <p:spPr/>
        <p:txBody>
          <a:bodyPr/>
          <a:lstStyle/>
          <a:p>
            <a:r>
              <a:rPr lang="ru-RU" dirty="0"/>
              <a:t>Оценочный аспект</a:t>
            </a:r>
          </a:p>
        </p:txBody>
      </p:sp>
      <p:sp>
        <p:nvSpPr>
          <p:cNvPr id="3" name="Объект 2">
            <a:extLst>
              <a:ext uri="{FF2B5EF4-FFF2-40B4-BE49-F238E27FC236}">
                <a16:creationId xmlns:a16="http://schemas.microsoft.com/office/drawing/2014/main" id="{82B0CD5E-366E-71AB-7A34-D7375744EEC1}"/>
              </a:ext>
            </a:extLst>
          </p:cNvPr>
          <p:cNvSpPr>
            <a:spLocks noGrp="1"/>
          </p:cNvSpPr>
          <p:nvPr>
            <p:ph idx="1"/>
          </p:nvPr>
        </p:nvSpPr>
        <p:spPr/>
        <p:txBody>
          <a:bodyPr>
            <a:normAutofit/>
          </a:bodyPr>
          <a:lstStyle/>
          <a:p>
            <a:pPr marL="342900" indent="-342900">
              <a:buFont typeface="Wingdings" panose="05000000000000000000" pitchFamily="2" charset="2"/>
              <a:buChar char="v"/>
            </a:pPr>
            <a:r>
              <a:rPr lang="ru-RU" sz="2400" dirty="0"/>
              <a:t>время решения задач;</a:t>
            </a:r>
          </a:p>
          <a:p>
            <a:pPr marL="342900" indent="-342900">
              <a:buFont typeface="Wingdings" panose="05000000000000000000" pitchFamily="2" charset="2"/>
              <a:buChar char="v"/>
            </a:pPr>
            <a:r>
              <a:rPr lang="ru-RU" sz="2400" dirty="0"/>
              <a:t>стоимостные затраты на обработку данных;</a:t>
            </a:r>
          </a:p>
          <a:p>
            <a:pPr marL="342900" indent="-342900">
              <a:buFont typeface="Wingdings" panose="05000000000000000000" pitchFamily="2" charset="2"/>
              <a:buChar char="v"/>
            </a:pPr>
            <a:r>
              <a:rPr lang="ru-RU" sz="2400" dirty="0"/>
              <a:t>надежность процессов;</a:t>
            </a:r>
          </a:p>
          <a:p>
            <a:pPr marL="342900" indent="-342900">
              <a:buFont typeface="Wingdings" panose="05000000000000000000" pitchFamily="2" charset="2"/>
              <a:buChar char="v"/>
            </a:pPr>
            <a:r>
              <a:rPr lang="ru-RU" sz="2400" dirty="0"/>
              <a:t>косвенные показатели эффективности, такие, как объемы производства, производительность труда, оборачиваемость капитала, рентабельность и т.д.</a:t>
            </a:r>
          </a:p>
        </p:txBody>
      </p:sp>
      <p:sp>
        <p:nvSpPr>
          <p:cNvPr id="4" name="Номер слайда 3">
            <a:extLst>
              <a:ext uri="{FF2B5EF4-FFF2-40B4-BE49-F238E27FC236}">
                <a16:creationId xmlns:a16="http://schemas.microsoft.com/office/drawing/2014/main" id="{64DC78E0-E690-0D0D-C8CA-83CEBAC5C197}"/>
              </a:ext>
            </a:extLst>
          </p:cNvPr>
          <p:cNvSpPr>
            <a:spLocks noGrp="1"/>
          </p:cNvSpPr>
          <p:nvPr>
            <p:ph type="sldNum" sz="quarter" idx="12"/>
          </p:nvPr>
        </p:nvSpPr>
        <p:spPr/>
        <p:txBody>
          <a:bodyPr/>
          <a:lstStyle/>
          <a:p>
            <a:fld id="{25A42088-C730-408A-A823-60BED1AFCEA0}" type="slidenum">
              <a:rPr lang="ru-RU" smtClean="0"/>
              <a:t>4</a:t>
            </a:fld>
            <a:endParaRPr lang="ru-RU"/>
          </a:p>
        </p:txBody>
      </p:sp>
    </p:spTree>
    <p:extLst>
      <p:ext uri="{BB962C8B-B14F-4D97-AF65-F5344CB8AC3E}">
        <p14:creationId xmlns:p14="http://schemas.microsoft.com/office/powerpoint/2010/main" val="1570791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9D7224-A839-2AFC-17A8-7192BEED0B1B}"/>
              </a:ext>
            </a:extLst>
          </p:cNvPr>
          <p:cNvSpPr>
            <a:spLocks noGrp="1"/>
          </p:cNvSpPr>
          <p:nvPr>
            <p:ph type="title"/>
          </p:nvPr>
        </p:nvSpPr>
        <p:spPr/>
        <p:txBody>
          <a:bodyPr/>
          <a:lstStyle/>
          <a:p>
            <a:r>
              <a:rPr lang="ru-RU" sz="3600" dirty="0"/>
              <a:t>Структурный аспект</a:t>
            </a:r>
            <a:endParaRPr lang="ru-RU" dirty="0"/>
          </a:p>
        </p:txBody>
      </p:sp>
      <p:sp>
        <p:nvSpPr>
          <p:cNvPr id="3" name="Объект 2">
            <a:extLst>
              <a:ext uri="{FF2B5EF4-FFF2-40B4-BE49-F238E27FC236}">
                <a16:creationId xmlns:a16="http://schemas.microsoft.com/office/drawing/2014/main" id="{2D6C058D-41D6-EB0A-34CD-11DC62C2848D}"/>
              </a:ext>
            </a:extLst>
          </p:cNvPr>
          <p:cNvSpPr>
            <a:spLocks noGrp="1"/>
          </p:cNvSpPr>
          <p:nvPr>
            <p:ph idx="1"/>
          </p:nvPr>
        </p:nvSpPr>
        <p:spPr/>
        <p:txBody>
          <a:bodyPr>
            <a:normAutofit fontScale="92500"/>
          </a:bodyPr>
          <a:lstStyle/>
          <a:p>
            <a:r>
              <a:rPr lang="ru-RU" sz="2400" dirty="0"/>
              <a:t>Структурный аспект предполагает построение:</a:t>
            </a:r>
          </a:p>
          <a:p>
            <a:pPr marL="457200" indent="-457200">
              <a:buFont typeface="+mj-lt"/>
              <a:buAutoNum type="arabicPeriod"/>
            </a:pPr>
            <a:r>
              <a:rPr lang="ru-RU" sz="2400" dirty="0"/>
              <a:t>объектной структуры, отражающей состав взаимодействующих в процессах материальных и информационных объектов предметной области;</a:t>
            </a:r>
          </a:p>
          <a:p>
            <a:pPr marL="457200" indent="-457200">
              <a:buFont typeface="+mj-lt"/>
              <a:buAutoNum type="arabicPeriod"/>
            </a:pPr>
            <a:r>
              <a:rPr lang="ru-RU" sz="2400" dirty="0"/>
              <a:t>функциональной структуры, отражающей взаимосвязь функций (действий) по преобразованию объектов в процессах;</a:t>
            </a:r>
          </a:p>
          <a:p>
            <a:pPr marL="457200" indent="-457200">
              <a:buFont typeface="+mj-lt"/>
              <a:buAutoNum type="arabicPeriod"/>
            </a:pPr>
            <a:r>
              <a:rPr lang="ru-RU" sz="2400" dirty="0"/>
              <a:t>структуры управления, отражающей события и бизнес-правила, которые воздействуют на выполнение процессов;</a:t>
            </a:r>
          </a:p>
          <a:p>
            <a:pPr marL="457200" indent="-457200">
              <a:buFont typeface="+mj-lt"/>
              <a:buAutoNum type="arabicPeriod"/>
            </a:pPr>
            <a:r>
              <a:rPr lang="ru-RU" sz="2400" dirty="0"/>
              <a:t>организационной структуры, отражающей взаимодействие организационных единиц предприятия и персонала в процессах;</a:t>
            </a:r>
          </a:p>
          <a:p>
            <a:pPr marL="457200" indent="-457200">
              <a:buFont typeface="+mj-lt"/>
              <a:buAutoNum type="arabicPeriod"/>
            </a:pPr>
            <a:r>
              <a:rPr lang="ru-RU" sz="2400" dirty="0"/>
              <a:t>технической структуры, описывающей топологию расположения и способы коммуникации комплекса технических средств.</a:t>
            </a:r>
          </a:p>
        </p:txBody>
      </p:sp>
      <p:sp>
        <p:nvSpPr>
          <p:cNvPr id="4" name="Номер слайда 3">
            <a:extLst>
              <a:ext uri="{FF2B5EF4-FFF2-40B4-BE49-F238E27FC236}">
                <a16:creationId xmlns:a16="http://schemas.microsoft.com/office/drawing/2014/main" id="{7632BE80-DDD7-2839-CD90-266C9B92C4A2}"/>
              </a:ext>
            </a:extLst>
          </p:cNvPr>
          <p:cNvSpPr>
            <a:spLocks noGrp="1"/>
          </p:cNvSpPr>
          <p:nvPr>
            <p:ph type="sldNum" sz="quarter" idx="12"/>
          </p:nvPr>
        </p:nvSpPr>
        <p:spPr/>
        <p:txBody>
          <a:bodyPr/>
          <a:lstStyle/>
          <a:p>
            <a:fld id="{25A42088-C730-408A-A823-60BED1AFCEA0}" type="slidenum">
              <a:rPr lang="ru-RU" smtClean="0"/>
              <a:t>5</a:t>
            </a:fld>
            <a:endParaRPr lang="ru-RU"/>
          </a:p>
        </p:txBody>
      </p:sp>
    </p:spTree>
    <p:extLst>
      <p:ext uri="{BB962C8B-B14F-4D97-AF65-F5344CB8AC3E}">
        <p14:creationId xmlns:p14="http://schemas.microsoft.com/office/powerpoint/2010/main" val="21869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BE7B29-BAD7-18C4-2186-E8C1ABD959E9}"/>
              </a:ext>
            </a:extLst>
          </p:cNvPr>
          <p:cNvSpPr>
            <a:spLocks noGrp="1"/>
          </p:cNvSpPr>
          <p:nvPr>
            <p:ph type="title"/>
          </p:nvPr>
        </p:nvSpPr>
        <p:spPr/>
        <p:txBody>
          <a:bodyPr/>
          <a:lstStyle/>
          <a:p>
            <a:r>
              <a:rPr lang="ru-RU" dirty="0"/>
              <a:t>1. Объектная структура</a:t>
            </a:r>
          </a:p>
        </p:txBody>
      </p:sp>
      <p:sp>
        <p:nvSpPr>
          <p:cNvPr id="3" name="Объект 2">
            <a:extLst>
              <a:ext uri="{FF2B5EF4-FFF2-40B4-BE49-F238E27FC236}">
                <a16:creationId xmlns:a16="http://schemas.microsoft.com/office/drawing/2014/main" id="{5003EE98-591C-03F0-9183-40EE43D5FCB7}"/>
              </a:ext>
            </a:extLst>
          </p:cNvPr>
          <p:cNvSpPr>
            <a:spLocks noGrp="1"/>
          </p:cNvSpPr>
          <p:nvPr>
            <p:ph idx="1"/>
          </p:nvPr>
        </p:nvSpPr>
        <p:spPr>
          <a:xfrm>
            <a:off x="1371600" y="1163782"/>
            <a:ext cx="9601200" cy="5421745"/>
          </a:xfrm>
        </p:spPr>
        <p:txBody>
          <a:bodyPr>
            <a:normAutofit fontScale="92500" lnSpcReduction="20000"/>
          </a:bodyPr>
          <a:lstStyle/>
          <a:p>
            <a:r>
              <a:rPr lang="ru-RU" sz="2400" b="1" dirty="0"/>
              <a:t>Объект</a:t>
            </a:r>
            <a:r>
              <a:rPr lang="ru-RU" sz="2400" dirty="0"/>
              <a:t> — это сущность, которая используется при выполнении некоторой функции или операции (преобразования, обработки, формирования и т.д.). Объекты могут иметь динамическую или статическую природу: динамические объекты используются в одном цикле воспроизводства, статические объекты используются во многих циклах воспроизводства.</a:t>
            </a:r>
          </a:p>
          <a:p>
            <a:pPr marL="342900" indent="-342900">
              <a:buFont typeface="Wingdings" panose="05000000000000000000" pitchFamily="2" charset="2"/>
              <a:buChar char="v"/>
            </a:pPr>
            <a:r>
              <a:rPr lang="ru-RU" sz="2400" dirty="0"/>
              <a:t>На </a:t>
            </a:r>
            <a:r>
              <a:rPr lang="ru-RU" sz="2400" b="1" dirty="0"/>
              <a:t>внешнем уровне </a:t>
            </a:r>
            <a:r>
              <a:rPr lang="ru-RU" sz="2400" dirty="0"/>
              <a:t>детализации модели выделяются основные виды материальных объектов (например, сырье и материалы, полуфабрикаты, готовые изделия, услуги) и основные виды информационных объектов или документов (например, заказы, накладные, счета и т.д.).</a:t>
            </a:r>
          </a:p>
          <a:p>
            <a:pPr marL="342900" indent="-342900">
              <a:buFont typeface="Wingdings" panose="05000000000000000000" pitchFamily="2" charset="2"/>
              <a:buChar char="v"/>
            </a:pPr>
            <a:r>
              <a:rPr lang="ru-RU" sz="2400" dirty="0"/>
              <a:t>На </a:t>
            </a:r>
            <a:r>
              <a:rPr lang="ru-RU" sz="2400" b="1" dirty="0"/>
              <a:t>концептуальном уровне </a:t>
            </a:r>
            <a:r>
              <a:rPr lang="ru-RU" sz="2400" dirty="0"/>
              <a:t>построения модели предметной области уточняется состав классов объектов, определяются их атрибуты и взаимосвязи. Таким образом строится обобщенное представление структуры предметной области.</a:t>
            </a:r>
          </a:p>
          <a:p>
            <a:pPr marL="342900" indent="-342900">
              <a:buFont typeface="Wingdings" panose="05000000000000000000" pitchFamily="2" charset="2"/>
              <a:buChar char="v"/>
            </a:pPr>
            <a:r>
              <a:rPr lang="ru-RU" sz="2400" dirty="0"/>
              <a:t>Далее концептуальная модель на </a:t>
            </a:r>
            <a:r>
              <a:rPr lang="ru-RU" sz="2400" b="1" dirty="0"/>
              <a:t>внутреннем уровне </a:t>
            </a:r>
            <a:r>
              <a:rPr lang="ru-RU" sz="2400" dirty="0"/>
              <a:t>отображается в виде файлов базы данных, входных и выходных документов ЭИС.</a:t>
            </a:r>
          </a:p>
        </p:txBody>
      </p:sp>
      <p:sp>
        <p:nvSpPr>
          <p:cNvPr id="4" name="Номер слайда 3">
            <a:extLst>
              <a:ext uri="{FF2B5EF4-FFF2-40B4-BE49-F238E27FC236}">
                <a16:creationId xmlns:a16="http://schemas.microsoft.com/office/drawing/2014/main" id="{7BFAC48E-02CC-350B-CA27-BAFA2BB519A5}"/>
              </a:ext>
            </a:extLst>
          </p:cNvPr>
          <p:cNvSpPr>
            <a:spLocks noGrp="1"/>
          </p:cNvSpPr>
          <p:nvPr>
            <p:ph type="sldNum" sz="quarter" idx="12"/>
          </p:nvPr>
        </p:nvSpPr>
        <p:spPr/>
        <p:txBody>
          <a:bodyPr/>
          <a:lstStyle/>
          <a:p>
            <a:fld id="{25A42088-C730-408A-A823-60BED1AFCEA0}" type="slidenum">
              <a:rPr lang="ru-RU" smtClean="0"/>
              <a:t>6</a:t>
            </a:fld>
            <a:endParaRPr lang="ru-RU"/>
          </a:p>
        </p:txBody>
      </p:sp>
    </p:spTree>
    <p:extLst>
      <p:ext uri="{BB962C8B-B14F-4D97-AF65-F5344CB8AC3E}">
        <p14:creationId xmlns:p14="http://schemas.microsoft.com/office/powerpoint/2010/main" val="895292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E84434-F321-9EB4-3D46-07CA2F843271}"/>
              </a:ext>
            </a:extLst>
          </p:cNvPr>
          <p:cNvSpPr>
            <a:spLocks noGrp="1"/>
          </p:cNvSpPr>
          <p:nvPr>
            <p:ph type="title"/>
          </p:nvPr>
        </p:nvSpPr>
        <p:spPr/>
        <p:txBody>
          <a:bodyPr/>
          <a:lstStyle/>
          <a:p>
            <a:r>
              <a:rPr lang="ru-RU" dirty="0"/>
              <a:t>2. Функциональная структура</a:t>
            </a:r>
          </a:p>
        </p:txBody>
      </p:sp>
      <p:sp>
        <p:nvSpPr>
          <p:cNvPr id="3" name="Объект 2">
            <a:extLst>
              <a:ext uri="{FF2B5EF4-FFF2-40B4-BE49-F238E27FC236}">
                <a16:creationId xmlns:a16="http://schemas.microsoft.com/office/drawing/2014/main" id="{68DFB1F1-4009-765E-0D21-7F7CFC30C6D0}"/>
              </a:ext>
            </a:extLst>
          </p:cNvPr>
          <p:cNvSpPr>
            <a:spLocks noGrp="1"/>
          </p:cNvSpPr>
          <p:nvPr>
            <p:ph idx="1"/>
          </p:nvPr>
        </p:nvSpPr>
        <p:spPr/>
        <p:txBody>
          <a:bodyPr>
            <a:normAutofit fontScale="92500"/>
          </a:bodyPr>
          <a:lstStyle/>
          <a:p>
            <a:r>
              <a:rPr lang="ru-RU" sz="2400" b="1" dirty="0"/>
              <a:t>Функция</a:t>
            </a:r>
            <a:r>
              <a:rPr lang="ru-RU" sz="2400" dirty="0"/>
              <a:t> представляет собой некоторый преобразователь входных объектов в выходные. Последовательность взаимосвязанных по входам и выходам функций составляет </a:t>
            </a:r>
            <a:r>
              <a:rPr lang="ru-RU" sz="2400" b="1" dirty="0"/>
              <a:t>бизнес-процесс</a:t>
            </a:r>
            <a:r>
              <a:rPr lang="ru-RU" sz="2400" dirty="0"/>
              <a:t>.</a:t>
            </a:r>
          </a:p>
          <a:p>
            <a:pPr marL="342900" indent="-342900">
              <a:buFont typeface="Wingdings" panose="05000000000000000000" pitchFamily="2" charset="2"/>
              <a:buChar char="v"/>
            </a:pPr>
            <a:r>
              <a:rPr lang="ru-RU" sz="2400" dirty="0"/>
              <a:t>На </a:t>
            </a:r>
            <a:r>
              <a:rPr lang="ru-RU" sz="2400" b="1" dirty="0"/>
              <a:t>внешнем уровне моделирования </a:t>
            </a:r>
            <a:r>
              <a:rPr lang="ru-RU" sz="2400" dirty="0"/>
              <a:t>определяется список основных бизнес-функций или видов бизнес-процессов. Обычно таких функций насчитывается 15–20.</a:t>
            </a:r>
          </a:p>
          <a:p>
            <a:pPr marL="342900" indent="-342900">
              <a:buFont typeface="Wingdings" panose="05000000000000000000" pitchFamily="2" charset="2"/>
              <a:buChar char="v"/>
            </a:pPr>
            <a:r>
              <a:rPr lang="ru-RU" sz="2400" dirty="0"/>
              <a:t>На </a:t>
            </a:r>
            <a:r>
              <a:rPr lang="ru-RU" sz="2400" b="1" dirty="0"/>
              <a:t>концептуальном уровне </a:t>
            </a:r>
            <a:r>
              <a:rPr lang="ru-RU" sz="2400" dirty="0"/>
              <a:t>выделенные функции декомпозируются и строятся иерархии взаимосвязанных функций.</a:t>
            </a:r>
          </a:p>
          <a:p>
            <a:pPr marL="342900" indent="-342900">
              <a:buFont typeface="Wingdings" panose="05000000000000000000" pitchFamily="2" charset="2"/>
              <a:buChar char="v"/>
            </a:pPr>
            <a:r>
              <a:rPr lang="ru-RU" sz="2400" dirty="0"/>
              <a:t>На </a:t>
            </a:r>
            <a:r>
              <a:rPr lang="ru-RU" sz="2400" b="1" dirty="0"/>
              <a:t>внутреннем уровне </a:t>
            </a:r>
            <a:r>
              <a:rPr lang="ru-RU" sz="2400" dirty="0"/>
              <a:t>отображается структура информационного процесса в компьютере: определяются иерархические структуры программных модулей, реализующих автоматизируемые функции.</a:t>
            </a:r>
          </a:p>
        </p:txBody>
      </p:sp>
      <p:sp>
        <p:nvSpPr>
          <p:cNvPr id="4" name="Номер слайда 3">
            <a:extLst>
              <a:ext uri="{FF2B5EF4-FFF2-40B4-BE49-F238E27FC236}">
                <a16:creationId xmlns:a16="http://schemas.microsoft.com/office/drawing/2014/main" id="{4D19DACC-AE96-4E94-96FB-2F439EF95300}"/>
              </a:ext>
            </a:extLst>
          </p:cNvPr>
          <p:cNvSpPr>
            <a:spLocks noGrp="1"/>
          </p:cNvSpPr>
          <p:nvPr>
            <p:ph type="sldNum" sz="quarter" idx="12"/>
          </p:nvPr>
        </p:nvSpPr>
        <p:spPr/>
        <p:txBody>
          <a:bodyPr/>
          <a:lstStyle/>
          <a:p>
            <a:fld id="{25A42088-C730-408A-A823-60BED1AFCEA0}" type="slidenum">
              <a:rPr lang="ru-RU" smtClean="0"/>
              <a:t>7</a:t>
            </a:fld>
            <a:endParaRPr lang="ru-RU"/>
          </a:p>
        </p:txBody>
      </p:sp>
    </p:spTree>
    <p:extLst>
      <p:ext uri="{BB962C8B-B14F-4D97-AF65-F5344CB8AC3E}">
        <p14:creationId xmlns:p14="http://schemas.microsoft.com/office/powerpoint/2010/main" val="1739997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561848-DCDB-29B4-8F51-49FC6FEA63D1}"/>
              </a:ext>
            </a:extLst>
          </p:cNvPr>
          <p:cNvSpPr>
            <a:spLocks noGrp="1"/>
          </p:cNvSpPr>
          <p:nvPr>
            <p:ph type="title"/>
          </p:nvPr>
        </p:nvSpPr>
        <p:spPr/>
        <p:txBody>
          <a:bodyPr/>
          <a:lstStyle/>
          <a:p>
            <a:r>
              <a:rPr lang="ru-RU" dirty="0"/>
              <a:t>3. Структура управления</a:t>
            </a:r>
          </a:p>
        </p:txBody>
      </p:sp>
      <p:sp>
        <p:nvSpPr>
          <p:cNvPr id="3" name="Объект 2">
            <a:extLst>
              <a:ext uri="{FF2B5EF4-FFF2-40B4-BE49-F238E27FC236}">
                <a16:creationId xmlns:a16="http://schemas.microsoft.com/office/drawing/2014/main" id="{5E8AD3F9-400D-0199-2D25-58B0898F28FC}"/>
              </a:ext>
            </a:extLst>
          </p:cNvPr>
          <p:cNvSpPr>
            <a:spLocks noGrp="1"/>
          </p:cNvSpPr>
          <p:nvPr>
            <p:ph idx="1"/>
          </p:nvPr>
        </p:nvSpPr>
        <p:spPr>
          <a:xfrm>
            <a:off x="1371600" y="1200727"/>
            <a:ext cx="9601200" cy="5273964"/>
          </a:xfrm>
        </p:spPr>
        <p:txBody>
          <a:bodyPr>
            <a:normAutofit fontScale="92500" lnSpcReduction="10000"/>
          </a:bodyPr>
          <a:lstStyle/>
          <a:p>
            <a:r>
              <a:rPr lang="ru-RU" dirty="0"/>
              <a:t>В совокупности функций бизнес-процесса возможны альтернативные или циклические последовательности в зависимости от различных условий протекания процесса. Эти условия связаны с происходящими </a:t>
            </a:r>
            <a:r>
              <a:rPr lang="ru-RU" b="1" dirty="0"/>
              <a:t>событиями</a:t>
            </a:r>
            <a:r>
              <a:rPr lang="ru-RU" dirty="0"/>
              <a:t> во внешней среде или в самих процессах и с образованием определенных состояний объектов. События вызывают выполнение функций, которые, в свою очередь, изменяют состояния объектов и формируют новые события, и т.д., пока не будет завершен некоторый бизнес-процесс. Тогда последовательность событий составляет конкретную реализацию бизнес-процесса.</a:t>
            </a:r>
          </a:p>
          <a:p>
            <a:endParaRPr lang="ru-RU" dirty="0"/>
          </a:p>
          <a:p>
            <a:r>
              <a:rPr lang="ru-RU" dirty="0"/>
              <a:t>Каждое событие описывается с двух точек зрения: информационной и процедурной.</a:t>
            </a:r>
          </a:p>
          <a:p>
            <a:pPr marL="342900" indent="-342900">
              <a:buFont typeface="Wingdings" panose="05000000000000000000" pitchFamily="2" charset="2"/>
              <a:buChar char="v"/>
            </a:pPr>
            <a:r>
              <a:rPr lang="ru-RU" b="1" dirty="0"/>
              <a:t>Информационно</a:t>
            </a:r>
            <a:r>
              <a:rPr lang="ru-RU" dirty="0"/>
              <a:t> событие отражается в виде некоторого сообщения, фиксирующего факт выполнения некоторой функции изменения состояния или появления нового.</a:t>
            </a:r>
          </a:p>
          <a:p>
            <a:pPr marL="342900" indent="-342900">
              <a:buFont typeface="Wingdings" panose="05000000000000000000" pitchFamily="2" charset="2"/>
              <a:buChar char="v"/>
            </a:pPr>
            <a:r>
              <a:rPr lang="ru-RU" b="1" dirty="0"/>
              <a:t>Процедурно</a:t>
            </a:r>
            <a:r>
              <a:rPr lang="ru-RU" dirty="0"/>
              <a:t> событие вызывает выполнение новой функции, и поэтому для каждого состояния объекта должны быть заданы описания этих вызовов. Таким образом, события выступают в связующей роли для выполнения функций бизнес-процессов.</a:t>
            </a:r>
          </a:p>
        </p:txBody>
      </p:sp>
      <p:sp>
        <p:nvSpPr>
          <p:cNvPr id="4" name="Номер слайда 3">
            <a:extLst>
              <a:ext uri="{FF2B5EF4-FFF2-40B4-BE49-F238E27FC236}">
                <a16:creationId xmlns:a16="http://schemas.microsoft.com/office/drawing/2014/main" id="{14DB0926-CAAA-0462-EE31-064AA159BD2B}"/>
              </a:ext>
            </a:extLst>
          </p:cNvPr>
          <p:cNvSpPr>
            <a:spLocks noGrp="1"/>
          </p:cNvSpPr>
          <p:nvPr>
            <p:ph type="sldNum" sz="quarter" idx="12"/>
          </p:nvPr>
        </p:nvSpPr>
        <p:spPr/>
        <p:txBody>
          <a:bodyPr/>
          <a:lstStyle/>
          <a:p>
            <a:fld id="{25A42088-C730-408A-A823-60BED1AFCEA0}" type="slidenum">
              <a:rPr lang="ru-RU" smtClean="0"/>
              <a:t>8</a:t>
            </a:fld>
            <a:endParaRPr lang="ru-RU"/>
          </a:p>
        </p:txBody>
      </p:sp>
    </p:spTree>
    <p:extLst>
      <p:ext uri="{BB962C8B-B14F-4D97-AF65-F5344CB8AC3E}">
        <p14:creationId xmlns:p14="http://schemas.microsoft.com/office/powerpoint/2010/main" val="1358945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7B81D1-47B5-C5DA-6BC9-8BC3FD073262}"/>
              </a:ext>
            </a:extLst>
          </p:cNvPr>
          <p:cNvSpPr>
            <a:spLocks noGrp="1"/>
          </p:cNvSpPr>
          <p:nvPr>
            <p:ph type="title"/>
          </p:nvPr>
        </p:nvSpPr>
        <p:spPr/>
        <p:txBody>
          <a:bodyPr/>
          <a:lstStyle/>
          <a:p>
            <a:endParaRPr lang="ru-RU"/>
          </a:p>
        </p:txBody>
      </p:sp>
      <p:sp>
        <p:nvSpPr>
          <p:cNvPr id="3" name="Объект 2">
            <a:extLst>
              <a:ext uri="{FF2B5EF4-FFF2-40B4-BE49-F238E27FC236}">
                <a16:creationId xmlns:a16="http://schemas.microsoft.com/office/drawing/2014/main" id="{C2DA7E42-63F8-C1B7-EA35-3BB0A2C91418}"/>
              </a:ext>
            </a:extLst>
          </p:cNvPr>
          <p:cNvSpPr>
            <a:spLocks noGrp="1"/>
          </p:cNvSpPr>
          <p:nvPr>
            <p:ph idx="1"/>
          </p:nvPr>
        </p:nvSpPr>
        <p:spPr/>
        <p:txBody>
          <a:bodyPr>
            <a:normAutofit/>
          </a:bodyPr>
          <a:lstStyle/>
          <a:p>
            <a:pPr marL="342900" indent="-342900">
              <a:buFont typeface="Wingdings" panose="05000000000000000000" pitchFamily="2" charset="2"/>
              <a:buChar char="v"/>
            </a:pPr>
            <a:r>
              <a:rPr lang="ru-RU" sz="2400" dirty="0"/>
              <a:t>На </a:t>
            </a:r>
            <a:r>
              <a:rPr lang="ru-RU" sz="2400" b="1" dirty="0"/>
              <a:t>внешнем уровне </a:t>
            </a:r>
            <a:r>
              <a:rPr lang="ru-RU" sz="2400" dirty="0"/>
              <a:t>определяются список внешних событий, вызываемых взаимодействием предприятия с внешней средой, и список целевых установок, которым должны соответствовать.</a:t>
            </a:r>
          </a:p>
          <a:p>
            <a:pPr marL="342900" indent="-342900">
              <a:buFont typeface="Wingdings" panose="05000000000000000000" pitchFamily="2" charset="2"/>
              <a:buChar char="v"/>
            </a:pPr>
            <a:r>
              <a:rPr lang="ru-RU" sz="2400" dirty="0"/>
              <a:t>На </a:t>
            </a:r>
            <a:r>
              <a:rPr lang="ru-RU" sz="2400" b="1" dirty="0"/>
              <a:t>концептуальном уровне </a:t>
            </a:r>
            <a:r>
              <a:rPr lang="ru-RU" sz="2400" dirty="0"/>
              <a:t>устанавливаются бизнес-правила, определяющие условия вызова функций при возникновении событий и достижении состояний объектов.</a:t>
            </a:r>
          </a:p>
          <a:p>
            <a:pPr marL="342900" indent="-342900">
              <a:buFont typeface="Wingdings" panose="05000000000000000000" pitchFamily="2" charset="2"/>
              <a:buChar char="v"/>
            </a:pPr>
            <a:r>
              <a:rPr lang="ru-RU" sz="2400" dirty="0"/>
              <a:t>На </a:t>
            </a:r>
            <a:r>
              <a:rPr lang="ru-RU" sz="2400" b="1" dirty="0"/>
              <a:t>внутреннем уровне </a:t>
            </a:r>
            <a:r>
              <a:rPr lang="ru-RU" sz="2400" dirty="0"/>
              <a:t>выполняется формализация бизнес-правил в виде триггеров или вызовов программных модулей.</a:t>
            </a:r>
          </a:p>
        </p:txBody>
      </p:sp>
      <p:sp>
        <p:nvSpPr>
          <p:cNvPr id="4" name="Номер слайда 3">
            <a:extLst>
              <a:ext uri="{FF2B5EF4-FFF2-40B4-BE49-F238E27FC236}">
                <a16:creationId xmlns:a16="http://schemas.microsoft.com/office/drawing/2014/main" id="{3AF133DB-B9E1-A211-0104-9B878F8C1876}"/>
              </a:ext>
            </a:extLst>
          </p:cNvPr>
          <p:cNvSpPr>
            <a:spLocks noGrp="1"/>
          </p:cNvSpPr>
          <p:nvPr>
            <p:ph type="sldNum" sz="quarter" idx="12"/>
          </p:nvPr>
        </p:nvSpPr>
        <p:spPr/>
        <p:txBody>
          <a:bodyPr/>
          <a:lstStyle/>
          <a:p>
            <a:fld id="{25A42088-C730-408A-A823-60BED1AFCEA0}" type="slidenum">
              <a:rPr lang="ru-RU" smtClean="0"/>
              <a:t>9</a:t>
            </a:fld>
            <a:endParaRPr lang="ru-RU"/>
          </a:p>
        </p:txBody>
      </p:sp>
    </p:spTree>
    <p:extLst>
      <p:ext uri="{BB962C8B-B14F-4D97-AF65-F5344CB8AC3E}">
        <p14:creationId xmlns:p14="http://schemas.microsoft.com/office/powerpoint/2010/main" val="3163926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DAD4A2-17B4-920C-3772-2DE61E659812}"/>
              </a:ext>
            </a:extLst>
          </p:cNvPr>
          <p:cNvSpPr>
            <a:spLocks noGrp="1"/>
          </p:cNvSpPr>
          <p:nvPr>
            <p:ph type="title"/>
          </p:nvPr>
        </p:nvSpPr>
        <p:spPr/>
        <p:txBody>
          <a:bodyPr/>
          <a:lstStyle/>
          <a:p>
            <a:r>
              <a:rPr lang="ru-RU" dirty="0"/>
              <a:t>4. Организационная структура</a:t>
            </a:r>
          </a:p>
        </p:txBody>
      </p:sp>
      <p:sp>
        <p:nvSpPr>
          <p:cNvPr id="3" name="Объект 2">
            <a:extLst>
              <a:ext uri="{FF2B5EF4-FFF2-40B4-BE49-F238E27FC236}">
                <a16:creationId xmlns:a16="http://schemas.microsoft.com/office/drawing/2014/main" id="{5CB9DBFE-467E-8D7B-EE54-A70519AD7CAC}"/>
              </a:ext>
            </a:extLst>
          </p:cNvPr>
          <p:cNvSpPr>
            <a:spLocks noGrp="1"/>
          </p:cNvSpPr>
          <p:nvPr>
            <p:ph idx="1"/>
          </p:nvPr>
        </p:nvSpPr>
        <p:spPr>
          <a:xfrm>
            <a:off x="1371600" y="1237673"/>
            <a:ext cx="9601200" cy="5023789"/>
          </a:xfrm>
        </p:spPr>
        <p:txBody>
          <a:bodyPr>
            <a:normAutofit fontScale="92500"/>
          </a:bodyPr>
          <a:lstStyle/>
          <a:p>
            <a:r>
              <a:rPr lang="ru-RU" sz="2400" dirty="0"/>
              <a:t>Организационная структура представляет собой совокупность организационных единиц, как правило, связанных иерархическими и процессными отношениями. Организационная единица — это подразделение, представляющее собой объединение людей (персонала) для выполнения совокупности общих функций или бизнес-процессов. </a:t>
            </a:r>
          </a:p>
          <a:p>
            <a:pPr marL="342900" indent="-342900">
              <a:buFont typeface="Wingdings" panose="05000000000000000000" pitchFamily="2" charset="2"/>
              <a:buChar char="v"/>
            </a:pPr>
            <a:r>
              <a:rPr lang="ru-RU" sz="2400" dirty="0"/>
              <a:t>На </a:t>
            </a:r>
            <a:r>
              <a:rPr lang="ru-RU" sz="2400" b="1" dirty="0"/>
              <a:t>внешнем уровне </a:t>
            </a:r>
            <a:r>
              <a:rPr lang="ru-RU" sz="2400" dirty="0"/>
              <a:t>строится структурная модель предприятия в виде иерархии подчинения организационных единиц или списков взаимодействующих подразделений.</a:t>
            </a:r>
          </a:p>
          <a:p>
            <a:pPr marL="342900" indent="-342900">
              <a:buFont typeface="Wingdings" panose="05000000000000000000" pitchFamily="2" charset="2"/>
              <a:buChar char="v"/>
            </a:pPr>
            <a:r>
              <a:rPr lang="ru-RU" sz="2400" dirty="0"/>
              <a:t>На </a:t>
            </a:r>
            <a:r>
              <a:rPr lang="ru-RU" sz="2400" b="1" dirty="0"/>
              <a:t>концептуальном уровне </a:t>
            </a:r>
            <a:r>
              <a:rPr lang="ru-RU" sz="2400" dirty="0"/>
              <a:t>для каждого подразделения задается организационно-штатная структура должностей (ролей персонала).</a:t>
            </a:r>
          </a:p>
          <a:p>
            <a:pPr marL="342900" indent="-342900">
              <a:buFont typeface="Wingdings" panose="05000000000000000000" pitchFamily="2" charset="2"/>
              <a:buChar char="v"/>
            </a:pPr>
            <a:r>
              <a:rPr lang="ru-RU" sz="2400" dirty="0"/>
              <a:t>На </a:t>
            </a:r>
            <a:r>
              <a:rPr lang="ru-RU" sz="2400" b="1" dirty="0"/>
              <a:t>внутреннем уровне</a:t>
            </a:r>
            <a:r>
              <a:rPr lang="ru-RU" sz="2400" dirty="0"/>
              <a:t> определяются требования к правам доступа персонала к автоматизируемым функциям информационной системы.</a:t>
            </a:r>
          </a:p>
        </p:txBody>
      </p:sp>
      <p:sp>
        <p:nvSpPr>
          <p:cNvPr id="4" name="Номер слайда 3">
            <a:extLst>
              <a:ext uri="{FF2B5EF4-FFF2-40B4-BE49-F238E27FC236}">
                <a16:creationId xmlns:a16="http://schemas.microsoft.com/office/drawing/2014/main" id="{5E3267B8-61A8-C4DE-A2A1-DFBCEEDF06FD}"/>
              </a:ext>
            </a:extLst>
          </p:cNvPr>
          <p:cNvSpPr>
            <a:spLocks noGrp="1"/>
          </p:cNvSpPr>
          <p:nvPr>
            <p:ph type="sldNum" sz="quarter" idx="12"/>
          </p:nvPr>
        </p:nvSpPr>
        <p:spPr/>
        <p:txBody>
          <a:bodyPr/>
          <a:lstStyle/>
          <a:p>
            <a:fld id="{25A42088-C730-408A-A823-60BED1AFCEA0}" type="slidenum">
              <a:rPr lang="ru-RU" smtClean="0"/>
              <a:t>10</a:t>
            </a:fld>
            <a:endParaRPr lang="ru-RU"/>
          </a:p>
        </p:txBody>
      </p:sp>
    </p:spTree>
    <p:extLst>
      <p:ext uri="{BB962C8B-B14F-4D97-AF65-F5344CB8AC3E}">
        <p14:creationId xmlns:p14="http://schemas.microsoft.com/office/powerpoint/2010/main" val="3924437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58D0F2-EED5-2BBA-70E4-3B2AB0112853}"/>
              </a:ext>
            </a:extLst>
          </p:cNvPr>
          <p:cNvSpPr>
            <a:spLocks noGrp="1"/>
          </p:cNvSpPr>
          <p:nvPr>
            <p:ph type="title"/>
          </p:nvPr>
        </p:nvSpPr>
        <p:spPr/>
        <p:txBody>
          <a:bodyPr/>
          <a:lstStyle/>
          <a:p>
            <a:r>
              <a:rPr lang="ru-RU" dirty="0"/>
              <a:t>5. Техническая структура</a:t>
            </a:r>
          </a:p>
        </p:txBody>
      </p:sp>
      <p:sp>
        <p:nvSpPr>
          <p:cNvPr id="3" name="Объект 2">
            <a:extLst>
              <a:ext uri="{FF2B5EF4-FFF2-40B4-BE49-F238E27FC236}">
                <a16:creationId xmlns:a16="http://schemas.microsoft.com/office/drawing/2014/main" id="{08B53126-268E-F68A-DCE3-AFF912147986}"/>
              </a:ext>
            </a:extLst>
          </p:cNvPr>
          <p:cNvSpPr>
            <a:spLocks noGrp="1"/>
          </p:cNvSpPr>
          <p:nvPr>
            <p:ph idx="1"/>
          </p:nvPr>
        </p:nvSpPr>
        <p:spPr/>
        <p:txBody>
          <a:bodyPr>
            <a:normAutofit/>
          </a:bodyPr>
          <a:lstStyle/>
          <a:p>
            <a:r>
              <a:rPr lang="ru-RU" dirty="0"/>
              <a:t>Техническая структура включает в себя топологию и коммуникацию. Топология определяет территориальное размещение технических средств по структурным подразделениям предприятия, а коммуникация — технический способ реализации взаимодействия структурных подразделений.</a:t>
            </a:r>
          </a:p>
          <a:p>
            <a:pPr marL="342900" indent="-342900">
              <a:buFont typeface="Wingdings" panose="05000000000000000000" pitchFamily="2" charset="2"/>
              <a:buChar char="v"/>
            </a:pPr>
            <a:r>
              <a:rPr lang="ru-RU" dirty="0"/>
              <a:t>На </a:t>
            </a:r>
            <a:r>
              <a:rPr lang="ru-RU" b="1" dirty="0"/>
              <a:t>внешнем уровне </a:t>
            </a:r>
            <a:r>
              <a:rPr lang="ru-RU" dirty="0"/>
              <a:t>модели определяются типы технических средств обработки данных и их размещение по структурным подразделениям.</a:t>
            </a:r>
          </a:p>
          <a:p>
            <a:pPr marL="342900" indent="-342900">
              <a:buFont typeface="Wingdings" panose="05000000000000000000" pitchFamily="2" charset="2"/>
              <a:buChar char="v"/>
            </a:pPr>
            <a:r>
              <a:rPr lang="ru-RU" dirty="0"/>
              <a:t>На </a:t>
            </a:r>
            <a:r>
              <a:rPr lang="ru-RU" b="1" dirty="0"/>
              <a:t>концептуальном уровне </a:t>
            </a:r>
            <a:r>
              <a:rPr lang="ru-RU" dirty="0"/>
              <a:t>определяются способы коммуникаций между техническими комплексами структурных подразделений: физическое перемещение документов, машинных носителей, обмен информацией по каналам связи и т.д.</a:t>
            </a:r>
          </a:p>
          <a:p>
            <a:pPr marL="342900" indent="-342900">
              <a:buFont typeface="Wingdings" panose="05000000000000000000" pitchFamily="2" charset="2"/>
              <a:buChar char="v"/>
            </a:pPr>
            <a:r>
              <a:rPr lang="ru-RU" dirty="0"/>
              <a:t>На </a:t>
            </a:r>
            <a:r>
              <a:rPr lang="ru-RU" b="1" dirty="0"/>
              <a:t>внутреннем уровне </a:t>
            </a:r>
            <a:r>
              <a:rPr lang="ru-RU" dirty="0"/>
              <a:t>строится модель "клиент-серверной" архитектуры вычислительной сети.</a:t>
            </a:r>
          </a:p>
        </p:txBody>
      </p:sp>
      <p:sp>
        <p:nvSpPr>
          <p:cNvPr id="4" name="Номер слайда 3">
            <a:extLst>
              <a:ext uri="{FF2B5EF4-FFF2-40B4-BE49-F238E27FC236}">
                <a16:creationId xmlns:a16="http://schemas.microsoft.com/office/drawing/2014/main" id="{0F57FE78-C074-37D9-67F6-B13959F7F347}"/>
              </a:ext>
            </a:extLst>
          </p:cNvPr>
          <p:cNvSpPr>
            <a:spLocks noGrp="1"/>
          </p:cNvSpPr>
          <p:nvPr>
            <p:ph type="sldNum" sz="quarter" idx="12"/>
          </p:nvPr>
        </p:nvSpPr>
        <p:spPr/>
        <p:txBody>
          <a:bodyPr/>
          <a:lstStyle/>
          <a:p>
            <a:fld id="{25A42088-C730-408A-A823-60BED1AFCEA0}" type="slidenum">
              <a:rPr lang="ru-RU" smtClean="0"/>
              <a:t>11</a:t>
            </a:fld>
            <a:endParaRPr lang="ru-RU"/>
          </a:p>
        </p:txBody>
      </p:sp>
    </p:spTree>
    <p:extLst>
      <p:ext uri="{BB962C8B-B14F-4D97-AF65-F5344CB8AC3E}">
        <p14:creationId xmlns:p14="http://schemas.microsoft.com/office/powerpoint/2010/main" val="87809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CC9525-5D8F-4025-FB0B-0F9F9A3640B9}"/>
              </a:ext>
            </a:extLst>
          </p:cNvPr>
          <p:cNvSpPr>
            <a:spLocks noGrp="1"/>
          </p:cNvSpPr>
          <p:nvPr>
            <p:ph type="title"/>
          </p:nvPr>
        </p:nvSpPr>
        <p:spPr/>
        <p:txBody>
          <a:bodyPr/>
          <a:lstStyle/>
          <a:p>
            <a:r>
              <a:rPr lang="ru-RU" dirty="0"/>
              <a:t>Методики описания предметной области</a:t>
            </a:r>
          </a:p>
        </p:txBody>
      </p:sp>
      <p:sp>
        <p:nvSpPr>
          <p:cNvPr id="3" name="Объект 2">
            <a:extLst>
              <a:ext uri="{FF2B5EF4-FFF2-40B4-BE49-F238E27FC236}">
                <a16:creationId xmlns:a16="http://schemas.microsoft.com/office/drawing/2014/main" id="{6AE5891B-B7A6-1063-412A-E58E19A0D4C6}"/>
              </a:ext>
            </a:extLst>
          </p:cNvPr>
          <p:cNvSpPr>
            <a:spLocks noGrp="1"/>
          </p:cNvSpPr>
          <p:nvPr>
            <p:ph idx="1"/>
          </p:nvPr>
        </p:nvSpPr>
        <p:spPr/>
        <p:txBody>
          <a:bodyPr>
            <a:normAutofit fontScale="92500" lnSpcReduction="10000"/>
          </a:bodyPr>
          <a:lstStyle/>
          <a:p>
            <a:pPr marL="342900" indent="-342900">
              <a:buFont typeface="Wingdings" panose="05000000000000000000" pitchFamily="2" charset="2"/>
              <a:buChar char="v"/>
            </a:pPr>
            <a:r>
              <a:rPr lang="ru-RU" sz="2400" b="1" dirty="0"/>
              <a:t>Объектные методики </a:t>
            </a:r>
            <a:r>
              <a:rPr lang="ru-RU" sz="2400" dirty="0"/>
              <a:t>(в первую очередь нотация </a:t>
            </a:r>
            <a:r>
              <a:rPr lang="en-US" sz="2400" dirty="0"/>
              <a:t>UML)</a:t>
            </a:r>
            <a:r>
              <a:rPr lang="ru-RU" sz="2400" dirty="0"/>
              <a:t> рассматривают моделируемую организацию как набор взаимодействующих объектов – производственных единиц. Объект определяется как осязаемая реальность – предмет или явление, имеющие четко определяемое поведение. Целью применения данной методики является выделение объектов, составляющих организацию, и распределение между ними ответственностей за выполняемые действия.</a:t>
            </a:r>
          </a:p>
          <a:p>
            <a:pPr marL="342900" indent="-342900">
              <a:buFont typeface="Wingdings" panose="05000000000000000000" pitchFamily="2" charset="2"/>
              <a:buChar char="v"/>
            </a:pPr>
            <a:r>
              <a:rPr lang="ru-RU" sz="2400" b="1" dirty="0"/>
              <a:t>Функциональные методики</a:t>
            </a:r>
            <a:r>
              <a:rPr lang="ru-RU" sz="2400" dirty="0"/>
              <a:t> (например, группа IDEF), рассматривают организацию как набор функций, преобразующий поступающий поток информации в выходной поток. Процесс преобразования информации потребляет определенные ресурсы. Основное отличие от объектной методики заключается в четком отделении функций (методов обработки данных) от самих данных.</a:t>
            </a:r>
          </a:p>
          <a:p>
            <a:pPr marL="342900" indent="-342900">
              <a:buFont typeface="Wingdings" panose="05000000000000000000" pitchFamily="2" charset="2"/>
              <a:buChar char="v"/>
            </a:pPr>
            <a:r>
              <a:rPr lang="ru-RU" sz="2400" b="1" dirty="0"/>
              <a:t>Синтетическая методика</a:t>
            </a:r>
            <a:r>
              <a:rPr lang="ru-RU" sz="2400" dirty="0"/>
              <a:t>, объединяющая две предыдущих.</a:t>
            </a:r>
          </a:p>
        </p:txBody>
      </p:sp>
      <p:sp>
        <p:nvSpPr>
          <p:cNvPr id="4" name="Номер слайда 3">
            <a:extLst>
              <a:ext uri="{FF2B5EF4-FFF2-40B4-BE49-F238E27FC236}">
                <a16:creationId xmlns:a16="http://schemas.microsoft.com/office/drawing/2014/main" id="{E153110B-E753-0B0F-9FC4-17FC7828351C}"/>
              </a:ext>
            </a:extLst>
          </p:cNvPr>
          <p:cNvSpPr>
            <a:spLocks noGrp="1"/>
          </p:cNvSpPr>
          <p:nvPr>
            <p:ph type="sldNum" sz="quarter" idx="12"/>
          </p:nvPr>
        </p:nvSpPr>
        <p:spPr/>
        <p:txBody>
          <a:bodyPr/>
          <a:lstStyle/>
          <a:p>
            <a:fld id="{25A42088-C730-408A-A823-60BED1AFCEA0}" type="slidenum">
              <a:rPr lang="ru-RU" smtClean="0"/>
              <a:t>12</a:t>
            </a:fld>
            <a:endParaRPr lang="ru-RU"/>
          </a:p>
        </p:txBody>
      </p:sp>
    </p:spTree>
    <p:extLst>
      <p:ext uri="{BB962C8B-B14F-4D97-AF65-F5344CB8AC3E}">
        <p14:creationId xmlns:p14="http://schemas.microsoft.com/office/powerpoint/2010/main" val="3397085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4602DE6-2AEB-1B4D-41D3-0D7309069EEC}"/>
              </a:ext>
            </a:extLst>
          </p:cNvPr>
          <p:cNvSpPr>
            <a:spLocks noGrp="1"/>
          </p:cNvSpPr>
          <p:nvPr>
            <p:ph type="title"/>
          </p:nvPr>
        </p:nvSpPr>
        <p:spPr/>
        <p:txBody>
          <a:bodyPr/>
          <a:lstStyle/>
          <a:p>
            <a:r>
              <a:rPr lang="ru-RU" dirty="0"/>
              <a:t>Моделирование бизнес-процессов</a:t>
            </a:r>
          </a:p>
        </p:txBody>
      </p:sp>
      <p:sp>
        <p:nvSpPr>
          <p:cNvPr id="3" name="Объект 2">
            <a:extLst>
              <a:ext uri="{FF2B5EF4-FFF2-40B4-BE49-F238E27FC236}">
                <a16:creationId xmlns:a16="http://schemas.microsoft.com/office/drawing/2014/main" id="{577A0051-8CCF-E3CA-B7D1-FE61AD9BE005}"/>
              </a:ext>
            </a:extLst>
          </p:cNvPr>
          <p:cNvSpPr>
            <a:spLocks noGrp="1"/>
          </p:cNvSpPr>
          <p:nvPr>
            <p:ph idx="1"/>
          </p:nvPr>
        </p:nvSpPr>
        <p:spPr/>
        <p:txBody>
          <a:bodyPr>
            <a:normAutofit/>
          </a:bodyPr>
          <a:lstStyle/>
          <a:p>
            <a:r>
              <a:rPr lang="ru-RU" sz="2400" b="1" dirty="0"/>
              <a:t>Бизнес-процессы</a:t>
            </a:r>
            <a:r>
              <a:rPr lang="ru-RU" sz="2400" dirty="0"/>
              <a:t> — любые операции внутри компании, которые помогают решать бизнес-задачи и зарабатывать.</a:t>
            </a:r>
          </a:p>
          <a:p>
            <a:r>
              <a:rPr lang="ru-RU" sz="2400" b="1" dirty="0"/>
              <a:t>Моделирование бизнес-процессов</a:t>
            </a:r>
            <a:r>
              <a:rPr lang="ru-RU" sz="2400" dirty="0"/>
              <a:t> — описание этих операций и документирование требований к ним. Это одно из направлений описания предметной области. В его основе лежит процессный подход к управлению: процессы описываются через присущие им элементы — действия, данные, события, материалы. Полученное описание позволяет глубоко разобраться в бизнес-процессах, увидеть потенциал их улучшения и эффективно организовать взаимодействие всех участников. </a:t>
            </a:r>
          </a:p>
          <a:p>
            <a:r>
              <a:rPr lang="ru-RU" sz="2400" b="1" dirty="0"/>
              <a:t>Методологии</a:t>
            </a:r>
            <a:r>
              <a:rPr lang="ru-RU" sz="2400" dirty="0"/>
              <a:t>: </a:t>
            </a:r>
            <a:r>
              <a:rPr lang="en-US" dirty="0"/>
              <a:t>IDEF</a:t>
            </a:r>
            <a:r>
              <a:rPr lang="ru-RU" dirty="0"/>
              <a:t>, </a:t>
            </a:r>
            <a:r>
              <a:rPr lang="en-US" dirty="0"/>
              <a:t>DFD, BPMN</a:t>
            </a:r>
            <a:r>
              <a:rPr lang="ru-RU" dirty="0"/>
              <a:t>…</a:t>
            </a:r>
            <a:endParaRPr lang="ru-RU" sz="2400" dirty="0"/>
          </a:p>
        </p:txBody>
      </p:sp>
      <p:sp>
        <p:nvSpPr>
          <p:cNvPr id="4" name="Номер слайда 3">
            <a:extLst>
              <a:ext uri="{FF2B5EF4-FFF2-40B4-BE49-F238E27FC236}">
                <a16:creationId xmlns:a16="http://schemas.microsoft.com/office/drawing/2014/main" id="{DDEE5D59-ED5B-B924-9F4D-1439CEE2B5CD}"/>
              </a:ext>
            </a:extLst>
          </p:cNvPr>
          <p:cNvSpPr>
            <a:spLocks noGrp="1"/>
          </p:cNvSpPr>
          <p:nvPr>
            <p:ph type="sldNum" sz="quarter" idx="12"/>
          </p:nvPr>
        </p:nvSpPr>
        <p:spPr/>
        <p:txBody>
          <a:bodyPr/>
          <a:lstStyle/>
          <a:p>
            <a:fld id="{25A42088-C730-408A-A823-60BED1AFCEA0}" type="slidenum">
              <a:rPr lang="ru-RU" smtClean="0"/>
              <a:t>13</a:t>
            </a:fld>
            <a:endParaRPr lang="ru-RU"/>
          </a:p>
        </p:txBody>
      </p:sp>
    </p:spTree>
    <p:extLst>
      <p:ext uri="{BB962C8B-B14F-4D97-AF65-F5344CB8AC3E}">
        <p14:creationId xmlns:p14="http://schemas.microsoft.com/office/powerpoint/2010/main" val="2526653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437C8A-489F-4F25-9D5D-FF77690D86A5}"/>
              </a:ext>
            </a:extLst>
          </p:cNvPr>
          <p:cNvSpPr>
            <a:spLocks noGrp="1"/>
          </p:cNvSpPr>
          <p:nvPr>
            <p:ph type="title"/>
          </p:nvPr>
        </p:nvSpPr>
        <p:spPr/>
        <p:txBody>
          <a:bodyPr/>
          <a:lstStyle/>
          <a:p>
            <a:r>
              <a:rPr lang="ru-RU" dirty="0"/>
              <a:t>Модель бизнес-процессов</a:t>
            </a:r>
          </a:p>
        </p:txBody>
      </p:sp>
      <p:sp>
        <p:nvSpPr>
          <p:cNvPr id="3" name="Объект 2">
            <a:extLst>
              <a:ext uri="{FF2B5EF4-FFF2-40B4-BE49-F238E27FC236}">
                <a16:creationId xmlns:a16="http://schemas.microsoft.com/office/drawing/2014/main" id="{5BFBFACF-0CFB-EAA9-D7EE-BB26A6F59339}"/>
              </a:ext>
            </a:extLst>
          </p:cNvPr>
          <p:cNvSpPr>
            <a:spLocks noGrp="1"/>
          </p:cNvSpPr>
          <p:nvPr>
            <p:ph idx="1"/>
          </p:nvPr>
        </p:nvSpPr>
        <p:spPr/>
        <p:txBody>
          <a:bodyPr>
            <a:normAutofit/>
          </a:bodyPr>
          <a:lstStyle/>
          <a:p>
            <a:r>
              <a:rPr lang="ru-RU" sz="2400" b="1" dirty="0"/>
              <a:t>Модель</a:t>
            </a:r>
            <a:r>
              <a:rPr lang="ru-RU" sz="2400" dirty="0"/>
              <a:t> — это графическое или текстовое представление бизнес-процессов и логической взаимосвязи между ними. С ее помощью отображают два состояния процессов: как есть — текущая деятельность организации, и как должно быть — ее будущее состояние после внесения изменений или улучшений.</a:t>
            </a:r>
          </a:p>
        </p:txBody>
      </p:sp>
      <p:sp>
        <p:nvSpPr>
          <p:cNvPr id="4" name="Номер слайда 3">
            <a:extLst>
              <a:ext uri="{FF2B5EF4-FFF2-40B4-BE49-F238E27FC236}">
                <a16:creationId xmlns:a16="http://schemas.microsoft.com/office/drawing/2014/main" id="{47526A5B-D16C-8DCD-C456-A3CF73D7EF18}"/>
              </a:ext>
            </a:extLst>
          </p:cNvPr>
          <p:cNvSpPr>
            <a:spLocks noGrp="1"/>
          </p:cNvSpPr>
          <p:nvPr>
            <p:ph type="sldNum" sz="quarter" idx="12"/>
          </p:nvPr>
        </p:nvSpPr>
        <p:spPr/>
        <p:txBody>
          <a:bodyPr/>
          <a:lstStyle/>
          <a:p>
            <a:fld id="{25A42088-C730-408A-A823-60BED1AFCEA0}" type="slidenum">
              <a:rPr lang="ru-RU" smtClean="0"/>
              <a:t>14</a:t>
            </a:fld>
            <a:endParaRPr lang="ru-RU"/>
          </a:p>
        </p:txBody>
      </p:sp>
    </p:spTree>
    <p:extLst>
      <p:ext uri="{BB962C8B-B14F-4D97-AF65-F5344CB8AC3E}">
        <p14:creationId xmlns:p14="http://schemas.microsoft.com/office/powerpoint/2010/main" val="1252526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3FFC679-B3AA-B76F-AD5A-66F48BAC89BA}"/>
              </a:ext>
            </a:extLst>
          </p:cNvPr>
          <p:cNvSpPr>
            <a:spLocks noGrp="1"/>
          </p:cNvSpPr>
          <p:nvPr>
            <p:ph type="title"/>
          </p:nvPr>
        </p:nvSpPr>
        <p:spPr/>
        <p:txBody>
          <a:bodyPr/>
          <a:lstStyle/>
          <a:p>
            <a:r>
              <a:rPr lang="ru-RU" dirty="0"/>
              <a:t>Цели моделирования</a:t>
            </a:r>
          </a:p>
        </p:txBody>
      </p:sp>
      <p:sp>
        <p:nvSpPr>
          <p:cNvPr id="3" name="Объект 2">
            <a:extLst>
              <a:ext uri="{FF2B5EF4-FFF2-40B4-BE49-F238E27FC236}">
                <a16:creationId xmlns:a16="http://schemas.microsoft.com/office/drawing/2014/main" id="{EAC39089-2116-66AC-E334-C611D677C632}"/>
              </a:ext>
            </a:extLst>
          </p:cNvPr>
          <p:cNvSpPr>
            <a:spLocks noGrp="1"/>
          </p:cNvSpPr>
          <p:nvPr>
            <p:ph idx="1"/>
          </p:nvPr>
        </p:nvSpPr>
        <p:spPr>
          <a:xfrm>
            <a:off x="1371600" y="1330235"/>
            <a:ext cx="9601200" cy="4931227"/>
          </a:xfrm>
        </p:spPr>
        <p:txBody>
          <a:bodyPr>
            <a:normAutofit lnSpcReduction="10000"/>
          </a:bodyPr>
          <a:lstStyle/>
          <a:p>
            <a:r>
              <a:rPr lang="ru-RU" dirty="0"/>
              <a:t>Наличие моделированных процессов позволяет изменить ситуацию, решив несколько задач:</a:t>
            </a:r>
          </a:p>
          <a:p>
            <a:pPr marL="342900" indent="-342900">
              <a:buFont typeface="Wingdings" panose="05000000000000000000" pitchFamily="2" charset="2"/>
              <a:buChar char="v"/>
            </a:pPr>
            <a:r>
              <a:rPr lang="ru-RU" b="1" dirty="0"/>
              <a:t>нормирование бизнес-процессов</a:t>
            </a:r>
            <a:r>
              <a:rPr lang="ru-RU" dirty="0"/>
              <a:t>. В большой организации разные команды могут выполнять один и тот же процесс по-разному. Создание оптимального дизайна задает единые правила и гарантирует, что каждый знает, как достичь лучшего результата;</a:t>
            </a:r>
          </a:p>
          <a:p>
            <a:pPr marL="342900" indent="-342900">
              <a:buFont typeface="Wingdings" panose="05000000000000000000" pitchFamily="2" charset="2"/>
              <a:buChar char="v"/>
            </a:pPr>
            <a:r>
              <a:rPr lang="ru-RU" b="1" dirty="0"/>
              <a:t>гибкость процессов</a:t>
            </a:r>
            <a:r>
              <a:rPr lang="ru-RU" dirty="0"/>
              <a:t>. Анализ бизнес-процессов способствует формированию культуры инноваций и изменений. Возможность настраивать бизнес-операции позволяет компании развиваться в условиях технологических изменений;</a:t>
            </a:r>
          </a:p>
          <a:p>
            <a:pPr marL="342900" indent="-342900">
              <a:buFont typeface="Wingdings" panose="05000000000000000000" pitchFamily="2" charset="2"/>
              <a:buChar char="v"/>
            </a:pPr>
            <a:r>
              <a:rPr lang="ru-RU" b="1" dirty="0"/>
              <a:t>прозрачность</a:t>
            </a:r>
            <a:r>
              <a:rPr lang="ru-RU" dirty="0"/>
              <a:t>. Все в организации будут знать, как выполняются процессы, это делает работу контролируемой;</a:t>
            </a:r>
          </a:p>
          <a:p>
            <a:pPr marL="342900" indent="-342900">
              <a:buFont typeface="Wingdings" panose="05000000000000000000" pitchFamily="2" charset="2"/>
              <a:buChar char="v"/>
            </a:pPr>
            <a:r>
              <a:rPr lang="ru-RU" b="1" dirty="0"/>
              <a:t>повышение эффективности</a:t>
            </a:r>
            <a:r>
              <a:rPr lang="ru-RU" dirty="0"/>
              <a:t>. Основная функция моделирования бизнес-процессов — найти способы улучшить выполнение процессов, что приведет к повышению эффективности, производительности, конкурентоспособности и, наконец, прибыли.</a:t>
            </a:r>
          </a:p>
        </p:txBody>
      </p:sp>
      <p:sp>
        <p:nvSpPr>
          <p:cNvPr id="4" name="Номер слайда 3">
            <a:extLst>
              <a:ext uri="{FF2B5EF4-FFF2-40B4-BE49-F238E27FC236}">
                <a16:creationId xmlns:a16="http://schemas.microsoft.com/office/drawing/2014/main" id="{700680DE-71DC-4A3C-D49A-E8BB697BA912}"/>
              </a:ext>
            </a:extLst>
          </p:cNvPr>
          <p:cNvSpPr>
            <a:spLocks noGrp="1"/>
          </p:cNvSpPr>
          <p:nvPr>
            <p:ph type="sldNum" sz="quarter" idx="12"/>
          </p:nvPr>
        </p:nvSpPr>
        <p:spPr/>
        <p:txBody>
          <a:bodyPr/>
          <a:lstStyle/>
          <a:p>
            <a:fld id="{25A42088-C730-408A-A823-60BED1AFCEA0}" type="slidenum">
              <a:rPr lang="ru-RU" smtClean="0"/>
              <a:t>15</a:t>
            </a:fld>
            <a:endParaRPr lang="ru-RU"/>
          </a:p>
        </p:txBody>
      </p:sp>
    </p:spTree>
    <p:extLst>
      <p:ext uri="{BB962C8B-B14F-4D97-AF65-F5344CB8AC3E}">
        <p14:creationId xmlns:p14="http://schemas.microsoft.com/office/powerpoint/2010/main" val="448272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8B6CC9-55CD-D0C3-EF5F-76C911F5B4AF}"/>
              </a:ext>
            </a:extLst>
          </p:cNvPr>
          <p:cNvSpPr>
            <a:spLocks noGrp="1"/>
          </p:cNvSpPr>
          <p:nvPr>
            <p:ph type="title"/>
          </p:nvPr>
        </p:nvSpPr>
        <p:spPr/>
        <p:txBody>
          <a:bodyPr/>
          <a:lstStyle/>
          <a:p>
            <a:r>
              <a:rPr lang="ru-RU" dirty="0"/>
              <a:t>Стадии моделирования бизнес-процессов</a:t>
            </a:r>
          </a:p>
        </p:txBody>
      </p:sp>
      <p:sp>
        <p:nvSpPr>
          <p:cNvPr id="3" name="Объект 2">
            <a:extLst>
              <a:ext uri="{FF2B5EF4-FFF2-40B4-BE49-F238E27FC236}">
                <a16:creationId xmlns:a16="http://schemas.microsoft.com/office/drawing/2014/main" id="{92CF747A-F424-1F95-AEF8-B98EB876BA4C}"/>
              </a:ext>
            </a:extLst>
          </p:cNvPr>
          <p:cNvSpPr>
            <a:spLocks noGrp="1"/>
          </p:cNvSpPr>
          <p:nvPr>
            <p:ph idx="1"/>
          </p:nvPr>
        </p:nvSpPr>
        <p:spPr/>
        <p:txBody>
          <a:bodyPr>
            <a:normAutofit/>
          </a:bodyPr>
          <a:lstStyle/>
          <a:p>
            <a:pPr marL="457200" indent="-457200">
              <a:buFont typeface="+mj-lt"/>
              <a:buAutoNum type="arabicPeriod"/>
            </a:pPr>
            <a:r>
              <a:rPr lang="ru-RU" b="1" dirty="0"/>
              <a:t>Создание модели «как есть»</a:t>
            </a:r>
            <a:r>
              <a:rPr lang="ru-RU" dirty="0"/>
              <a:t> — выявление границ и основных компонентов процесса, сбор информации о том, как он работает. Такая исходная модель становится отправной точкой будущих улучшений. </a:t>
            </a:r>
          </a:p>
          <a:p>
            <a:pPr marL="457200" indent="-457200">
              <a:buFont typeface="+mj-lt"/>
              <a:buAutoNum type="arabicPeriod"/>
            </a:pPr>
            <a:r>
              <a:rPr lang="ru-RU" b="1" dirty="0"/>
              <a:t>Анализ данных </a:t>
            </a:r>
            <a:r>
              <a:rPr lang="ru-RU" dirty="0"/>
              <a:t>— поиск ошибок, ограничений, дублирующихся операций, взаимосвязей. Это позволяет уточнить модель «как есть» и наметить потребности в изменениях.</a:t>
            </a:r>
          </a:p>
          <a:p>
            <a:pPr marL="457200" indent="-457200">
              <a:buFont typeface="+mj-lt"/>
              <a:buAutoNum type="arabicPeriod"/>
            </a:pPr>
            <a:r>
              <a:rPr lang="ru-RU" b="1" dirty="0"/>
              <a:t>Построение модели «как должно быть»</a:t>
            </a:r>
            <a:r>
              <a:rPr lang="ru-RU" dirty="0"/>
              <a:t> — формулирование состояния процесса, к которому необходимо стремиться. Эта модель отображает будущий процесс после проведения улучшений.</a:t>
            </a:r>
          </a:p>
          <a:p>
            <a:pPr marL="457200" indent="-457200">
              <a:buFont typeface="+mj-lt"/>
              <a:buAutoNum type="arabicPeriod"/>
            </a:pPr>
            <a:r>
              <a:rPr lang="ru-RU" b="1" dirty="0"/>
              <a:t>Тестирование построенной модели </a:t>
            </a:r>
            <a:r>
              <a:rPr lang="ru-RU" dirty="0"/>
              <a:t>— внедрение ее в деятельность компании, оценка результатов, внесение изменений.</a:t>
            </a:r>
          </a:p>
          <a:p>
            <a:pPr marL="457200" indent="-457200">
              <a:buFont typeface="+mj-lt"/>
              <a:buAutoNum type="arabicPeriod"/>
            </a:pPr>
            <a:r>
              <a:rPr lang="ru-RU" b="1" dirty="0"/>
              <a:t>Улучшение построенной модели </a:t>
            </a:r>
            <a:r>
              <a:rPr lang="ru-RU" dirty="0"/>
              <a:t>— в процессе использования модель необходимо продолжать анализировать и совершенствовать.</a:t>
            </a:r>
          </a:p>
        </p:txBody>
      </p:sp>
      <p:sp>
        <p:nvSpPr>
          <p:cNvPr id="4" name="Номер слайда 3">
            <a:extLst>
              <a:ext uri="{FF2B5EF4-FFF2-40B4-BE49-F238E27FC236}">
                <a16:creationId xmlns:a16="http://schemas.microsoft.com/office/drawing/2014/main" id="{3F511A45-0B4B-6F19-47BB-BAB4A43472D4}"/>
              </a:ext>
            </a:extLst>
          </p:cNvPr>
          <p:cNvSpPr>
            <a:spLocks noGrp="1"/>
          </p:cNvSpPr>
          <p:nvPr>
            <p:ph type="sldNum" sz="quarter" idx="12"/>
          </p:nvPr>
        </p:nvSpPr>
        <p:spPr/>
        <p:txBody>
          <a:bodyPr/>
          <a:lstStyle/>
          <a:p>
            <a:fld id="{25A42088-C730-408A-A823-60BED1AFCEA0}" type="slidenum">
              <a:rPr lang="ru-RU" smtClean="0"/>
              <a:t>16</a:t>
            </a:fld>
            <a:endParaRPr lang="ru-RU"/>
          </a:p>
        </p:txBody>
      </p:sp>
    </p:spTree>
    <p:extLst>
      <p:ext uri="{BB962C8B-B14F-4D97-AF65-F5344CB8AC3E}">
        <p14:creationId xmlns:p14="http://schemas.microsoft.com/office/powerpoint/2010/main" val="464582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9E2BF9-070A-C176-E321-67B25590502A}"/>
              </a:ext>
            </a:extLst>
          </p:cNvPr>
          <p:cNvSpPr>
            <a:spLocks noGrp="1"/>
          </p:cNvSpPr>
          <p:nvPr>
            <p:ph type="title"/>
          </p:nvPr>
        </p:nvSpPr>
        <p:spPr/>
        <p:txBody>
          <a:bodyPr/>
          <a:lstStyle/>
          <a:p>
            <a:r>
              <a:rPr lang="ru-RU" dirty="0"/>
              <a:t>Нотация </a:t>
            </a:r>
            <a:r>
              <a:rPr lang="en-US" dirty="0"/>
              <a:t>BPMN</a:t>
            </a:r>
            <a:endParaRPr lang="ru-RU" dirty="0"/>
          </a:p>
        </p:txBody>
      </p:sp>
      <p:sp>
        <p:nvSpPr>
          <p:cNvPr id="3" name="Объект 2">
            <a:extLst>
              <a:ext uri="{FF2B5EF4-FFF2-40B4-BE49-F238E27FC236}">
                <a16:creationId xmlns:a16="http://schemas.microsoft.com/office/drawing/2014/main" id="{8A44C56F-215E-25C5-E521-0CC3BE1578DB}"/>
              </a:ext>
            </a:extLst>
          </p:cNvPr>
          <p:cNvSpPr>
            <a:spLocks noGrp="1"/>
          </p:cNvSpPr>
          <p:nvPr>
            <p:ph idx="1"/>
          </p:nvPr>
        </p:nvSpPr>
        <p:spPr/>
        <p:txBody>
          <a:bodyPr>
            <a:normAutofit/>
          </a:bodyPr>
          <a:lstStyle/>
          <a:p>
            <a:r>
              <a:rPr lang="ru-RU" sz="2400" b="1" dirty="0"/>
              <a:t>BPMN (Business Process Model </a:t>
            </a:r>
            <a:r>
              <a:rPr lang="ru-RU" sz="2400" b="1" dirty="0" err="1"/>
              <a:t>and</a:t>
            </a:r>
            <a:r>
              <a:rPr lang="ru-RU" sz="2400" b="1" dirty="0"/>
              <a:t> </a:t>
            </a:r>
            <a:r>
              <a:rPr lang="ru-RU" sz="2400" b="1" dirty="0" err="1"/>
              <a:t>Notation</a:t>
            </a:r>
            <a:r>
              <a:rPr lang="ru-RU" sz="2400" b="1" dirty="0"/>
              <a:t>, нотация и модель бизнес-процессов) </a:t>
            </a:r>
            <a:r>
              <a:rPr lang="ru-RU" sz="2400" dirty="0"/>
              <a:t>— это стандартная графическая нотация для моделирования бизнес-процессов, которая позволяет наглядно визуализировать их последовательность, участников и информационные потоки с помощью набора символов и правил.</a:t>
            </a:r>
          </a:p>
          <a:p>
            <a:endParaRPr lang="ru-RU" sz="2400" dirty="0"/>
          </a:p>
          <a:p>
            <a:r>
              <a:rPr lang="ru-RU" sz="2400" dirty="0"/>
              <a:t>Создана в 2005</a:t>
            </a:r>
          </a:p>
          <a:p>
            <a:r>
              <a:rPr lang="ru-RU" sz="2400" dirty="0"/>
              <a:t>В 2010 обновлена до версии 2.0</a:t>
            </a:r>
          </a:p>
        </p:txBody>
      </p:sp>
      <p:sp>
        <p:nvSpPr>
          <p:cNvPr id="4" name="Номер слайда 3">
            <a:extLst>
              <a:ext uri="{FF2B5EF4-FFF2-40B4-BE49-F238E27FC236}">
                <a16:creationId xmlns:a16="http://schemas.microsoft.com/office/drawing/2014/main" id="{E7086E0B-2CA9-835B-9202-6F0EBB5C04B7}"/>
              </a:ext>
            </a:extLst>
          </p:cNvPr>
          <p:cNvSpPr>
            <a:spLocks noGrp="1"/>
          </p:cNvSpPr>
          <p:nvPr>
            <p:ph type="sldNum" sz="quarter" idx="12"/>
          </p:nvPr>
        </p:nvSpPr>
        <p:spPr/>
        <p:txBody>
          <a:bodyPr/>
          <a:lstStyle/>
          <a:p>
            <a:fld id="{25A42088-C730-408A-A823-60BED1AFCEA0}" type="slidenum">
              <a:rPr lang="ru-RU" smtClean="0"/>
              <a:t>17</a:t>
            </a:fld>
            <a:endParaRPr lang="ru-RU"/>
          </a:p>
        </p:txBody>
      </p:sp>
    </p:spTree>
    <p:extLst>
      <p:ext uri="{BB962C8B-B14F-4D97-AF65-F5344CB8AC3E}">
        <p14:creationId xmlns:p14="http://schemas.microsoft.com/office/powerpoint/2010/main" val="3455949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8AA5CB-ADB0-E736-4B21-85DD14C9931D}"/>
              </a:ext>
            </a:extLst>
          </p:cNvPr>
          <p:cNvSpPr>
            <a:spLocks noGrp="1"/>
          </p:cNvSpPr>
          <p:nvPr>
            <p:ph type="title"/>
          </p:nvPr>
        </p:nvSpPr>
        <p:spPr/>
        <p:txBody>
          <a:bodyPr/>
          <a:lstStyle/>
          <a:p>
            <a:r>
              <a:rPr lang="ru-RU" dirty="0"/>
              <a:t>Пример</a:t>
            </a:r>
          </a:p>
        </p:txBody>
      </p:sp>
      <p:sp>
        <p:nvSpPr>
          <p:cNvPr id="4" name="Номер слайда 3">
            <a:extLst>
              <a:ext uri="{FF2B5EF4-FFF2-40B4-BE49-F238E27FC236}">
                <a16:creationId xmlns:a16="http://schemas.microsoft.com/office/drawing/2014/main" id="{15E9FF0D-6039-707D-E830-B78844D05F4E}"/>
              </a:ext>
            </a:extLst>
          </p:cNvPr>
          <p:cNvSpPr>
            <a:spLocks noGrp="1"/>
          </p:cNvSpPr>
          <p:nvPr>
            <p:ph type="sldNum" sz="quarter" idx="12"/>
          </p:nvPr>
        </p:nvSpPr>
        <p:spPr/>
        <p:txBody>
          <a:bodyPr/>
          <a:lstStyle/>
          <a:p>
            <a:fld id="{25A42088-C730-408A-A823-60BED1AFCEA0}" type="slidenum">
              <a:rPr lang="ru-RU" smtClean="0"/>
              <a:t>18</a:t>
            </a:fld>
            <a:endParaRPr lang="ru-RU"/>
          </a:p>
        </p:txBody>
      </p:sp>
      <p:pic>
        <p:nvPicPr>
          <p:cNvPr id="1026" name="Picture 2" descr="□ Статья. Как начать моделировать бизнес-процессы в BPMN">
            <a:extLst>
              <a:ext uri="{FF2B5EF4-FFF2-40B4-BE49-F238E27FC236}">
                <a16:creationId xmlns:a16="http://schemas.microsoft.com/office/drawing/2014/main" id="{5DD38AD3-B743-0742-6F51-FED55144315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27506" y="1651356"/>
            <a:ext cx="7336987" cy="4402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8883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7D6E52C-E253-06EC-28C0-4096549104A6}"/>
              </a:ext>
            </a:extLst>
          </p:cNvPr>
          <p:cNvSpPr>
            <a:spLocks noGrp="1"/>
          </p:cNvSpPr>
          <p:nvPr>
            <p:ph type="title"/>
          </p:nvPr>
        </p:nvSpPr>
        <p:spPr/>
        <p:txBody>
          <a:bodyPr/>
          <a:lstStyle/>
          <a:p>
            <a:r>
              <a:rPr lang="ru-RU" dirty="0"/>
              <a:t>Элементы: пул и дорожка</a:t>
            </a:r>
          </a:p>
        </p:txBody>
      </p:sp>
      <p:sp>
        <p:nvSpPr>
          <p:cNvPr id="3" name="Объект 2">
            <a:extLst>
              <a:ext uri="{FF2B5EF4-FFF2-40B4-BE49-F238E27FC236}">
                <a16:creationId xmlns:a16="http://schemas.microsoft.com/office/drawing/2014/main" id="{D0ED0473-5653-C5EC-7358-C3EBB70FF5AF}"/>
              </a:ext>
            </a:extLst>
          </p:cNvPr>
          <p:cNvSpPr>
            <a:spLocks noGrp="1"/>
          </p:cNvSpPr>
          <p:nvPr>
            <p:ph idx="1"/>
          </p:nvPr>
        </p:nvSpPr>
        <p:spPr>
          <a:xfrm>
            <a:off x="1371600" y="1506584"/>
            <a:ext cx="9601200" cy="1187456"/>
          </a:xfrm>
        </p:spPr>
        <p:txBody>
          <a:bodyPr/>
          <a:lstStyle/>
          <a:p>
            <a:r>
              <a:rPr lang="ru-RU" dirty="0"/>
              <a:t>Пул - используется для обозначения границ бизнес-процесса</a:t>
            </a:r>
          </a:p>
          <a:p>
            <a:r>
              <a:rPr lang="ru-RU" dirty="0"/>
              <a:t>Дорожка - используется для отражения ответственных исполнителей и их ролей в процессе</a:t>
            </a:r>
          </a:p>
        </p:txBody>
      </p:sp>
      <p:sp>
        <p:nvSpPr>
          <p:cNvPr id="4" name="Номер слайда 3">
            <a:extLst>
              <a:ext uri="{FF2B5EF4-FFF2-40B4-BE49-F238E27FC236}">
                <a16:creationId xmlns:a16="http://schemas.microsoft.com/office/drawing/2014/main" id="{8472D153-2C54-EFE2-D0A5-48A25D5C4160}"/>
              </a:ext>
            </a:extLst>
          </p:cNvPr>
          <p:cNvSpPr>
            <a:spLocks noGrp="1"/>
          </p:cNvSpPr>
          <p:nvPr>
            <p:ph type="sldNum" sz="quarter" idx="12"/>
          </p:nvPr>
        </p:nvSpPr>
        <p:spPr/>
        <p:txBody>
          <a:bodyPr/>
          <a:lstStyle/>
          <a:p>
            <a:fld id="{25A42088-C730-408A-A823-60BED1AFCEA0}" type="slidenum">
              <a:rPr lang="ru-RU" smtClean="0"/>
              <a:t>19</a:t>
            </a:fld>
            <a:endParaRPr lang="ru-RU"/>
          </a:p>
        </p:txBody>
      </p:sp>
      <p:pic>
        <p:nvPicPr>
          <p:cNvPr id="2050" name="Picture 2" descr="BPMN-элементы Пул и Дорожки">
            <a:extLst>
              <a:ext uri="{FF2B5EF4-FFF2-40B4-BE49-F238E27FC236}">
                <a16:creationId xmlns:a16="http://schemas.microsoft.com/office/drawing/2014/main" id="{D53D608F-5B0B-B474-D906-95C978BB83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3575" y="2449093"/>
            <a:ext cx="4813812" cy="4170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0869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2DD4CD-443E-E0D6-6963-FC227E3436CD}"/>
              </a:ext>
            </a:extLst>
          </p:cNvPr>
          <p:cNvSpPr>
            <a:spLocks noGrp="1"/>
          </p:cNvSpPr>
          <p:nvPr>
            <p:ph type="title"/>
          </p:nvPr>
        </p:nvSpPr>
        <p:spPr/>
        <p:txBody>
          <a:bodyPr/>
          <a:lstStyle/>
          <a:p>
            <a:r>
              <a:rPr lang="ru-RU" dirty="0"/>
              <a:t>Элементы: Событие</a:t>
            </a:r>
          </a:p>
        </p:txBody>
      </p:sp>
      <p:sp>
        <p:nvSpPr>
          <p:cNvPr id="3" name="Объект 2">
            <a:extLst>
              <a:ext uri="{FF2B5EF4-FFF2-40B4-BE49-F238E27FC236}">
                <a16:creationId xmlns:a16="http://schemas.microsoft.com/office/drawing/2014/main" id="{F482CA8F-C0F4-CC1E-8645-D577777F3122}"/>
              </a:ext>
            </a:extLst>
          </p:cNvPr>
          <p:cNvSpPr>
            <a:spLocks noGrp="1"/>
          </p:cNvSpPr>
          <p:nvPr>
            <p:ph idx="1"/>
          </p:nvPr>
        </p:nvSpPr>
        <p:spPr>
          <a:xfrm>
            <a:off x="2314925" y="1576216"/>
            <a:ext cx="7354529" cy="4798454"/>
          </a:xfrm>
        </p:spPr>
        <p:txBody>
          <a:bodyPr/>
          <a:lstStyle/>
          <a:p>
            <a:r>
              <a:rPr lang="ru-RU" dirty="0"/>
              <a:t>Начальное событие (инициирующее бизнес-процесс)</a:t>
            </a:r>
          </a:p>
          <a:p>
            <a:r>
              <a:rPr lang="ru-RU" dirty="0"/>
              <a:t>Промежуточное событие (его возникновения внутри процесса нужно дождаться)</a:t>
            </a:r>
          </a:p>
          <a:p>
            <a:r>
              <a:rPr lang="ru-RU" dirty="0"/>
              <a:t>Конечное событие (заканчивающее бизнес-процесс).</a:t>
            </a:r>
          </a:p>
          <a:p>
            <a:endParaRPr lang="ru-RU" dirty="0"/>
          </a:p>
          <a:p>
            <a:r>
              <a:rPr lang="ru-RU" dirty="0"/>
              <a:t>Основные подвиды:</a:t>
            </a:r>
          </a:p>
          <a:p>
            <a:r>
              <a:rPr lang="ru-RU" dirty="0"/>
              <a:t>Отправка сообщения</a:t>
            </a:r>
          </a:p>
          <a:p>
            <a:r>
              <a:rPr lang="ru-RU" dirty="0"/>
              <a:t>Получение сообщения</a:t>
            </a:r>
          </a:p>
          <a:p>
            <a:r>
              <a:rPr lang="ru-RU" dirty="0"/>
              <a:t>Таймер</a:t>
            </a:r>
          </a:p>
        </p:txBody>
      </p:sp>
      <p:sp>
        <p:nvSpPr>
          <p:cNvPr id="4" name="Номер слайда 3">
            <a:extLst>
              <a:ext uri="{FF2B5EF4-FFF2-40B4-BE49-F238E27FC236}">
                <a16:creationId xmlns:a16="http://schemas.microsoft.com/office/drawing/2014/main" id="{70E2624C-8C89-74DC-0339-A396C34D94EA}"/>
              </a:ext>
            </a:extLst>
          </p:cNvPr>
          <p:cNvSpPr>
            <a:spLocks noGrp="1"/>
          </p:cNvSpPr>
          <p:nvPr>
            <p:ph type="sldNum" sz="quarter" idx="12"/>
          </p:nvPr>
        </p:nvSpPr>
        <p:spPr/>
        <p:txBody>
          <a:bodyPr/>
          <a:lstStyle/>
          <a:p>
            <a:fld id="{25A42088-C730-408A-A823-60BED1AFCEA0}" type="slidenum">
              <a:rPr lang="ru-RU" smtClean="0"/>
              <a:t>20</a:t>
            </a:fld>
            <a:endParaRPr lang="ru-RU"/>
          </a:p>
        </p:txBody>
      </p:sp>
      <p:pic>
        <p:nvPicPr>
          <p:cNvPr id="4098" name="Picture 2" descr="BPMN-элемент Начальное простое событие">
            <a:extLst>
              <a:ext uri="{FF2B5EF4-FFF2-40B4-BE49-F238E27FC236}">
                <a16:creationId xmlns:a16="http://schemas.microsoft.com/office/drawing/2014/main" id="{71BCC8A1-2E9D-64BC-BD37-654FF91000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2179" y="1398548"/>
            <a:ext cx="606117" cy="606117"/>
          </a:xfrm>
          <a:prstGeom prst="rect">
            <a:avLst/>
          </a:prstGeom>
          <a:noFill/>
          <a:extLst>
            <a:ext uri="{909E8E84-426E-40DD-AFC4-6F175D3DCCD1}">
              <a14:hiddenFill xmlns:a14="http://schemas.microsoft.com/office/drawing/2010/main">
                <a:solidFill>
                  <a:srgbClr val="FFFFFF"/>
                </a:solidFill>
              </a14:hiddenFill>
            </a:ext>
          </a:extLst>
        </p:spPr>
      </p:pic>
      <p:pic>
        <p:nvPicPr>
          <p:cNvPr id="5" name="Рисунок 4">
            <a:extLst>
              <a:ext uri="{FF2B5EF4-FFF2-40B4-BE49-F238E27FC236}">
                <a16:creationId xmlns:a16="http://schemas.microsoft.com/office/drawing/2014/main" id="{5B578210-DEBD-7910-B761-8B3E2C6AC666}"/>
              </a:ext>
            </a:extLst>
          </p:cNvPr>
          <p:cNvPicPr>
            <a:picLocks noChangeAspect="1"/>
          </p:cNvPicPr>
          <p:nvPr/>
        </p:nvPicPr>
        <p:blipFill>
          <a:blip r:embed="rId3"/>
          <a:stretch>
            <a:fillRect/>
          </a:stretch>
        </p:blipFill>
        <p:spPr>
          <a:xfrm>
            <a:off x="1610821" y="2004665"/>
            <a:ext cx="606117" cy="606117"/>
          </a:xfrm>
          <a:prstGeom prst="rect">
            <a:avLst/>
          </a:prstGeom>
        </p:spPr>
      </p:pic>
      <p:pic>
        <p:nvPicPr>
          <p:cNvPr id="6" name="Рисунок 5">
            <a:extLst>
              <a:ext uri="{FF2B5EF4-FFF2-40B4-BE49-F238E27FC236}">
                <a16:creationId xmlns:a16="http://schemas.microsoft.com/office/drawing/2014/main" id="{84F8431B-5E22-122D-1586-EC2D44C53ED6}"/>
              </a:ext>
            </a:extLst>
          </p:cNvPr>
          <p:cNvPicPr>
            <a:picLocks noChangeAspect="1"/>
          </p:cNvPicPr>
          <p:nvPr/>
        </p:nvPicPr>
        <p:blipFill>
          <a:blip r:embed="rId4"/>
          <a:stretch>
            <a:fillRect/>
          </a:stretch>
        </p:blipFill>
        <p:spPr>
          <a:xfrm>
            <a:off x="1633537" y="2610782"/>
            <a:ext cx="606117" cy="606117"/>
          </a:xfrm>
          <a:prstGeom prst="rect">
            <a:avLst/>
          </a:prstGeom>
        </p:spPr>
      </p:pic>
      <p:pic>
        <p:nvPicPr>
          <p:cNvPr id="7" name="Рисунок 6">
            <a:extLst>
              <a:ext uri="{FF2B5EF4-FFF2-40B4-BE49-F238E27FC236}">
                <a16:creationId xmlns:a16="http://schemas.microsoft.com/office/drawing/2014/main" id="{F7058E8D-6FEF-29CC-50A6-23B58A217C06}"/>
              </a:ext>
            </a:extLst>
          </p:cNvPr>
          <p:cNvPicPr>
            <a:picLocks noChangeAspect="1"/>
          </p:cNvPicPr>
          <p:nvPr/>
        </p:nvPicPr>
        <p:blipFill>
          <a:blip r:embed="rId5"/>
          <a:stretch>
            <a:fillRect/>
          </a:stretch>
        </p:blipFill>
        <p:spPr>
          <a:xfrm>
            <a:off x="1147608" y="3985281"/>
            <a:ext cx="523875" cy="523875"/>
          </a:xfrm>
          <a:prstGeom prst="rect">
            <a:avLst/>
          </a:prstGeom>
        </p:spPr>
      </p:pic>
      <p:pic>
        <p:nvPicPr>
          <p:cNvPr id="8" name="Рисунок 7">
            <a:extLst>
              <a:ext uri="{FF2B5EF4-FFF2-40B4-BE49-F238E27FC236}">
                <a16:creationId xmlns:a16="http://schemas.microsoft.com/office/drawing/2014/main" id="{A4C55789-3FD3-F178-375E-5B420F83AA40}"/>
              </a:ext>
            </a:extLst>
          </p:cNvPr>
          <p:cNvPicPr>
            <a:picLocks noChangeAspect="1"/>
          </p:cNvPicPr>
          <p:nvPr/>
        </p:nvPicPr>
        <p:blipFill>
          <a:blip r:embed="rId6"/>
          <a:stretch>
            <a:fillRect/>
          </a:stretch>
        </p:blipFill>
        <p:spPr>
          <a:xfrm>
            <a:off x="1686685" y="3973570"/>
            <a:ext cx="523875" cy="523875"/>
          </a:xfrm>
          <a:prstGeom prst="rect">
            <a:avLst/>
          </a:prstGeom>
        </p:spPr>
      </p:pic>
      <p:pic>
        <p:nvPicPr>
          <p:cNvPr id="9" name="Рисунок 8">
            <a:extLst>
              <a:ext uri="{FF2B5EF4-FFF2-40B4-BE49-F238E27FC236}">
                <a16:creationId xmlns:a16="http://schemas.microsoft.com/office/drawing/2014/main" id="{E6840FAC-E672-0B96-9800-51E5459FCFD5}"/>
              </a:ext>
            </a:extLst>
          </p:cNvPr>
          <p:cNvPicPr>
            <a:picLocks noChangeAspect="1"/>
          </p:cNvPicPr>
          <p:nvPr/>
        </p:nvPicPr>
        <p:blipFill>
          <a:blip r:embed="rId7"/>
          <a:stretch>
            <a:fillRect/>
          </a:stretch>
        </p:blipFill>
        <p:spPr>
          <a:xfrm>
            <a:off x="1119494" y="4509156"/>
            <a:ext cx="523875" cy="523875"/>
          </a:xfrm>
          <a:prstGeom prst="rect">
            <a:avLst/>
          </a:prstGeom>
        </p:spPr>
      </p:pic>
      <p:pic>
        <p:nvPicPr>
          <p:cNvPr id="10" name="Рисунок 9">
            <a:extLst>
              <a:ext uri="{FF2B5EF4-FFF2-40B4-BE49-F238E27FC236}">
                <a16:creationId xmlns:a16="http://schemas.microsoft.com/office/drawing/2014/main" id="{43EE5B33-01D9-C378-91DA-10A62B9DBB53}"/>
              </a:ext>
            </a:extLst>
          </p:cNvPr>
          <p:cNvPicPr>
            <a:picLocks noChangeAspect="1"/>
          </p:cNvPicPr>
          <p:nvPr/>
        </p:nvPicPr>
        <p:blipFill>
          <a:blip r:embed="rId8"/>
          <a:stretch>
            <a:fillRect/>
          </a:stretch>
        </p:blipFill>
        <p:spPr>
          <a:xfrm>
            <a:off x="1715779" y="4509156"/>
            <a:ext cx="523875" cy="523875"/>
          </a:xfrm>
          <a:prstGeom prst="rect">
            <a:avLst/>
          </a:prstGeom>
        </p:spPr>
      </p:pic>
      <p:pic>
        <p:nvPicPr>
          <p:cNvPr id="11" name="Рисунок 10">
            <a:extLst>
              <a:ext uri="{FF2B5EF4-FFF2-40B4-BE49-F238E27FC236}">
                <a16:creationId xmlns:a16="http://schemas.microsoft.com/office/drawing/2014/main" id="{45675D5B-3685-D282-851F-57D03680483F}"/>
              </a:ext>
            </a:extLst>
          </p:cNvPr>
          <p:cNvPicPr>
            <a:picLocks noChangeAspect="1"/>
          </p:cNvPicPr>
          <p:nvPr/>
        </p:nvPicPr>
        <p:blipFill>
          <a:blip r:embed="rId9"/>
          <a:stretch>
            <a:fillRect/>
          </a:stretch>
        </p:blipFill>
        <p:spPr>
          <a:xfrm>
            <a:off x="1128363" y="5021320"/>
            <a:ext cx="523875" cy="523875"/>
          </a:xfrm>
          <a:prstGeom prst="rect">
            <a:avLst/>
          </a:prstGeom>
        </p:spPr>
      </p:pic>
      <p:pic>
        <p:nvPicPr>
          <p:cNvPr id="12" name="Рисунок 11">
            <a:extLst>
              <a:ext uri="{FF2B5EF4-FFF2-40B4-BE49-F238E27FC236}">
                <a16:creationId xmlns:a16="http://schemas.microsoft.com/office/drawing/2014/main" id="{EFB8FFA7-1D06-79E7-B334-E8FC9EA02C01}"/>
              </a:ext>
            </a:extLst>
          </p:cNvPr>
          <p:cNvPicPr>
            <a:picLocks noChangeAspect="1"/>
          </p:cNvPicPr>
          <p:nvPr/>
        </p:nvPicPr>
        <p:blipFill>
          <a:blip r:embed="rId10"/>
          <a:stretch>
            <a:fillRect/>
          </a:stretch>
        </p:blipFill>
        <p:spPr>
          <a:xfrm>
            <a:off x="1753153" y="5044742"/>
            <a:ext cx="523875" cy="523875"/>
          </a:xfrm>
          <a:prstGeom prst="rect">
            <a:avLst/>
          </a:prstGeom>
        </p:spPr>
      </p:pic>
    </p:spTree>
    <p:extLst>
      <p:ext uri="{BB962C8B-B14F-4D97-AF65-F5344CB8AC3E}">
        <p14:creationId xmlns:p14="http://schemas.microsoft.com/office/powerpoint/2010/main" val="927250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FB4AA8-C59B-BEE1-634F-EA42D6D6033A}"/>
              </a:ext>
            </a:extLst>
          </p:cNvPr>
          <p:cNvSpPr>
            <a:spLocks noGrp="1"/>
          </p:cNvSpPr>
          <p:nvPr>
            <p:ph type="title"/>
          </p:nvPr>
        </p:nvSpPr>
        <p:spPr/>
        <p:txBody>
          <a:bodyPr/>
          <a:lstStyle/>
          <a:p>
            <a:r>
              <a:rPr lang="ru-RU" dirty="0"/>
              <a:t>Элементы: Действие</a:t>
            </a:r>
          </a:p>
        </p:txBody>
      </p:sp>
      <p:sp>
        <p:nvSpPr>
          <p:cNvPr id="3" name="Объект 2">
            <a:extLst>
              <a:ext uri="{FF2B5EF4-FFF2-40B4-BE49-F238E27FC236}">
                <a16:creationId xmlns:a16="http://schemas.microsoft.com/office/drawing/2014/main" id="{3D0A81E5-367A-2006-EC06-767B2518BF02}"/>
              </a:ext>
            </a:extLst>
          </p:cNvPr>
          <p:cNvSpPr>
            <a:spLocks noGrp="1"/>
          </p:cNvSpPr>
          <p:nvPr>
            <p:ph idx="1"/>
          </p:nvPr>
        </p:nvSpPr>
        <p:spPr/>
        <p:txBody>
          <a:bodyPr/>
          <a:lstStyle/>
          <a:p>
            <a:r>
              <a:rPr lang="ru-RU" dirty="0"/>
              <a:t>Задача - используется для обозначения простого действия или операции, не имеющей дальнейшей декомпозиции в рамках текущего бизнес-процесса</a:t>
            </a:r>
          </a:p>
          <a:p>
            <a:r>
              <a:rPr lang="ru-RU" dirty="0"/>
              <a:t>Подпроцесс - используется для отображения декомпозированного процесса, существующего в рамках рассматриваемого процесса. Подпроцесс описан более подробно на своей диаграмме. </a:t>
            </a:r>
          </a:p>
          <a:p>
            <a:r>
              <a:rPr lang="ru-RU" dirty="0"/>
              <a:t>Вызов повторно используемого действия - используется для отображения процесса, являющегося частью рассматриваемого процесса, но хранящегося в отдельном файле. Может использоваться в нескольких процессах.</a:t>
            </a:r>
          </a:p>
        </p:txBody>
      </p:sp>
      <p:sp>
        <p:nvSpPr>
          <p:cNvPr id="4" name="Номер слайда 3">
            <a:extLst>
              <a:ext uri="{FF2B5EF4-FFF2-40B4-BE49-F238E27FC236}">
                <a16:creationId xmlns:a16="http://schemas.microsoft.com/office/drawing/2014/main" id="{2B56D997-A2DE-6224-543E-FFE00F04C7F5}"/>
              </a:ext>
            </a:extLst>
          </p:cNvPr>
          <p:cNvSpPr>
            <a:spLocks noGrp="1"/>
          </p:cNvSpPr>
          <p:nvPr>
            <p:ph type="sldNum" sz="quarter" idx="12"/>
          </p:nvPr>
        </p:nvSpPr>
        <p:spPr/>
        <p:txBody>
          <a:bodyPr/>
          <a:lstStyle/>
          <a:p>
            <a:fld id="{25A42088-C730-408A-A823-60BED1AFCEA0}" type="slidenum">
              <a:rPr lang="ru-RU" smtClean="0"/>
              <a:t>21</a:t>
            </a:fld>
            <a:endParaRPr lang="ru-RU"/>
          </a:p>
        </p:txBody>
      </p:sp>
    </p:spTree>
    <p:extLst>
      <p:ext uri="{BB962C8B-B14F-4D97-AF65-F5344CB8AC3E}">
        <p14:creationId xmlns:p14="http://schemas.microsoft.com/office/powerpoint/2010/main" val="1491898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A166E0-F245-901D-662F-6C501FF69657}"/>
              </a:ext>
            </a:extLst>
          </p:cNvPr>
          <p:cNvSpPr>
            <a:spLocks noGrp="1"/>
          </p:cNvSpPr>
          <p:nvPr>
            <p:ph type="title"/>
          </p:nvPr>
        </p:nvSpPr>
        <p:spPr/>
        <p:txBody>
          <a:bodyPr/>
          <a:lstStyle/>
          <a:p>
            <a:endParaRPr lang="ru-RU"/>
          </a:p>
        </p:txBody>
      </p:sp>
      <p:sp>
        <p:nvSpPr>
          <p:cNvPr id="4" name="Номер слайда 3">
            <a:extLst>
              <a:ext uri="{FF2B5EF4-FFF2-40B4-BE49-F238E27FC236}">
                <a16:creationId xmlns:a16="http://schemas.microsoft.com/office/drawing/2014/main" id="{C98F337F-2F17-BA4B-4D07-7D4CCD72F896}"/>
              </a:ext>
            </a:extLst>
          </p:cNvPr>
          <p:cNvSpPr>
            <a:spLocks noGrp="1"/>
          </p:cNvSpPr>
          <p:nvPr>
            <p:ph type="sldNum" sz="quarter" idx="12"/>
          </p:nvPr>
        </p:nvSpPr>
        <p:spPr/>
        <p:txBody>
          <a:bodyPr/>
          <a:lstStyle/>
          <a:p>
            <a:fld id="{25A42088-C730-408A-A823-60BED1AFCEA0}" type="slidenum">
              <a:rPr lang="ru-RU" smtClean="0"/>
              <a:t>22</a:t>
            </a:fld>
            <a:endParaRPr lang="ru-RU"/>
          </a:p>
        </p:txBody>
      </p:sp>
      <p:pic>
        <p:nvPicPr>
          <p:cNvPr id="3074" name="Picture 2" descr="Виды действий в BPMN 2.0">
            <a:extLst>
              <a:ext uri="{FF2B5EF4-FFF2-40B4-BE49-F238E27FC236}">
                <a16:creationId xmlns:a16="http://schemas.microsoft.com/office/drawing/2014/main" id="{FB97A6A8-1753-9C14-3A3D-5A06D8AB96B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599" y="1675086"/>
            <a:ext cx="5948353" cy="3585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7111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85ECF4-13B2-8DC1-3EC7-34335244A759}"/>
              </a:ext>
            </a:extLst>
          </p:cNvPr>
          <p:cNvSpPr>
            <a:spLocks noGrp="1"/>
          </p:cNvSpPr>
          <p:nvPr>
            <p:ph type="title"/>
          </p:nvPr>
        </p:nvSpPr>
        <p:spPr/>
        <p:txBody>
          <a:bodyPr/>
          <a:lstStyle/>
          <a:p>
            <a:r>
              <a:rPr lang="ru-RU" dirty="0"/>
              <a:t>Элементы: Виды задач</a:t>
            </a:r>
          </a:p>
        </p:txBody>
      </p:sp>
      <p:sp>
        <p:nvSpPr>
          <p:cNvPr id="5" name="Объект 4">
            <a:extLst>
              <a:ext uri="{FF2B5EF4-FFF2-40B4-BE49-F238E27FC236}">
                <a16:creationId xmlns:a16="http://schemas.microsoft.com/office/drawing/2014/main" id="{8C894DB8-DB7E-3464-E9D1-C0150C0FB42E}"/>
              </a:ext>
            </a:extLst>
          </p:cNvPr>
          <p:cNvSpPr>
            <a:spLocks noGrp="1"/>
          </p:cNvSpPr>
          <p:nvPr>
            <p:ph sz="half" idx="1"/>
          </p:nvPr>
        </p:nvSpPr>
        <p:spPr>
          <a:xfrm>
            <a:off x="1479755" y="1674399"/>
            <a:ext cx="4616245" cy="4453170"/>
          </a:xfrm>
        </p:spPr>
        <p:txBody>
          <a:bodyPr>
            <a:normAutofit fontScale="85000" lnSpcReduction="10000"/>
          </a:bodyPr>
          <a:lstStyle/>
          <a:p>
            <a:r>
              <a:rPr lang="ru-RU" dirty="0"/>
              <a:t>Абстрактная задача – без подробностей</a:t>
            </a:r>
          </a:p>
          <a:p>
            <a:r>
              <a:rPr lang="ru-RU" dirty="0"/>
              <a:t>Пользовательская задача - используется для отображения задачи, которую выполняет человек.</a:t>
            </a:r>
          </a:p>
          <a:p>
            <a:r>
              <a:rPr lang="ru-RU" dirty="0"/>
              <a:t>Задача на выполнение сценария - используется для отображения шага процесса, по достижении которого автоматически выполняется скрипт.</a:t>
            </a:r>
          </a:p>
          <a:p>
            <a:r>
              <a:rPr lang="ru-RU" dirty="0"/>
              <a:t>Задача на вызов сервиса - используется для иллюстрации шага процесса, на котором вызывается веб-служба или скрипт С#.</a:t>
            </a:r>
          </a:p>
          <a:p>
            <a:r>
              <a:rPr lang="ru-RU" dirty="0"/>
              <a:t>Задача, выполняемая вручную - используется для отображения задачи, выполняемой человеком без использования автоматизированных систем или приложений.</a:t>
            </a:r>
          </a:p>
        </p:txBody>
      </p:sp>
      <p:sp>
        <p:nvSpPr>
          <p:cNvPr id="6" name="Объект 5">
            <a:extLst>
              <a:ext uri="{FF2B5EF4-FFF2-40B4-BE49-F238E27FC236}">
                <a16:creationId xmlns:a16="http://schemas.microsoft.com/office/drawing/2014/main" id="{927A7E22-390A-8EAA-FA55-1470A8E95BBF}"/>
              </a:ext>
            </a:extLst>
          </p:cNvPr>
          <p:cNvSpPr>
            <a:spLocks noGrp="1"/>
          </p:cNvSpPr>
          <p:nvPr>
            <p:ph sz="half" idx="2"/>
          </p:nvPr>
        </p:nvSpPr>
        <p:spPr>
          <a:xfrm>
            <a:off x="7656113" y="1764119"/>
            <a:ext cx="4447786" cy="4273731"/>
          </a:xfrm>
        </p:spPr>
        <p:txBody>
          <a:bodyPr>
            <a:normAutofit fontScale="85000" lnSpcReduction="10000"/>
          </a:bodyPr>
          <a:lstStyle/>
          <a:p>
            <a:r>
              <a:rPr lang="ru-RU" dirty="0"/>
              <a:t>Задача-отправка сообщения - используется для обозначения отправки сообщения участнику, имеющему отношение к процессу, находящемуся за пределами пула или данного процесса</a:t>
            </a:r>
          </a:p>
          <a:p>
            <a:r>
              <a:rPr lang="ru-RU" dirty="0"/>
              <a:t>Задача-получение сообщения - используется для обозначения получения сообщения от участника, имеющего отношение к процессу, находящемуся за пределами пула или данного процесса.</a:t>
            </a:r>
          </a:p>
          <a:p>
            <a:r>
              <a:rPr lang="ru-RU" dirty="0"/>
              <a:t>Задача-выполнение бизнес-правила - используется для запуска бизнес-правила с действиями, которые должны быть выполнены. </a:t>
            </a:r>
          </a:p>
        </p:txBody>
      </p:sp>
      <p:sp>
        <p:nvSpPr>
          <p:cNvPr id="4" name="Номер слайда 3">
            <a:extLst>
              <a:ext uri="{FF2B5EF4-FFF2-40B4-BE49-F238E27FC236}">
                <a16:creationId xmlns:a16="http://schemas.microsoft.com/office/drawing/2014/main" id="{3CA64DCC-87A5-FDB6-79CB-C8E7F2C6018C}"/>
              </a:ext>
            </a:extLst>
          </p:cNvPr>
          <p:cNvSpPr>
            <a:spLocks noGrp="1"/>
          </p:cNvSpPr>
          <p:nvPr>
            <p:ph type="sldNum" sz="quarter" idx="12"/>
          </p:nvPr>
        </p:nvSpPr>
        <p:spPr/>
        <p:txBody>
          <a:bodyPr/>
          <a:lstStyle/>
          <a:p>
            <a:fld id="{25A42088-C730-408A-A823-60BED1AFCEA0}" type="slidenum">
              <a:rPr lang="ru-RU" smtClean="0"/>
              <a:t>23</a:t>
            </a:fld>
            <a:endParaRPr lang="ru-RU"/>
          </a:p>
        </p:txBody>
      </p:sp>
      <p:pic>
        <p:nvPicPr>
          <p:cNvPr id="3076" name="Picture 4" descr="Абстрактная задача">
            <a:extLst>
              <a:ext uri="{FF2B5EF4-FFF2-40B4-BE49-F238E27FC236}">
                <a16:creationId xmlns:a16="http://schemas.microsoft.com/office/drawing/2014/main" id="{F6DAB3C6-8CEB-AF57-A249-FF486C639B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1330235"/>
            <a:ext cx="1181100" cy="733425"/>
          </a:xfrm>
          <a:prstGeom prst="rect">
            <a:avLst/>
          </a:prstGeom>
          <a:noFill/>
          <a:extLst>
            <a:ext uri="{909E8E84-426E-40DD-AFC4-6F175D3DCCD1}">
              <a14:hiddenFill xmlns:a14="http://schemas.microsoft.com/office/drawing/2010/main">
                <a:solidFill>
                  <a:srgbClr val="FFFFFF"/>
                </a:solidFill>
              </a14:hiddenFill>
            </a:ext>
          </a:extLst>
        </p:spPr>
      </p:pic>
      <p:pic>
        <p:nvPicPr>
          <p:cNvPr id="7" name="Рисунок 6">
            <a:extLst>
              <a:ext uri="{FF2B5EF4-FFF2-40B4-BE49-F238E27FC236}">
                <a16:creationId xmlns:a16="http://schemas.microsoft.com/office/drawing/2014/main" id="{ED5FBA82-FE27-F2EF-3CA3-6CFF7311C350}"/>
              </a:ext>
            </a:extLst>
          </p:cNvPr>
          <p:cNvPicPr>
            <a:picLocks noChangeAspect="1"/>
          </p:cNvPicPr>
          <p:nvPr/>
        </p:nvPicPr>
        <p:blipFill>
          <a:blip r:embed="rId3"/>
          <a:stretch>
            <a:fillRect/>
          </a:stretch>
        </p:blipFill>
        <p:spPr>
          <a:xfrm>
            <a:off x="180975" y="2068423"/>
            <a:ext cx="1190625" cy="723900"/>
          </a:xfrm>
          <a:prstGeom prst="rect">
            <a:avLst/>
          </a:prstGeom>
        </p:spPr>
      </p:pic>
      <p:pic>
        <p:nvPicPr>
          <p:cNvPr id="8" name="Рисунок 7">
            <a:extLst>
              <a:ext uri="{FF2B5EF4-FFF2-40B4-BE49-F238E27FC236}">
                <a16:creationId xmlns:a16="http://schemas.microsoft.com/office/drawing/2014/main" id="{AD1939F0-04CF-EF84-3648-3313D09E1EDC}"/>
              </a:ext>
            </a:extLst>
          </p:cNvPr>
          <p:cNvPicPr>
            <a:picLocks noChangeAspect="1"/>
          </p:cNvPicPr>
          <p:nvPr/>
        </p:nvPicPr>
        <p:blipFill>
          <a:blip r:embed="rId4"/>
          <a:stretch>
            <a:fillRect/>
          </a:stretch>
        </p:blipFill>
        <p:spPr>
          <a:xfrm>
            <a:off x="180973" y="2961532"/>
            <a:ext cx="1190625" cy="714375"/>
          </a:xfrm>
          <a:prstGeom prst="rect">
            <a:avLst/>
          </a:prstGeom>
        </p:spPr>
      </p:pic>
      <p:pic>
        <p:nvPicPr>
          <p:cNvPr id="9" name="Рисунок 8">
            <a:extLst>
              <a:ext uri="{FF2B5EF4-FFF2-40B4-BE49-F238E27FC236}">
                <a16:creationId xmlns:a16="http://schemas.microsoft.com/office/drawing/2014/main" id="{43E3D09C-45DE-95BA-4150-0C09A9AE97F0}"/>
              </a:ext>
            </a:extLst>
          </p:cNvPr>
          <p:cNvPicPr>
            <a:picLocks noChangeAspect="1"/>
          </p:cNvPicPr>
          <p:nvPr/>
        </p:nvPicPr>
        <p:blipFill>
          <a:blip r:embed="rId5"/>
          <a:stretch>
            <a:fillRect/>
          </a:stretch>
        </p:blipFill>
        <p:spPr>
          <a:xfrm>
            <a:off x="190500" y="3816943"/>
            <a:ext cx="1190625" cy="714375"/>
          </a:xfrm>
          <a:prstGeom prst="rect">
            <a:avLst/>
          </a:prstGeom>
        </p:spPr>
      </p:pic>
      <p:pic>
        <p:nvPicPr>
          <p:cNvPr id="10" name="Рисунок 9">
            <a:extLst>
              <a:ext uri="{FF2B5EF4-FFF2-40B4-BE49-F238E27FC236}">
                <a16:creationId xmlns:a16="http://schemas.microsoft.com/office/drawing/2014/main" id="{C46134B8-0E09-BB37-DFB0-B124BD724503}"/>
              </a:ext>
            </a:extLst>
          </p:cNvPr>
          <p:cNvPicPr>
            <a:picLocks noChangeAspect="1"/>
          </p:cNvPicPr>
          <p:nvPr/>
        </p:nvPicPr>
        <p:blipFill>
          <a:blip r:embed="rId6"/>
          <a:stretch>
            <a:fillRect/>
          </a:stretch>
        </p:blipFill>
        <p:spPr>
          <a:xfrm>
            <a:off x="180974" y="4813390"/>
            <a:ext cx="1190625" cy="714375"/>
          </a:xfrm>
          <a:prstGeom prst="rect">
            <a:avLst/>
          </a:prstGeom>
        </p:spPr>
      </p:pic>
      <p:pic>
        <p:nvPicPr>
          <p:cNvPr id="11" name="Рисунок 10">
            <a:extLst>
              <a:ext uri="{FF2B5EF4-FFF2-40B4-BE49-F238E27FC236}">
                <a16:creationId xmlns:a16="http://schemas.microsoft.com/office/drawing/2014/main" id="{806E05DF-5AAB-A808-C78A-954E68DD110A}"/>
              </a:ext>
            </a:extLst>
          </p:cNvPr>
          <p:cNvPicPr>
            <a:picLocks noChangeAspect="1"/>
          </p:cNvPicPr>
          <p:nvPr/>
        </p:nvPicPr>
        <p:blipFill>
          <a:blip r:embed="rId7"/>
          <a:stretch>
            <a:fillRect/>
          </a:stretch>
        </p:blipFill>
        <p:spPr>
          <a:xfrm>
            <a:off x="6465487" y="2026948"/>
            <a:ext cx="1190625" cy="714375"/>
          </a:xfrm>
          <a:prstGeom prst="rect">
            <a:avLst/>
          </a:prstGeom>
        </p:spPr>
      </p:pic>
      <p:pic>
        <p:nvPicPr>
          <p:cNvPr id="12" name="Рисунок 11">
            <a:extLst>
              <a:ext uri="{FF2B5EF4-FFF2-40B4-BE49-F238E27FC236}">
                <a16:creationId xmlns:a16="http://schemas.microsoft.com/office/drawing/2014/main" id="{F5D6A44D-2D29-B73A-D393-760FC90456D5}"/>
              </a:ext>
            </a:extLst>
          </p:cNvPr>
          <p:cNvPicPr>
            <a:picLocks noChangeAspect="1"/>
          </p:cNvPicPr>
          <p:nvPr/>
        </p:nvPicPr>
        <p:blipFill>
          <a:blip r:embed="rId8"/>
          <a:stretch>
            <a:fillRect/>
          </a:stretch>
        </p:blipFill>
        <p:spPr>
          <a:xfrm>
            <a:off x="6465487" y="3240633"/>
            <a:ext cx="1190625" cy="714375"/>
          </a:xfrm>
          <a:prstGeom prst="rect">
            <a:avLst/>
          </a:prstGeom>
        </p:spPr>
      </p:pic>
      <p:pic>
        <p:nvPicPr>
          <p:cNvPr id="13" name="Рисунок 12">
            <a:extLst>
              <a:ext uri="{FF2B5EF4-FFF2-40B4-BE49-F238E27FC236}">
                <a16:creationId xmlns:a16="http://schemas.microsoft.com/office/drawing/2014/main" id="{0313B6B8-9ABB-BE26-7F7E-2A1EEF6FDCE3}"/>
              </a:ext>
            </a:extLst>
          </p:cNvPr>
          <p:cNvPicPr>
            <a:picLocks noChangeAspect="1"/>
          </p:cNvPicPr>
          <p:nvPr/>
        </p:nvPicPr>
        <p:blipFill>
          <a:blip r:embed="rId9"/>
          <a:stretch>
            <a:fillRect/>
          </a:stretch>
        </p:blipFill>
        <p:spPr>
          <a:xfrm>
            <a:off x="6514649" y="4388892"/>
            <a:ext cx="1190625" cy="714375"/>
          </a:xfrm>
          <a:prstGeom prst="rect">
            <a:avLst/>
          </a:prstGeom>
        </p:spPr>
      </p:pic>
    </p:spTree>
    <p:extLst>
      <p:ext uri="{BB962C8B-B14F-4D97-AF65-F5344CB8AC3E}">
        <p14:creationId xmlns:p14="http://schemas.microsoft.com/office/powerpoint/2010/main" val="2032466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597CC3-C9AB-1F57-3873-BE5F2B4E0D44}"/>
              </a:ext>
            </a:extLst>
          </p:cNvPr>
          <p:cNvSpPr>
            <a:spLocks noGrp="1"/>
          </p:cNvSpPr>
          <p:nvPr>
            <p:ph type="title"/>
          </p:nvPr>
        </p:nvSpPr>
        <p:spPr/>
        <p:txBody>
          <a:bodyPr>
            <a:normAutofit/>
          </a:bodyPr>
          <a:lstStyle/>
          <a:p>
            <a:r>
              <a:rPr lang="ru-RU" dirty="0"/>
              <a:t>Элементы: Развилка/Шлюз</a:t>
            </a:r>
          </a:p>
        </p:txBody>
      </p:sp>
      <p:sp>
        <p:nvSpPr>
          <p:cNvPr id="6" name="Объект 5">
            <a:extLst>
              <a:ext uri="{FF2B5EF4-FFF2-40B4-BE49-F238E27FC236}">
                <a16:creationId xmlns:a16="http://schemas.microsoft.com/office/drawing/2014/main" id="{000AE6EA-6854-6479-C329-C9394FCCF76E}"/>
              </a:ext>
            </a:extLst>
          </p:cNvPr>
          <p:cNvSpPr>
            <a:spLocks noGrp="1"/>
          </p:cNvSpPr>
          <p:nvPr>
            <p:ph idx="1"/>
          </p:nvPr>
        </p:nvSpPr>
        <p:spPr>
          <a:xfrm>
            <a:off x="2517058" y="1506583"/>
            <a:ext cx="8455742" cy="4754879"/>
          </a:xfrm>
        </p:spPr>
        <p:txBody>
          <a:bodyPr/>
          <a:lstStyle/>
          <a:p>
            <a:r>
              <a:rPr lang="ru-RU" dirty="0"/>
              <a:t>Развилка «или» - используется для создания альтернативных потоков процесса или сходящихся потоков управления.</a:t>
            </a:r>
          </a:p>
          <a:p>
            <a:r>
              <a:rPr lang="ru-RU" dirty="0"/>
              <a:t>Развилка «и» - используется для создания параллельных путей без оценки какого бы то ни было условия или для сходящихся потоков и синхронизации параллельных веток выполнения процесса.</a:t>
            </a:r>
          </a:p>
          <a:p>
            <a:r>
              <a:rPr lang="ru-RU" dirty="0"/>
              <a:t>Развилка «и/или» - используется для создания потоков, где процесс может пойти (или сойтись) по одному потому либо по нескольким одновременно.</a:t>
            </a:r>
          </a:p>
        </p:txBody>
      </p:sp>
      <p:sp>
        <p:nvSpPr>
          <p:cNvPr id="5" name="Номер слайда 4">
            <a:extLst>
              <a:ext uri="{FF2B5EF4-FFF2-40B4-BE49-F238E27FC236}">
                <a16:creationId xmlns:a16="http://schemas.microsoft.com/office/drawing/2014/main" id="{D5B9F07B-D982-FB4D-6414-83B58FA8A713}"/>
              </a:ext>
            </a:extLst>
          </p:cNvPr>
          <p:cNvSpPr>
            <a:spLocks noGrp="1"/>
          </p:cNvSpPr>
          <p:nvPr>
            <p:ph type="sldNum" sz="quarter" idx="12"/>
          </p:nvPr>
        </p:nvSpPr>
        <p:spPr/>
        <p:txBody>
          <a:bodyPr/>
          <a:lstStyle/>
          <a:p>
            <a:fld id="{25A42088-C730-408A-A823-60BED1AFCEA0}" type="slidenum">
              <a:rPr lang="ru-RU" smtClean="0"/>
              <a:t>24</a:t>
            </a:fld>
            <a:endParaRPr lang="ru-RU"/>
          </a:p>
        </p:txBody>
      </p:sp>
      <p:pic>
        <p:nvPicPr>
          <p:cNvPr id="7" name="Рисунок 6">
            <a:extLst>
              <a:ext uri="{FF2B5EF4-FFF2-40B4-BE49-F238E27FC236}">
                <a16:creationId xmlns:a16="http://schemas.microsoft.com/office/drawing/2014/main" id="{2A07889E-02F4-1475-949B-E4EC88FA94BF}"/>
              </a:ext>
            </a:extLst>
          </p:cNvPr>
          <p:cNvPicPr>
            <a:picLocks noChangeAspect="1"/>
          </p:cNvPicPr>
          <p:nvPr/>
        </p:nvPicPr>
        <p:blipFill>
          <a:blip r:embed="rId2"/>
          <a:stretch>
            <a:fillRect/>
          </a:stretch>
        </p:blipFill>
        <p:spPr>
          <a:xfrm>
            <a:off x="1630004" y="1506583"/>
            <a:ext cx="641248" cy="641248"/>
          </a:xfrm>
          <a:prstGeom prst="rect">
            <a:avLst/>
          </a:prstGeom>
        </p:spPr>
      </p:pic>
      <p:pic>
        <p:nvPicPr>
          <p:cNvPr id="8" name="Рисунок 7">
            <a:extLst>
              <a:ext uri="{FF2B5EF4-FFF2-40B4-BE49-F238E27FC236}">
                <a16:creationId xmlns:a16="http://schemas.microsoft.com/office/drawing/2014/main" id="{07F3DB0D-AC20-EF86-57D2-4463DB58DA86}"/>
              </a:ext>
            </a:extLst>
          </p:cNvPr>
          <p:cNvPicPr>
            <a:picLocks noChangeAspect="1"/>
          </p:cNvPicPr>
          <p:nvPr/>
        </p:nvPicPr>
        <p:blipFill>
          <a:blip r:embed="rId3"/>
          <a:stretch>
            <a:fillRect/>
          </a:stretch>
        </p:blipFill>
        <p:spPr>
          <a:xfrm>
            <a:off x="1630004" y="2324179"/>
            <a:ext cx="641247" cy="641247"/>
          </a:xfrm>
          <a:prstGeom prst="rect">
            <a:avLst/>
          </a:prstGeom>
        </p:spPr>
      </p:pic>
      <p:pic>
        <p:nvPicPr>
          <p:cNvPr id="9" name="Рисунок 8">
            <a:extLst>
              <a:ext uri="{FF2B5EF4-FFF2-40B4-BE49-F238E27FC236}">
                <a16:creationId xmlns:a16="http://schemas.microsoft.com/office/drawing/2014/main" id="{B56436F1-93CD-0097-0886-F22A514E1880}"/>
              </a:ext>
            </a:extLst>
          </p:cNvPr>
          <p:cNvPicPr>
            <a:picLocks noChangeAspect="1"/>
          </p:cNvPicPr>
          <p:nvPr/>
        </p:nvPicPr>
        <p:blipFill>
          <a:blip r:embed="rId4"/>
          <a:stretch>
            <a:fillRect/>
          </a:stretch>
        </p:blipFill>
        <p:spPr>
          <a:xfrm>
            <a:off x="1606380" y="3338359"/>
            <a:ext cx="664872" cy="664872"/>
          </a:xfrm>
          <a:prstGeom prst="rect">
            <a:avLst/>
          </a:prstGeom>
        </p:spPr>
      </p:pic>
    </p:spTree>
    <p:extLst>
      <p:ext uri="{BB962C8B-B14F-4D97-AF65-F5344CB8AC3E}">
        <p14:creationId xmlns:p14="http://schemas.microsoft.com/office/powerpoint/2010/main" val="1345724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D2BDA7-41EC-9855-A082-DCD82C30324C}"/>
              </a:ext>
            </a:extLst>
          </p:cNvPr>
          <p:cNvSpPr>
            <a:spLocks noGrp="1"/>
          </p:cNvSpPr>
          <p:nvPr>
            <p:ph type="title"/>
          </p:nvPr>
        </p:nvSpPr>
        <p:spPr/>
        <p:txBody>
          <a:bodyPr/>
          <a:lstStyle/>
          <a:p>
            <a:r>
              <a:rPr lang="ru-RU" dirty="0"/>
              <a:t>Элементы: Потоки</a:t>
            </a:r>
          </a:p>
        </p:txBody>
      </p:sp>
      <p:sp>
        <p:nvSpPr>
          <p:cNvPr id="3" name="Объект 2">
            <a:extLst>
              <a:ext uri="{FF2B5EF4-FFF2-40B4-BE49-F238E27FC236}">
                <a16:creationId xmlns:a16="http://schemas.microsoft.com/office/drawing/2014/main" id="{0746A64F-2A22-0ED6-73F9-59DC2BDB1048}"/>
              </a:ext>
            </a:extLst>
          </p:cNvPr>
          <p:cNvSpPr>
            <a:spLocks noGrp="1"/>
          </p:cNvSpPr>
          <p:nvPr>
            <p:ph idx="1"/>
          </p:nvPr>
        </p:nvSpPr>
        <p:spPr>
          <a:xfrm>
            <a:off x="2295832" y="1475013"/>
            <a:ext cx="9601200" cy="4754879"/>
          </a:xfrm>
        </p:spPr>
        <p:txBody>
          <a:bodyPr>
            <a:normAutofit fontScale="92500" lnSpcReduction="10000"/>
          </a:bodyPr>
          <a:lstStyle/>
          <a:p>
            <a:r>
              <a:rPr lang="ru-RU" dirty="0"/>
              <a:t>Поток управления - на стандартный поток управления не воздействуют условия и он не проходит через шлюзы, т.е. является неконтролируемым.</a:t>
            </a:r>
          </a:p>
          <a:p>
            <a:r>
              <a:rPr lang="ru-RU" dirty="0"/>
              <a:t>Условный поток управления - используется для того, чтобы показать, что дальнейшее выполнение процесса будет происходить по определённому потоку только в том случае, если выполнятся заданное условие. Ромбик у основания стрелки добавляется, если условный поток управления является исходящим от действия.</a:t>
            </a:r>
          </a:p>
          <a:p>
            <a:r>
              <a:rPr lang="ru-RU" dirty="0"/>
              <a:t>Поток управления по умолчанию - используется тогда, когда необходимо показать, что дальнейшее выполнение процесса будет происходить по определённому потоку только если не выполняется ни одно из заданных условий.</a:t>
            </a:r>
          </a:p>
          <a:p>
            <a:r>
              <a:rPr lang="ru-RU" dirty="0"/>
              <a:t>Поток сообщений - используется для отображения </a:t>
            </a:r>
            <a:r>
              <a:rPr lang="ru-RU" dirty="0" err="1"/>
              <a:t>межпроцессного</a:t>
            </a:r>
            <a:r>
              <a:rPr lang="ru-RU" dirty="0"/>
              <a:t> взаимодействия – отображает передачу сообщений или объектов из одного процесса в другой процесс или внешнюю ссылку.</a:t>
            </a:r>
          </a:p>
          <a:p>
            <a:r>
              <a:rPr lang="ru-RU" dirty="0" err="1"/>
              <a:t>Ассоциациативный</a:t>
            </a:r>
            <a:r>
              <a:rPr lang="ru-RU" dirty="0"/>
              <a:t> поток – применяется для визуализации связи между элементами потока и объектами, не являющимися элементами потока (артефактами).</a:t>
            </a:r>
          </a:p>
        </p:txBody>
      </p:sp>
      <p:sp>
        <p:nvSpPr>
          <p:cNvPr id="4" name="Номер слайда 3">
            <a:extLst>
              <a:ext uri="{FF2B5EF4-FFF2-40B4-BE49-F238E27FC236}">
                <a16:creationId xmlns:a16="http://schemas.microsoft.com/office/drawing/2014/main" id="{567B6477-F42D-3B1E-B885-9D8EADF74930}"/>
              </a:ext>
            </a:extLst>
          </p:cNvPr>
          <p:cNvSpPr>
            <a:spLocks noGrp="1"/>
          </p:cNvSpPr>
          <p:nvPr>
            <p:ph type="sldNum" sz="quarter" idx="12"/>
          </p:nvPr>
        </p:nvSpPr>
        <p:spPr/>
        <p:txBody>
          <a:bodyPr/>
          <a:lstStyle/>
          <a:p>
            <a:fld id="{25A42088-C730-408A-A823-60BED1AFCEA0}" type="slidenum">
              <a:rPr lang="ru-RU" smtClean="0"/>
              <a:t>25</a:t>
            </a:fld>
            <a:endParaRPr lang="ru-RU"/>
          </a:p>
        </p:txBody>
      </p:sp>
      <p:pic>
        <p:nvPicPr>
          <p:cNvPr id="5" name="Рисунок 4">
            <a:extLst>
              <a:ext uri="{FF2B5EF4-FFF2-40B4-BE49-F238E27FC236}">
                <a16:creationId xmlns:a16="http://schemas.microsoft.com/office/drawing/2014/main" id="{91C01F2B-1679-E0CC-1689-F15EEC02EAA5}"/>
              </a:ext>
            </a:extLst>
          </p:cNvPr>
          <p:cNvPicPr>
            <a:picLocks noChangeAspect="1"/>
          </p:cNvPicPr>
          <p:nvPr/>
        </p:nvPicPr>
        <p:blipFill>
          <a:blip r:embed="rId2"/>
          <a:stretch>
            <a:fillRect/>
          </a:stretch>
        </p:blipFill>
        <p:spPr>
          <a:xfrm>
            <a:off x="762307" y="1168348"/>
            <a:ext cx="1533525" cy="962025"/>
          </a:xfrm>
          <a:prstGeom prst="rect">
            <a:avLst/>
          </a:prstGeom>
        </p:spPr>
      </p:pic>
      <p:pic>
        <p:nvPicPr>
          <p:cNvPr id="6" name="Рисунок 5">
            <a:extLst>
              <a:ext uri="{FF2B5EF4-FFF2-40B4-BE49-F238E27FC236}">
                <a16:creationId xmlns:a16="http://schemas.microsoft.com/office/drawing/2014/main" id="{23A63758-5DBB-945B-67B9-987F14746B97}"/>
              </a:ext>
            </a:extLst>
          </p:cNvPr>
          <p:cNvPicPr>
            <a:picLocks noChangeAspect="1"/>
          </p:cNvPicPr>
          <p:nvPr/>
        </p:nvPicPr>
        <p:blipFill>
          <a:blip r:embed="rId3"/>
          <a:stretch>
            <a:fillRect/>
          </a:stretch>
        </p:blipFill>
        <p:spPr>
          <a:xfrm>
            <a:off x="247957" y="2275151"/>
            <a:ext cx="2047875" cy="952500"/>
          </a:xfrm>
          <a:prstGeom prst="rect">
            <a:avLst/>
          </a:prstGeom>
        </p:spPr>
      </p:pic>
      <p:pic>
        <p:nvPicPr>
          <p:cNvPr id="7" name="Рисунок 6">
            <a:extLst>
              <a:ext uri="{FF2B5EF4-FFF2-40B4-BE49-F238E27FC236}">
                <a16:creationId xmlns:a16="http://schemas.microsoft.com/office/drawing/2014/main" id="{E5128FE5-5139-1ACB-D6D7-771FAFD3E9AA}"/>
              </a:ext>
            </a:extLst>
          </p:cNvPr>
          <p:cNvPicPr>
            <a:picLocks noChangeAspect="1"/>
          </p:cNvPicPr>
          <p:nvPr/>
        </p:nvPicPr>
        <p:blipFill>
          <a:blip r:embed="rId4"/>
          <a:stretch>
            <a:fillRect/>
          </a:stretch>
        </p:blipFill>
        <p:spPr>
          <a:xfrm>
            <a:off x="771832" y="3363737"/>
            <a:ext cx="1524000" cy="952500"/>
          </a:xfrm>
          <a:prstGeom prst="rect">
            <a:avLst/>
          </a:prstGeom>
        </p:spPr>
      </p:pic>
      <p:pic>
        <p:nvPicPr>
          <p:cNvPr id="8" name="Рисунок 7">
            <a:extLst>
              <a:ext uri="{FF2B5EF4-FFF2-40B4-BE49-F238E27FC236}">
                <a16:creationId xmlns:a16="http://schemas.microsoft.com/office/drawing/2014/main" id="{83B76FBE-C364-9F54-4922-B1E608D8E51D}"/>
              </a:ext>
            </a:extLst>
          </p:cNvPr>
          <p:cNvPicPr>
            <a:picLocks noChangeAspect="1"/>
          </p:cNvPicPr>
          <p:nvPr/>
        </p:nvPicPr>
        <p:blipFill>
          <a:blip r:embed="rId5"/>
          <a:stretch>
            <a:fillRect/>
          </a:stretch>
        </p:blipFill>
        <p:spPr>
          <a:xfrm>
            <a:off x="762307" y="4316237"/>
            <a:ext cx="1533525" cy="962025"/>
          </a:xfrm>
          <a:prstGeom prst="rect">
            <a:avLst/>
          </a:prstGeom>
        </p:spPr>
      </p:pic>
      <p:pic>
        <p:nvPicPr>
          <p:cNvPr id="9" name="Рисунок 8">
            <a:extLst>
              <a:ext uri="{FF2B5EF4-FFF2-40B4-BE49-F238E27FC236}">
                <a16:creationId xmlns:a16="http://schemas.microsoft.com/office/drawing/2014/main" id="{60555439-D5E9-BC81-CCCB-B29A649D15C3}"/>
              </a:ext>
            </a:extLst>
          </p:cNvPr>
          <p:cNvPicPr>
            <a:picLocks noChangeAspect="1"/>
          </p:cNvPicPr>
          <p:nvPr/>
        </p:nvPicPr>
        <p:blipFill>
          <a:blip r:embed="rId6"/>
          <a:stretch>
            <a:fillRect/>
          </a:stretch>
        </p:blipFill>
        <p:spPr>
          <a:xfrm>
            <a:off x="771832" y="5213402"/>
            <a:ext cx="1524000" cy="952500"/>
          </a:xfrm>
          <a:prstGeom prst="rect">
            <a:avLst/>
          </a:prstGeom>
        </p:spPr>
      </p:pic>
    </p:spTree>
    <p:extLst>
      <p:ext uri="{BB962C8B-B14F-4D97-AF65-F5344CB8AC3E}">
        <p14:creationId xmlns:p14="http://schemas.microsoft.com/office/powerpoint/2010/main" val="4076768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E8BBC7-2FAA-EDE6-E6DC-292CA265D731}"/>
              </a:ext>
            </a:extLst>
          </p:cNvPr>
          <p:cNvSpPr>
            <a:spLocks noGrp="1"/>
          </p:cNvSpPr>
          <p:nvPr>
            <p:ph type="title"/>
          </p:nvPr>
        </p:nvSpPr>
        <p:spPr/>
        <p:txBody>
          <a:bodyPr/>
          <a:lstStyle/>
          <a:p>
            <a:r>
              <a:rPr lang="ru-RU" dirty="0"/>
              <a:t>Элементы: Артефакты</a:t>
            </a:r>
          </a:p>
        </p:txBody>
      </p:sp>
      <p:sp>
        <p:nvSpPr>
          <p:cNvPr id="3" name="Объект 2">
            <a:extLst>
              <a:ext uri="{FF2B5EF4-FFF2-40B4-BE49-F238E27FC236}">
                <a16:creationId xmlns:a16="http://schemas.microsoft.com/office/drawing/2014/main" id="{858FC39C-BEF5-015B-25CF-C764A9A51C45}"/>
              </a:ext>
            </a:extLst>
          </p:cNvPr>
          <p:cNvSpPr>
            <a:spLocks noGrp="1"/>
          </p:cNvSpPr>
          <p:nvPr>
            <p:ph idx="1"/>
          </p:nvPr>
        </p:nvSpPr>
        <p:spPr>
          <a:xfrm>
            <a:off x="2106073" y="1719374"/>
            <a:ext cx="8132254" cy="5169520"/>
          </a:xfrm>
        </p:spPr>
        <p:txBody>
          <a:bodyPr>
            <a:normAutofit lnSpcReduction="10000"/>
          </a:bodyPr>
          <a:lstStyle/>
          <a:p>
            <a:r>
              <a:rPr lang="ru-RU" dirty="0"/>
              <a:t>Группа объектов - используется для группировки графических элементов, принадлежащих одной и той же категории и позволяет повысить простоту восприятия диаграммы.</a:t>
            </a:r>
          </a:p>
          <a:p>
            <a:endParaRPr lang="ru-RU" dirty="0"/>
          </a:p>
          <a:p>
            <a:r>
              <a:rPr lang="ru-RU" dirty="0"/>
              <a:t>Комментарий - применяется для уточнений к диаграмме – комментариев и пояснений, которые увеличат читабельность диаграммы.</a:t>
            </a:r>
          </a:p>
          <a:p>
            <a:endParaRPr lang="ru-RU" dirty="0"/>
          </a:p>
          <a:p>
            <a:r>
              <a:rPr lang="ru-RU" dirty="0"/>
              <a:t>Объект данных - используется для отображения собственных данных экземпляра процесса. Исчезает, когда процесс заканчивается.</a:t>
            </a:r>
          </a:p>
          <a:p>
            <a:endParaRPr lang="ru-RU" dirty="0"/>
          </a:p>
          <a:p>
            <a:r>
              <a:rPr lang="ru-RU" dirty="0"/>
              <a:t>Хранилище данных - используется для отображения информации о данных, которые обрабатываются в ходе процесса. Существует независимо от выполнения процессов. </a:t>
            </a:r>
          </a:p>
        </p:txBody>
      </p:sp>
      <p:sp>
        <p:nvSpPr>
          <p:cNvPr id="4" name="Номер слайда 3">
            <a:extLst>
              <a:ext uri="{FF2B5EF4-FFF2-40B4-BE49-F238E27FC236}">
                <a16:creationId xmlns:a16="http://schemas.microsoft.com/office/drawing/2014/main" id="{FF843B96-0150-9FA8-5396-C595AA57E59B}"/>
              </a:ext>
            </a:extLst>
          </p:cNvPr>
          <p:cNvSpPr>
            <a:spLocks noGrp="1"/>
          </p:cNvSpPr>
          <p:nvPr>
            <p:ph type="sldNum" sz="quarter" idx="12"/>
          </p:nvPr>
        </p:nvSpPr>
        <p:spPr/>
        <p:txBody>
          <a:bodyPr/>
          <a:lstStyle/>
          <a:p>
            <a:fld id="{25A42088-C730-408A-A823-60BED1AFCEA0}" type="slidenum">
              <a:rPr lang="ru-RU" smtClean="0"/>
              <a:t>26</a:t>
            </a:fld>
            <a:endParaRPr lang="ru-RU"/>
          </a:p>
        </p:txBody>
      </p:sp>
      <p:pic>
        <p:nvPicPr>
          <p:cNvPr id="5" name="Рисунок 4">
            <a:extLst>
              <a:ext uri="{FF2B5EF4-FFF2-40B4-BE49-F238E27FC236}">
                <a16:creationId xmlns:a16="http://schemas.microsoft.com/office/drawing/2014/main" id="{40B05242-0977-5A3A-6F7E-2674D435B35A}"/>
              </a:ext>
            </a:extLst>
          </p:cNvPr>
          <p:cNvPicPr>
            <a:picLocks noChangeAspect="1"/>
          </p:cNvPicPr>
          <p:nvPr/>
        </p:nvPicPr>
        <p:blipFill>
          <a:blip r:embed="rId2"/>
          <a:stretch>
            <a:fillRect/>
          </a:stretch>
        </p:blipFill>
        <p:spPr>
          <a:xfrm>
            <a:off x="526794" y="1271346"/>
            <a:ext cx="1596091" cy="1700638"/>
          </a:xfrm>
          <a:prstGeom prst="rect">
            <a:avLst/>
          </a:prstGeom>
        </p:spPr>
      </p:pic>
      <p:pic>
        <p:nvPicPr>
          <p:cNvPr id="6" name="Рисунок 5">
            <a:extLst>
              <a:ext uri="{FF2B5EF4-FFF2-40B4-BE49-F238E27FC236}">
                <a16:creationId xmlns:a16="http://schemas.microsoft.com/office/drawing/2014/main" id="{E843CB25-9C58-F15E-CDF4-D06C314784B0}"/>
              </a:ext>
            </a:extLst>
          </p:cNvPr>
          <p:cNvPicPr>
            <a:picLocks noChangeAspect="1"/>
          </p:cNvPicPr>
          <p:nvPr/>
        </p:nvPicPr>
        <p:blipFill>
          <a:blip r:embed="rId3"/>
          <a:stretch>
            <a:fillRect/>
          </a:stretch>
        </p:blipFill>
        <p:spPr>
          <a:xfrm>
            <a:off x="526795" y="2971983"/>
            <a:ext cx="1574740" cy="1521359"/>
          </a:xfrm>
          <a:prstGeom prst="rect">
            <a:avLst/>
          </a:prstGeom>
        </p:spPr>
      </p:pic>
      <p:pic>
        <p:nvPicPr>
          <p:cNvPr id="7" name="Рисунок 6">
            <a:extLst>
              <a:ext uri="{FF2B5EF4-FFF2-40B4-BE49-F238E27FC236}">
                <a16:creationId xmlns:a16="http://schemas.microsoft.com/office/drawing/2014/main" id="{7070B3BB-B2F2-775E-A8A2-D10EDCAAD278}"/>
              </a:ext>
            </a:extLst>
          </p:cNvPr>
          <p:cNvPicPr>
            <a:picLocks noChangeAspect="1"/>
          </p:cNvPicPr>
          <p:nvPr/>
        </p:nvPicPr>
        <p:blipFill>
          <a:blip r:embed="rId4"/>
          <a:stretch>
            <a:fillRect/>
          </a:stretch>
        </p:blipFill>
        <p:spPr>
          <a:xfrm>
            <a:off x="1101410" y="4491577"/>
            <a:ext cx="1000125" cy="1200150"/>
          </a:xfrm>
          <a:prstGeom prst="rect">
            <a:avLst/>
          </a:prstGeom>
        </p:spPr>
      </p:pic>
      <p:pic>
        <p:nvPicPr>
          <p:cNvPr id="8" name="Рисунок 7">
            <a:extLst>
              <a:ext uri="{FF2B5EF4-FFF2-40B4-BE49-F238E27FC236}">
                <a16:creationId xmlns:a16="http://schemas.microsoft.com/office/drawing/2014/main" id="{423EF00E-0FF9-ADB3-6A1C-3D442D0AFFE4}"/>
              </a:ext>
            </a:extLst>
          </p:cNvPr>
          <p:cNvPicPr>
            <a:picLocks noChangeAspect="1"/>
          </p:cNvPicPr>
          <p:nvPr/>
        </p:nvPicPr>
        <p:blipFill>
          <a:blip r:embed="rId5"/>
          <a:stretch>
            <a:fillRect/>
          </a:stretch>
        </p:blipFill>
        <p:spPr>
          <a:xfrm>
            <a:off x="748985" y="5636284"/>
            <a:ext cx="1352550" cy="1143000"/>
          </a:xfrm>
          <a:prstGeom prst="rect">
            <a:avLst/>
          </a:prstGeom>
        </p:spPr>
      </p:pic>
    </p:spTree>
    <p:extLst>
      <p:ext uri="{BB962C8B-B14F-4D97-AF65-F5344CB8AC3E}">
        <p14:creationId xmlns:p14="http://schemas.microsoft.com/office/powerpoint/2010/main" val="21097264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A86CF7-AC11-4271-D8D5-D125D7094864}"/>
              </a:ext>
            </a:extLst>
          </p:cNvPr>
          <p:cNvSpPr>
            <a:spLocks noGrp="1"/>
          </p:cNvSpPr>
          <p:nvPr>
            <p:ph type="title"/>
          </p:nvPr>
        </p:nvSpPr>
        <p:spPr/>
        <p:txBody>
          <a:bodyPr>
            <a:normAutofit fontScale="90000"/>
          </a:bodyPr>
          <a:lstStyle/>
          <a:p>
            <a:r>
              <a:rPr lang="ru-RU" dirty="0"/>
              <a:t>Рекомендации по построению диаграммы бизнес-процесса в нотации BPMN</a:t>
            </a:r>
          </a:p>
        </p:txBody>
      </p:sp>
      <p:sp>
        <p:nvSpPr>
          <p:cNvPr id="3" name="Объект 2">
            <a:extLst>
              <a:ext uri="{FF2B5EF4-FFF2-40B4-BE49-F238E27FC236}">
                <a16:creationId xmlns:a16="http://schemas.microsoft.com/office/drawing/2014/main" id="{48451920-0A75-7B18-2C18-37D1BB117667}"/>
              </a:ext>
            </a:extLst>
          </p:cNvPr>
          <p:cNvSpPr>
            <a:spLocks noGrp="1"/>
          </p:cNvSpPr>
          <p:nvPr>
            <p:ph idx="1"/>
          </p:nvPr>
        </p:nvSpPr>
        <p:spPr>
          <a:xfrm>
            <a:off x="1371600" y="1506583"/>
            <a:ext cx="9601200" cy="5272701"/>
          </a:xfrm>
        </p:spPr>
        <p:txBody>
          <a:bodyPr>
            <a:normAutofit fontScale="92500" lnSpcReduction="20000"/>
          </a:bodyPr>
          <a:lstStyle/>
          <a:p>
            <a:pPr marL="342900" indent="-342900">
              <a:buFont typeface="Wingdings" panose="05000000000000000000" pitchFamily="2" charset="2"/>
              <a:buChar char="v"/>
            </a:pPr>
            <a:r>
              <a:rPr lang="ru-RU" dirty="0"/>
              <a:t>Определите границы процесса: чем он начинается и чем заканчивается, существуют ли различные варианты его завершения.</a:t>
            </a:r>
          </a:p>
          <a:p>
            <a:pPr marL="342900" indent="-342900">
              <a:buFont typeface="Wingdings" panose="05000000000000000000" pitchFamily="2" charset="2"/>
              <a:buChar char="v"/>
            </a:pPr>
            <a:r>
              <a:rPr lang="ru-RU" dirty="0"/>
              <a:t>Составьте </a:t>
            </a:r>
            <a:r>
              <a:rPr lang="ru-RU" dirty="0" err="1"/>
              <a:t>верхнеуровневую</a:t>
            </a:r>
            <a:r>
              <a:rPr lang="ru-RU" dirty="0"/>
              <a:t> карту процесса с указанием основных действий-этапов процесса, которые в дальнейшем будут наполняться детальной информацией. У всех действий необходимо определить начало и конец. Часто начало одного действия инициируется завершением предыдущего. Количество действий рекомендуется ограничить десятью.</a:t>
            </a:r>
          </a:p>
          <a:p>
            <a:pPr marL="342900" indent="-342900">
              <a:buFont typeface="Wingdings" panose="05000000000000000000" pitchFamily="2" charset="2"/>
              <a:buChar char="v"/>
            </a:pPr>
            <a:r>
              <a:rPr lang="ru-RU" dirty="0"/>
              <a:t>Когда определена </a:t>
            </a:r>
            <a:r>
              <a:rPr lang="ru-RU" dirty="0" err="1"/>
              <a:t>верхнеуровневая</a:t>
            </a:r>
            <a:r>
              <a:rPr lang="ru-RU" dirty="0"/>
              <a:t> карта процесса, ее можно превратить в диаграмму верхнего уровня. Каждое действие становится подпроцессом, который можно развернуть на своей диаграмме.</a:t>
            </a:r>
          </a:p>
          <a:p>
            <a:pPr marL="342900" indent="-342900">
              <a:buFont typeface="Wingdings" panose="05000000000000000000" pitchFamily="2" charset="2"/>
              <a:buChar char="v"/>
            </a:pPr>
            <a:r>
              <a:rPr lang="ru-RU" dirty="0"/>
              <a:t>Постройте сначала магистральный пусть процесса, затем добавьте пути, отклоняющиеся от магистрального. Изобразите все возможные конечные состояния процесса конечными событиями. Для изображения условных или параллельных маршрутов используйте развилки.</a:t>
            </a:r>
          </a:p>
          <a:p>
            <a:pPr marL="342900" indent="-342900">
              <a:buFont typeface="Wingdings" panose="05000000000000000000" pitchFamily="2" charset="2"/>
              <a:buChar char="v"/>
            </a:pPr>
            <a:r>
              <a:rPr lang="ru-RU" dirty="0"/>
              <a:t>Каждый подпроцесс верхнего уровня покажите в развернутом виде на дочернем уровне. Для каждого конечного состояния нужно создать отдельное конечное событие.</a:t>
            </a:r>
          </a:p>
          <a:p>
            <a:pPr marL="342900" indent="-342900">
              <a:buFont typeface="Wingdings" panose="05000000000000000000" pitchFamily="2" charset="2"/>
              <a:buChar char="v"/>
            </a:pPr>
            <a:r>
              <a:rPr lang="ru-RU" dirty="0"/>
              <a:t>Добавьте потоки сообщений с внешними участниками. Потоки сообщений родительской диаграммы должны дублироваться на дочерней.</a:t>
            </a:r>
          </a:p>
        </p:txBody>
      </p:sp>
      <p:sp>
        <p:nvSpPr>
          <p:cNvPr id="4" name="Номер слайда 3">
            <a:extLst>
              <a:ext uri="{FF2B5EF4-FFF2-40B4-BE49-F238E27FC236}">
                <a16:creationId xmlns:a16="http://schemas.microsoft.com/office/drawing/2014/main" id="{5DF426D3-EDC8-856A-5DA5-920D397EFB58}"/>
              </a:ext>
            </a:extLst>
          </p:cNvPr>
          <p:cNvSpPr>
            <a:spLocks noGrp="1"/>
          </p:cNvSpPr>
          <p:nvPr>
            <p:ph type="sldNum" sz="quarter" idx="12"/>
          </p:nvPr>
        </p:nvSpPr>
        <p:spPr/>
        <p:txBody>
          <a:bodyPr/>
          <a:lstStyle/>
          <a:p>
            <a:fld id="{25A42088-C730-408A-A823-60BED1AFCEA0}" type="slidenum">
              <a:rPr lang="ru-RU" smtClean="0"/>
              <a:t>27</a:t>
            </a:fld>
            <a:endParaRPr lang="ru-RU"/>
          </a:p>
        </p:txBody>
      </p:sp>
    </p:spTree>
    <p:extLst>
      <p:ext uri="{BB962C8B-B14F-4D97-AF65-F5344CB8AC3E}">
        <p14:creationId xmlns:p14="http://schemas.microsoft.com/office/powerpoint/2010/main" val="2618546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28A394-2639-D7FD-C6FE-8C6B5ADD7852}"/>
              </a:ext>
            </a:extLst>
          </p:cNvPr>
          <p:cNvSpPr>
            <a:spLocks noGrp="1"/>
          </p:cNvSpPr>
          <p:nvPr>
            <p:ph type="title"/>
          </p:nvPr>
        </p:nvSpPr>
        <p:spPr/>
        <p:txBody>
          <a:bodyPr/>
          <a:lstStyle/>
          <a:p>
            <a:r>
              <a:rPr lang="ru-RU" dirty="0"/>
              <a:t>Пример 1</a:t>
            </a:r>
          </a:p>
        </p:txBody>
      </p:sp>
      <p:sp>
        <p:nvSpPr>
          <p:cNvPr id="4" name="Номер слайда 3">
            <a:extLst>
              <a:ext uri="{FF2B5EF4-FFF2-40B4-BE49-F238E27FC236}">
                <a16:creationId xmlns:a16="http://schemas.microsoft.com/office/drawing/2014/main" id="{D04E2331-9467-374E-76DB-BD9E98437993}"/>
              </a:ext>
            </a:extLst>
          </p:cNvPr>
          <p:cNvSpPr>
            <a:spLocks noGrp="1"/>
          </p:cNvSpPr>
          <p:nvPr>
            <p:ph type="sldNum" sz="quarter" idx="12"/>
          </p:nvPr>
        </p:nvSpPr>
        <p:spPr/>
        <p:txBody>
          <a:bodyPr/>
          <a:lstStyle/>
          <a:p>
            <a:fld id="{25A42088-C730-408A-A823-60BED1AFCEA0}" type="slidenum">
              <a:rPr lang="ru-RU" smtClean="0"/>
              <a:t>28</a:t>
            </a:fld>
            <a:endParaRPr lang="ru-RU"/>
          </a:p>
        </p:txBody>
      </p:sp>
      <p:pic>
        <p:nvPicPr>
          <p:cNvPr id="6146" name="Picture 2" descr="BPMN 2.0 – легкое понимание бизнес процессов | SILA Union">
            <a:extLst>
              <a:ext uri="{FF2B5EF4-FFF2-40B4-BE49-F238E27FC236}">
                <a16:creationId xmlns:a16="http://schemas.microsoft.com/office/drawing/2014/main" id="{510D2A5A-417D-633F-DCBF-66C7675DB40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1451590"/>
            <a:ext cx="8186338" cy="4809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3268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DC1EE3-036E-08D3-279C-F6B4E1A2929C}"/>
              </a:ext>
            </a:extLst>
          </p:cNvPr>
          <p:cNvSpPr>
            <a:spLocks noGrp="1"/>
          </p:cNvSpPr>
          <p:nvPr>
            <p:ph type="title"/>
          </p:nvPr>
        </p:nvSpPr>
        <p:spPr/>
        <p:txBody>
          <a:bodyPr/>
          <a:lstStyle/>
          <a:p>
            <a:r>
              <a:rPr lang="ru-RU" dirty="0"/>
              <a:t>Пример 2</a:t>
            </a:r>
          </a:p>
        </p:txBody>
      </p:sp>
      <p:sp>
        <p:nvSpPr>
          <p:cNvPr id="4" name="Номер слайда 3">
            <a:extLst>
              <a:ext uri="{FF2B5EF4-FFF2-40B4-BE49-F238E27FC236}">
                <a16:creationId xmlns:a16="http://schemas.microsoft.com/office/drawing/2014/main" id="{DDC1F1F2-CEC2-86EB-179B-75A031BF348D}"/>
              </a:ext>
            </a:extLst>
          </p:cNvPr>
          <p:cNvSpPr>
            <a:spLocks noGrp="1"/>
          </p:cNvSpPr>
          <p:nvPr>
            <p:ph type="sldNum" sz="quarter" idx="12"/>
          </p:nvPr>
        </p:nvSpPr>
        <p:spPr/>
        <p:txBody>
          <a:bodyPr/>
          <a:lstStyle/>
          <a:p>
            <a:fld id="{25A42088-C730-408A-A823-60BED1AFCEA0}" type="slidenum">
              <a:rPr lang="ru-RU" smtClean="0"/>
              <a:t>29</a:t>
            </a:fld>
            <a:endParaRPr lang="ru-RU"/>
          </a:p>
        </p:txBody>
      </p:sp>
      <p:pic>
        <p:nvPicPr>
          <p:cNvPr id="7170" name="Picture 2" descr="Применение для сигнала BPMN - Главное не результат, главное процесс">
            <a:extLst>
              <a:ext uri="{FF2B5EF4-FFF2-40B4-BE49-F238E27FC236}">
                <a16:creationId xmlns:a16="http://schemas.microsoft.com/office/drawing/2014/main" id="{AEE1DE11-EDB0-48BE-951F-D45A93F5EB3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08005" y="1506538"/>
            <a:ext cx="8328390" cy="4754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4614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E0471E5-2201-0333-728B-FB5D5D596807}"/>
              </a:ext>
            </a:extLst>
          </p:cNvPr>
          <p:cNvSpPr>
            <a:spLocks noGrp="1"/>
          </p:cNvSpPr>
          <p:nvPr>
            <p:ph type="title"/>
          </p:nvPr>
        </p:nvSpPr>
        <p:spPr/>
        <p:txBody>
          <a:bodyPr/>
          <a:lstStyle/>
          <a:p>
            <a:r>
              <a:rPr lang="ru-RU" dirty="0"/>
              <a:t>Пример 3</a:t>
            </a:r>
          </a:p>
        </p:txBody>
      </p:sp>
      <p:sp>
        <p:nvSpPr>
          <p:cNvPr id="4" name="Номер слайда 3">
            <a:extLst>
              <a:ext uri="{FF2B5EF4-FFF2-40B4-BE49-F238E27FC236}">
                <a16:creationId xmlns:a16="http://schemas.microsoft.com/office/drawing/2014/main" id="{EC28A519-1982-F169-7A22-789E349F7822}"/>
              </a:ext>
            </a:extLst>
          </p:cNvPr>
          <p:cNvSpPr>
            <a:spLocks noGrp="1"/>
          </p:cNvSpPr>
          <p:nvPr>
            <p:ph type="sldNum" sz="quarter" idx="12"/>
          </p:nvPr>
        </p:nvSpPr>
        <p:spPr/>
        <p:txBody>
          <a:bodyPr/>
          <a:lstStyle/>
          <a:p>
            <a:fld id="{25A42088-C730-408A-A823-60BED1AFCEA0}" type="slidenum">
              <a:rPr lang="ru-RU" smtClean="0"/>
              <a:t>30</a:t>
            </a:fld>
            <a:endParaRPr lang="ru-RU"/>
          </a:p>
        </p:txBody>
      </p:sp>
      <p:pic>
        <p:nvPicPr>
          <p:cNvPr id="8194" name="Picture 2" descr="Три уровня модели процесса | bpmntraining.ru">
            <a:extLst>
              <a:ext uri="{FF2B5EF4-FFF2-40B4-BE49-F238E27FC236}">
                <a16:creationId xmlns:a16="http://schemas.microsoft.com/office/drawing/2014/main" id="{B6AB03CC-04EF-93A3-9F68-37E324C25AB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40578" y="1506538"/>
            <a:ext cx="6063243" cy="4754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6893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233771D-2E77-BAF1-CA10-C007EAFFA3CE}"/>
              </a:ext>
            </a:extLst>
          </p:cNvPr>
          <p:cNvSpPr>
            <a:spLocks noGrp="1"/>
          </p:cNvSpPr>
          <p:nvPr>
            <p:ph type="title"/>
          </p:nvPr>
        </p:nvSpPr>
        <p:spPr/>
        <p:txBody>
          <a:bodyPr/>
          <a:lstStyle/>
          <a:p>
            <a:r>
              <a:rPr lang="ru-RU" dirty="0"/>
              <a:t>Практическое задание</a:t>
            </a:r>
          </a:p>
        </p:txBody>
      </p:sp>
      <p:sp>
        <p:nvSpPr>
          <p:cNvPr id="3" name="Объект 2">
            <a:extLst>
              <a:ext uri="{FF2B5EF4-FFF2-40B4-BE49-F238E27FC236}">
                <a16:creationId xmlns:a16="http://schemas.microsoft.com/office/drawing/2014/main" id="{62C12C06-A1EF-600E-AEEB-D990906336A1}"/>
              </a:ext>
            </a:extLst>
          </p:cNvPr>
          <p:cNvSpPr>
            <a:spLocks noGrp="1"/>
          </p:cNvSpPr>
          <p:nvPr>
            <p:ph idx="1"/>
          </p:nvPr>
        </p:nvSpPr>
        <p:spPr>
          <a:xfrm>
            <a:off x="1371600" y="1506584"/>
            <a:ext cx="9601200" cy="803998"/>
          </a:xfrm>
        </p:spPr>
        <p:txBody>
          <a:bodyPr/>
          <a:lstStyle/>
          <a:p>
            <a:r>
              <a:rPr lang="ru-RU" dirty="0"/>
              <a:t>Создайте </a:t>
            </a:r>
            <a:r>
              <a:rPr lang="en-US" dirty="0"/>
              <a:t>BPMN-</a:t>
            </a:r>
            <a:r>
              <a:rPr lang="ru-RU" dirty="0"/>
              <a:t>диаграмму для процесса «Изготовление шкафа на заказ с подачей заявки и согласованием деталей по </a:t>
            </a:r>
            <a:r>
              <a:rPr lang="en-US" dirty="0"/>
              <a:t>e-mail</a:t>
            </a:r>
            <a:r>
              <a:rPr lang="ru-RU" dirty="0"/>
              <a:t>»</a:t>
            </a:r>
          </a:p>
        </p:txBody>
      </p:sp>
      <p:sp>
        <p:nvSpPr>
          <p:cNvPr id="4" name="Номер слайда 3">
            <a:extLst>
              <a:ext uri="{FF2B5EF4-FFF2-40B4-BE49-F238E27FC236}">
                <a16:creationId xmlns:a16="http://schemas.microsoft.com/office/drawing/2014/main" id="{64F42544-4401-3336-75FE-61393DED8FF1}"/>
              </a:ext>
            </a:extLst>
          </p:cNvPr>
          <p:cNvSpPr>
            <a:spLocks noGrp="1"/>
          </p:cNvSpPr>
          <p:nvPr>
            <p:ph type="sldNum" sz="quarter" idx="12"/>
          </p:nvPr>
        </p:nvSpPr>
        <p:spPr/>
        <p:txBody>
          <a:bodyPr/>
          <a:lstStyle/>
          <a:p>
            <a:fld id="{25A42088-C730-408A-A823-60BED1AFCEA0}" type="slidenum">
              <a:rPr lang="ru-RU" smtClean="0"/>
              <a:t>31</a:t>
            </a:fld>
            <a:endParaRPr lang="ru-RU"/>
          </a:p>
        </p:txBody>
      </p:sp>
    </p:spTree>
    <p:extLst>
      <p:ext uri="{BB962C8B-B14F-4D97-AF65-F5344CB8AC3E}">
        <p14:creationId xmlns:p14="http://schemas.microsoft.com/office/powerpoint/2010/main" val="31095098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6F01876-2796-17C4-0C55-63077A56F59F}"/>
              </a:ext>
            </a:extLst>
          </p:cNvPr>
          <p:cNvSpPr>
            <a:spLocks noGrp="1"/>
          </p:cNvSpPr>
          <p:nvPr>
            <p:ph type="title"/>
          </p:nvPr>
        </p:nvSpPr>
        <p:spPr/>
        <p:txBody>
          <a:bodyPr>
            <a:normAutofit/>
          </a:bodyPr>
          <a:lstStyle/>
          <a:p>
            <a:r>
              <a:rPr lang="ru-RU" dirty="0"/>
              <a:t>Дополнительно:</a:t>
            </a:r>
          </a:p>
        </p:txBody>
      </p:sp>
      <p:sp>
        <p:nvSpPr>
          <p:cNvPr id="3" name="Объект 2">
            <a:extLst>
              <a:ext uri="{FF2B5EF4-FFF2-40B4-BE49-F238E27FC236}">
                <a16:creationId xmlns:a16="http://schemas.microsoft.com/office/drawing/2014/main" id="{98D86C7D-3AA7-5497-1986-060B7547C7D9}"/>
              </a:ext>
            </a:extLst>
          </p:cNvPr>
          <p:cNvSpPr>
            <a:spLocks noGrp="1"/>
          </p:cNvSpPr>
          <p:nvPr>
            <p:ph idx="1"/>
          </p:nvPr>
        </p:nvSpPr>
        <p:spPr>
          <a:xfrm>
            <a:off x="1371600" y="1730477"/>
            <a:ext cx="9601200" cy="4530985"/>
          </a:xfrm>
        </p:spPr>
        <p:txBody>
          <a:bodyPr>
            <a:normAutofit/>
          </a:bodyPr>
          <a:lstStyle/>
          <a:p>
            <a:r>
              <a:rPr lang="ru-RU" sz="2400" dirty="0"/>
              <a:t>Хорошие и плохие примеры использования различных элементов: </a:t>
            </a:r>
            <a:r>
              <a:rPr lang="en-US" sz="2400" dirty="0">
                <a:hlinkClick r:id="rId2"/>
              </a:rPr>
              <a:t>https://stormbpmn.com/bpmn/elements</a:t>
            </a:r>
            <a:endParaRPr lang="ru-RU" sz="2400" dirty="0"/>
          </a:p>
          <a:p>
            <a:endParaRPr lang="ru-RU" sz="2400" dirty="0"/>
          </a:p>
          <a:p>
            <a:r>
              <a:rPr lang="ru-RU" sz="2400" dirty="0"/>
              <a:t>Уроки по нотации: </a:t>
            </a:r>
            <a:r>
              <a:rPr lang="en-US" sz="2400" dirty="0">
                <a:hlinkClick r:id="rId3"/>
              </a:rPr>
              <a:t>https://elma365.com/ru/articles/urok-1-vvod-v-notaciyu-bpmn/</a:t>
            </a:r>
            <a:endParaRPr lang="ru-RU" sz="2400" dirty="0"/>
          </a:p>
          <a:p>
            <a:endParaRPr lang="ru-RU" sz="2400" dirty="0"/>
          </a:p>
          <a:p>
            <a:endParaRPr lang="ru-RU" sz="2400" dirty="0"/>
          </a:p>
        </p:txBody>
      </p:sp>
      <p:sp>
        <p:nvSpPr>
          <p:cNvPr id="4" name="Номер слайда 3">
            <a:extLst>
              <a:ext uri="{FF2B5EF4-FFF2-40B4-BE49-F238E27FC236}">
                <a16:creationId xmlns:a16="http://schemas.microsoft.com/office/drawing/2014/main" id="{10947FAC-38EC-FF2C-3456-4EDD9FB75427}"/>
              </a:ext>
            </a:extLst>
          </p:cNvPr>
          <p:cNvSpPr>
            <a:spLocks noGrp="1"/>
          </p:cNvSpPr>
          <p:nvPr>
            <p:ph type="sldNum" sz="quarter" idx="12"/>
          </p:nvPr>
        </p:nvSpPr>
        <p:spPr/>
        <p:txBody>
          <a:bodyPr/>
          <a:lstStyle/>
          <a:p>
            <a:fld id="{25A42088-C730-408A-A823-60BED1AFCEA0}" type="slidenum">
              <a:rPr lang="ru-RU" smtClean="0"/>
              <a:t>32</a:t>
            </a:fld>
            <a:endParaRPr lang="ru-RU"/>
          </a:p>
        </p:txBody>
      </p:sp>
    </p:spTree>
    <p:extLst>
      <p:ext uri="{BB962C8B-B14F-4D97-AF65-F5344CB8AC3E}">
        <p14:creationId xmlns:p14="http://schemas.microsoft.com/office/powerpoint/2010/main" val="26374564"/>
      </p:ext>
    </p:extLst>
  </p:cSld>
  <p:clrMapOvr>
    <a:masterClrMapping/>
  </p:clrMapOvr>
</p:sld>
</file>

<file path=ppt/theme/theme1.xml><?xml version="1.0" encoding="utf-8"?>
<a:theme xmlns:a="http://schemas.openxmlformats.org/drawingml/2006/main" name="Уголки">
  <a:themeElements>
    <a:clrScheme name="Уголки">
      <a:dk1>
        <a:sysClr val="windowText" lastClr="000000"/>
      </a:dk1>
      <a:lt1>
        <a:sysClr val="window" lastClr="FFFFFF"/>
      </a:lt1>
      <a:dk2>
        <a:srgbClr val="1A2E40"/>
      </a:dk2>
      <a:lt2>
        <a:srgbClr val="EBE7DD"/>
      </a:lt2>
      <a:accent1>
        <a:srgbClr val="69A1AB"/>
      </a:accent1>
      <a:accent2>
        <a:srgbClr val="F2C418"/>
      </a:accent2>
      <a:accent3>
        <a:srgbClr val="87492C"/>
      </a:accent3>
      <a:accent4>
        <a:srgbClr val="4A845E"/>
      </a:accent4>
      <a:accent5>
        <a:srgbClr val="DC9528"/>
      </a:accent5>
      <a:accent6>
        <a:srgbClr val="9A5D78"/>
      </a:accent6>
      <a:hlink>
        <a:srgbClr val="66C8E3"/>
      </a:hlink>
      <a:folHlink>
        <a:srgbClr val="B162A1"/>
      </a:folHlink>
    </a:clrScheme>
    <a:fontScheme name="Уголки">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Уголки">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17F9D331-421E-442F-B033-AF5B21A44854}"/>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TM10001105[[fn=Уголки]]</Template>
  <TotalTime>1310</TotalTime>
  <Words>2241</Words>
  <Application>Microsoft Office PowerPoint</Application>
  <PresentationFormat>Широкоэкранный</PresentationFormat>
  <Paragraphs>171</Paragraphs>
  <Slides>32</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32</vt:i4>
      </vt:variant>
    </vt:vector>
  </HeadingPairs>
  <TitlesOfParts>
    <vt:vector size="38" baseType="lpstr">
      <vt:lpstr>Arial</vt:lpstr>
      <vt:lpstr>Calibri</vt:lpstr>
      <vt:lpstr>Franklin Gothic Book</vt:lpstr>
      <vt:lpstr>Georgia</vt:lpstr>
      <vt:lpstr>Wingdings</vt:lpstr>
      <vt:lpstr>Уголки</vt:lpstr>
      <vt:lpstr>Лекция 4  Моделирование предметной области и бизнес-процессов. BPMN</vt:lpstr>
      <vt:lpstr>Моделирование предметной области</vt:lpstr>
      <vt:lpstr>Требования к моделям предм. обл.</vt:lpstr>
      <vt:lpstr>Оценочный аспект</vt:lpstr>
      <vt:lpstr>Структурный аспект</vt:lpstr>
      <vt:lpstr>1. Объектная структура</vt:lpstr>
      <vt:lpstr>2. Функциональная структура</vt:lpstr>
      <vt:lpstr>3. Структура управления</vt:lpstr>
      <vt:lpstr>Презентация PowerPoint</vt:lpstr>
      <vt:lpstr>4. Организационная структура</vt:lpstr>
      <vt:lpstr>5. Техническая структура</vt:lpstr>
      <vt:lpstr>Методики описания предметной области</vt:lpstr>
      <vt:lpstr>Моделирование бизнес-процессов</vt:lpstr>
      <vt:lpstr>Модель бизнес-процессов</vt:lpstr>
      <vt:lpstr>Цели моделирования</vt:lpstr>
      <vt:lpstr>Стадии моделирования бизнес-процессов</vt:lpstr>
      <vt:lpstr>Нотация BPMN</vt:lpstr>
      <vt:lpstr>Пример</vt:lpstr>
      <vt:lpstr>Элементы: пул и дорожка</vt:lpstr>
      <vt:lpstr>Элементы: Событие</vt:lpstr>
      <vt:lpstr>Элементы: Действие</vt:lpstr>
      <vt:lpstr>Презентация PowerPoint</vt:lpstr>
      <vt:lpstr>Элементы: Виды задач</vt:lpstr>
      <vt:lpstr>Элементы: Развилка/Шлюз</vt:lpstr>
      <vt:lpstr>Элементы: Потоки</vt:lpstr>
      <vt:lpstr>Элементы: Артефакты</vt:lpstr>
      <vt:lpstr>Рекомендации по построению диаграммы бизнес-процесса в нотации BPMN</vt:lpstr>
      <vt:lpstr>Пример 1</vt:lpstr>
      <vt:lpstr>Пример 2</vt:lpstr>
      <vt:lpstr>Пример 3</vt:lpstr>
      <vt:lpstr>Практическое задание</vt:lpstr>
      <vt:lpstr>Дополнительно:</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Лекция …    Заголовок</dc:title>
  <dc:creator>Лилия Челищева</dc:creator>
  <cp:lastModifiedBy>Лилия Челищева</cp:lastModifiedBy>
  <cp:revision>8</cp:revision>
  <dcterms:created xsi:type="dcterms:W3CDTF">2023-09-01T22:02:12Z</dcterms:created>
  <dcterms:modified xsi:type="dcterms:W3CDTF">2025-09-06T04:29:17Z</dcterms:modified>
</cp:coreProperties>
</file>