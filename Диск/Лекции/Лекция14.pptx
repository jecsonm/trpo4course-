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95" r:id="rId1"/>
  </p:sldMasterIdLst>
  <p:notesMasterIdLst>
    <p:notesMasterId r:id="rId34"/>
  </p:notesMasterIdLst>
  <p:sldIdLst>
    <p:sldId id="256" r:id="rId2"/>
    <p:sldId id="258" r:id="rId3"/>
    <p:sldId id="257" r:id="rId4"/>
    <p:sldId id="261" r:id="rId5"/>
    <p:sldId id="262" r:id="rId6"/>
    <p:sldId id="263" r:id="rId7"/>
    <p:sldId id="264" r:id="rId8"/>
    <p:sldId id="265" r:id="rId9"/>
    <p:sldId id="266" r:id="rId10"/>
    <p:sldId id="267" r:id="rId11"/>
    <p:sldId id="268" r:id="rId12"/>
    <p:sldId id="269" r:id="rId13"/>
    <p:sldId id="270" r:id="rId14"/>
    <p:sldId id="271" r:id="rId15"/>
    <p:sldId id="259" r:id="rId16"/>
    <p:sldId id="260" r:id="rId17"/>
    <p:sldId id="272" r:id="rId18"/>
    <p:sldId id="273" r:id="rId19"/>
    <p:sldId id="274" r:id="rId20"/>
    <p:sldId id="275" r:id="rId21"/>
    <p:sldId id="276" r:id="rId22"/>
    <p:sldId id="277" r:id="rId23"/>
    <p:sldId id="278" r:id="rId24"/>
    <p:sldId id="279" r:id="rId25"/>
    <p:sldId id="280" r:id="rId26"/>
    <p:sldId id="282" r:id="rId27"/>
    <p:sldId id="294" r:id="rId28"/>
    <p:sldId id="293" r:id="rId29"/>
    <p:sldId id="290" r:id="rId30"/>
    <p:sldId id="284" r:id="rId31"/>
    <p:sldId id="292" r:id="rId32"/>
    <p:sldId id="291"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Средний стиль 2 — акцент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Светлый стиль 3 — акцент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B9F18C-B0EF-4C3B-831E-15C3CF792C09}" type="datetimeFigureOut">
              <a:rPr lang="ru-RU" smtClean="0"/>
              <a:t>19.01.2026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D3E470-2E3C-4AB4-A461-A838E60D5F10}" type="slidenum">
              <a:rPr lang="ru-RU" smtClean="0"/>
              <a:t>‹#›</a:t>
            </a:fld>
            <a:endParaRPr lang="ru-RU"/>
          </a:p>
        </p:txBody>
      </p:sp>
    </p:spTree>
    <p:extLst>
      <p:ext uri="{BB962C8B-B14F-4D97-AF65-F5344CB8AC3E}">
        <p14:creationId xmlns:p14="http://schemas.microsoft.com/office/powerpoint/2010/main" val="725914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none" baseline="0">
                <a:solidFill>
                  <a:schemeClr val="tx2"/>
                </a:solidFill>
              </a:defRPr>
            </a:lvl1pPr>
          </a:lstStyle>
          <a:p>
            <a:r>
              <a:rPr lang="ru-RU" dirty="0"/>
              <a:t>Образец заголовка</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sz="1400" baseline="0">
                <a:solidFill>
                  <a:schemeClr val="tx2"/>
                </a:solidFill>
              </a:defRPr>
            </a:lvl1pPr>
          </a:lstStyle>
          <a:p>
            <a:fld id="{15D38347-702E-498B-B08C-DEF354D6629E}" type="datetime1">
              <a:rPr lang="ru-RU" smtClean="0"/>
              <a:t>19.01.2026</a:t>
            </a:fld>
            <a:endParaRPr lang="ru-RU" dirty="0"/>
          </a:p>
        </p:txBody>
      </p:sp>
      <p:sp>
        <p:nvSpPr>
          <p:cNvPr id="5" name="Footer Placeholder 4"/>
          <p:cNvSpPr>
            <a:spLocks noGrp="1"/>
          </p:cNvSpPr>
          <p:nvPr>
            <p:ph type="ftr" sz="quarter" idx="11"/>
          </p:nvPr>
        </p:nvSpPr>
        <p:spPr>
          <a:xfrm>
            <a:off x="2584054" y="6453386"/>
            <a:ext cx="7023377" cy="404614"/>
          </a:xfrm>
        </p:spPr>
        <p:txBody>
          <a:bodyPr/>
          <a:lstStyle>
            <a:lvl1pPr algn="ctr">
              <a:defRPr sz="1400" baseline="0">
                <a:solidFill>
                  <a:schemeClr val="tx2"/>
                </a:solidFill>
              </a:defRPr>
            </a:lvl1pPr>
          </a:lstStyle>
          <a:p>
            <a:endParaRPr lang="ru-RU" dirty="0"/>
          </a:p>
        </p:txBody>
      </p:sp>
      <p:sp>
        <p:nvSpPr>
          <p:cNvPr id="6" name="Slide Number Placeholder 5"/>
          <p:cNvSpPr>
            <a:spLocks noGrp="1"/>
          </p:cNvSpPr>
          <p:nvPr>
            <p:ph type="sldNum" sz="quarter" idx="12"/>
          </p:nvPr>
        </p:nvSpPr>
        <p:spPr>
          <a:xfrm>
            <a:off x="9830683" y="6453386"/>
            <a:ext cx="1596292" cy="404614"/>
          </a:xfrm>
        </p:spPr>
        <p:txBody>
          <a:bodyPr/>
          <a:lstStyle>
            <a:lvl1pPr>
              <a:defRPr sz="2800" baseline="0">
                <a:solidFill>
                  <a:schemeClr val="tx2"/>
                </a:solidFill>
              </a:defRPr>
            </a:lvl1pPr>
          </a:lstStyle>
          <a:p>
            <a:fld id="{25A42088-C730-408A-A823-60BED1AFCEA0}" type="slidenum">
              <a:rPr lang="ru-RU" smtClean="0"/>
              <a:pPr/>
              <a:t>‹#›</a:t>
            </a:fld>
            <a:endParaRPr lang="ru-RU" dirty="0"/>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606201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CE8D0696-10F3-4B5A-B71C-22707C2001B8}" type="datetime1">
              <a:rPr lang="ru-RU" smtClean="0"/>
              <a:t>19.01.2026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723332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ru-RU"/>
              <a:t>Образец заголовка</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F88F0F0C-D99A-410F-9911-63A47C4FE68F}" type="datetime1">
              <a:rPr lang="ru-RU" smtClean="0"/>
              <a:t>19.01.2026</a:t>
            </a:fld>
            <a:endParaRPr lang="ru-RU"/>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ru-RU"/>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25A42088-C730-408A-A823-60BED1AFCEA0}" type="slidenum">
              <a:rPr lang="ru-RU" smtClean="0"/>
              <a:t>‹#›</a:t>
            </a:fld>
            <a:endParaRPr lang="ru-RU"/>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38485155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ru-RU"/>
              <a:t>Образец заголовка</a:t>
            </a:r>
            <a:endParaRPr lang="en-US" dirty="0"/>
          </a:p>
        </p:txBody>
      </p:sp>
      <p:sp>
        <p:nvSpPr>
          <p:cNvPr id="3" name="Content Placeholder 2"/>
          <p:cNvSpPr>
            <a:spLocks noGrp="1"/>
          </p:cNvSpPr>
          <p:nvPr>
            <p:ph sz="half" idx="1"/>
          </p:nvPr>
        </p:nvSpPr>
        <p:spPr>
          <a:xfrm>
            <a:off x="1371600" y="1593669"/>
            <a:ext cx="4447786" cy="427373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en-US" dirty="0"/>
          </a:p>
        </p:txBody>
      </p:sp>
      <p:sp>
        <p:nvSpPr>
          <p:cNvPr id="4" name="Content Placeholder 3"/>
          <p:cNvSpPr>
            <a:spLocks noGrp="1"/>
          </p:cNvSpPr>
          <p:nvPr>
            <p:ph sz="half" idx="2"/>
          </p:nvPr>
        </p:nvSpPr>
        <p:spPr>
          <a:xfrm>
            <a:off x="6525403" y="1593669"/>
            <a:ext cx="4447786" cy="427373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73A0A0CF-EE6C-47A3-85BE-0F26FBE60222}" type="datetime1">
              <a:rPr lang="ru-RU" smtClean="0"/>
              <a:t>19.01.2026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86758793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637903"/>
          </a:xfrm>
        </p:spPr>
        <p:txBody>
          <a:bodyPr/>
          <a:lstStyle>
            <a:lvl1pPr>
              <a:defRPr>
                <a:solidFill>
                  <a:schemeClr val="tx2"/>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343524" y="1516952"/>
            <a:ext cx="4443984" cy="637903"/>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371600" y="2348104"/>
            <a:ext cx="4443984" cy="3824095"/>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525014" y="1516952"/>
            <a:ext cx="4443984" cy="637903"/>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525014" y="2348105"/>
            <a:ext cx="4443984" cy="3824094"/>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DA8526E4-1211-434F-B87B-977DA01F1840}" type="datetime1">
              <a:rPr lang="ru-RU" smtClean="0"/>
              <a:t>19.01.2026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13498195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31E6CEF9-D33A-4081-AB8F-855DF995F0BB}" type="datetime1">
              <a:rPr lang="ru-RU" smtClean="0"/>
              <a:t>19.01.2026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63145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96D69E-1695-4575-8EC2-2D08D3507A7E}" type="datetime1">
              <a:rPr lang="ru-RU" smtClean="0"/>
              <a:t>19.01.2026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966761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ru-RU"/>
              <a:t>Образец заголовка</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E10B2DC-3A84-42CE-BFEC-A52F2FA5ABE8}" type="datetime1">
              <a:rPr lang="ru-RU" smtClean="0"/>
              <a:t>19.01.2026</a:t>
            </a:fld>
            <a:endParaRPr lang="ru-RU"/>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ru-RU"/>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25A42088-C730-408A-A823-60BED1AFCEA0}" type="slidenum">
              <a:rPr lang="ru-RU" smtClean="0"/>
              <a:t>‹#›</a:t>
            </a:fld>
            <a:endParaRPr lang="ru-RU"/>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6334413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63C280E5-A025-45B5-92AB-31FBC1254ED0}" type="datetime1">
              <a:rPr lang="ru-RU" smtClean="0"/>
              <a:t>19.01.2026</a:t>
            </a:fld>
            <a:endParaRPr lang="ru-RU"/>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25A42088-C730-408A-A823-60BED1AFCEA0}" type="slidenum">
              <a:rPr lang="ru-RU" smtClean="0"/>
              <a:t>‹#›</a:t>
            </a:fld>
            <a:endParaRPr lang="ru-RU"/>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45939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1637211"/>
            <a:ext cx="9601200" cy="4230189"/>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68F27454-E3F2-4967-91D0-7E58FC732875}" type="datetime1">
              <a:rPr lang="ru-RU" smtClean="0"/>
              <a:t>19.01.2026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59763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3F00532A-A3E8-4F11-B367-EDFC1ADEDC15}" type="datetime1">
              <a:rPr lang="ru-RU" smtClean="0"/>
              <a:t>19.01.2026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313815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596538"/>
            <a:ext cx="9601200" cy="733697"/>
          </a:xfrm>
          <a:prstGeom prst="rect">
            <a:avLst/>
          </a:prstGeom>
        </p:spPr>
        <p:txBody>
          <a:bodyPr vert="horz" lIns="91440" tIns="45720" rIns="91440" bIns="45720" rtlCol="0" anchor="t">
            <a:normAutofit/>
          </a:bodyPr>
          <a:lstStyle/>
          <a:p>
            <a:r>
              <a:rPr lang="ru-RU" dirty="0"/>
              <a:t>Образец заголовка</a:t>
            </a:r>
            <a:endParaRPr lang="en-US" dirty="0"/>
          </a:p>
        </p:txBody>
      </p:sp>
      <p:sp>
        <p:nvSpPr>
          <p:cNvPr id="3" name="Text Placeholder 2"/>
          <p:cNvSpPr>
            <a:spLocks noGrp="1"/>
          </p:cNvSpPr>
          <p:nvPr>
            <p:ph type="body" idx="1"/>
          </p:nvPr>
        </p:nvSpPr>
        <p:spPr>
          <a:xfrm>
            <a:off x="1371600" y="1506583"/>
            <a:ext cx="9601200" cy="4754879"/>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en-US" dirty="0"/>
          </a:p>
        </p:txBody>
      </p:sp>
      <p:sp>
        <p:nvSpPr>
          <p:cNvPr id="4" name="Date Placeholder 3"/>
          <p:cNvSpPr>
            <a:spLocks noGrp="1"/>
          </p:cNvSpPr>
          <p:nvPr>
            <p:ph type="dt" sz="half" idx="2"/>
          </p:nvPr>
        </p:nvSpPr>
        <p:spPr>
          <a:xfrm>
            <a:off x="1371600" y="6374670"/>
            <a:ext cx="1146333" cy="404614"/>
          </a:xfrm>
          <a:prstGeom prst="rect">
            <a:avLst/>
          </a:prstGeom>
        </p:spPr>
        <p:txBody>
          <a:bodyPr vert="horz" lIns="91440" tIns="45720" rIns="91440" bIns="45720" rtlCol="0" anchor="ctr"/>
          <a:lstStyle>
            <a:lvl1pPr algn="l">
              <a:defRPr sz="1400" baseline="0">
                <a:solidFill>
                  <a:schemeClr val="tx2"/>
                </a:solidFill>
                <a:latin typeface="Georgia" panose="02040502050405020303" pitchFamily="18" charset="0"/>
              </a:defRPr>
            </a:lvl1pPr>
          </a:lstStyle>
          <a:p>
            <a:fld id="{6CE7A49A-459E-499C-837E-09F78318E92A}" type="datetime1">
              <a:rPr lang="ru-RU" smtClean="0"/>
              <a:pPr/>
              <a:t>19.01.2026</a:t>
            </a:fld>
            <a:endParaRPr lang="ru-RU"/>
          </a:p>
        </p:txBody>
      </p:sp>
      <p:sp>
        <p:nvSpPr>
          <p:cNvPr id="5" name="Footer Placeholder 4"/>
          <p:cNvSpPr>
            <a:spLocks noGrp="1"/>
          </p:cNvSpPr>
          <p:nvPr>
            <p:ph type="ftr" sz="quarter" idx="3"/>
          </p:nvPr>
        </p:nvSpPr>
        <p:spPr>
          <a:xfrm>
            <a:off x="2874514" y="6374670"/>
            <a:ext cx="6461075" cy="404614"/>
          </a:xfrm>
          <a:prstGeom prst="rect">
            <a:avLst/>
          </a:prstGeom>
        </p:spPr>
        <p:txBody>
          <a:bodyPr vert="horz" lIns="91440" tIns="45720" rIns="91440" bIns="45720" rtlCol="0" anchor="ctr"/>
          <a:lstStyle>
            <a:lvl1pPr algn="l">
              <a:defRPr sz="1400" baseline="0">
                <a:solidFill>
                  <a:schemeClr val="tx2"/>
                </a:solidFill>
                <a:latin typeface="Georgia" panose="02040502050405020303" pitchFamily="18" charset="0"/>
              </a:defRPr>
            </a:lvl1pPr>
          </a:lstStyle>
          <a:p>
            <a:endParaRPr lang="ru-RU" dirty="0"/>
          </a:p>
        </p:txBody>
      </p:sp>
      <p:sp>
        <p:nvSpPr>
          <p:cNvPr id="6" name="Slide Number Placeholder 5"/>
          <p:cNvSpPr>
            <a:spLocks noGrp="1"/>
          </p:cNvSpPr>
          <p:nvPr>
            <p:ph type="sldNum" sz="quarter" idx="4"/>
          </p:nvPr>
        </p:nvSpPr>
        <p:spPr>
          <a:xfrm>
            <a:off x="9692170" y="6374670"/>
            <a:ext cx="1280630" cy="404614"/>
          </a:xfrm>
          <a:prstGeom prst="rect">
            <a:avLst/>
          </a:prstGeom>
        </p:spPr>
        <p:txBody>
          <a:bodyPr vert="horz" lIns="91440" tIns="45720" rIns="91440" bIns="45720" rtlCol="0" anchor="ctr"/>
          <a:lstStyle>
            <a:lvl1pPr algn="r">
              <a:defRPr sz="2800" baseline="0">
                <a:solidFill>
                  <a:schemeClr val="tx2"/>
                </a:solidFill>
                <a:latin typeface="Georgia" panose="02040502050405020303" pitchFamily="18" charset="0"/>
              </a:defRPr>
            </a:lvl1pPr>
          </a:lstStyle>
          <a:p>
            <a:fld id="{25A42088-C730-408A-A823-60BED1AFCEA0}" type="slidenum">
              <a:rPr lang="ru-RU" smtClean="0"/>
              <a:pPr/>
              <a:t>‹#›</a:t>
            </a:fld>
            <a:endParaRPr lang="ru-RU"/>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44367473"/>
      </p:ext>
    </p:extLst>
  </p:cSld>
  <p:clrMap bg1="lt1" tx1="dk1" bg2="lt2" tx2="dk2" accent1="accent1" accent2="accent2" accent3="accent3" accent4="accent4" accent5="accent5" accent6="accent6" hlink="hlink" folHlink="folHlink"/>
  <p:sldLayoutIdLst>
    <p:sldLayoutId id="2147484096"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hf hdr="0" ftr="0" dt="0"/>
  <p:txStyles>
    <p:titleStyle>
      <a:lvl1pPr algn="l" defTabSz="914400" rtl="0" eaLnBrk="1" latinLnBrk="0" hangingPunct="1">
        <a:lnSpc>
          <a:spcPct val="89000"/>
        </a:lnSpc>
        <a:spcBef>
          <a:spcPct val="0"/>
        </a:spcBef>
        <a:buNone/>
        <a:defRPr sz="3600" kern="1200" baseline="0">
          <a:solidFill>
            <a:schemeClr val="tx2"/>
          </a:solidFill>
          <a:latin typeface="Georgia" panose="02040502050405020303" pitchFamily="18" charset="0"/>
          <a:ea typeface="+mj-ea"/>
          <a:cs typeface="+mj-cs"/>
        </a:defRPr>
      </a:lvl1pPr>
    </p:titleStyle>
    <p:bodyStyle>
      <a:lvl1pPr marL="0" indent="0" algn="l" defTabSz="914400" rtl="0" eaLnBrk="1" latinLnBrk="0" hangingPunct="1">
        <a:lnSpc>
          <a:spcPct val="94000"/>
        </a:lnSpc>
        <a:spcBef>
          <a:spcPts val="1000"/>
        </a:spcBef>
        <a:spcAft>
          <a:spcPts val="200"/>
        </a:spcAft>
        <a:buFontTx/>
        <a:buNone/>
        <a:defRPr sz="2000" kern="1200" baseline="0">
          <a:solidFill>
            <a:schemeClr val="tx2"/>
          </a:solidFill>
          <a:latin typeface="Georgia" panose="02040502050405020303" pitchFamily="18" charset="0"/>
          <a:ea typeface="+mn-ea"/>
          <a:cs typeface="+mn-cs"/>
        </a:defRPr>
      </a:lvl1pPr>
      <a:lvl2pPr marL="530352" indent="0" algn="l" defTabSz="914400" rtl="0" eaLnBrk="1" latinLnBrk="0" hangingPunct="1">
        <a:lnSpc>
          <a:spcPct val="94000"/>
        </a:lnSpc>
        <a:spcBef>
          <a:spcPts val="500"/>
        </a:spcBef>
        <a:spcAft>
          <a:spcPts val="200"/>
        </a:spcAft>
        <a:buFontTx/>
        <a:buNone/>
        <a:defRPr sz="2000" i="1" kern="1200" baseline="0">
          <a:solidFill>
            <a:schemeClr val="tx2"/>
          </a:solidFill>
          <a:latin typeface="Georgia" panose="02040502050405020303" pitchFamily="18" charset="0"/>
          <a:ea typeface="+mn-ea"/>
          <a:cs typeface="+mn-cs"/>
        </a:defRPr>
      </a:lvl2pPr>
      <a:lvl3pPr marL="987552" indent="0" algn="l" defTabSz="914400" rtl="0" eaLnBrk="1" latinLnBrk="0" hangingPunct="1">
        <a:lnSpc>
          <a:spcPct val="94000"/>
        </a:lnSpc>
        <a:spcBef>
          <a:spcPts val="500"/>
        </a:spcBef>
        <a:spcAft>
          <a:spcPts val="200"/>
        </a:spcAft>
        <a:buFontTx/>
        <a:buNone/>
        <a:defRPr sz="1800" kern="1200" baseline="0">
          <a:solidFill>
            <a:schemeClr val="tx2"/>
          </a:solidFill>
          <a:latin typeface="Georgia" panose="02040502050405020303" pitchFamily="18" charset="0"/>
          <a:ea typeface="+mn-ea"/>
          <a:cs typeface="+mn-cs"/>
        </a:defRPr>
      </a:lvl3pPr>
      <a:lvl4pPr marL="1444752" indent="0" algn="l" defTabSz="914400" rtl="0" eaLnBrk="1" latinLnBrk="0" hangingPunct="1">
        <a:lnSpc>
          <a:spcPct val="94000"/>
        </a:lnSpc>
        <a:spcBef>
          <a:spcPts val="500"/>
        </a:spcBef>
        <a:spcAft>
          <a:spcPts val="200"/>
        </a:spcAft>
        <a:buFontTx/>
        <a:buNone/>
        <a:defRPr sz="1800" i="1" kern="1200" baseline="0">
          <a:solidFill>
            <a:schemeClr val="tx2"/>
          </a:solidFill>
          <a:latin typeface="Georgia" panose="02040502050405020303" pitchFamily="18" charset="0"/>
          <a:ea typeface="+mn-ea"/>
          <a:cs typeface="+mn-cs"/>
        </a:defRPr>
      </a:lvl4pPr>
      <a:lvl5pPr marL="1901952" indent="0" algn="l" defTabSz="914400" rtl="0" eaLnBrk="1" latinLnBrk="0" hangingPunct="1">
        <a:lnSpc>
          <a:spcPct val="94000"/>
        </a:lnSpc>
        <a:spcBef>
          <a:spcPts val="500"/>
        </a:spcBef>
        <a:spcAft>
          <a:spcPts val="200"/>
        </a:spcAft>
        <a:buFontTx/>
        <a:buNone/>
        <a:defRPr sz="1600" kern="1200" baseline="0">
          <a:solidFill>
            <a:schemeClr val="tx2"/>
          </a:solidFill>
          <a:latin typeface="Georgia" panose="02040502050405020303" pitchFamily="18" charset="0"/>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F56258-0E67-7C7B-2850-681FD0BB7579}"/>
              </a:ext>
            </a:extLst>
          </p:cNvPr>
          <p:cNvSpPr>
            <a:spLocks noGrp="1"/>
          </p:cNvSpPr>
          <p:nvPr>
            <p:ph type="ctrTitle"/>
          </p:nvPr>
        </p:nvSpPr>
        <p:spPr>
          <a:xfrm>
            <a:off x="1276350" y="1788454"/>
            <a:ext cx="9705975" cy="2098226"/>
          </a:xfrm>
        </p:spPr>
        <p:txBody>
          <a:bodyPr/>
          <a:lstStyle/>
          <a:p>
            <a:r>
              <a:rPr lang="ru-RU" sz="6000" dirty="0"/>
              <a:t>Лекция 14  </a:t>
            </a:r>
            <a:br>
              <a:rPr lang="ru-RU" sz="6000" dirty="0"/>
            </a:br>
            <a:r>
              <a:rPr lang="ru-RU" sz="6000" dirty="0"/>
              <a:t> </a:t>
            </a:r>
            <a:r>
              <a:rPr lang="ru-RU" sz="4800" dirty="0"/>
              <a:t>Структурное и функциональное тестирование ПО. Тест-кейсы</a:t>
            </a:r>
            <a:endParaRPr lang="ru-RU" sz="6000" dirty="0"/>
          </a:p>
        </p:txBody>
      </p:sp>
      <p:sp>
        <p:nvSpPr>
          <p:cNvPr id="3" name="Подзаголовок 2">
            <a:extLst>
              <a:ext uri="{FF2B5EF4-FFF2-40B4-BE49-F238E27FC236}">
                <a16:creationId xmlns:a16="http://schemas.microsoft.com/office/drawing/2014/main" id="{29DB230C-D752-D32B-FD0D-416920046857}"/>
              </a:ext>
            </a:extLst>
          </p:cNvPr>
          <p:cNvSpPr>
            <a:spLocks noGrp="1"/>
          </p:cNvSpPr>
          <p:nvPr>
            <p:ph type="subTitle" idx="1"/>
          </p:nvPr>
        </p:nvSpPr>
        <p:spPr>
          <a:xfrm>
            <a:off x="2438400" y="4200525"/>
            <a:ext cx="7073179" cy="841991"/>
          </a:xfrm>
        </p:spPr>
        <p:txBody>
          <a:bodyPr>
            <a:normAutofit fontScale="92500"/>
          </a:bodyPr>
          <a:lstStyle/>
          <a:p>
            <a:r>
              <a:rPr lang="ru-RU" dirty="0"/>
              <a:t>Технология разработки программного обеспечения</a:t>
            </a:r>
          </a:p>
          <a:p>
            <a:r>
              <a:rPr lang="ru-RU" dirty="0"/>
              <a:t>Преподаватель: Челищева Лилия Дмитриевна</a:t>
            </a:r>
          </a:p>
        </p:txBody>
      </p:sp>
    </p:spTree>
    <p:extLst>
      <p:ext uri="{BB962C8B-B14F-4D97-AF65-F5344CB8AC3E}">
        <p14:creationId xmlns:p14="http://schemas.microsoft.com/office/powerpoint/2010/main" val="1586075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906B95-9412-426A-9B45-F944BD05C1B0}"/>
              </a:ext>
            </a:extLst>
          </p:cNvPr>
          <p:cNvSpPr>
            <a:spLocks noGrp="1"/>
          </p:cNvSpPr>
          <p:nvPr>
            <p:ph type="title"/>
          </p:nvPr>
        </p:nvSpPr>
        <p:spPr/>
        <p:txBody>
          <a:bodyPr/>
          <a:lstStyle/>
          <a:p>
            <a:r>
              <a:rPr lang="ru-RU" dirty="0"/>
              <a:t>Методы черного, серого, белого ящиков</a:t>
            </a:r>
          </a:p>
        </p:txBody>
      </p:sp>
      <p:sp>
        <p:nvSpPr>
          <p:cNvPr id="3" name="Объект 2">
            <a:extLst>
              <a:ext uri="{FF2B5EF4-FFF2-40B4-BE49-F238E27FC236}">
                <a16:creationId xmlns:a16="http://schemas.microsoft.com/office/drawing/2014/main" id="{BCE85A94-1131-4F10-8956-B141DC70CCE2}"/>
              </a:ext>
            </a:extLst>
          </p:cNvPr>
          <p:cNvSpPr>
            <a:spLocks noGrp="1"/>
          </p:cNvSpPr>
          <p:nvPr>
            <p:ph idx="1"/>
          </p:nvPr>
        </p:nvSpPr>
        <p:spPr/>
        <p:txBody>
          <a:bodyPr/>
          <a:lstStyle/>
          <a:p>
            <a:r>
              <a:rPr lang="ru-RU" sz="2000" dirty="0"/>
              <a:t>Тестирование </a:t>
            </a:r>
            <a:r>
              <a:rPr lang="ru-RU" sz="2000" b="1" dirty="0"/>
              <a:t>Чёрного</a:t>
            </a:r>
            <a:r>
              <a:rPr lang="ru-RU" sz="2000" dirty="0"/>
              <a:t> ящика (</a:t>
            </a:r>
            <a:r>
              <a:rPr lang="en-US" sz="2000" dirty="0"/>
              <a:t>Black – Box testing) –</a:t>
            </a:r>
            <a:r>
              <a:rPr lang="ru-RU" sz="2000" dirty="0"/>
              <a:t> тестирование ПО в том виде, в котором его будет использовать конечный пользователь</a:t>
            </a:r>
          </a:p>
          <a:p>
            <a:r>
              <a:rPr lang="ru-RU" sz="2000" dirty="0"/>
              <a:t>Тестирование </a:t>
            </a:r>
            <a:r>
              <a:rPr lang="ru-RU" sz="2000" b="1" dirty="0"/>
              <a:t>Белого</a:t>
            </a:r>
            <a:r>
              <a:rPr lang="ru-RU" sz="2000" dirty="0"/>
              <a:t> ящика</a:t>
            </a:r>
            <a:r>
              <a:rPr lang="en-US" sz="2000" dirty="0"/>
              <a:t> (White – Box testing)</a:t>
            </a:r>
            <a:r>
              <a:rPr lang="ru-RU" sz="2000" dirty="0"/>
              <a:t> –тестирование исходного кода ПО и его внутренней структуры</a:t>
            </a:r>
          </a:p>
          <a:p>
            <a:r>
              <a:rPr lang="ru-RU" sz="2000" dirty="0"/>
              <a:t>Тестирование </a:t>
            </a:r>
            <a:r>
              <a:rPr lang="ru-RU" sz="2000" b="1" dirty="0"/>
              <a:t>Серого</a:t>
            </a:r>
            <a:r>
              <a:rPr lang="ru-RU" sz="2000" dirty="0"/>
              <a:t> ящика</a:t>
            </a:r>
            <a:r>
              <a:rPr lang="en-US" sz="2000" dirty="0"/>
              <a:t> (Grey – Box testing)</a:t>
            </a:r>
            <a:r>
              <a:rPr lang="ru-RU" sz="2000" dirty="0"/>
              <a:t> – тестирование методом черного ящика, но</a:t>
            </a:r>
            <a:r>
              <a:rPr lang="en-US" sz="2000" dirty="0"/>
              <a:t> c </a:t>
            </a:r>
            <a:r>
              <a:rPr lang="ru-RU" sz="2000" dirty="0"/>
              <a:t>учетом знаний внутренней  структуры и кода</a:t>
            </a:r>
          </a:p>
        </p:txBody>
      </p:sp>
      <p:sp>
        <p:nvSpPr>
          <p:cNvPr id="4" name="Номер слайда 3">
            <a:extLst>
              <a:ext uri="{FF2B5EF4-FFF2-40B4-BE49-F238E27FC236}">
                <a16:creationId xmlns:a16="http://schemas.microsoft.com/office/drawing/2014/main" id="{9A635BAE-BBAD-4D38-BF20-A9D21EFFACDD}"/>
              </a:ext>
            </a:extLst>
          </p:cNvPr>
          <p:cNvSpPr>
            <a:spLocks noGrp="1"/>
          </p:cNvSpPr>
          <p:nvPr>
            <p:ph type="sldNum" sz="quarter" idx="12"/>
          </p:nvPr>
        </p:nvSpPr>
        <p:spPr/>
        <p:txBody>
          <a:bodyPr/>
          <a:lstStyle/>
          <a:p>
            <a:fld id="{25A42088-C730-408A-A823-60BED1AFCEA0}" type="slidenum">
              <a:rPr lang="ru-RU" smtClean="0"/>
              <a:t>2</a:t>
            </a:fld>
            <a:endParaRPr lang="ru-RU"/>
          </a:p>
        </p:txBody>
      </p:sp>
    </p:spTree>
    <p:extLst>
      <p:ext uri="{BB962C8B-B14F-4D97-AF65-F5344CB8AC3E}">
        <p14:creationId xmlns:p14="http://schemas.microsoft.com/office/powerpoint/2010/main" val="593252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9282F9-4D3C-BC75-AAA6-3F765CAB3012}"/>
              </a:ext>
            </a:extLst>
          </p:cNvPr>
          <p:cNvSpPr>
            <a:spLocks noGrp="1"/>
          </p:cNvSpPr>
          <p:nvPr>
            <p:ph type="title"/>
          </p:nvPr>
        </p:nvSpPr>
        <p:spPr/>
        <p:txBody>
          <a:bodyPr/>
          <a:lstStyle/>
          <a:p>
            <a:r>
              <a:rPr lang="ru-RU" dirty="0"/>
              <a:t>Способы тестирования</a:t>
            </a:r>
          </a:p>
        </p:txBody>
      </p:sp>
      <p:sp>
        <p:nvSpPr>
          <p:cNvPr id="3" name="Объект 2">
            <a:extLst>
              <a:ext uri="{FF2B5EF4-FFF2-40B4-BE49-F238E27FC236}">
                <a16:creationId xmlns:a16="http://schemas.microsoft.com/office/drawing/2014/main" id="{FEFC71DD-32F2-11BD-C730-C9C91CC71465}"/>
              </a:ext>
            </a:extLst>
          </p:cNvPr>
          <p:cNvSpPr>
            <a:spLocks noGrp="1"/>
          </p:cNvSpPr>
          <p:nvPr>
            <p:ph idx="1"/>
          </p:nvPr>
        </p:nvSpPr>
        <p:spPr/>
        <p:txBody>
          <a:bodyPr/>
          <a:lstStyle/>
          <a:p>
            <a:r>
              <a:rPr lang="ru-RU" dirty="0"/>
              <a:t>Существуют два основных подхода к тестированию отдельного модуля: </a:t>
            </a:r>
            <a:r>
              <a:rPr lang="ru-RU" b="1" dirty="0"/>
              <a:t>функциональное</a:t>
            </a:r>
            <a:r>
              <a:rPr lang="ru-RU" dirty="0"/>
              <a:t> и </a:t>
            </a:r>
            <a:r>
              <a:rPr lang="ru-RU" b="1" dirty="0"/>
              <a:t>структурное</a:t>
            </a:r>
            <a:r>
              <a:rPr lang="ru-RU" dirty="0"/>
              <a:t> тестирование.</a:t>
            </a:r>
          </a:p>
          <a:p>
            <a:endParaRPr lang="ru-RU" dirty="0"/>
          </a:p>
          <a:p>
            <a:r>
              <a:rPr lang="ru-RU" dirty="0"/>
              <a:t>При функциональном тестировании программный модуль рассматривается как </a:t>
            </a:r>
            <a:r>
              <a:rPr lang="ru-RU" b="1" dirty="0"/>
              <a:t>черный ящик</a:t>
            </a:r>
            <a:r>
              <a:rPr lang="ru-RU" dirty="0"/>
              <a:t>, его внутренняя структура не учитывается. </a:t>
            </a:r>
          </a:p>
          <a:p>
            <a:r>
              <a:rPr lang="ru-RU" dirty="0"/>
              <a:t>При структурном тестировании выбор тестовых ситуаций определяется структурой программы (по методу </a:t>
            </a:r>
            <a:r>
              <a:rPr lang="ru-RU" b="1" dirty="0"/>
              <a:t>белого ящика</a:t>
            </a:r>
            <a:r>
              <a:rPr lang="ru-RU" dirty="0"/>
              <a:t>).</a:t>
            </a:r>
          </a:p>
        </p:txBody>
      </p:sp>
      <p:sp>
        <p:nvSpPr>
          <p:cNvPr id="4" name="Номер слайда 3">
            <a:extLst>
              <a:ext uri="{FF2B5EF4-FFF2-40B4-BE49-F238E27FC236}">
                <a16:creationId xmlns:a16="http://schemas.microsoft.com/office/drawing/2014/main" id="{D71D505D-A966-076C-A1FB-EA145D9B0C05}"/>
              </a:ext>
            </a:extLst>
          </p:cNvPr>
          <p:cNvSpPr>
            <a:spLocks noGrp="1"/>
          </p:cNvSpPr>
          <p:nvPr>
            <p:ph type="sldNum" sz="quarter" idx="12"/>
          </p:nvPr>
        </p:nvSpPr>
        <p:spPr/>
        <p:txBody>
          <a:bodyPr/>
          <a:lstStyle/>
          <a:p>
            <a:fld id="{25A42088-C730-408A-A823-60BED1AFCEA0}" type="slidenum">
              <a:rPr lang="ru-RU" smtClean="0"/>
              <a:t>3</a:t>
            </a:fld>
            <a:endParaRPr lang="ru-RU"/>
          </a:p>
        </p:txBody>
      </p:sp>
    </p:spTree>
    <p:extLst>
      <p:ext uri="{BB962C8B-B14F-4D97-AF65-F5344CB8AC3E}">
        <p14:creationId xmlns:p14="http://schemas.microsoft.com/office/powerpoint/2010/main" val="4196434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B9ABD15-382A-4037-9396-C341F605A2B7}"/>
              </a:ext>
            </a:extLst>
          </p:cNvPr>
          <p:cNvSpPr>
            <a:spLocks noGrp="1"/>
          </p:cNvSpPr>
          <p:nvPr>
            <p:ph type="title"/>
          </p:nvPr>
        </p:nvSpPr>
        <p:spPr/>
        <p:txBody>
          <a:bodyPr/>
          <a:lstStyle/>
          <a:p>
            <a:r>
              <a:rPr lang="ru-RU" dirty="0"/>
              <a:t>Структурное тестирование</a:t>
            </a:r>
          </a:p>
        </p:txBody>
      </p:sp>
      <p:sp>
        <p:nvSpPr>
          <p:cNvPr id="3" name="Объект 2">
            <a:extLst>
              <a:ext uri="{FF2B5EF4-FFF2-40B4-BE49-F238E27FC236}">
                <a16:creationId xmlns:a16="http://schemas.microsoft.com/office/drawing/2014/main" id="{C1567F8C-CF48-4C96-A677-FE81052F8D80}"/>
              </a:ext>
            </a:extLst>
          </p:cNvPr>
          <p:cNvSpPr>
            <a:spLocks noGrp="1"/>
          </p:cNvSpPr>
          <p:nvPr>
            <p:ph idx="1"/>
          </p:nvPr>
        </p:nvSpPr>
        <p:spPr/>
        <p:txBody>
          <a:bodyPr>
            <a:normAutofit lnSpcReduction="10000"/>
          </a:bodyPr>
          <a:lstStyle/>
          <a:p>
            <a:r>
              <a:rPr lang="ru-RU" b="1" dirty="0"/>
              <a:t>Структурное тестирование – тестирование на основе потока управления</a:t>
            </a:r>
            <a:r>
              <a:rPr lang="ru-RU" dirty="0"/>
              <a:t>.</a:t>
            </a:r>
          </a:p>
          <a:p>
            <a:endParaRPr lang="ru-RU" dirty="0"/>
          </a:p>
          <a:p>
            <a:r>
              <a:rPr lang="ru-RU" b="1" dirty="0"/>
              <a:t>Граф потока управления </a:t>
            </a:r>
            <a:r>
              <a:rPr lang="ru-RU" dirty="0"/>
              <a:t>(англ. </a:t>
            </a:r>
            <a:r>
              <a:rPr lang="ru-RU" dirty="0" err="1"/>
              <a:t>control</a:t>
            </a:r>
            <a:r>
              <a:rPr lang="ru-RU" dirty="0"/>
              <a:t> </a:t>
            </a:r>
            <a:r>
              <a:rPr lang="ru-RU" dirty="0" err="1"/>
              <a:t>flow</a:t>
            </a:r>
            <a:r>
              <a:rPr lang="ru-RU" dirty="0"/>
              <a:t> </a:t>
            </a:r>
            <a:r>
              <a:rPr lang="ru-RU" dirty="0" err="1"/>
              <a:t>graph</a:t>
            </a:r>
            <a:r>
              <a:rPr lang="ru-RU" dirty="0"/>
              <a:t>, CFG) — в теории компиляции — множество всех возможных путей исполнения программы, представленное в виде </a:t>
            </a:r>
            <a:r>
              <a:rPr lang="ru-RU" dirty="0" err="1"/>
              <a:t>графa</a:t>
            </a:r>
            <a:r>
              <a:rPr lang="ru-RU" dirty="0"/>
              <a:t>.</a:t>
            </a:r>
          </a:p>
          <a:p>
            <a:endParaRPr lang="ru-RU" dirty="0"/>
          </a:p>
          <a:p>
            <a:r>
              <a:rPr lang="ru-RU" dirty="0"/>
              <a:t>Качество структурного тестирования определяется степенью, в какой тесты покрывают логику программы. Критерий исчерпывающего тестирования - это выполнение каждого пути программы (т.е. последовательности инструкций от начала до конца программы). Реально тестирование всех путей программы практически неосуществимо, так как число путей при наличии циклов может быть бесконечно большим. Поэтому вместо полного тестирования реализуемый и достаточно надежный критерий тестирования ветвей: каждая ветвь алгоритма должна быть пройдена хотя бы один раз.</a:t>
            </a:r>
            <a:endParaRPr lang="en-US" dirty="0"/>
          </a:p>
          <a:p>
            <a:endParaRPr lang="en-US" dirty="0"/>
          </a:p>
          <a:p>
            <a:endParaRPr lang="ru-RU" dirty="0"/>
          </a:p>
        </p:txBody>
      </p:sp>
      <p:sp>
        <p:nvSpPr>
          <p:cNvPr id="4" name="Номер слайда 3">
            <a:extLst>
              <a:ext uri="{FF2B5EF4-FFF2-40B4-BE49-F238E27FC236}">
                <a16:creationId xmlns:a16="http://schemas.microsoft.com/office/drawing/2014/main" id="{3390F454-E6C9-46F7-B7C5-681C99B916FC}"/>
              </a:ext>
            </a:extLst>
          </p:cNvPr>
          <p:cNvSpPr>
            <a:spLocks noGrp="1"/>
          </p:cNvSpPr>
          <p:nvPr>
            <p:ph type="sldNum" sz="quarter" idx="12"/>
          </p:nvPr>
        </p:nvSpPr>
        <p:spPr/>
        <p:txBody>
          <a:bodyPr/>
          <a:lstStyle/>
          <a:p>
            <a:fld id="{25A42088-C730-408A-A823-60BED1AFCEA0}" type="slidenum">
              <a:rPr lang="ru-RU" smtClean="0"/>
              <a:t>4</a:t>
            </a:fld>
            <a:endParaRPr lang="ru-RU"/>
          </a:p>
        </p:txBody>
      </p:sp>
    </p:spTree>
    <p:extLst>
      <p:ext uri="{BB962C8B-B14F-4D97-AF65-F5344CB8AC3E}">
        <p14:creationId xmlns:p14="http://schemas.microsoft.com/office/powerpoint/2010/main" val="3113699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0D80B0-5DE0-44BA-81F8-C869ECD5A5AB}"/>
              </a:ext>
            </a:extLst>
          </p:cNvPr>
          <p:cNvSpPr>
            <a:spLocks noGrp="1"/>
          </p:cNvSpPr>
          <p:nvPr>
            <p:ph type="title"/>
          </p:nvPr>
        </p:nvSpPr>
        <p:spPr/>
        <p:txBody>
          <a:bodyPr/>
          <a:lstStyle/>
          <a:p>
            <a:r>
              <a:rPr lang="ru-RU" dirty="0"/>
              <a:t>Этапы структурного тестирования</a:t>
            </a:r>
          </a:p>
        </p:txBody>
      </p:sp>
      <p:sp>
        <p:nvSpPr>
          <p:cNvPr id="3" name="Объект 2">
            <a:extLst>
              <a:ext uri="{FF2B5EF4-FFF2-40B4-BE49-F238E27FC236}">
                <a16:creationId xmlns:a16="http://schemas.microsoft.com/office/drawing/2014/main" id="{F81414C9-7E8F-4DC5-9895-DB72B77F84FF}"/>
              </a:ext>
            </a:extLst>
          </p:cNvPr>
          <p:cNvSpPr>
            <a:spLocks noGrp="1"/>
          </p:cNvSpPr>
          <p:nvPr>
            <p:ph idx="1"/>
          </p:nvPr>
        </p:nvSpPr>
        <p:spPr/>
        <p:txBody>
          <a:bodyPr>
            <a:normAutofit/>
          </a:bodyPr>
          <a:lstStyle/>
          <a:p>
            <a:pPr marL="342900" indent="-342900">
              <a:buFont typeface="Wingdings" panose="05000000000000000000" pitchFamily="2" charset="2"/>
              <a:buChar char="Ø"/>
            </a:pPr>
            <a:r>
              <a:rPr lang="ru-RU" b="1" dirty="0"/>
              <a:t>Создание графа потока управления: </a:t>
            </a:r>
            <a:r>
              <a:rPr lang="ru-RU" dirty="0"/>
              <a:t>Из данного исходного кода создается граф потока управления вручную или с помощью программного обеспечения.</a:t>
            </a:r>
          </a:p>
          <a:p>
            <a:pPr marL="342900" indent="-342900">
              <a:buFont typeface="Wingdings" panose="05000000000000000000" pitchFamily="2" charset="2"/>
              <a:buChar char="Ø"/>
            </a:pPr>
            <a:r>
              <a:rPr lang="ru-RU" b="1" dirty="0"/>
              <a:t>Целевой охват: </a:t>
            </a:r>
            <a:r>
              <a:rPr lang="ru-RU" dirty="0"/>
              <a:t>Цель покрытия определяется по графу потока управления, который включает узлы, ребра, пути, ветви и т. Д.</a:t>
            </a:r>
          </a:p>
          <a:p>
            <a:pPr marL="342900" indent="-342900">
              <a:buFont typeface="Wingdings" panose="05000000000000000000" pitchFamily="2" charset="2"/>
              <a:buChar char="Ø"/>
            </a:pPr>
            <a:r>
              <a:rPr lang="ru-RU" b="1" dirty="0"/>
              <a:t>Создание тестового примера: </a:t>
            </a:r>
            <a:r>
              <a:rPr lang="ru-RU" dirty="0"/>
              <a:t>Тестовые примеры создаются с использованием графов потока управления, чтобы охватить определенную цель покрытия.</a:t>
            </a:r>
          </a:p>
          <a:p>
            <a:pPr marL="342900" indent="-342900">
              <a:buFont typeface="Wingdings" panose="05000000000000000000" pitchFamily="2" charset="2"/>
              <a:buChar char="Ø"/>
            </a:pPr>
            <a:r>
              <a:rPr lang="ru-RU" b="1" dirty="0"/>
              <a:t>Выполнение тестового случая: </a:t>
            </a:r>
            <a:r>
              <a:rPr lang="ru-RU" dirty="0"/>
              <a:t>После создания тестовых примеров по целевому покрытию выполняются следующие тестовые примеры.</a:t>
            </a:r>
          </a:p>
          <a:p>
            <a:pPr marL="342900" indent="-342900">
              <a:buFont typeface="Wingdings" panose="05000000000000000000" pitchFamily="2" charset="2"/>
              <a:buChar char="Ø"/>
            </a:pPr>
            <a:r>
              <a:rPr lang="ru-RU" b="1" dirty="0"/>
              <a:t>Анализ: </a:t>
            </a:r>
            <a:r>
              <a:rPr lang="ru-RU" dirty="0"/>
              <a:t>Проанализируйте результат и выясните, безошибочна ли программа или есть дефекты.</a:t>
            </a:r>
          </a:p>
        </p:txBody>
      </p:sp>
      <p:sp>
        <p:nvSpPr>
          <p:cNvPr id="4" name="Номер слайда 3">
            <a:extLst>
              <a:ext uri="{FF2B5EF4-FFF2-40B4-BE49-F238E27FC236}">
                <a16:creationId xmlns:a16="http://schemas.microsoft.com/office/drawing/2014/main" id="{716B8F9A-4ADD-48B3-A125-CE66A5497D27}"/>
              </a:ext>
            </a:extLst>
          </p:cNvPr>
          <p:cNvSpPr>
            <a:spLocks noGrp="1"/>
          </p:cNvSpPr>
          <p:nvPr>
            <p:ph type="sldNum" sz="quarter" idx="12"/>
          </p:nvPr>
        </p:nvSpPr>
        <p:spPr/>
        <p:txBody>
          <a:bodyPr/>
          <a:lstStyle/>
          <a:p>
            <a:fld id="{25A42088-C730-408A-A823-60BED1AFCEA0}" type="slidenum">
              <a:rPr lang="ru-RU" smtClean="0"/>
              <a:t>5</a:t>
            </a:fld>
            <a:endParaRPr lang="ru-RU"/>
          </a:p>
        </p:txBody>
      </p:sp>
    </p:spTree>
    <p:extLst>
      <p:ext uri="{BB962C8B-B14F-4D97-AF65-F5344CB8AC3E}">
        <p14:creationId xmlns:p14="http://schemas.microsoft.com/office/powerpoint/2010/main" val="1963129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2F215CA-038A-4F95-ACF5-724F2D3E0761}"/>
              </a:ext>
            </a:extLst>
          </p:cNvPr>
          <p:cNvSpPr>
            <a:spLocks noGrp="1"/>
          </p:cNvSpPr>
          <p:nvPr>
            <p:ph type="title"/>
          </p:nvPr>
        </p:nvSpPr>
        <p:spPr/>
        <p:txBody>
          <a:bodyPr/>
          <a:lstStyle/>
          <a:p>
            <a:r>
              <a:rPr lang="ru-RU" dirty="0"/>
              <a:t>Граф потока управления</a:t>
            </a:r>
          </a:p>
        </p:txBody>
      </p:sp>
      <p:sp>
        <p:nvSpPr>
          <p:cNvPr id="3" name="Объект 2">
            <a:extLst>
              <a:ext uri="{FF2B5EF4-FFF2-40B4-BE49-F238E27FC236}">
                <a16:creationId xmlns:a16="http://schemas.microsoft.com/office/drawing/2014/main" id="{1F7608B3-B876-493D-A0F7-E7949F881AB0}"/>
              </a:ext>
            </a:extLst>
          </p:cNvPr>
          <p:cNvSpPr>
            <a:spLocks noGrp="1"/>
          </p:cNvSpPr>
          <p:nvPr>
            <p:ph idx="1"/>
          </p:nvPr>
        </p:nvSpPr>
        <p:spPr/>
        <p:txBody>
          <a:bodyPr>
            <a:normAutofit/>
          </a:bodyPr>
          <a:lstStyle/>
          <a:p>
            <a:r>
              <a:rPr lang="ru-RU" dirty="0"/>
              <a:t>В графе потока управления каждый узел (вершина) графа соответствует </a:t>
            </a:r>
            <a:r>
              <a:rPr lang="ru-RU" b="1" dirty="0"/>
              <a:t>базовому блоку </a:t>
            </a:r>
            <a:r>
              <a:rPr lang="ru-RU" dirty="0"/>
              <a:t>— прямолинейному участку кода, не содержащему в себе ни операций передачи управления, ни точек, на которые управление передаётся из других частей программы. Имеется лишь два исключения:</a:t>
            </a:r>
          </a:p>
          <a:p>
            <a:pPr marL="342900" indent="-342900">
              <a:buFont typeface="Wingdings" panose="05000000000000000000" pitchFamily="2" charset="2"/>
              <a:buChar char="Ø"/>
            </a:pPr>
            <a:r>
              <a:rPr lang="ru-RU" dirty="0"/>
              <a:t>точка, на которую выполняется переход, является первой инструкцией в базовом блоке;</a:t>
            </a:r>
          </a:p>
          <a:p>
            <a:pPr marL="342900" indent="-342900">
              <a:buFont typeface="Wingdings" panose="05000000000000000000" pitchFamily="2" charset="2"/>
              <a:buChar char="Ø"/>
            </a:pPr>
            <a:r>
              <a:rPr lang="ru-RU" dirty="0"/>
              <a:t>базовый блок завершается инструкцией перехода.</a:t>
            </a:r>
          </a:p>
          <a:p>
            <a:r>
              <a:rPr lang="ru-RU" dirty="0"/>
              <a:t>Направленные дуги используются в графе для представления инструкций перехода. Также, в большинстве реализаций добавлено два специализированных блока:</a:t>
            </a:r>
          </a:p>
          <a:p>
            <a:pPr marL="342900" indent="-342900">
              <a:buFont typeface="Wingdings" panose="05000000000000000000" pitchFamily="2" charset="2"/>
              <a:buChar char="Ø"/>
            </a:pPr>
            <a:r>
              <a:rPr lang="ru-RU" dirty="0"/>
              <a:t>входной блок, через который управление входит в граф;</a:t>
            </a:r>
          </a:p>
          <a:p>
            <a:pPr marL="342900" indent="-342900">
              <a:buFont typeface="Wingdings" panose="05000000000000000000" pitchFamily="2" charset="2"/>
              <a:buChar char="Ø"/>
            </a:pPr>
            <a:r>
              <a:rPr lang="ru-RU" dirty="0"/>
              <a:t>выходной блок, который завершает все пути в данном графе.</a:t>
            </a:r>
          </a:p>
        </p:txBody>
      </p:sp>
      <p:sp>
        <p:nvSpPr>
          <p:cNvPr id="4" name="Номер слайда 3">
            <a:extLst>
              <a:ext uri="{FF2B5EF4-FFF2-40B4-BE49-F238E27FC236}">
                <a16:creationId xmlns:a16="http://schemas.microsoft.com/office/drawing/2014/main" id="{7AC61475-BF03-49D9-9CE3-466FC0186080}"/>
              </a:ext>
            </a:extLst>
          </p:cNvPr>
          <p:cNvSpPr>
            <a:spLocks noGrp="1"/>
          </p:cNvSpPr>
          <p:nvPr>
            <p:ph type="sldNum" sz="quarter" idx="12"/>
          </p:nvPr>
        </p:nvSpPr>
        <p:spPr/>
        <p:txBody>
          <a:bodyPr/>
          <a:lstStyle/>
          <a:p>
            <a:fld id="{25A42088-C730-408A-A823-60BED1AFCEA0}" type="slidenum">
              <a:rPr lang="ru-RU" smtClean="0"/>
              <a:t>6</a:t>
            </a:fld>
            <a:endParaRPr lang="ru-RU"/>
          </a:p>
        </p:txBody>
      </p:sp>
    </p:spTree>
    <p:extLst>
      <p:ext uri="{BB962C8B-B14F-4D97-AF65-F5344CB8AC3E}">
        <p14:creationId xmlns:p14="http://schemas.microsoft.com/office/powerpoint/2010/main" val="1474045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D0A9D109-D7AD-401C-86D9-582CEBC3354D}"/>
              </a:ext>
            </a:extLst>
          </p:cNvPr>
          <p:cNvSpPr>
            <a:spLocks noGrp="1"/>
          </p:cNvSpPr>
          <p:nvPr>
            <p:ph idx="1"/>
          </p:nvPr>
        </p:nvSpPr>
        <p:spPr/>
        <p:txBody>
          <a:bodyPr/>
          <a:lstStyle/>
          <a:p>
            <a:r>
              <a:rPr lang="ru-RU" dirty="0"/>
              <a:t>Возможны два случая: у блока или подграфа отсутствует:</a:t>
            </a:r>
          </a:p>
          <a:p>
            <a:pPr marL="342900" indent="-342900">
              <a:buFont typeface="Wingdings" panose="05000000000000000000" pitchFamily="2" charset="2"/>
              <a:buChar char="Ø"/>
            </a:pPr>
            <a:r>
              <a:rPr lang="ru-RU" dirty="0"/>
              <a:t>входной блок («мёртвый» код);</a:t>
            </a:r>
          </a:p>
          <a:p>
            <a:pPr marL="342900" indent="-342900">
              <a:buFont typeface="Wingdings" panose="05000000000000000000" pitchFamily="2" charset="2"/>
              <a:buChar char="Ø"/>
            </a:pPr>
            <a:r>
              <a:rPr lang="ru-RU" dirty="0"/>
              <a:t>выходной блок (бесконечный цикл).</a:t>
            </a:r>
          </a:p>
          <a:p>
            <a:endParaRPr lang="ru-RU" dirty="0"/>
          </a:p>
          <a:p>
            <a:r>
              <a:rPr lang="ru-RU" dirty="0"/>
              <a:t>Блок, не связанный со входным блоком, считается недостижимым («мёртвый» код). </a:t>
            </a:r>
            <a:r>
              <a:rPr lang="ru-RU" b="1" dirty="0"/>
              <a:t>Достижимость</a:t>
            </a:r>
            <a:r>
              <a:rPr lang="ru-RU" dirty="0"/>
              <a:t> — одно из свойств графа, используемое при оптимизациях. Недостижимый блок может быть удалён из программы.</a:t>
            </a:r>
          </a:p>
          <a:p>
            <a:r>
              <a:rPr lang="ru-RU" dirty="0"/>
              <a:t>Блок, не связанный с выходным блоком, содержит бесконечный цикл. Полагаясь на это высказывание, удаётся обнаружить не все бесконечные циклы из-за </a:t>
            </a:r>
            <a:r>
              <a:rPr lang="ru-RU" i="1" dirty="0"/>
              <a:t>проблемы остановки</a:t>
            </a:r>
            <a:r>
              <a:rPr lang="ru-RU" dirty="0"/>
              <a:t>.</a:t>
            </a:r>
          </a:p>
        </p:txBody>
      </p:sp>
      <p:sp>
        <p:nvSpPr>
          <p:cNvPr id="4" name="Номер слайда 3">
            <a:extLst>
              <a:ext uri="{FF2B5EF4-FFF2-40B4-BE49-F238E27FC236}">
                <a16:creationId xmlns:a16="http://schemas.microsoft.com/office/drawing/2014/main" id="{835850B4-E01E-4D69-9F93-188C6B14A0D7}"/>
              </a:ext>
            </a:extLst>
          </p:cNvPr>
          <p:cNvSpPr>
            <a:spLocks noGrp="1"/>
          </p:cNvSpPr>
          <p:nvPr>
            <p:ph type="sldNum" sz="quarter" idx="12"/>
          </p:nvPr>
        </p:nvSpPr>
        <p:spPr/>
        <p:txBody>
          <a:bodyPr/>
          <a:lstStyle/>
          <a:p>
            <a:fld id="{25A42088-C730-408A-A823-60BED1AFCEA0}" type="slidenum">
              <a:rPr lang="ru-RU" smtClean="0"/>
              <a:t>7</a:t>
            </a:fld>
            <a:endParaRPr lang="ru-RU"/>
          </a:p>
        </p:txBody>
      </p:sp>
    </p:spTree>
    <p:extLst>
      <p:ext uri="{BB962C8B-B14F-4D97-AF65-F5344CB8AC3E}">
        <p14:creationId xmlns:p14="http://schemas.microsoft.com/office/powerpoint/2010/main" val="336932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E5C25B-48E8-426C-9523-90A1CEDE24F3}"/>
              </a:ext>
            </a:extLst>
          </p:cNvPr>
          <p:cNvSpPr>
            <a:spLocks noGrp="1"/>
          </p:cNvSpPr>
          <p:nvPr>
            <p:ph type="title"/>
          </p:nvPr>
        </p:nvSpPr>
        <p:spPr/>
        <p:txBody>
          <a:bodyPr/>
          <a:lstStyle/>
          <a:p>
            <a:r>
              <a:rPr lang="ru-RU" dirty="0"/>
              <a:t>Справка: проблема остановки</a:t>
            </a:r>
          </a:p>
        </p:txBody>
      </p:sp>
      <p:sp>
        <p:nvSpPr>
          <p:cNvPr id="3" name="Объект 2">
            <a:extLst>
              <a:ext uri="{FF2B5EF4-FFF2-40B4-BE49-F238E27FC236}">
                <a16:creationId xmlns:a16="http://schemas.microsoft.com/office/drawing/2014/main" id="{8D661721-C952-4033-AC77-6B661B293E67}"/>
              </a:ext>
            </a:extLst>
          </p:cNvPr>
          <p:cNvSpPr>
            <a:spLocks noGrp="1"/>
          </p:cNvSpPr>
          <p:nvPr>
            <p:ph idx="1"/>
          </p:nvPr>
        </p:nvSpPr>
        <p:spPr/>
        <p:txBody>
          <a:bodyPr>
            <a:normAutofit/>
          </a:bodyPr>
          <a:lstStyle/>
          <a:p>
            <a:r>
              <a:rPr lang="ru-RU" sz="2400" i="1" dirty="0"/>
              <a:t>Даны описание процедуры и её начальные входные данные. Требуется определить: завершится ли когда-либо выполнение процедуры с этими данными; либо, что процедура всё время будет работать без остановки.</a:t>
            </a:r>
          </a:p>
          <a:p>
            <a:r>
              <a:rPr lang="ru-RU" sz="2400" i="1" dirty="0"/>
              <a:t>Алан Тьюринг доказал в 1936 году, что проблема остановки неразрешима на машине Тьюринга. Другими словами, не существует общего алгоритма решения этой проблемы.</a:t>
            </a:r>
          </a:p>
        </p:txBody>
      </p:sp>
      <p:sp>
        <p:nvSpPr>
          <p:cNvPr id="4" name="Номер слайда 3">
            <a:extLst>
              <a:ext uri="{FF2B5EF4-FFF2-40B4-BE49-F238E27FC236}">
                <a16:creationId xmlns:a16="http://schemas.microsoft.com/office/drawing/2014/main" id="{69696008-D286-4F1F-AA6F-253DC0BD4FAB}"/>
              </a:ext>
            </a:extLst>
          </p:cNvPr>
          <p:cNvSpPr>
            <a:spLocks noGrp="1"/>
          </p:cNvSpPr>
          <p:nvPr>
            <p:ph type="sldNum" sz="quarter" idx="12"/>
          </p:nvPr>
        </p:nvSpPr>
        <p:spPr/>
        <p:txBody>
          <a:bodyPr/>
          <a:lstStyle/>
          <a:p>
            <a:fld id="{25A42088-C730-408A-A823-60BED1AFCEA0}" type="slidenum">
              <a:rPr lang="ru-RU" smtClean="0"/>
              <a:t>8</a:t>
            </a:fld>
            <a:endParaRPr lang="ru-RU"/>
          </a:p>
        </p:txBody>
      </p:sp>
    </p:spTree>
    <p:extLst>
      <p:ext uri="{BB962C8B-B14F-4D97-AF65-F5344CB8AC3E}">
        <p14:creationId xmlns:p14="http://schemas.microsoft.com/office/powerpoint/2010/main" val="170993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910918-9B6A-468B-8CEB-A7A38A03B32F}"/>
              </a:ext>
            </a:extLst>
          </p:cNvPr>
          <p:cNvSpPr>
            <a:spLocks noGrp="1"/>
          </p:cNvSpPr>
          <p:nvPr>
            <p:ph type="title"/>
          </p:nvPr>
        </p:nvSpPr>
        <p:spPr/>
        <p:txBody>
          <a:bodyPr>
            <a:normAutofit fontScale="90000"/>
          </a:bodyPr>
          <a:lstStyle/>
          <a:p>
            <a:r>
              <a:rPr lang="ru-RU" dirty="0"/>
              <a:t>Критерии тестирования на основе потока управления</a:t>
            </a:r>
          </a:p>
        </p:txBody>
      </p:sp>
      <p:sp>
        <p:nvSpPr>
          <p:cNvPr id="3" name="Объект 2">
            <a:extLst>
              <a:ext uri="{FF2B5EF4-FFF2-40B4-BE49-F238E27FC236}">
                <a16:creationId xmlns:a16="http://schemas.microsoft.com/office/drawing/2014/main" id="{3223189D-13DA-4C27-82F2-1D1914B6AD51}"/>
              </a:ext>
            </a:extLst>
          </p:cNvPr>
          <p:cNvSpPr>
            <a:spLocks noGrp="1"/>
          </p:cNvSpPr>
          <p:nvPr>
            <p:ph idx="1"/>
          </p:nvPr>
        </p:nvSpPr>
        <p:spPr>
          <a:xfrm>
            <a:off x="1371600" y="1716133"/>
            <a:ext cx="9601200" cy="4754879"/>
          </a:xfrm>
        </p:spPr>
        <p:txBody>
          <a:bodyPr>
            <a:normAutofit/>
          </a:bodyPr>
          <a:lstStyle/>
          <a:p>
            <a:pPr marL="342900" indent="-342900" algn="just">
              <a:buFont typeface="Wingdings" panose="05000000000000000000" pitchFamily="2" charset="2"/>
              <a:buChar char="Ø"/>
            </a:pPr>
            <a:r>
              <a:rPr lang="ru-RU" sz="2400" b="0" dirty="0">
                <a:effectLst/>
              </a:rPr>
              <a:t>покрытие </a:t>
            </a:r>
            <a:r>
              <a:rPr lang="ru-RU" sz="2400" b="1" dirty="0">
                <a:effectLst/>
              </a:rPr>
              <a:t>операторов (вершин графа) – </a:t>
            </a:r>
            <a:r>
              <a:rPr lang="ru-RU" sz="2400" b="0" dirty="0">
                <a:effectLst/>
              </a:rPr>
              <a:t>заключается в выполнении </a:t>
            </a:r>
            <a:r>
              <a:rPr lang="ru-RU" sz="2400" b="1" dirty="0">
                <a:effectLst/>
              </a:rPr>
              <a:t>каждого оператора программы </a:t>
            </a:r>
            <a:r>
              <a:rPr lang="ru-RU" sz="2400" b="0" dirty="0">
                <a:effectLst/>
              </a:rPr>
              <a:t>хотя бы</a:t>
            </a:r>
            <a:r>
              <a:rPr lang="ru-RU" sz="2400" b="1" dirty="0">
                <a:effectLst/>
              </a:rPr>
              <a:t> один раз</a:t>
            </a:r>
            <a:r>
              <a:rPr lang="ru-RU" sz="2400" b="0" dirty="0">
                <a:effectLst/>
              </a:rPr>
              <a:t>. Этот критерий является весьма слабым (пропускает много ошибок), так как выполнение каждого оператора программы хотя бы один раз есть </a:t>
            </a:r>
            <a:r>
              <a:rPr lang="ru-RU" sz="2400" b="1" dirty="0">
                <a:effectLst/>
              </a:rPr>
              <a:t>необходимое, но не достаточное условие для приемлемого тестирования по методу “белого ящика”</a:t>
            </a:r>
            <a:r>
              <a:rPr lang="ru-RU" sz="2400" b="0" dirty="0">
                <a:effectLst/>
              </a:rPr>
              <a:t>;</a:t>
            </a:r>
          </a:p>
          <a:p>
            <a:pPr marL="342900" indent="-342900" algn="just">
              <a:buFont typeface="Wingdings" panose="05000000000000000000" pitchFamily="2" charset="2"/>
              <a:buChar char="Ø"/>
            </a:pPr>
            <a:r>
              <a:rPr lang="ru-RU" sz="2400" b="0" dirty="0">
                <a:effectLst/>
              </a:rPr>
              <a:t>покрытие </a:t>
            </a:r>
            <a:r>
              <a:rPr lang="ru-RU" sz="2400" b="1" dirty="0">
                <a:effectLst/>
              </a:rPr>
              <a:t>ветвей (решений)</a:t>
            </a:r>
            <a:r>
              <a:rPr lang="ru-RU" sz="2400" b="0" dirty="0">
                <a:effectLst/>
              </a:rPr>
              <a:t> – при использовании этого критерия </a:t>
            </a:r>
            <a:r>
              <a:rPr lang="ru-RU" sz="2400" b="1" dirty="0">
                <a:effectLst/>
              </a:rPr>
              <a:t>каждая дуга должна быть пройдена хотя бы один раз</a:t>
            </a:r>
            <a:r>
              <a:rPr lang="ru-RU" sz="2400" b="0" dirty="0">
                <a:effectLst/>
              </a:rPr>
              <a:t>. Критерий покрытия решений обычно удовлетворяет критерию покрытия операторов, поскольку каждый оператор лежит на некотором пути.</a:t>
            </a:r>
          </a:p>
        </p:txBody>
      </p:sp>
      <p:sp>
        <p:nvSpPr>
          <p:cNvPr id="4" name="Номер слайда 3">
            <a:extLst>
              <a:ext uri="{FF2B5EF4-FFF2-40B4-BE49-F238E27FC236}">
                <a16:creationId xmlns:a16="http://schemas.microsoft.com/office/drawing/2014/main" id="{EC5BD3B2-7ECA-456F-9214-FC57F5014E0E}"/>
              </a:ext>
            </a:extLst>
          </p:cNvPr>
          <p:cNvSpPr>
            <a:spLocks noGrp="1"/>
          </p:cNvSpPr>
          <p:nvPr>
            <p:ph type="sldNum" sz="quarter" idx="12"/>
          </p:nvPr>
        </p:nvSpPr>
        <p:spPr/>
        <p:txBody>
          <a:bodyPr/>
          <a:lstStyle/>
          <a:p>
            <a:fld id="{25A42088-C730-408A-A823-60BED1AFCEA0}" type="slidenum">
              <a:rPr lang="ru-RU" smtClean="0"/>
              <a:t>9</a:t>
            </a:fld>
            <a:endParaRPr lang="ru-RU"/>
          </a:p>
        </p:txBody>
      </p:sp>
    </p:spTree>
    <p:extLst>
      <p:ext uri="{BB962C8B-B14F-4D97-AF65-F5344CB8AC3E}">
        <p14:creationId xmlns:p14="http://schemas.microsoft.com/office/powerpoint/2010/main" val="2434264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FFD9919C-1978-49B6-875C-5CED167DF9A8}"/>
              </a:ext>
            </a:extLst>
          </p:cNvPr>
          <p:cNvSpPr>
            <a:spLocks noGrp="1"/>
          </p:cNvSpPr>
          <p:nvPr>
            <p:ph idx="1"/>
          </p:nvPr>
        </p:nvSpPr>
        <p:spPr>
          <a:xfrm>
            <a:off x="1371600" y="619125"/>
            <a:ext cx="9601200" cy="5940606"/>
          </a:xfrm>
        </p:spPr>
        <p:txBody>
          <a:bodyPr>
            <a:normAutofit fontScale="92500" lnSpcReduction="10000"/>
          </a:bodyPr>
          <a:lstStyle/>
          <a:p>
            <a:pPr marL="342900" indent="-342900">
              <a:buFont typeface="Wingdings" panose="05000000000000000000" pitchFamily="2" charset="2"/>
              <a:buChar char="Ø"/>
            </a:pPr>
            <a:r>
              <a:rPr lang="ru-RU" sz="2400" b="0" dirty="0">
                <a:effectLst/>
              </a:rPr>
              <a:t>покрытие </a:t>
            </a:r>
            <a:r>
              <a:rPr lang="ru-RU" sz="2400" b="1" dirty="0">
                <a:effectLst/>
              </a:rPr>
              <a:t>условий</a:t>
            </a:r>
            <a:r>
              <a:rPr lang="ru-RU" sz="2400" b="0" dirty="0">
                <a:effectLst/>
              </a:rPr>
              <a:t> – </a:t>
            </a:r>
            <a:r>
              <a:rPr lang="ru-RU" sz="2400" b="1" dirty="0">
                <a:effectLst/>
              </a:rPr>
              <a:t>каждое логическое условие</a:t>
            </a:r>
            <a:r>
              <a:rPr lang="ru-RU" sz="2400" b="0" dirty="0">
                <a:effectLst/>
              </a:rPr>
              <a:t> в программе </a:t>
            </a:r>
            <a:r>
              <a:rPr lang="ru-RU" sz="2400" b="1" dirty="0">
                <a:effectLst/>
              </a:rPr>
              <a:t>должно выполняться хотя бы один раз</a:t>
            </a:r>
            <a:r>
              <a:rPr lang="ru-RU" sz="2400" b="0" dirty="0">
                <a:effectLst/>
              </a:rPr>
              <a:t>.</a:t>
            </a:r>
          </a:p>
          <a:p>
            <a:pPr marL="342900" indent="-342900">
              <a:buFont typeface="Wingdings" panose="05000000000000000000" pitchFamily="2" charset="2"/>
              <a:buChar char="Ø"/>
            </a:pPr>
            <a:r>
              <a:rPr lang="ru-RU" sz="2400" b="0" dirty="0">
                <a:effectLst/>
              </a:rPr>
              <a:t>покрытие </a:t>
            </a:r>
            <a:r>
              <a:rPr lang="ru-RU" sz="2400" b="1" dirty="0">
                <a:effectLst/>
              </a:rPr>
              <a:t>условий/решений</a:t>
            </a:r>
            <a:r>
              <a:rPr lang="ru-RU" sz="2400" b="0" dirty="0">
                <a:effectLst/>
              </a:rPr>
              <a:t> – поскольку критерии покрытия решений и условий не заменяют друг друга, поэтому их можно объединить, получив критерий покрытия </a:t>
            </a:r>
            <a:r>
              <a:rPr lang="ru-RU" sz="2400" b="1" dirty="0">
                <a:effectLst/>
              </a:rPr>
              <a:t>условий/решений</a:t>
            </a:r>
            <a:r>
              <a:rPr lang="ru-RU" sz="2400" b="0" dirty="0">
                <a:effectLst/>
              </a:rPr>
              <a:t>. Он требует такого набора тестов, чтобы все возможные результаты каждого условия в решении выполнялись по крайней мере один раз и все результаты каждого решения выполнялись по крайней мере один раз. </a:t>
            </a:r>
            <a:r>
              <a:rPr lang="ru-RU" sz="2400" b="1" dirty="0">
                <a:effectLst/>
              </a:rPr>
              <a:t>Недостатком</a:t>
            </a:r>
            <a:r>
              <a:rPr lang="ru-RU" sz="2400" b="0" dirty="0">
                <a:effectLst/>
              </a:rPr>
              <a:t> критерия покрытия </a:t>
            </a:r>
            <a:r>
              <a:rPr lang="ru-RU" sz="2400" b="1" dirty="0">
                <a:effectLst/>
              </a:rPr>
              <a:t>решений/условий</a:t>
            </a:r>
            <a:r>
              <a:rPr lang="ru-RU" sz="2400" b="0" dirty="0">
                <a:effectLst/>
              </a:rPr>
              <a:t> является </a:t>
            </a:r>
            <a:r>
              <a:rPr lang="ru-RU" sz="2400" b="1" dirty="0">
                <a:effectLst/>
              </a:rPr>
              <a:t>невозможность</a:t>
            </a:r>
            <a:r>
              <a:rPr lang="ru-RU" sz="2400" b="0" dirty="0">
                <a:effectLst/>
              </a:rPr>
              <a:t> его </a:t>
            </a:r>
            <a:r>
              <a:rPr lang="ru-RU" sz="2400" b="1" dirty="0">
                <a:effectLst/>
              </a:rPr>
              <a:t>применения для выполнения всех результатов всех условий (некоторые условия могут быть скрыты другими условиями). </a:t>
            </a:r>
            <a:br>
              <a:rPr lang="en-US" sz="2400" b="1" dirty="0">
                <a:effectLst/>
              </a:rPr>
            </a:br>
            <a:br>
              <a:rPr lang="en-US" sz="2400" b="1" dirty="0">
                <a:effectLst/>
              </a:rPr>
            </a:br>
            <a:r>
              <a:rPr lang="ru-RU" sz="2400" b="0" dirty="0">
                <a:effectLst/>
              </a:rPr>
              <a:t>Например, результаты условий при выполнении операций </a:t>
            </a:r>
            <a:r>
              <a:rPr lang="ru-RU" sz="2400" b="1" dirty="0">
                <a:effectLst/>
              </a:rPr>
              <a:t>И</a:t>
            </a:r>
            <a:r>
              <a:rPr lang="ru-RU" sz="2400" b="0" dirty="0">
                <a:effectLst/>
              </a:rPr>
              <a:t> </a:t>
            </a:r>
            <a:r>
              <a:rPr lang="ru-RU" sz="2400" b="0" dirty="0" err="1">
                <a:effectLst/>
              </a:rPr>
              <a:t>и</a:t>
            </a:r>
            <a:r>
              <a:rPr lang="ru-RU" sz="2400" b="0" dirty="0">
                <a:effectLst/>
              </a:rPr>
              <a:t> </a:t>
            </a:r>
            <a:r>
              <a:rPr lang="ru-RU" sz="2400" b="1" dirty="0">
                <a:effectLst/>
              </a:rPr>
              <a:t>ИЛИ</a:t>
            </a:r>
            <a:r>
              <a:rPr lang="ru-RU" sz="2400" b="0" dirty="0">
                <a:effectLst/>
              </a:rPr>
              <a:t> могут блокировать действия других условий. Так, если условие </a:t>
            </a:r>
            <a:r>
              <a:rPr lang="ru-RU" sz="2400" b="1" dirty="0">
                <a:effectLst/>
              </a:rPr>
              <a:t>И </a:t>
            </a:r>
            <a:r>
              <a:rPr lang="ru-RU" sz="2400" b="0" dirty="0">
                <a:effectLst/>
              </a:rPr>
              <a:t>есть </a:t>
            </a:r>
            <a:r>
              <a:rPr lang="ru-RU" sz="2400" b="1" dirty="0">
                <a:effectLst/>
              </a:rPr>
              <a:t>ложь</a:t>
            </a:r>
            <a:r>
              <a:rPr lang="ru-RU" sz="2400" b="0" dirty="0">
                <a:effectLst/>
              </a:rPr>
              <a:t>, то никакое из последующих условий в выражении не будет выполнено. Аналогично, если условие </a:t>
            </a:r>
            <a:r>
              <a:rPr lang="ru-RU" sz="2400" b="1" dirty="0">
                <a:effectLst/>
              </a:rPr>
              <a:t>ИЛИ </a:t>
            </a:r>
            <a:r>
              <a:rPr lang="ru-RU" sz="2400" b="0" dirty="0">
                <a:effectLst/>
              </a:rPr>
              <a:t>есть</a:t>
            </a:r>
            <a:r>
              <a:rPr lang="ru-RU" sz="2400" b="1" dirty="0">
                <a:effectLst/>
              </a:rPr>
              <a:t> истина</a:t>
            </a:r>
            <a:r>
              <a:rPr lang="ru-RU" sz="2400" b="0" dirty="0">
                <a:effectLst/>
              </a:rPr>
              <a:t>, то никакое из последующих условий в выражении не будет выполнено.</a:t>
            </a:r>
          </a:p>
          <a:p>
            <a:pPr marL="342900" indent="-342900">
              <a:buFont typeface="Wingdings" panose="05000000000000000000" pitchFamily="2" charset="2"/>
              <a:buChar char="Ø"/>
            </a:pPr>
            <a:endParaRPr lang="ru-RU" sz="2400" dirty="0"/>
          </a:p>
        </p:txBody>
      </p:sp>
      <p:sp>
        <p:nvSpPr>
          <p:cNvPr id="4" name="Номер слайда 3">
            <a:extLst>
              <a:ext uri="{FF2B5EF4-FFF2-40B4-BE49-F238E27FC236}">
                <a16:creationId xmlns:a16="http://schemas.microsoft.com/office/drawing/2014/main" id="{7113A4E4-AE71-4E4D-8150-A0C325B19C0F}"/>
              </a:ext>
            </a:extLst>
          </p:cNvPr>
          <p:cNvSpPr>
            <a:spLocks noGrp="1"/>
          </p:cNvSpPr>
          <p:nvPr>
            <p:ph type="sldNum" sz="quarter" idx="12"/>
          </p:nvPr>
        </p:nvSpPr>
        <p:spPr/>
        <p:txBody>
          <a:bodyPr/>
          <a:lstStyle/>
          <a:p>
            <a:fld id="{25A42088-C730-408A-A823-60BED1AFCEA0}" type="slidenum">
              <a:rPr lang="ru-RU" smtClean="0"/>
              <a:t>10</a:t>
            </a:fld>
            <a:endParaRPr lang="ru-RU"/>
          </a:p>
        </p:txBody>
      </p:sp>
    </p:spTree>
    <p:extLst>
      <p:ext uri="{BB962C8B-B14F-4D97-AF65-F5344CB8AC3E}">
        <p14:creationId xmlns:p14="http://schemas.microsoft.com/office/powerpoint/2010/main" val="2501272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BD527179-5055-4B02-8B2B-A20C05CCF376}"/>
              </a:ext>
            </a:extLst>
          </p:cNvPr>
          <p:cNvSpPr>
            <a:spLocks noGrp="1"/>
          </p:cNvSpPr>
          <p:nvPr>
            <p:ph idx="1"/>
          </p:nvPr>
        </p:nvSpPr>
        <p:spPr>
          <a:xfrm>
            <a:off x="1371600" y="228601"/>
            <a:ext cx="9601200" cy="6032862"/>
          </a:xfrm>
        </p:spPr>
        <p:txBody>
          <a:bodyPr>
            <a:normAutofit lnSpcReduction="10000"/>
          </a:bodyPr>
          <a:lstStyle/>
          <a:p>
            <a:pPr marL="342900" indent="-342900" algn="just">
              <a:buFont typeface="Wingdings" panose="05000000000000000000" pitchFamily="2" charset="2"/>
              <a:buChar char="Ø"/>
            </a:pPr>
            <a:r>
              <a:rPr lang="ru-RU" sz="2400" b="1" dirty="0">
                <a:effectLst/>
              </a:rPr>
              <a:t>комбинаторное покрытие условий – </a:t>
            </a:r>
            <a:r>
              <a:rPr lang="ru-RU" sz="2400" b="0" dirty="0">
                <a:effectLst/>
              </a:rPr>
              <a:t>требует такого набора тестов, чтобы </a:t>
            </a:r>
            <a:r>
              <a:rPr lang="ru-RU" sz="2400" b="1" dirty="0">
                <a:effectLst/>
              </a:rPr>
              <a:t>все возможные комбинации результатов условия</a:t>
            </a:r>
            <a:r>
              <a:rPr lang="ru-RU" sz="2400" b="0" dirty="0">
                <a:effectLst/>
              </a:rPr>
              <a:t> в каждом решении </a:t>
            </a:r>
            <a:r>
              <a:rPr lang="ru-RU" sz="2400" b="1" dirty="0">
                <a:effectLst/>
              </a:rPr>
              <a:t>выполнялись по крайней мере один раз</a:t>
            </a:r>
            <a:r>
              <a:rPr lang="ru-RU" sz="2400" b="0" dirty="0">
                <a:effectLst/>
              </a:rPr>
              <a:t>. Слово </a:t>
            </a:r>
            <a:r>
              <a:rPr lang="ru-RU" sz="2400" b="1" dirty="0">
                <a:effectLst/>
              </a:rPr>
              <a:t>возможные </a:t>
            </a:r>
            <a:r>
              <a:rPr lang="ru-RU" sz="2400" b="0" dirty="0">
                <a:effectLst/>
              </a:rPr>
              <a:t>употреблено потому, что не все комбинации условий могут быть реализуемыми; например, в выражении </a:t>
            </a:r>
            <a:r>
              <a:rPr lang="ru-RU" sz="2400" b="1" dirty="0">
                <a:effectLst/>
              </a:rPr>
              <a:t>(A&gt;2) &amp; (A&lt;10)</a:t>
            </a:r>
            <a:r>
              <a:rPr lang="ru-RU" sz="2400" b="0" dirty="0">
                <a:effectLst/>
              </a:rPr>
              <a:t> могут быть реализованы только три комбинации условий. Набор тестов, удовлетворяющий критерию комбинаторного покрытия условий, удовлетворяет также и критериям покрытия решений, покрытия условий и покрытия решений/условий;</a:t>
            </a:r>
          </a:p>
          <a:p>
            <a:pPr marL="342900" indent="-342900" algn="just">
              <a:buFont typeface="Wingdings" panose="05000000000000000000" pitchFamily="2" charset="2"/>
              <a:buChar char="Ø"/>
            </a:pPr>
            <a:r>
              <a:rPr lang="ru-RU" sz="2400" b="0" dirty="0">
                <a:effectLst/>
              </a:rPr>
              <a:t>покрытие </a:t>
            </a:r>
            <a:r>
              <a:rPr lang="ru-RU" sz="2400" b="1" dirty="0">
                <a:effectLst/>
              </a:rPr>
              <a:t>путей –</a:t>
            </a:r>
            <a:r>
              <a:rPr lang="ru-RU" sz="2400" b="0" dirty="0">
                <a:effectLst/>
              </a:rPr>
              <a:t> каждый путь хотя бы один раз (это </a:t>
            </a:r>
            <a:r>
              <a:rPr lang="ru-RU" sz="2400" b="1" dirty="0">
                <a:effectLst/>
              </a:rPr>
              <a:t>наиболее полный, но нереализуемый критерий</a:t>
            </a:r>
            <a:r>
              <a:rPr lang="ru-RU" sz="2400" b="0" dirty="0">
                <a:effectLst/>
              </a:rPr>
              <a:t>);</a:t>
            </a:r>
          </a:p>
          <a:p>
            <a:pPr marL="342900" indent="-342900" algn="just">
              <a:buFont typeface="Wingdings" panose="05000000000000000000" pitchFamily="2" charset="2"/>
              <a:buChar char="Ø"/>
            </a:pPr>
            <a:r>
              <a:rPr lang="ru-RU" sz="2400" b="0" dirty="0">
                <a:effectLst/>
              </a:rPr>
              <a:t>покрытие функций - каждая функция должна быть выполнена хотя бы один раз;</a:t>
            </a:r>
          </a:p>
          <a:p>
            <a:pPr marL="342900" indent="-342900" algn="just">
              <a:buFont typeface="Wingdings" panose="05000000000000000000" pitchFamily="2" charset="2"/>
              <a:buChar char="Ø"/>
            </a:pPr>
            <a:r>
              <a:rPr lang="ru-RU" sz="2400" b="0" dirty="0">
                <a:effectLst/>
              </a:rPr>
              <a:t>покрытие </a:t>
            </a:r>
            <a:r>
              <a:rPr lang="ru-RU" sz="2400" b="1" dirty="0">
                <a:effectLst/>
              </a:rPr>
              <a:t>вызовов </a:t>
            </a:r>
            <a:r>
              <a:rPr lang="ru-RU" sz="2400" b="0" dirty="0">
                <a:effectLst/>
              </a:rPr>
              <a:t>– каждый вызов каждой функции хотя бы один раз.</a:t>
            </a:r>
          </a:p>
        </p:txBody>
      </p:sp>
      <p:sp>
        <p:nvSpPr>
          <p:cNvPr id="4" name="Номер слайда 3">
            <a:extLst>
              <a:ext uri="{FF2B5EF4-FFF2-40B4-BE49-F238E27FC236}">
                <a16:creationId xmlns:a16="http://schemas.microsoft.com/office/drawing/2014/main" id="{204BB664-5864-4041-9DE0-A052CD7C4233}"/>
              </a:ext>
            </a:extLst>
          </p:cNvPr>
          <p:cNvSpPr>
            <a:spLocks noGrp="1"/>
          </p:cNvSpPr>
          <p:nvPr>
            <p:ph type="sldNum" sz="quarter" idx="12"/>
          </p:nvPr>
        </p:nvSpPr>
        <p:spPr/>
        <p:txBody>
          <a:bodyPr/>
          <a:lstStyle/>
          <a:p>
            <a:fld id="{25A42088-C730-408A-A823-60BED1AFCEA0}" type="slidenum">
              <a:rPr lang="ru-RU" smtClean="0"/>
              <a:t>11</a:t>
            </a:fld>
            <a:endParaRPr lang="ru-RU"/>
          </a:p>
        </p:txBody>
      </p:sp>
    </p:spTree>
    <p:extLst>
      <p:ext uri="{BB962C8B-B14F-4D97-AF65-F5344CB8AC3E}">
        <p14:creationId xmlns:p14="http://schemas.microsoft.com/office/powerpoint/2010/main" val="3890253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CA60BC-132D-442C-93A6-D27411C4C75E}"/>
              </a:ext>
            </a:extLst>
          </p:cNvPr>
          <p:cNvSpPr>
            <a:spLocks noGrp="1"/>
          </p:cNvSpPr>
          <p:nvPr>
            <p:ph type="title"/>
          </p:nvPr>
        </p:nvSpPr>
        <p:spPr/>
        <p:txBody>
          <a:bodyPr/>
          <a:lstStyle/>
          <a:p>
            <a:r>
              <a:rPr lang="ru-RU" dirty="0"/>
              <a:t>Пример</a:t>
            </a:r>
            <a:r>
              <a:rPr lang="en-US" dirty="0"/>
              <a:t>:</a:t>
            </a:r>
            <a:endParaRPr lang="ru-RU" dirty="0"/>
          </a:p>
        </p:txBody>
      </p:sp>
      <p:sp>
        <p:nvSpPr>
          <p:cNvPr id="3" name="Объект 2">
            <a:extLst>
              <a:ext uri="{FF2B5EF4-FFF2-40B4-BE49-F238E27FC236}">
                <a16:creationId xmlns:a16="http://schemas.microsoft.com/office/drawing/2014/main" id="{3B06A9AC-2639-478C-8FA9-0996B0ECB87F}"/>
              </a:ext>
            </a:extLst>
          </p:cNvPr>
          <p:cNvSpPr>
            <a:spLocks noGrp="1"/>
          </p:cNvSpPr>
          <p:nvPr>
            <p:ph sz="half" idx="1"/>
          </p:nvPr>
        </p:nvSpPr>
        <p:spPr/>
        <p:txBody>
          <a:bodyPr/>
          <a:lstStyle/>
          <a:p>
            <a:r>
              <a:rPr lang="en-US" dirty="0"/>
              <a:t>if ( (A &gt; 1) &amp; ( B=0 ) ) then X:=X/A;</a:t>
            </a:r>
          </a:p>
          <a:p>
            <a:r>
              <a:rPr lang="en-US" dirty="0"/>
              <a:t>if ( (A = 2) Or ( X&gt;1 ) ) then X:=X+1;</a:t>
            </a:r>
          </a:p>
        </p:txBody>
      </p:sp>
      <p:sp>
        <p:nvSpPr>
          <p:cNvPr id="4" name="Номер слайда 3">
            <a:extLst>
              <a:ext uri="{FF2B5EF4-FFF2-40B4-BE49-F238E27FC236}">
                <a16:creationId xmlns:a16="http://schemas.microsoft.com/office/drawing/2014/main" id="{FF4B2FCC-4B24-41B6-8C30-C5165492AB49}"/>
              </a:ext>
            </a:extLst>
          </p:cNvPr>
          <p:cNvSpPr>
            <a:spLocks noGrp="1"/>
          </p:cNvSpPr>
          <p:nvPr>
            <p:ph type="sldNum" sz="quarter" idx="12"/>
          </p:nvPr>
        </p:nvSpPr>
        <p:spPr/>
        <p:txBody>
          <a:bodyPr/>
          <a:lstStyle/>
          <a:p>
            <a:fld id="{25A42088-C730-408A-A823-60BED1AFCEA0}" type="slidenum">
              <a:rPr lang="ru-RU" smtClean="0"/>
              <a:t>12</a:t>
            </a:fld>
            <a:endParaRPr lang="ru-RU"/>
          </a:p>
        </p:txBody>
      </p:sp>
      <p:pic>
        <p:nvPicPr>
          <p:cNvPr id="2050" name="Picture 2">
            <a:extLst>
              <a:ext uri="{FF2B5EF4-FFF2-40B4-BE49-F238E27FC236}">
                <a16:creationId xmlns:a16="http://schemas.microsoft.com/office/drawing/2014/main" id="{53F0B51E-FCD3-4EB4-B89A-C3E6B800B7EB}"/>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569833" y="737859"/>
            <a:ext cx="3374267" cy="549502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6FABFA0-0D87-473D-82CB-78960455C7E0}"/>
              </a:ext>
            </a:extLst>
          </p:cNvPr>
          <p:cNvSpPr txBox="1"/>
          <p:nvPr/>
        </p:nvSpPr>
        <p:spPr>
          <a:xfrm>
            <a:off x="7086600" y="737859"/>
            <a:ext cx="371475" cy="400110"/>
          </a:xfrm>
          <a:prstGeom prst="rect">
            <a:avLst/>
          </a:prstGeom>
          <a:noFill/>
        </p:spPr>
        <p:txBody>
          <a:bodyPr wrap="square" rtlCol="0">
            <a:spAutoFit/>
          </a:bodyPr>
          <a:lstStyle/>
          <a:p>
            <a:r>
              <a:rPr lang="en-US" sz="2000" b="1" dirty="0"/>
              <a:t>a</a:t>
            </a:r>
            <a:endParaRPr lang="ru-RU" sz="2000" b="1" dirty="0"/>
          </a:p>
        </p:txBody>
      </p:sp>
    </p:spTree>
    <p:extLst>
      <p:ext uri="{BB962C8B-B14F-4D97-AF65-F5344CB8AC3E}">
        <p14:creationId xmlns:p14="http://schemas.microsoft.com/office/powerpoint/2010/main" val="2781708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21F277B8-A401-47E8-9786-EF18BAD52C0B}"/>
              </a:ext>
            </a:extLst>
          </p:cNvPr>
          <p:cNvSpPr>
            <a:spLocks noGrp="1"/>
          </p:cNvSpPr>
          <p:nvPr>
            <p:ph type="title"/>
          </p:nvPr>
        </p:nvSpPr>
        <p:spPr>
          <a:xfrm>
            <a:off x="1371600" y="596538"/>
            <a:ext cx="9601200" cy="733697"/>
          </a:xfrm>
        </p:spPr>
        <p:txBody>
          <a:bodyPr>
            <a:normAutofit/>
          </a:bodyPr>
          <a:lstStyle/>
          <a:p>
            <a:r>
              <a:rPr lang="ru-RU" dirty="0"/>
              <a:t>Покрытие операторов</a:t>
            </a:r>
          </a:p>
        </p:txBody>
      </p:sp>
      <p:sp>
        <p:nvSpPr>
          <p:cNvPr id="7" name="Объект 6">
            <a:extLst>
              <a:ext uri="{FF2B5EF4-FFF2-40B4-BE49-F238E27FC236}">
                <a16:creationId xmlns:a16="http://schemas.microsoft.com/office/drawing/2014/main" id="{BF1AC965-8595-4E18-9FC4-815D4618123A}"/>
              </a:ext>
            </a:extLst>
          </p:cNvPr>
          <p:cNvSpPr>
            <a:spLocks noGrp="1"/>
          </p:cNvSpPr>
          <p:nvPr>
            <p:ph idx="1"/>
          </p:nvPr>
        </p:nvSpPr>
        <p:spPr>
          <a:xfrm>
            <a:off x="1371600" y="1506583"/>
            <a:ext cx="9601200" cy="4754879"/>
          </a:xfrm>
        </p:spPr>
        <p:txBody>
          <a:bodyPr>
            <a:normAutofit/>
          </a:bodyPr>
          <a:lstStyle/>
          <a:p>
            <a:r>
              <a:rPr lang="ru-RU" sz="2400" dirty="0"/>
              <a:t>Можно выполнить каждый оператор с помощью теста, который бы реализовал путь </a:t>
            </a:r>
            <a:r>
              <a:rPr lang="ru-RU" sz="2400" b="1" dirty="0" err="1"/>
              <a:t>ace</a:t>
            </a:r>
            <a:r>
              <a:rPr lang="ru-RU" sz="2400" dirty="0"/>
              <a:t> (A=2; B=0; X=3):</a:t>
            </a:r>
          </a:p>
          <a:p>
            <a:r>
              <a:rPr lang="ru-RU" sz="2400" dirty="0"/>
              <a:t>Если в программе</a:t>
            </a:r>
            <a:r>
              <a:rPr lang="en-US" sz="2400" dirty="0"/>
              <a:t> </a:t>
            </a:r>
            <a:r>
              <a:rPr lang="ru-RU" sz="2400" dirty="0"/>
              <a:t>ошибочно записано (A&gt;1) OR (B=0) – Ошибка не обнаруживается!</a:t>
            </a:r>
          </a:p>
          <a:p>
            <a:r>
              <a:rPr lang="ru-RU" sz="2400" dirty="0"/>
              <a:t>Если в программе ошибочно записано (A=2) ! (X&gt;0) – Ошибка не обнаруживается!</a:t>
            </a:r>
          </a:p>
          <a:p>
            <a:endParaRPr lang="en-US" sz="2400" dirty="0"/>
          </a:p>
          <a:p>
            <a:r>
              <a:rPr lang="ru-RU" sz="2400" dirty="0"/>
              <a:t>На пути </a:t>
            </a:r>
            <a:r>
              <a:rPr lang="ru-RU" sz="2400" b="1" dirty="0" err="1"/>
              <a:t>abd</a:t>
            </a:r>
            <a:r>
              <a:rPr lang="ru-RU" sz="2400" dirty="0"/>
              <a:t> все ошибки не обнаруживаются!</a:t>
            </a:r>
          </a:p>
          <a:p>
            <a:endParaRPr lang="ru-RU" sz="2400" dirty="0"/>
          </a:p>
          <a:p>
            <a:r>
              <a:rPr lang="ru-RU" sz="2400" dirty="0"/>
              <a:t>Как итог, недостаточное тестирование.</a:t>
            </a:r>
          </a:p>
        </p:txBody>
      </p:sp>
      <p:sp>
        <p:nvSpPr>
          <p:cNvPr id="5" name="Номер слайда 4">
            <a:extLst>
              <a:ext uri="{FF2B5EF4-FFF2-40B4-BE49-F238E27FC236}">
                <a16:creationId xmlns:a16="http://schemas.microsoft.com/office/drawing/2014/main" id="{CFE69649-4DFA-4B38-8CE8-3C752CCAF9DF}"/>
              </a:ext>
            </a:extLst>
          </p:cNvPr>
          <p:cNvSpPr>
            <a:spLocks noGrp="1"/>
          </p:cNvSpPr>
          <p:nvPr>
            <p:ph type="sldNum" sz="quarter" idx="12"/>
          </p:nvPr>
        </p:nvSpPr>
        <p:spPr>
          <a:xfrm>
            <a:off x="9692170" y="6374670"/>
            <a:ext cx="1280630" cy="404614"/>
          </a:xfrm>
        </p:spPr>
        <p:txBody>
          <a:bodyPr/>
          <a:lstStyle/>
          <a:p>
            <a:fld id="{25A42088-C730-408A-A823-60BED1AFCEA0}" type="slidenum">
              <a:rPr lang="ru-RU" smtClean="0"/>
              <a:pPr/>
              <a:t>13</a:t>
            </a:fld>
            <a:endParaRPr lang="ru-RU"/>
          </a:p>
        </p:txBody>
      </p:sp>
    </p:spTree>
    <p:extLst>
      <p:ext uri="{BB962C8B-B14F-4D97-AF65-F5344CB8AC3E}">
        <p14:creationId xmlns:p14="http://schemas.microsoft.com/office/powerpoint/2010/main" val="269574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3446DF-346E-4687-9F24-3F4B767FFD07}"/>
              </a:ext>
            </a:extLst>
          </p:cNvPr>
          <p:cNvSpPr>
            <a:spLocks noGrp="1"/>
          </p:cNvSpPr>
          <p:nvPr>
            <p:ph type="title"/>
          </p:nvPr>
        </p:nvSpPr>
        <p:spPr/>
        <p:txBody>
          <a:bodyPr/>
          <a:lstStyle/>
          <a:p>
            <a:r>
              <a:rPr lang="ru-RU" dirty="0"/>
              <a:t>Покрытие ветвей</a:t>
            </a:r>
          </a:p>
        </p:txBody>
      </p:sp>
      <p:sp>
        <p:nvSpPr>
          <p:cNvPr id="3" name="Объект 2">
            <a:extLst>
              <a:ext uri="{FF2B5EF4-FFF2-40B4-BE49-F238E27FC236}">
                <a16:creationId xmlns:a16="http://schemas.microsoft.com/office/drawing/2014/main" id="{AB4832EA-54BF-4231-A41F-2C76D2BB72C7}"/>
              </a:ext>
            </a:extLst>
          </p:cNvPr>
          <p:cNvSpPr>
            <a:spLocks noGrp="1"/>
          </p:cNvSpPr>
          <p:nvPr>
            <p:ph idx="1"/>
          </p:nvPr>
        </p:nvSpPr>
        <p:spPr/>
        <p:txBody>
          <a:bodyPr/>
          <a:lstStyle/>
          <a:p>
            <a:r>
              <a:rPr lang="ru-RU" dirty="0"/>
              <a:t>Покрытие ветвей может быть реализовано двумя тестами, покрывающими либо пути </a:t>
            </a:r>
            <a:r>
              <a:rPr lang="ru-RU" b="1" dirty="0" err="1"/>
              <a:t>ace</a:t>
            </a:r>
            <a:r>
              <a:rPr lang="ru-RU" dirty="0"/>
              <a:t> и </a:t>
            </a:r>
            <a:r>
              <a:rPr lang="ru-RU" b="1" dirty="0" err="1"/>
              <a:t>abd</a:t>
            </a:r>
            <a:r>
              <a:rPr lang="ru-RU" dirty="0"/>
              <a:t>, либо пути </a:t>
            </a:r>
            <a:r>
              <a:rPr lang="ru-RU" b="1" dirty="0" err="1"/>
              <a:t>acd</a:t>
            </a:r>
            <a:r>
              <a:rPr lang="ru-RU" dirty="0"/>
              <a:t> и </a:t>
            </a:r>
            <a:r>
              <a:rPr lang="ru-RU" b="1" dirty="0" err="1"/>
              <a:t>abe</a:t>
            </a:r>
            <a:r>
              <a:rPr lang="ru-RU" dirty="0"/>
              <a:t>. Если выбрать второе покрытие, то входами двух тестов являются: A=3; B=0; X=3 (путь </a:t>
            </a:r>
            <a:r>
              <a:rPr lang="ru-RU" b="1" dirty="0" err="1"/>
              <a:t>acd</a:t>
            </a:r>
            <a:r>
              <a:rPr lang="ru-RU" dirty="0"/>
              <a:t>) и A=2; B=1; X=1 (путь</a:t>
            </a:r>
            <a:r>
              <a:rPr lang="en-US" dirty="0"/>
              <a:t> </a:t>
            </a:r>
            <a:r>
              <a:rPr lang="ru-RU" b="1" dirty="0" err="1"/>
              <a:t>abe</a:t>
            </a:r>
            <a:r>
              <a:rPr lang="ru-RU" dirty="0"/>
              <a:t>). </a:t>
            </a:r>
            <a:endParaRPr lang="en-US" dirty="0"/>
          </a:p>
          <a:p>
            <a:r>
              <a:rPr lang="ru-RU" dirty="0"/>
              <a:t>Эти тесты также недостаточны. Например, если выбрано первое покрытие (путь </a:t>
            </a:r>
            <a:r>
              <a:rPr lang="ru-RU" dirty="0" err="1"/>
              <a:t>acd</a:t>
            </a:r>
            <a:r>
              <a:rPr lang="ru-RU" dirty="0"/>
              <a:t>),путь, где X не изменяется, будет проверен с вероятностью 50%. Если во втором условии имеется ошибка (например, X&lt;1 вместо X&gt;1), то эта ошибка тестами не будет обнаружена!</a:t>
            </a:r>
          </a:p>
          <a:p>
            <a:endParaRPr lang="ru-RU" dirty="0"/>
          </a:p>
          <a:p>
            <a:r>
              <a:rPr lang="ru-RU" b="1" dirty="0"/>
              <a:t>Следовательно далее нужно перейти к покрытию условий и комбинаторному покрытию.</a:t>
            </a:r>
          </a:p>
        </p:txBody>
      </p:sp>
      <p:sp>
        <p:nvSpPr>
          <p:cNvPr id="4" name="Номер слайда 3">
            <a:extLst>
              <a:ext uri="{FF2B5EF4-FFF2-40B4-BE49-F238E27FC236}">
                <a16:creationId xmlns:a16="http://schemas.microsoft.com/office/drawing/2014/main" id="{6DEFFC9E-BAFD-4C5E-8DEE-49223DF301E1}"/>
              </a:ext>
            </a:extLst>
          </p:cNvPr>
          <p:cNvSpPr>
            <a:spLocks noGrp="1"/>
          </p:cNvSpPr>
          <p:nvPr>
            <p:ph type="sldNum" sz="quarter" idx="12"/>
          </p:nvPr>
        </p:nvSpPr>
        <p:spPr/>
        <p:txBody>
          <a:bodyPr/>
          <a:lstStyle/>
          <a:p>
            <a:fld id="{25A42088-C730-408A-A823-60BED1AFCEA0}" type="slidenum">
              <a:rPr lang="ru-RU" smtClean="0"/>
              <a:t>14</a:t>
            </a:fld>
            <a:endParaRPr lang="ru-RU"/>
          </a:p>
        </p:txBody>
      </p:sp>
    </p:spTree>
    <p:extLst>
      <p:ext uri="{BB962C8B-B14F-4D97-AF65-F5344CB8AC3E}">
        <p14:creationId xmlns:p14="http://schemas.microsoft.com/office/powerpoint/2010/main" val="3500596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940FBFE-BE58-475F-97CB-89EAE3CC9FC5}"/>
              </a:ext>
            </a:extLst>
          </p:cNvPr>
          <p:cNvSpPr>
            <a:spLocks noGrp="1"/>
          </p:cNvSpPr>
          <p:nvPr>
            <p:ph type="title"/>
          </p:nvPr>
        </p:nvSpPr>
        <p:spPr/>
        <p:txBody>
          <a:bodyPr/>
          <a:lstStyle/>
          <a:p>
            <a:r>
              <a:rPr lang="ru-RU" dirty="0"/>
              <a:t>Функциональное тестирование</a:t>
            </a:r>
          </a:p>
        </p:txBody>
      </p:sp>
      <p:sp>
        <p:nvSpPr>
          <p:cNvPr id="3" name="Объект 2">
            <a:extLst>
              <a:ext uri="{FF2B5EF4-FFF2-40B4-BE49-F238E27FC236}">
                <a16:creationId xmlns:a16="http://schemas.microsoft.com/office/drawing/2014/main" id="{3E4E4496-325C-477A-A4B0-1080E9AEF2DC}"/>
              </a:ext>
            </a:extLst>
          </p:cNvPr>
          <p:cNvSpPr>
            <a:spLocks noGrp="1"/>
          </p:cNvSpPr>
          <p:nvPr>
            <p:ph idx="1"/>
          </p:nvPr>
        </p:nvSpPr>
        <p:spPr/>
        <p:txBody>
          <a:bodyPr/>
          <a:lstStyle/>
          <a:p>
            <a:r>
              <a:rPr lang="ru-RU" b="1" dirty="0"/>
              <a:t>Функциональное тестирование – тестирование на основе потока данных</a:t>
            </a:r>
            <a:r>
              <a:rPr lang="ru-RU" dirty="0"/>
              <a:t> – наборов входных и соответствующим им выходных значений.</a:t>
            </a:r>
          </a:p>
          <a:p>
            <a:endParaRPr lang="ru-RU" dirty="0"/>
          </a:p>
          <a:p>
            <a:r>
              <a:rPr lang="ru-RU" b="1" dirty="0"/>
              <a:t>Цель функционального тестирования </a:t>
            </a:r>
            <a:r>
              <a:rPr lang="ru-RU" dirty="0"/>
              <a:t>- найти расхождение между программой и ее внешними спецификациями. Необходимым условием успешного функционального тестирования является наличие четких и точных внешних спецификаций. </a:t>
            </a:r>
          </a:p>
          <a:p>
            <a:endParaRPr lang="ru-RU" dirty="0"/>
          </a:p>
          <a:p>
            <a:r>
              <a:rPr lang="ru-RU" dirty="0"/>
              <a:t>Задачей тестирования является выделение наиболее реальных ситуаций и пренебрежение малозначительными ситуациями.</a:t>
            </a:r>
          </a:p>
        </p:txBody>
      </p:sp>
      <p:sp>
        <p:nvSpPr>
          <p:cNvPr id="4" name="Номер слайда 3">
            <a:extLst>
              <a:ext uri="{FF2B5EF4-FFF2-40B4-BE49-F238E27FC236}">
                <a16:creationId xmlns:a16="http://schemas.microsoft.com/office/drawing/2014/main" id="{8EDDDD27-79FA-4E97-B322-A4E795A50047}"/>
              </a:ext>
            </a:extLst>
          </p:cNvPr>
          <p:cNvSpPr>
            <a:spLocks noGrp="1"/>
          </p:cNvSpPr>
          <p:nvPr>
            <p:ph type="sldNum" sz="quarter" idx="12"/>
          </p:nvPr>
        </p:nvSpPr>
        <p:spPr/>
        <p:txBody>
          <a:bodyPr/>
          <a:lstStyle/>
          <a:p>
            <a:fld id="{25A42088-C730-408A-A823-60BED1AFCEA0}" type="slidenum">
              <a:rPr lang="ru-RU" smtClean="0"/>
              <a:t>15</a:t>
            </a:fld>
            <a:endParaRPr lang="ru-RU"/>
          </a:p>
        </p:txBody>
      </p:sp>
    </p:spTree>
    <p:extLst>
      <p:ext uri="{BB962C8B-B14F-4D97-AF65-F5344CB8AC3E}">
        <p14:creationId xmlns:p14="http://schemas.microsoft.com/office/powerpoint/2010/main" val="1668353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2DD5B4-917D-4BE4-AFCB-BFE6E9B69194}"/>
              </a:ext>
            </a:extLst>
          </p:cNvPr>
          <p:cNvSpPr>
            <a:spLocks noGrp="1"/>
          </p:cNvSpPr>
          <p:nvPr>
            <p:ph type="title"/>
          </p:nvPr>
        </p:nvSpPr>
        <p:spPr/>
        <p:txBody>
          <a:bodyPr>
            <a:normAutofit fontScale="90000"/>
          </a:bodyPr>
          <a:lstStyle/>
          <a:p>
            <a:r>
              <a:rPr lang="ru-RU" dirty="0"/>
              <a:t>Рекомендации для функционального тестирования</a:t>
            </a:r>
          </a:p>
        </p:txBody>
      </p:sp>
      <p:sp>
        <p:nvSpPr>
          <p:cNvPr id="3" name="Объект 2">
            <a:extLst>
              <a:ext uri="{FF2B5EF4-FFF2-40B4-BE49-F238E27FC236}">
                <a16:creationId xmlns:a16="http://schemas.microsoft.com/office/drawing/2014/main" id="{BCB5A9FE-AD52-4ED6-A777-F19D2B0DC577}"/>
              </a:ext>
            </a:extLst>
          </p:cNvPr>
          <p:cNvSpPr>
            <a:spLocks noGrp="1"/>
          </p:cNvSpPr>
          <p:nvPr>
            <p:ph idx="1"/>
          </p:nvPr>
        </p:nvSpPr>
        <p:spPr>
          <a:xfrm>
            <a:off x="1371600" y="1619791"/>
            <a:ext cx="9601200" cy="4754879"/>
          </a:xfrm>
        </p:spPr>
        <p:txBody>
          <a:bodyPr>
            <a:normAutofit/>
          </a:bodyPr>
          <a:lstStyle/>
          <a:p>
            <a:r>
              <a:rPr lang="ru-RU" dirty="0"/>
              <a:t>Тесты должны строиться для всех входных условий, а также на границах, всех областей допустимых значений на входе и областей изменения на выходе. Тесты должны проверять поведение программы у функциональных границ также в случаях ввода недопустимых или непредусмотренных данных.</a:t>
            </a:r>
          </a:p>
          <a:p>
            <a:endParaRPr lang="ru-RU" dirty="0"/>
          </a:p>
          <a:p>
            <a:r>
              <a:rPr lang="ru-RU" dirty="0"/>
              <a:t>При проектировании функциональных тестов, надлежит выполнить следующие рекомендации:</a:t>
            </a:r>
          </a:p>
          <a:p>
            <a:pPr marL="342900" indent="-342900">
              <a:buFont typeface="Wingdings" panose="05000000000000000000" pitchFamily="2" charset="2"/>
              <a:buChar char="Ø"/>
            </a:pPr>
            <a:r>
              <a:rPr lang="ru-RU" dirty="0"/>
              <a:t>Просматривая разделы "Входные данные". "Аномалии" принимать во внимание область определения входных данных. Тесты рекомендуется строить для допустимых, граничных и недопустимых значений входных данных.</a:t>
            </a:r>
          </a:p>
          <a:p>
            <a:pPr marL="342900" indent="-342900">
              <a:buFont typeface="Wingdings" panose="05000000000000000000" pitchFamily="2" charset="2"/>
              <a:buChar char="Ø"/>
            </a:pPr>
            <a:r>
              <a:rPr lang="ru-RU" dirty="0"/>
              <a:t>Просматривая раздел "Выходные данные", установить функциональные границы, которые будут определяться областью значений результатов. Построить тесты, учитывая эти функциональные границы.</a:t>
            </a:r>
          </a:p>
        </p:txBody>
      </p:sp>
      <p:sp>
        <p:nvSpPr>
          <p:cNvPr id="4" name="Номер слайда 3">
            <a:extLst>
              <a:ext uri="{FF2B5EF4-FFF2-40B4-BE49-F238E27FC236}">
                <a16:creationId xmlns:a16="http://schemas.microsoft.com/office/drawing/2014/main" id="{5FE4DE18-DFB7-43D3-8B96-4692448D5B85}"/>
              </a:ext>
            </a:extLst>
          </p:cNvPr>
          <p:cNvSpPr>
            <a:spLocks noGrp="1"/>
          </p:cNvSpPr>
          <p:nvPr>
            <p:ph type="sldNum" sz="quarter" idx="12"/>
          </p:nvPr>
        </p:nvSpPr>
        <p:spPr/>
        <p:txBody>
          <a:bodyPr/>
          <a:lstStyle/>
          <a:p>
            <a:fld id="{25A42088-C730-408A-A823-60BED1AFCEA0}" type="slidenum">
              <a:rPr lang="ru-RU" smtClean="0"/>
              <a:t>16</a:t>
            </a:fld>
            <a:endParaRPr lang="ru-RU"/>
          </a:p>
        </p:txBody>
      </p:sp>
    </p:spTree>
    <p:extLst>
      <p:ext uri="{BB962C8B-B14F-4D97-AF65-F5344CB8AC3E}">
        <p14:creationId xmlns:p14="http://schemas.microsoft.com/office/powerpoint/2010/main" val="3333518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0536F1-925C-4D62-B460-A55C9792838F}"/>
              </a:ext>
            </a:extLst>
          </p:cNvPr>
          <p:cNvSpPr>
            <a:spLocks noGrp="1"/>
          </p:cNvSpPr>
          <p:nvPr>
            <p:ph type="title"/>
          </p:nvPr>
        </p:nvSpPr>
        <p:spPr/>
        <p:txBody>
          <a:bodyPr>
            <a:normAutofit/>
          </a:bodyPr>
          <a:lstStyle/>
          <a:p>
            <a:r>
              <a:rPr lang="ru-RU" dirty="0"/>
              <a:t>Методы функционального тестирования</a:t>
            </a:r>
          </a:p>
        </p:txBody>
      </p:sp>
      <p:sp>
        <p:nvSpPr>
          <p:cNvPr id="3" name="Объект 2">
            <a:extLst>
              <a:ext uri="{FF2B5EF4-FFF2-40B4-BE49-F238E27FC236}">
                <a16:creationId xmlns:a16="http://schemas.microsoft.com/office/drawing/2014/main" id="{297DF861-F192-43D7-A67F-EDB5C423C520}"/>
              </a:ext>
            </a:extLst>
          </p:cNvPr>
          <p:cNvSpPr>
            <a:spLocks noGrp="1"/>
          </p:cNvSpPr>
          <p:nvPr>
            <p:ph idx="1"/>
          </p:nvPr>
        </p:nvSpPr>
        <p:spPr/>
        <p:txBody>
          <a:bodyPr>
            <a:normAutofit/>
          </a:bodyPr>
          <a:lstStyle/>
          <a:p>
            <a:pPr marL="342900" indent="-342900">
              <a:buFont typeface="Wingdings" panose="05000000000000000000" pitchFamily="2" charset="2"/>
              <a:buChar char="Ø"/>
            </a:pPr>
            <a:r>
              <a:rPr lang="ru-RU" sz="2400" dirty="0"/>
              <a:t>Метод эквивалентного разбиения</a:t>
            </a:r>
          </a:p>
          <a:p>
            <a:pPr marL="342900" indent="-342900">
              <a:buFont typeface="Wingdings" panose="05000000000000000000" pitchFamily="2" charset="2"/>
              <a:buChar char="Ø"/>
            </a:pPr>
            <a:r>
              <a:rPr lang="ru-RU" sz="2400" dirty="0"/>
              <a:t>Анализ граничных значений</a:t>
            </a:r>
          </a:p>
          <a:p>
            <a:pPr marL="342900" indent="-342900">
              <a:buFont typeface="Wingdings" panose="05000000000000000000" pitchFamily="2" charset="2"/>
              <a:buChar char="Ø"/>
            </a:pPr>
            <a:r>
              <a:rPr lang="ru-RU" sz="2400" dirty="0"/>
              <a:t>Метод функциональных диаграмм</a:t>
            </a:r>
          </a:p>
          <a:p>
            <a:pPr marL="342900" indent="-342900">
              <a:buFont typeface="Wingdings" panose="05000000000000000000" pitchFamily="2" charset="2"/>
              <a:buChar char="Ø"/>
            </a:pPr>
            <a:r>
              <a:rPr lang="ru-RU" sz="2400" dirty="0"/>
              <a:t>Метод, основанный на предположении об ошибке</a:t>
            </a:r>
          </a:p>
        </p:txBody>
      </p:sp>
      <p:sp>
        <p:nvSpPr>
          <p:cNvPr id="4" name="Номер слайда 3">
            <a:extLst>
              <a:ext uri="{FF2B5EF4-FFF2-40B4-BE49-F238E27FC236}">
                <a16:creationId xmlns:a16="http://schemas.microsoft.com/office/drawing/2014/main" id="{F1C756DA-28D2-4FFE-86F2-5B99830BE61A}"/>
              </a:ext>
            </a:extLst>
          </p:cNvPr>
          <p:cNvSpPr>
            <a:spLocks noGrp="1"/>
          </p:cNvSpPr>
          <p:nvPr>
            <p:ph type="sldNum" sz="quarter" idx="12"/>
          </p:nvPr>
        </p:nvSpPr>
        <p:spPr/>
        <p:txBody>
          <a:bodyPr/>
          <a:lstStyle/>
          <a:p>
            <a:fld id="{25A42088-C730-408A-A823-60BED1AFCEA0}" type="slidenum">
              <a:rPr lang="ru-RU" smtClean="0"/>
              <a:t>17</a:t>
            </a:fld>
            <a:endParaRPr lang="ru-RU"/>
          </a:p>
        </p:txBody>
      </p:sp>
    </p:spTree>
    <p:extLst>
      <p:ext uri="{BB962C8B-B14F-4D97-AF65-F5344CB8AC3E}">
        <p14:creationId xmlns:p14="http://schemas.microsoft.com/office/powerpoint/2010/main" val="2200631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FFB740-D074-4C58-BE68-E2604A7B5571}"/>
              </a:ext>
            </a:extLst>
          </p:cNvPr>
          <p:cNvSpPr>
            <a:spLocks noGrp="1"/>
          </p:cNvSpPr>
          <p:nvPr>
            <p:ph type="title"/>
          </p:nvPr>
        </p:nvSpPr>
        <p:spPr/>
        <p:txBody>
          <a:bodyPr>
            <a:normAutofit/>
          </a:bodyPr>
          <a:lstStyle/>
          <a:p>
            <a:r>
              <a:rPr lang="ru-RU" sz="3600" dirty="0"/>
              <a:t>Метод эквивалентного разбиения</a:t>
            </a:r>
            <a:endParaRPr lang="ru-RU" dirty="0"/>
          </a:p>
        </p:txBody>
      </p:sp>
      <p:sp>
        <p:nvSpPr>
          <p:cNvPr id="3" name="Объект 2">
            <a:extLst>
              <a:ext uri="{FF2B5EF4-FFF2-40B4-BE49-F238E27FC236}">
                <a16:creationId xmlns:a16="http://schemas.microsoft.com/office/drawing/2014/main" id="{6DB7361A-5FEF-48FE-B895-DACD0470C745}"/>
              </a:ext>
            </a:extLst>
          </p:cNvPr>
          <p:cNvSpPr>
            <a:spLocks noGrp="1"/>
          </p:cNvSpPr>
          <p:nvPr>
            <p:ph idx="1"/>
          </p:nvPr>
        </p:nvSpPr>
        <p:spPr/>
        <p:txBody>
          <a:bodyPr/>
          <a:lstStyle/>
          <a:p>
            <a:r>
              <a:rPr lang="ru-RU" b="1" dirty="0"/>
              <a:t>Эквивалентное разбиение</a:t>
            </a:r>
            <a:r>
              <a:rPr lang="ru-RU" dirty="0"/>
              <a:t> (</a:t>
            </a:r>
            <a:r>
              <a:rPr lang="ru-RU" dirty="0" err="1"/>
              <a:t>Equivalence</a:t>
            </a:r>
            <a:r>
              <a:rPr lang="ru-RU" dirty="0"/>
              <a:t> </a:t>
            </a:r>
            <a:r>
              <a:rPr lang="ru-RU" dirty="0" err="1"/>
              <a:t>Partitioning</a:t>
            </a:r>
            <a:r>
              <a:rPr lang="ru-RU" dirty="0"/>
              <a:t>, EP) – это стратегия тестирования программного обеспечения, которая помогает повысить эффективность тестовых случаев. Она основана на идее разделения входных данных на группы, внутри которых значения считаются эквивалентными для целей тестирования. Эта методика облегчает обнаружение ошибок и повышает покрытие тестирования. </a:t>
            </a:r>
          </a:p>
          <a:p>
            <a:endParaRPr lang="ru-RU" dirty="0"/>
          </a:p>
          <a:p>
            <a:r>
              <a:rPr lang="ru-RU" dirty="0"/>
              <a:t>Основой эквивалентного разделения является выделение </a:t>
            </a:r>
            <a:r>
              <a:rPr lang="ru-RU" b="1" dirty="0"/>
              <a:t>классов эквивалентности</a:t>
            </a:r>
            <a:r>
              <a:rPr lang="ru-RU" dirty="0"/>
              <a:t>. Каждый представляет группу входных данных, с которыми система должна вести себя одинаково. Это позволяет уменьшить количество тестов, необходимых для проверки всех возможных вариантов входных данных.</a:t>
            </a:r>
          </a:p>
        </p:txBody>
      </p:sp>
      <p:sp>
        <p:nvSpPr>
          <p:cNvPr id="4" name="Номер слайда 3">
            <a:extLst>
              <a:ext uri="{FF2B5EF4-FFF2-40B4-BE49-F238E27FC236}">
                <a16:creationId xmlns:a16="http://schemas.microsoft.com/office/drawing/2014/main" id="{E1737CAC-6982-42C7-9CE8-3198C600CCA4}"/>
              </a:ext>
            </a:extLst>
          </p:cNvPr>
          <p:cNvSpPr>
            <a:spLocks noGrp="1"/>
          </p:cNvSpPr>
          <p:nvPr>
            <p:ph type="sldNum" sz="quarter" idx="12"/>
          </p:nvPr>
        </p:nvSpPr>
        <p:spPr/>
        <p:txBody>
          <a:bodyPr/>
          <a:lstStyle/>
          <a:p>
            <a:fld id="{25A42088-C730-408A-A823-60BED1AFCEA0}" type="slidenum">
              <a:rPr lang="ru-RU" smtClean="0"/>
              <a:t>18</a:t>
            </a:fld>
            <a:endParaRPr lang="ru-RU"/>
          </a:p>
        </p:txBody>
      </p:sp>
    </p:spTree>
    <p:extLst>
      <p:ext uri="{BB962C8B-B14F-4D97-AF65-F5344CB8AC3E}">
        <p14:creationId xmlns:p14="http://schemas.microsoft.com/office/powerpoint/2010/main" val="1578599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476E339-08FE-4171-ABE3-93E18A91D6EE}"/>
              </a:ext>
            </a:extLst>
          </p:cNvPr>
          <p:cNvSpPr>
            <a:spLocks noGrp="1"/>
          </p:cNvSpPr>
          <p:nvPr>
            <p:ph type="title"/>
          </p:nvPr>
        </p:nvSpPr>
        <p:spPr/>
        <p:txBody>
          <a:bodyPr>
            <a:normAutofit fontScale="90000"/>
          </a:bodyPr>
          <a:lstStyle/>
          <a:p>
            <a:r>
              <a:rPr lang="ru-RU" dirty="0"/>
              <a:t>Анализ граничных значений</a:t>
            </a:r>
            <a:br>
              <a:rPr lang="ru-RU" dirty="0"/>
            </a:br>
            <a:endParaRPr lang="ru-RU" dirty="0"/>
          </a:p>
        </p:txBody>
      </p:sp>
      <p:sp>
        <p:nvSpPr>
          <p:cNvPr id="3" name="Объект 2">
            <a:extLst>
              <a:ext uri="{FF2B5EF4-FFF2-40B4-BE49-F238E27FC236}">
                <a16:creationId xmlns:a16="http://schemas.microsoft.com/office/drawing/2014/main" id="{1FB90D66-D544-47AF-B4FE-CE431562C15C}"/>
              </a:ext>
            </a:extLst>
          </p:cNvPr>
          <p:cNvSpPr>
            <a:spLocks noGrp="1"/>
          </p:cNvSpPr>
          <p:nvPr>
            <p:ph idx="1"/>
          </p:nvPr>
        </p:nvSpPr>
        <p:spPr/>
        <p:txBody>
          <a:bodyPr>
            <a:normAutofit/>
          </a:bodyPr>
          <a:lstStyle/>
          <a:p>
            <a:r>
              <a:rPr lang="ru-RU" sz="2400" dirty="0"/>
              <a:t>Для более полного охвата тестирования необходимо также учитывать граничные значения в каждом классе. Границы часто представляют наибольший и наименьший пределы для каждого и помогают выявить ошибки в обработке крайних случаев.</a:t>
            </a:r>
          </a:p>
        </p:txBody>
      </p:sp>
      <p:sp>
        <p:nvSpPr>
          <p:cNvPr id="4" name="Номер слайда 3">
            <a:extLst>
              <a:ext uri="{FF2B5EF4-FFF2-40B4-BE49-F238E27FC236}">
                <a16:creationId xmlns:a16="http://schemas.microsoft.com/office/drawing/2014/main" id="{D83A51DD-4C80-4F38-B83A-6597770A929A}"/>
              </a:ext>
            </a:extLst>
          </p:cNvPr>
          <p:cNvSpPr>
            <a:spLocks noGrp="1"/>
          </p:cNvSpPr>
          <p:nvPr>
            <p:ph type="sldNum" sz="quarter" idx="12"/>
          </p:nvPr>
        </p:nvSpPr>
        <p:spPr/>
        <p:txBody>
          <a:bodyPr/>
          <a:lstStyle/>
          <a:p>
            <a:fld id="{25A42088-C730-408A-A823-60BED1AFCEA0}" type="slidenum">
              <a:rPr lang="ru-RU" smtClean="0"/>
              <a:t>19</a:t>
            </a:fld>
            <a:endParaRPr lang="ru-RU"/>
          </a:p>
        </p:txBody>
      </p:sp>
    </p:spTree>
    <p:extLst>
      <p:ext uri="{BB962C8B-B14F-4D97-AF65-F5344CB8AC3E}">
        <p14:creationId xmlns:p14="http://schemas.microsoft.com/office/powerpoint/2010/main" val="26158206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899C7E-D508-4D79-B32A-94197B7D1706}"/>
              </a:ext>
            </a:extLst>
          </p:cNvPr>
          <p:cNvSpPr>
            <a:spLocks noGrp="1"/>
          </p:cNvSpPr>
          <p:nvPr>
            <p:ph type="title"/>
          </p:nvPr>
        </p:nvSpPr>
        <p:spPr/>
        <p:txBody>
          <a:bodyPr>
            <a:normAutofit/>
          </a:bodyPr>
          <a:lstStyle/>
          <a:p>
            <a:r>
              <a:rPr lang="ru-RU" sz="3600" dirty="0"/>
              <a:t>Метод функциональных диаграмм</a:t>
            </a:r>
            <a:endParaRPr lang="ru-RU" dirty="0"/>
          </a:p>
        </p:txBody>
      </p:sp>
      <p:sp>
        <p:nvSpPr>
          <p:cNvPr id="3" name="Объект 2">
            <a:extLst>
              <a:ext uri="{FF2B5EF4-FFF2-40B4-BE49-F238E27FC236}">
                <a16:creationId xmlns:a16="http://schemas.microsoft.com/office/drawing/2014/main" id="{80530085-A170-4485-A0D4-19529D4D6CB4}"/>
              </a:ext>
            </a:extLst>
          </p:cNvPr>
          <p:cNvSpPr>
            <a:spLocks noGrp="1"/>
          </p:cNvSpPr>
          <p:nvPr>
            <p:ph sz="half" idx="1"/>
          </p:nvPr>
        </p:nvSpPr>
        <p:spPr>
          <a:xfrm>
            <a:off x="1371600" y="1593669"/>
            <a:ext cx="9677400" cy="1996804"/>
          </a:xfrm>
        </p:spPr>
        <p:txBody>
          <a:bodyPr>
            <a:normAutofit/>
          </a:bodyPr>
          <a:lstStyle/>
          <a:p>
            <a:r>
              <a:rPr lang="ru-RU" b="1" dirty="0"/>
              <a:t>Функциональными</a:t>
            </a:r>
            <a:r>
              <a:rPr lang="ru-RU" dirty="0"/>
              <a:t> называют диаграммы, в первую очередь отражающие взаимосвязи функций разрабатываемого программного обеспечения.</a:t>
            </a:r>
          </a:p>
          <a:p>
            <a:r>
              <a:rPr lang="ru-RU" dirty="0"/>
              <a:t>Функциональные диаграммы создаются на ранних этапах проектирования систем, для того чтобы помочь проектировщику выявить основные функции и составные части проектируемой системы и, по возможности, обнаружить и устранить существенные ошибки.</a:t>
            </a:r>
          </a:p>
          <a:p>
            <a:endParaRPr lang="ru-RU" dirty="0"/>
          </a:p>
        </p:txBody>
      </p:sp>
      <p:sp>
        <p:nvSpPr>
          <p:cNvPr id="4" name="Номер слайда 3">
            <a:extLst>
              <a:ext uri="{FF2B5EF4-FFF2-40B4-BE49-F238E27FC236}">
                <a16:creationId xmlns:a16="http://schemas.microsoft.com/office/drawing/2014/main" id="{5457215D-86C3-48EB-968D-640010CD9053}"/>
              </a:ext>
            </a:extLst>
          </p:cNvPr>
          <p:cNvSpPr>
            <a:spLocks noGrp="1"/>
          </p:cNvSpPr>
          <p:nvPr>
            <p:ph type="sldNum" sz="quarter" idx="12"/>
          </p:nvPr>
        </p:nvSpPr>
        <p:spPr/>
        <p:txBody>
          <a:bodyPr/>
          <a:lstStyle/>
          <a:p>
            <a:fld id="{25A42088-C730-408A-A823-60BED1AFCEA0}" type="slidenum">
              <a:rPr lang="ru-RU" smtClean="0"/>
              <a:t>20</a:t>
            </a:fld>
            <a:endParaRPr lang="ru-RU"/>
          </a:p>
        </p:txBody>
      </p:sp>
      <p:pic>
        <p:nvPicPr>
          <p:cNvPr id="3074" name="Picture 2" descr="Типы влияний блоков">
            <a:extLst>
              <a:ext uri="{FF2B5EF4-FFF2-40B4-BE49-F238E27FC236}">
                <a16:creationId xmlns:a16="http://schemas.microsoft.com/office/drawing/2014/main" id="{6A352021-C216-4F65-B19A-C2F7BB4F8FF7}"/>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267200" y="3590473"/>
            <a:ext cx="4819650" cy="2986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2610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Заголовок 8">
            <a:extLst>
              <a:ext uri="{FF2B5EF4-FFF2-40B4-BE49-F238E27FC236}">
                <a16:creationId xmlns:a16="http://schemas.microsoft.com/office/drawing/2014/main" id="{C45C64D4-5E61-40F1-8325-862628214F43}"/>
              </a:ext>
            </a:extLst>
          </p:cNvPr>
          <p:cNvSpPr>
            <a:spLocks noGrp="1"/>
          </p:cNvSpPr>
          <p:nvPr>
            <p:ph type="title"/>
          </p:nvPr>
        </p:nvSpPr>
        <p:spPr>
          <a:xfrm>
            <a:off x="1371600" y="596538"/>
            <a:ext cx="9944100" cy="733697"/>
          </a:xfrm>
        </p:spPr>
        <p:txBody>
          <a:bodyPr>
            <a:normAutofit fontScale="90000"/>
          </a:bodyPr>
          <a:lstStyle/>
          <a:p>
            <a:r>
              <a:rPr lang="ru-RU" sz="3600" dirty="0"/>
              <a:t>Метод, основанный на предположении об ошибке</a:t>
            </a:r>
            <a:br>
              <a:rPr lang="ru-RU" sz="3600" dirty="0"/>
            </a:br>
            <a:endParaRPr lang="ru-RU" dirty="0"/>
          </a:p>
        </p:txBody>
      </p:sp>
      <p:sp>
        <p:nvSpPr>
          <p:cNvPr id="10" name="Объект 9">
            <a:extLst>
              <a:ext uri="{FF2B5EF4-FFF2-40B4-BE49-F238E27FC236}">
                <a16:creationId xmlns:a16="http://schemas.microsoft.com/office/drawing/2014/main" id="{08D1B247-BA5F-45B1-8D5D-FF4CFE2ACBA9}"/>
              </a:ext>
            </a:extLst>
          </p:cNvPr>
          <p:cNvSpPr>
            <a:spLocks noGrp="1"/>
          </p:cNvSpPr>
          <p:nvPr>
            <p:ph idx="1"/>
          </p:nvPr>
        </p:nvSpPr>
        <p:spPr/>
        <p:txBody>
          <a:bodyPr>
            <a:normAutofit/>
          </a:bodyPr>
          <a:lstStyle/>
          <a:p>
            <a:r>
              <a:rPr lang="ru-RU" sz="2400" b="0" i="0" dirty="0">
                <a:effectLst/>
              </a:rPr>
              <a:t>Человек, обладающий богатым практическим опытом, часто подсознательно применяет метод проектирования тестов, называемый </a:t>
            </a:r>
            <a:r>
              <a:rPr lang="ru-RU" sz="2400" b="1" i="1" dirty="0">
                <a:effectLst/>
              </a:rPr>
              <a:t>предположением об ошибке</a:t>
            </a:r>
            <a:r>
              <a:rPr lang="ru-RU" sz="2400" b="0" i="0" dirty="0">
                <a:effectLst/>
              </a:rPr>
              <a:t>. Процедуру для метода предположения об ошибке невозможно описать формально, так как он во многом является интуитивным. Основная </a:t>
            </a:r>
            <a:r>
              <a:rPr lang="ru-RU" sz="2400" b="1" i="1" dirty="0">
                <a:effectLst/>
              </a:rPr>
              <a:t>идея </a:t>
            </a:r>
            <a:r>
              <a:rPr lang="ru-RU" sz="2400" b="0" i="0" dirty="0">
                <a:effectLst/>
              </a:rPr>
              <a:t>метода заключается в том, чтобы </a:t>
            </a:r>
            <a:r>
              <a:rPr lang="ru-RU" sz="2400" b="1" i="1" dirty="0">
                <a:effectLst/>
              </a:rPr>
              <a:t>перечислить в некотором</a:t>
            </a:r>
            <a:r>
              <a:rPr lang="ru-RU" sz="2400" b="0" i="0" dirty="0">
                <a:effectLst/>
              </a:rPr>
              <a:t> </a:t>
            </a:r>
            <a:r>
              <a:rPr lang="ru-RU" sz="2400" b="1" i="1" dirty="0">
                <a:effectLst/>
              </a:rPr>
              <a:t>списке</a:t>
            </a:r>
            <a:r>
              <a:rPr lang="ru-RU" sz="2400" b="0" i="0" dirty="0">
                <a:effectLst/>
              </a:rPr>
              <a:t> </a:t>
            </a:r>
            <a:r>
              <a:rPr lang="ru-RU" sz="2400" b="1" i="1" dirty="0">
                <a:effectLst/>
              </a:rPr>
              <a:t>возможные ошибки</a:t>
            </a:r>
            <a:r>
              <a:rPr lang="ru-RU" sz="2400" b="0" i="0" dirty="0">
                <a:effectLst/>
              </a:rPr>
              <a:t> или ситуации, в которых они могут появиться, а затем </a:t>
            </a:r>
            <a:r>
              <a:rPr lang="ru-RU" sz="2400" b="1" i="1" dirty="0">
                <a:effectLst/>
              </a:rPr>
              <a:t>на основе</a:t>
            </a:r>
            <a:r>
              <a:rPr lang="ru-RU" sz="2400" b="0" i="0" dirty="0">
                <a:effectLst/>
              </a:rPr>
              <a:t> этого </a:t>
            </a:r>
            <a:r>
              <a:rPr lang="ru-RU" sz="2400" b="1" i="1" dirty="0">
                <a:effectLst/>
              </a:rPr>
              <a:t>списка написать тесты</a:t>
            </a:r>
            <a:r>
              <a:rPr lang="ru-RU" sz="2400" b="0" i="0" dirty="0">
                <a:effectLst/>
              </a:rPr>
              <a:t>.</a:t>
            </a:r>
            <a:endParaRPr lang="ru-RU" sz="2400" dirty="0"/>
          </a:p>
        </p:txBody>
      </p:sp>
      <p:sp>
        <p:nvSpPr>
          <p:cNvPr id="5" name="Номер слайда 4">
            <a:extLst>
              <a:ext uri="{FF2B5EF4-FFF2-40B4-BE49-F238E27FC236}">
                <a16:creationId xmlns:a16="http://schemas.microsoft.com/office/drawing/2014/main" id="{BD88E74C-9663-40B0-BB67-F5978D3AAC6B}"/>
              </a:ext>
            </a:extLst>
          </p:cNvPr>
          <p:cNvSpPr>
            <a:spLocks noGrp="1"/>
          </p:cNvSpPr>
          <p:nvPr>
            <p:ph type="sldNum" sz="quarter" idx="12"/>
          </p:nvPr>
        </p:nvSpPr>
        <p:spPr>
          <a:xfrm>
            <a:off x="9692170" y="6374670"/>
            <a:ext cx="1280630" cy="404614"/>
          </a:xfrm>
        </p:spPr>
        <p:txBody>
          <a:bodyPr/>
          <a:lstStyle/>
          <a:p>
            <a:fld id="{25A42088-C730-408A-A823-60BED1AFCEA0}" type="slidenum">
              <a:rPr lang="ru-RU" smtClean="0"/>
              <a:pPr/>
              <a:t>21</a:t>
            </a:fld>
            <a:endParaRPr lang="ru-RU"/>
          </a:p>
        </p:txBody>
      </p:sp>
    </p:spTree>
    <p:extLst>
      <p:ext uri="{BB962C8B-B14F-4D97-AF65-F5344CB8AC3E}">
        <p14:creationId xmlns:p14="http://schemas.microsoft.com/office/powerpoint/2010/main" val="3767678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AD5AC1-027A-40E8-B709-688B2E09DAEB}"/>
              </a:ext>
            </a:extLst>
          </p:cNvPr>
          <p:cNvSpPr>
            <a:spLocks noGrp="1"/>
          </p:cNvSpPr>
          <p:nvPr>
            <p:ph type="title"/>
          </p:nvPr>
        </p:nvSpPr>
        <p:spPr/>
        <p:txBody>
          <a:bodyPr/>
          <a:lstStyle/>
          <a:p>
            <a:r>
              <a:rPr lang="ru-RU" dirty="0"/>
              <a:t>Тестовые сценарии и случаи (</a:t>
            </a:r>
            <a:r>
              <a:rPr lang="en-US" dirty="0"/>
              <a:t>Test Case</a:t>
            </a:r>
            <a:r>
              <a:rPr lang="ru-RU" dirty="0"/>
              <a:t>)</a:t>
            </a:r>
          </a:p>
        </p:txBody>
      </p:sp>
      <p:sp>
        <p:nvSpPr>
          <p:cNvPr id="3" name="Объект 2">
            <a:extLst>
              <a:ext uri="{FF2B5EF4-FFF2-40B4-BE49-F238E27FC236}">
                <a16:creationId xmlns:a16="http://schemas.microsoft.com/office/drawing/2014/main" id="{1636A516-404F-4CFA-9595-C91091D74E12}"/>
              </a:ext>
            </a:extLst>
          </p:cNvPr>
          <p:cNvSpPr>
            <a:spLocks noGrp="1"/>
          </p:cNvSpPr>
          <p:nvPr>
            <p:ph idx="1"/>
          </p:nvPr>
        </p:nvSpPr>
        <p:spPr/>
        <p:txBody>
          <a:bodyPr>
            <a:normAutofit/>
          </a:bodyPr>
          <a:lstStyle/>
          <a:p>
            <a:pPr marL="342900" indent="-342900">
              <a:buFont typeface="Wingdings" panose="05000000000000000000" pitchFamily="2" charset="2"/>
              <a:buChar char="Ø"/>
            </a:pPr>
            <a:r>
              <a:rPr lang="ru-RU" sz="2400" b="1" dirty="0"/>
              <a:t>Тестовый сценарий </a:t>
            </a:r>
            <a:r>
              <a:rPr lang="ru-RU" sz="2400" dirty="0"/>
              <a:t>— набор входных данных, условий выполнения и ожидаемых результатов, разработанный с целью проверки того или иного свойства или поведения программного средства.</a:t>
            </a:r>
          </a:p>
          <a:p>
            <a:pPr marL="342900" indent="-342900">
              <a:buFont typeface="Wingdings" panose="05000000000000000000" pitchFamily="2" charset="2"/>
              <a:buChar char="Ø"/>
            </a:pPr>
            <a:r>
              <a:rPr lang="ru-RU" sz="2400" b="1" dirty="0"/>
              <a:t>Тестовый случай </a:t>
            </a:r>
            <a:r>
              <a:rPr lang="ru-RU" sz="2400" dirty="0"/>
              <a:t>(тест-кейс) — это артефакт, описывающий совокупность шагов, конкретных условий и параметров, необходимых для проверки реализации тестируемой функции или её части.</a:t>
            </a:r>
          </a:p>
        </p:txBody>
      </p:sp>
      <p:sp>
        <p:nvSpPr>
          <p:cNvPr id="4" name="Номер слайда 3">
            <a:extLst>
              <a:ext uri="{FF2B5EF4-FFF2-40B4-BE49-F238E27FC236}">
                <a16:creationId xmlns:a16="http://schemas.microsoft.com/office/drawing/2014/main" id="{25DCE927-81A1-4DE6-9B67-0062CF824413}"/>
              </a:ext>
            </a:extLst>
          </p:cNvPr>
          <p:cNvSpPr>
            <a:spLocks noGrp="1"/>
          </p:cNvSpPr>
          <p:nvPr>
            <p:ph type="sldNum" sz="quarter" idx="12"/>
          </p:nvPr>
        </p:nvSpPr>
        <p:spPr/>
        <p:txBody>
          <a:bodyPr/>
          <a:lstStyle/>
          <a:p>
            <a:fld id="{25A42088-C730-408A-A823-60BED1AFCEA0}" type="slidenum">
              <a:rPr lang="ru-RU" smtClean="0"/>
              <a:t>22</a:t>
            </a:fld>
            <a:endParaRPr lang="ru-RU"/>
          </a:p>
        </p:txBody>
      </p:sp>
    </p:spTree>
    <p:extLst>
      <p:ext uri="{BB962C8B-B14F-4D97-AF65-F5344CB8AC3E}">
        <p14:creationId xmlns:p14="http://schemas.microsoft.com/office/powerpoint/2010/main" val="38565336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4DBF6DE-3F13-4FFC-AA54-B25B0A8BAB1F}"/>
              </a:ext>
            </a:extLst>
          </p:cNvPr>
          <p:cNvSpPr>
            <a:spLocks noGrp="1"/>
          </p:cNvSpPr>
          <p:nvPr>
            <p:ph type="title"/>
          </p:nvPr>
        </p:nvSpPr>
        <p:spPr/>
        <p:txBody>
          <a:bodyPr/>
          <a:lstStyle/>
          <a:p>
            <a:r>
              <a:rPr lang="ru-RU" dirty="0"/>
              <a:t>Цели создания тестовых сценариев</a:t>
            </a:r>
          </a:p>
        </p:txBody>
      </p:sp>
      <p:sp>
        <p:nvSpPr>
          <p:cNvPr id="3" name="Объект 2">
            <a:extLst>
              <a:ext uri="{FF2B5EF4-FFF2-40B4-BE49-F238E27FC236}">
                <a16:creationId xmlns:a16="http://schemas.microsoft.com/office/drawing/2014/main" id="{1D495C1B-2842-47F9-B42E-0847D9E9F95A}"/>
              </a:ext>
            </a:extLst>
          </p:cNvPr>
          <p:cNvSpPr>
            <a:spLocks noGrp="1"/>
          </p:cNvSpPr>
          <p:nvPr>
            <p:ph idx="1"/>
          </p:nvPr>
        </p:nvSpPr>
        <p:spPr/>
        <p:txBody>
          <a:bodyPr/>
          <a:lstStyle/>
          <a:p>
            <a:pPr marL="342900" indent="-342900">
              <a:buFont typeface="Wingdings" panose="05000000000000000000" pitchFamily="2" charset="2"/>
              <a:buChar char="Ø"/>
            </a:pPr>
            <a:r>
              <a:rPr lang="ru-RU" dirty="0"/>
              <a:t>Структурировать и систематизировать подход к тестированию.</a:t>
            </a:r>
          </a:p>
          <a:p>
            <a:pPr marL="342900" indent="-342900">
              <a:buFont typeface="Wingdings" panose="05000000000000000000" pitchFamily="2" charset="2"/>
              <a:buChar char="Ø"/>
            </a:pPr>
            <a:r>
              <a:rPr lang="ru-RU" dirty="0"/>
              <a:t>Вычислять метрики тестового покрытия и принимать меры по его увеличению.</a:t>
            </a:r>
          </a:p>
          <a:p>
            <a:pPr marL="342900" indent="-342900">
              <a:buFont typeface="Wingdings" panose="05000000000000000000" pitchFamily="2" charset="2"/>
              <a:buChar char="Ø"/>
            </a:pPr>
            <a:r>
              <a:rPr lang="ru-RU" dirty="0"/>
              <a:t>Отслеживать соответствие текущей ситуации плану.</a:t>
            </a:r>
          </a:p>
          <a:p>
            <a:pPr marL="342900" indent="-342900">
              <a:buFont typeface="Wingdings" panose="05000000000000000000" pitchFamily="2" charset="2"/>
              <a:buChar char="Ø"/>
            </a:pPr>
            <a:r>
              <a:rPr lang="ru-RU" dirty="0"/>
              <a:t>Уточнить взаимопонимание между заказчиком, разработчиками и тестировщиками.</a:t>
            </a:r>
          </a:p>
          <a:p>
            <a:pPr marL="342900" indent="-342900">
              <a:buFont typeface="Wingdings" panose="05000000000000000000" pitchFamily="2" charset="2"/>
              <a:buChar char="Ø"/>
            </a:pPr>
            <a:r>
              <a:rPr lang="ru-RU" dirty="0"/>
              <a:t>Хранить информацию для длительного использования и обмена опытом между сотрудниками и командами.</a:t>
            </a:r>
          </a:p>
          <a:p>
            <a:pPr marL="342900" indent="-342900">
              <a:buFont typeface="Wingdings" panose="05000000000000000000" pitchFamily="2" charset="2"/>
              <a:buChar char="Ø"/>
            </a:pPr>
            <a:r>
              <a:rPr lang="ru-RU" dirty="0"/>
              <a:t>Проводить регрессионное тестирование и повторное тестирование.</a:t>
            </a:r>
          </a:p>
          <a:p>
            <a:pPr marL="342900" indent="-342900">
              <a:buFont typeface="Wingdings" panose="05000000000000000000" pitchFamily="2" charset="2"/>
              <a:buChar char="Ø"/>
            </a:pPr>
            <a:r>
              <a:rPr lang="ru-RU" dirty="0"/>
              <a:t>Повышать качество требований.</a:t>
            </a:r>
          </a:p>
          <a:p>
            <a:pPr marL="342900" indent="-342900">
              <a:buFont typeface="Wingdings" panose="05000000000000000000" pitchFamily="2" charset="2"/>
              <a:buChar char="Ø"/>
            </a:pPr>
            <a:r>
              <a:rPr lang="ru-RU" dirty="0"/>
              <a:t>Быстро вводить в курс дела нового сотрудника, недавно подключившегося к проекту.</a:t>
            </a:r>
          </a:p>
        </p:txBody>
      </p:sp>
      <p:sp>
        <p:nvSpPr>
          <p:cNvPr id="4" name="Номер слайда 3">
            <a:extLst>
              <a:ext uri="{FF2B5EF4-FFF2-40B4-BE49-F238E27FC236}">
                <a16:creationId xmlns:a16="http://schemas.microsoft.com/office/drawing/2014/main" id="{2F240157-57FB-4EB2-81E3-66D67696D217}"/>
              </a:ext>
            </a:extLst>
          </p:cNvPr>
          <p:cNvSpPr>
            <a:spLocks noGrp="1"/>
          </p:cNvSpPr>
          <p:nvPr>
            <p:ph type="sldNum" sz="quarter" idx="12"/>
          </p:nvPr>
        </p:nvSpPr>
        <p:spPr/>
        <p:txBody>
          <a:bodyPr/>
          <a:lstStyle/>
          <a:p>
            <a:fld id="{25A42088-C730-408A-A823-60BED1AFCEA0}" type="slidenum">
              <a:rPr lang="ru-RU" smtClean="0"/>
              <a:t>23</a:t>
            </a:fld>
            <a:endParaRPr lang="ru-RU"/>
          </a:p>
        </p:txBody>
      </p:sp>
    </p:spTree>
    <p:extLst>
      <p:ext uri="{BB962C8B-B14F-4D97-AF65-F5344CB8AC3E}">
        <p14:creationId xmlns:p14="http://schemas.microsoft.com/office/powerpoint/2010/main" val="645644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F1CE74-9BA9-47AF-B736-8A5E0C582A50}"/>
              </a:ext>
            </a:extLst>
          </p:cNvPr>
          <p:cNvSpPr>
            <a:spLocks noGrp="1"/>
          </p:cNvSpPr>
          <p:nvPr>
            <p:ph type="title"/>
          </p:nvPr>
        </p:nvSpPr>
        <p:spPr/>
        <p:txBody>
          <a:bodyPr/>
          <a:lstStyle/>
          <a:p>
            <a:r>
              <a:rPr lang="ru-RU" dirty="0"/>
              <a:t>Основные атрибуты</a:t>
            </a:r>
          </a:p>
        </p:txBody>
      </p:sp>
      <p:sp>
        <p:nvSpPr>
          <p:cNvPr id="3" name="Объект 2">
            <a:extLst>
              <a:ext uri="{FF2B5EF4-FFF2-40B4-BE49-F238E27FC236}">
                <a16:creationId xmlns:a16="http://schemas.microsoft.com/office/drawing/2014/main" id="{514823A8-3F7A-4853-A91B-82A838FA652A}"/>
              </a:ext>
            </a:extLst>
          </p:cNvPr>
          <p:cNvSpPr>
            <a:spLocks noGrp="1"/>
          </p:cNvSpPr>
          <p:nvPr>
            <p:ph idx="1"/>
          </p:nvPr>
        </p:nvSpPr>
        <p:spPr/>
        <p:txBody>
          <a:bodyPr/>
          <a:lstStyle/>
          <a:p>
            <a:pPr marL="342900" indent="-342900">
              <a:buFont typeface="Wingdings" panose="05000000000000000000" pitchFamily="2" charset="2"/>
              <a:buChar char="Ø"/>
            </a:pPr>
            <a:r>
              <a:rPr lang="ru-RU" b="1" dirty="0"/>
              <a:t>Номер</a:t>
            </a:r>
            <a:r>
              <a:rPr lang="ru-RU" dirty="0"/>
              <a:t>— представляет собой уникальное значение, позволяющее однозначно отличить один тест-кейс от другого и используемое во всевозможных ссылках. </a:t>
            </a:r>
          </a:p>
          <a:p>
            <a:pPr marL="342900" indent="-342900">
              <a:buFont typeface="Wingdings" panose="05000000000000000000" pitchFamily="2" charset="2"/>
              <a:buChar char="Ø"/>
            </a:pPr>
            <a:r>
              <a:rPr lang="ru-RU" b="1" dirty="0"/>
              <a:t>Название</a:t>
            </a:r>
            <a:r>
              <a:rPr lang="ru-RU" dirty="0"/>
              <a:t>—краткое описание сути проверки, упрощает и ускоряет понимание основной идеи (цели) тест-кейса без обращения к его остальным атрибутам. Является наиболее информативным при просмотре списка тест-кейсов.</a:t>
            </a:r>
          </a:p>
          <a:p>
            <a:pPr marL="342900" indent="-342900">
              <a:buFont typeface="Wingdings" panose="05000000000000000000" pitchFamily="2" charset="2"/>
              <a:buChar char="Ø"/>
            </a:pPr>
            <a:r>
              <a:rPr lang="ru-RU" b="1" dirty="0"/>
              <a:t>Предварительные шаги</a:t>
            </a:r>
            <a:r>
              <a:rPr lang="ru-RU" dirty="0"/>
              <a:t> —описание действий, которые необходимо выполнить, но прямого отношения к проверке они не имеют.</a:t>
            </a:r>
          </a:p>
          <a:p>
            <a:pPr marL="342900" indent="-342900">
              <a:buFont typeface="Wingdings" panose="05000000000000000000" pitchFamily="2" charset="2"/>
              <a:buChar char="Ø"/>
            </a:pPr>
            <a:r>
              <a:rPr lang="ru-RU" b="1" dirty="0"/>
              <a:t>Шаги</a:t>
            </a:r>
            <a:r>
              <a:rPr lang="ru-RU" dirty="0"/>
              <a:t>—описание последовательности действий, которые необходимо реализовать в процессе выполнения тестового сценария.</a:t>
            </a:r>
          </a:p>
          <a:p>
            <a:pPr marL="342900" indent="-342900">
              <a:buFont typeface="Wingdings" panose="05000000000000000000" pitchFamily="2" charset="2"/>
              <a:buChar char="Ø"/>
            </a:pPr>
            <a:r>
              <a:rPr lang="ru-RU" b="1" dirty="0"/>
              <a:t>Ожидаемый результат</a:t>
            </a:r>
            <a:r>
              <a:rPr lang="ru-RU" dirty="0"/>
              <a:t> —описание реакции приложения по каждому шагу тест-кейса на действия, указанные в атрибуте «шаги». Номер шага соответствует номеру результата.</a:t>
            </a:r>
          </a:p>
        </p:txBody>
      </p:sp>
      <p:sp>
        <p:nvSpPr>
          <p:cNvPr id="4" name="Номер слайда 3">
            <a:extLst>
              <a:ext uri="{FF2B5EF4-FFF2-40B4-BE49-F238E27FC236}">
                <a16:creationId xmlns:a16="http://schemas.microsoft.com/office/drawing/2014/main" id="{4FBCF5D3-C5B7-449A-B024-DB232F0D2494}"/>
              </a:ext>
            </a:extLst>
          </p:cNvPr>
          <p:cNvSpPr>
            <a:spLocks noGrp="1"/>
          </p:cNvSpPr>
          <p:nvPr>
            <p:ph type="sldNum" sz="quarter" idx="12"/>
          </p:nvPr>
        </p:nvSpPr>
        <p:spPr/>
        <p:txBody>
          <a:bodyPr/>
          <a:lstStyle/>
          <a:p>
            <a:fld id="{25A42088-C730-408A-A823-60BED1AFCEA0}" type="slidenum">
              <a:rPr lang="ru-RU" smtClean="0"/>
              <a:t>24</a:t>
            </a:fld>
            <a:endParaRPr lang="ru-RU"/>
          </a:p>
        </p:txBody>
      </p:sp>
    </p:spTree>
    <p:extLst>
      <p:ext uri="{BB962C8B-B14F-4D97-AF65-F5344CB8AC3E}">
        <p14:creationId xmlns:p14="http://schemas.microsoft.com/office/powerpoint/2010/main" val="40172724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309160-4E0F-4C12-A3B4-8CC0DA22E4C5}"/>
              </a:ext>
            </a:extLst>
          </p:cNvPr>
          <p:cNvSpPr>
            <a:spLocks noGrp="1"/>
          </p:cNvSpPr>
          <p:nvPr>
            <p:ph type="title"/>
          </p:nvPr>
        </p:nvSpPr>
        <p:spPr/>
        <p:txBody>
          <a:bodyPr/>
          <a:lstStyle/>
          <a:p>
            <a:r>
              <a:rPr lang="ru-RU" dirty="0"/>
              <a:t>Жизненный цикл тестового сценария</a:t>
            </a:r>
          </a:p>
        </p:txBody>
      </p:sp>
      <p:pic>
        <p:nvPicPr>
          <p:cNvPr id="6" name="Объект 5">
            <a:extLst>
              <a:ext uri="{FF2B5EF4-FFF2-40B4-BE49-F238E27FC236}">
                <a16:creationId xmlns:a16="http://schemas.microsoft.com/office/drawing/2014/main" id="{137E8904-2B50-482C-924A-64ACCABF46F3}"/>
              </a:ext>
            </a:extLst>
          </p:cNvPr>
          <p:cNvPicPr>
            <a:picLocks noGrp="1" noChangeAspect="1"/>
          </p:cNvPicPr>
          <p:nvPr>
            <p:ph idx="1"/>
          </p:nvPr>
        </p:nvPicPr>
        <p:blipFill>
          <a:blip r:embed="rId2"/>
          <a:stretch>
            <a:fillRect/>
          </a:stretch>
        </p:blipFill>
        <p:spPr>
          <a:xfrm>
            <a:off x="3274499" y="1506538"/>
            <a:ext cx="5795402" cy="4754562"/>
          </a:xfrm>
        </p:spPr>
      </p:pic>
      <p:sp>
        <p:nvSpPr>
          <p:cNvPr id="4" name="Номер слайда 3">
            <a:extLst>
              <a:ext uri="{FF2B5EF4-FFF2-40B4-BE49-F238E27FC236}">
                <a16:creationId xmlns:a16="http://schemas.microsoft.com/office/drawing/2014/main" id="{11432263-E4D7-415B-B22D-810DB5A4CD26}"/>
              </a:ext>
            </a:extLst>
          </p:cNvPr>
          <p:cNvSpPr>
            <a:spLocks noGrp="1"/>
          </p:cNvSpPr>
          <p:nvPr>
            <p:ph type="sldNum" sz="quarter" idx="12"/>
          </p:nvPr>
        </p:nvSpPr>
        <p:spPr/>
        <p:txBody>
          <a:bodyPr/>
          <a:lstStyle/>
          <a:p>
            <a:fld id="{25A42088-C730-408A-A823-60BED1AFCEA0}" type="slidenum">
              <a:rPr lang="ru-RU" smtClean="0"/>
              <a:t>25</a:t>
            </a:fld>
            <a:endParaRPr lang="ru-RU"/>
          </a:p>
        </p:txBody>
      </p:sp>
      <p:sp>
        <p:nvSpPr>
          <p:cNvPr id="8" name="TextBox 7">
            <a:extLst>
              <a:ext uri="{FF2B5EF4-FFF2-40B4-BE49-F238E27FC236}">
                <a16:creationId xmlns:a16="http://schemas.microsoft.com/office/drawing/2014/main" id="{F301696E-70CE-4561-B111-B1B5ABA2AC9E}"/>
              </a:ext>
            </a:extLst>
          </p:cNvPr>
          <p:cNvSpPr txBox="1"/>
          <p:nvPr/>
        </p:nvSpPr>
        <p:spPr>
          <a:xfrm>
            <a:off x="3409950" y="6374670"/>
            <a:ext cx="6096000" cy="369332"/>
          </a:xfrm>
          <a:prstGeom prst="rect">
            <a:avLst/>
          </a:prstGeom>
          <a:noFill/>
        </p:spPr>
        <p:txBody>
          <a:bodyPr wrap="square">
            <a:spAutoFit/>
          </a:bodyPr>
          <a:lstStyle/>
          <a:p>
            <a:r>
              <a:rPr lang="ru-RU" dirty="0">
                <a:latin typeface="Georgia" panose="02040502050405020303" pitchFamily="18" charset="0"/>
              </a:rPr>
              <a:t>Выполнение тестового случая: ручное тестирование</a:t>
            </a:r>
          </a:p>
        </p:txBody>
      </p:sp>
    </p:spTree>
    <p:extLst>
      <p:ext uri="{BB962C8B-B14F-4D97-AF65-F5344CB8AC3E}">
        <p14:creationId xmlns:p14="http://schemas.microsoft.com/office/powerpoint/2010/main" val="16854334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908D728-3071-9232-06DC-AB9FFD0D8E75}"/>
              </a:ext>
            </a:extLst>
          </p:cNvPr>
          <p:cNvSpPr>
            <a:spLocks noGrp="1"/>
          </p:cNvSpPr>
          <p:nvPr>
            <p:ph type="title"/>
          </p:nvPr>
        </p:nvSpPr>
        <p:spPr/>
        <p:txBody>
          <a:bodyPr>
            <a:normAutofit fontScale="90000"/>
          </a:bodyPr>
          <a:lstStyle/>
          <a:p>
            <a:r>
              <a:rPr lang="ru-RU" dirty="0"/>
              <a:t>Шаблон развернутой записи тестового случая</a:t>
            </a:r>
          </a:p>
        </p:txBody>
      </p:sp>
      <p:sp>
        <p:nvSpPr>
          <p:cNvPr id="4" name="Номер слайда 3">
            <a:extLst>
              <a:ext uri="{FF2B5EF4-FFF2-40B4-BE49-F238E27FC236}">
                <a16:creationId xmlns:a16="http://schemas.microsoft.com/office/drawing/2014/main" id="{8F681E56-A21F-B9F9-347C-5B2EF9EBE021}"/>
              </a:ext>
            </a:extLst>
          </p:cNvPr>
          <p:cNvSpPr>
            <a:spLocks noGrp="1"/>
          </p:cNvSpPr>
          <p:nvPr>
            <p:ph type="sldNum" sz="quarter" idx="12"/>
          </p:nvPr>
        </p:nvSpPr>
        <p:spPr/>
        <p:txBody>
          <a:bodyPr/>
          <a:lstStyle/>
          <a:p>
            <a:fld id="{25A42088-C730-408A-A823-60BED1AFCEA0}" type="slidenum">
              <a:rPr lang="ru-RU" smtClean="0"/>
              <a:t>26</a:t>
            </a:fld>
            <a:endParaRPr lang="ru-RU"/>
          </a:p>
        </p:txBody>
      </p:sp>
      <p:graphicFrame>
        <p:nvGraphicFramePr>
          <p:cNvPr id="7" name="Объект 6">
            <a:extLst>
              <a:ext uri="{FF2B5EF4-FFF2-40B4-BE49-F238E27FC236}">
                <a16:creationId xmlns:a16="http://schemas.microsoft.com/office/drawing/2014/main" id="{E0C25343-B003-491D-8B20-6C5782FC5D08}"/>
              </a:ext>
            </a:extLst>
          </p:cNvPr>
          <p:cNvGraphicFramePr>
            <a:graphicFrameLocks noGrp="1"/>
          </p:cNvGraphicFramePr>
          <p:nvPr>
            <p:ph idx="1"/>
            <p:extLst>
              <p:ext uri="{D42A27DB-BD31-4B8C-83A1-F6EECF244321}">
                <p14:modId xmlns:p14="http://schemas.microsoft.com/office/powerpoint/2010/main" val="478880427"/>
              </p:ext>
            </p:extLst>
          </p:nvPr>
        </p:nvGraphicFramePr>
        <p:xfrm>
          <a:off x="1571625" y="1835060"/>
          <a:ext cx="9925050" cy="3084123"/>
        </p:xfrm>
        <a:graphic>
          <a:graphicData uri="http://schemas.openxmlformats.org/drawingml/2006/table">
            <a:tbl>
              <a:tblPr firstRow="1" firstCol="1" bandRow="1">
                <a:tableStyleId>{5940675A-B579-460E-94D1-54222C63F5DA}</a:tableStyleId>
              </a:tblPr>
              <a:tblGrid>
                <a:gridCol w="1837607">
                  <a:extLst>
                    <a:ext uri="{9D8B030D-6E8A-4147-A177-3AD203B41FA5}">
                      <a16:colId xmlns:a16="http://schemas.microsoft.com/office/drawing/2014/main" val="3074043220"/>
                    </a:ext>
                  </a:extLst>
                </a:gridCol>
                <a:gridCol w="867493">
                  <a:extLst>
                    <a:ext uri="{9D8B030D-6E8A-4147-A177-3AD203B41FA5}">
                      <a16:colId xmlns:a16="http://schemas.microsoft.com/office/drawing/2014/main" val="663901447"/>
                    </a:ext>
                  </a:extLst>
                </a:gridCol>
                <a:gridCol w="2143125">
                  <a:extLst>
                    <a:ext uri="{9D8B030D-6E8A-4147-A177-3AD203B41FA5}">
                      <a16:colId xmlns:a16="http://schemas.microsoft.com/office/drawing/2014/main" val="399015858"/>
                    </a:ext>
                  </a:extLst>
                </a:gridCol>
                <a:gridCol w="2286000">
                  <a:extLst>
                    <a:ext uri="{9D8B030D-6E8A-4147-A177-3AD203B41FA5}">
                      <a16:colId xmlns:a16="http://schemas.microsoft.com/office/drawing/2014/main" val="2090089850"/>
                    </a:ext>
                  </a:extLst>
                </a:gridCol>
                <a:gridCol w="971550">
                  <a:extLst>
                    <a:ext uri="{9D8B030D-6E8A-4147-A177-3AD203B41FA5}">
                      <a16:colId xmlns:a16="http://schemas.microsoft.com/office/drawing/2014/main" val="3024165681"/>
                    </a:ext>
                  </a:extLst>
                </a:gridCol>
                <a:gridCol w="1819275">
                  <a:extLst>
                    <a:ext uri="{9D8B030D-6E8A-4147-A177-3AD203B41FA5}">
                      <a16:colId xmlns:a16="http://schemas.microsoft.com/office/drawing/2014/main" val="2255830352"/>
                    </a:ext>
                  </a:extLst>
                </a:gridCol>
              </a:tblGrid>
              <a:tr h="413863">
                <a:tc>
                  <a:txBody>
                    <a:bodyPr/>
                    <a:lstStyle/>
                    <a:p>
                      <a:pPr marL="0" indent="0" algn="ctr" defTabSz="914400" rtl="0" eaLnBrk="1" latinLnBrk="0" hangingPunct="1">
                        <a:lnSpc>
                          <a:spcPct val="150000"/>
                        </a:lnSpc>
                      </a:pPr>
                      <a:r>
                        <a:rPr lang="ru-RU" sz="1600" b="1" kern="0" dirty="0">
                          <a:solidFill>
                            <a:schemeClr val="tx1"/>
                          </a:solidFill>
                          <a:effectLst/>
                          <a:latin typeface="Georgia" panose="02040502050405020303" pitchFamily="18" charset="0"/>
                          <a:ea typeface="+mn-ea"/>
                          <a:cs typeface="+mn-cs"/>
                        </a:rPr>
                        <a:t>Тест кейс ID</a:t>
                      </a:r>
                    </a:p>
                  </a:txBody>
                  <a:tcPr marL="68580" marR="68580" marT="0" marB="0"/>
                </a:tc>
                <a:tc gridSpan="5">
                  <a:txBody>
                    <a:bodyPr/>
                    <a:lstStyle/>
                    <a:p>
                      <a:pPr marL="0" indent="0" algn="ctr" defTabSz="914400" rtl="0" eaLnBrk="1" latinLnBrk="0" hangingPunct="1">
                        <a:lnSpc>
                          <a:spcPct val="150000"/>
                        </a:lnSpc>
                      </a:pPr>
                      <a:r>
                        <a:rPr lang="ru-RU" sz="1600" b="1" kern="0" dirty="0">
                          <a:solidFill>
                            <a:schemeClr val="tx1"/>
                          </a:solidFill>
                          <a:effectLst/>
                          <a:latin typeface="Georgia" panose="02040502050405020303" pitchFamily="18" charset="0"/>
                          <a:ea typeface="+mn-ea"/>
                          <a:cs typeface="+mn-cs"/>
                        </a:rPr>
                        <a:t> </a:t>
                      </a:r>
                    </a:p>
                  </a:txBody>
                  <a:tcPr marL="68580" marR="68580"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234533663"/>
                  </a:ext>
                </a:extLst>
              </a:tr>
              <a:tr h="413863">
                <a:tc>
                  <a:txBody>
                    <a:bodyPr/>
                    <a:lstStyle/>
                    <a:p>
                      <a:pPr marL="0" indent="0" algn="ctr" defTabSz="914400" rtl="0" eaLnBrk="1" latinLnBrk="0" hangingPunct="1">
                        <a:lnSpc>
                          <a:spcPct val="150000"/>
                        </a:lnSpc>
                      </a:pPr>
                      <a:r>
                        <a:rPr lang="ru-RU" sz="1600" b="1" kern="0">
                          <a:solidFill>
                            <a:schemeClr val="tx1"/>
                          </a:solidFill>
                          <a:effectLst/>
                          <a:latin typeface="Georgia" panose="02040502050405020303" pitchFamily="18" charset="0"/>
                          <a:ea typeface="+mn-ea"/>
                          <a:cs typeface="+mn-cs"/>
                        </a:rPr>
                        <a:t>Заголовок</a:t>
                      </a:r>
                    </a:p>
                  </a:txBody>
                  <a:tcPr marL="68580" marR="68580" marT="0" marB="0"/>
                </a:tc>
                <a:tc gridSpan="5">
                  <a:txBody>
                    <a:bodyPr/>
                    <a:lstStyle/>
                    <a:p>
                      <a:pPr marL="0" indent="0" algn="ctr" defTabSz="914400" rtl="0" eaLnBrk="1" latinLnBrk="0" hangingPunct="1">
                        <a:lnSpc>
                          <a:spcPct val="150000"/>
                        </a:lnSpc>
                      </a:pPr>
                      <a:r>
                        <a:rPr lang="ru-RU" sz="1600" b="1" kern="0" dirty="0">
                          <a:solidFill>
                            <a:schemeClr val="tx1"/>
                          </a:solidFill>
                          <a:effectLst/>
                          <a:latin typeface="Georgia" panose="02040502050405020303" pitchFamily="18" charset="0"/>
                          <a:ea typeface="+mn-ea"/>
                          <a:cs typeface="+mn-cs"/>
                        </a:rPr>
                        <a:t> </a:t>
                      </a:r>
                    </a:p>
                  </a:txBody>
                  <a:tcPr marL="68580" marR="68580"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4147344074"/>
                  </a:ext>
                </a:extLst>
              </a:tr>
              <a:tr h="413863">
                <a:tc>
                  <a:txBody>
                    <a:bodyPr/>
                    <a:lstStyle/>
                    <a:p>
                      <a:pPr marL="0" indent="0" algn="ctr" defTabSz="914400" rtl="0" eaLnBrk="1" latinLnBrk="0" hangingPunct="1">
                        <a:lnSpc>
                          <a:spcPct val="150000"/>
                        </a:lnSpc>
                      </a:pPr>
                      <a:r>
                        <a:rPr lang="ru-RU" sz="1600" b="1" kern="0" dirty="0">
                          <a:solidFill>
                            <a:schemeClr val="tx1"/>
                          </a:solidFill>
                          <a:effectLst/>
                          <a:latin typeface="Georgia" panose="02040502050405020303" pitchFamily="18" charset="0"/>
                          <a:ea typeface="+mn-ea"/>
                          <a:cs typeface="+mn-cs"/>
                        </a:rPr>
                        <a:t>Предусловие</a:t>
                      </a:r>
                    </a:p>
                  </a:txBody>
                  <a:tcPr marL="68580" marR="68580" marT="0" marB="0"/>
                </a:tc>
                <a:tc gridSpan="5">
                  <a:txBody>
                    <a:bodyPr/>
                    <a:lstStyle/>
                    <a:p>
                      <a:pPr marL="0" indent="0" algn="ctr" defTabSz="914400" rtl="0" eaLnBrk="1" latinLnBrk="0" hangingPunct="1">
                        <a:lnSpc>
                          <a:spcPct val="150000"/>
                        </a:lnSpc>
                      </a:pPr>
                      <a:r>
                        <a:rPr lang="ru-RU" sz="1600" b="1" kern="0" dirty="0">
                          <a:solidFill>
                            <a:schemeClr val="tx1"/>
                          </a:solidFill>
                          <a:effectLst/>
                          <a:latin typeface="Georgia" panose="02040502050405020303" pitchFamily="18" charset="0"/>
                          <a:ea typeface="+mn-ea"/>
                          <a:cs typeface="+mn-cs"/>
                        </a:rPr>
                        <a:t> </a:t>
                      </a:r>
                    </a:p>
                  </a:txBody>
                  <a:tcPr marL="68580" marR="68580"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579639158"/>
                  </a:ext>
                </a:extLst>
              </a:tr>
              <a:tr h="1123876">
                <a:tc rowSpan="2">
                  <a:txBody>
                    <a:bodyPr/>
                    <a:lstStyle/>
                    <a:p>
                      <a:pPr marL="0" indent="0" algn="ctr" defTabSz="914400" rtl="0" eaLnBrk="1" latinLnBrk="0" hangingPunct="1">
                        <a:lnSpc>
                          <a:spcPct val="150000"/>
                        </a:lnSpc>
                      </a:pPr>
                      <a:r>
                        <a:rPr lang="ru-RU" sz="1600" b="1" kern="0">
                          <a:solidFill>
                            <a:schemeClr val="tx1"/>
                          </a:solidFill>
                          <a:effectLst/>
                          <a:latin typeface="Georgia" panose="02040502050405020303" pitchFamily="18" charset="0"/>
                          <a:ea typeface="+mn-ea"/>
                          <a:cs typeface="+mn-cs"/>
                        </a:rPr>
                        <a:t> </a:t>
                      </a:r>
                    </a:p>
                  </a:txBody>
                  <a:tcPr marL="68580" marR="68580" marT="0" marB="0"/>
                </a:tc>
                <a:tc>
                  <a:txBody>
                    <a:bodyPr/>
                    <a:lstStyle/>
                    <a:p>
                      <a:pPr marL="0" indent="0" algn="ctr" defTabSz="914400" rtl="0" eaLnBrk="1" latinLnBrk="0" hangingPunct="1">
                        <a:lnSpc>
                          <a:spcPct val="150000"/>
                        </a:lnSpc>
                      </a:pPr>
                      <a:r>
                        <a:rPr lang="ru-RU" sz="1600" b="1" kern="0" dirty="0">
                          <a:solidFill>
                            <a:schemeClr val="tx1"/>
                          </a:solidFill>
                          <a:effectLst/>
                          <a:latin typeface="Georgia" panose="02040502050405020303" pitchFamily="18" charset="0"/>
                          <a:ea typeface="+mn-ea"/>
                          <a:cs typeface="+mn-cs"/>
                        </a:rPr>
                        <a:t>№ шага</a:t>
                      </a:r>
                    </a:p>
                  </a:txBody>
                  <a:tcPr marL="68580" marR="68580" marT="0" marB="0"/>
                </a:tc>
                <a:tc>
                  <a:txBody>
                    <a:bodyPr/>
                    <a:lstStyle/>
                    <a:p>
                      <a:pPr marL="0" indent="0" algn="ctr" defTabSz="914400" rtl="0" eaLnBrk="1" latinLnBrk="0" hangingPunct="1">
                        <a:lnSpc>
                          <a:spcPct val="150000"/>
                        </a:lnSpc>
                      </a:pPr>
                      <a:r>
                        <a:rPr lang="ru-RU" sz="1600" b="1" kern="0" dirty="0">
                          <a:solidFill>
                            <a:schemeClr val="tx1"/>
                          </a:solidFill>
                          <a:effectLst/>
                          <a:latin typeface="Georgia" panose="02040502050405020303" pitchFamily="18" charset="0"/>
                          <a:ea typeface="+mn-ea"/>
                          <a:cs typeface="+mn-cs"/>
                        </a:rPr>
                        <a:t>Шаг</a:t>
                      </a:r>
                    </a:p>
                  </a:txBody>
                  <a:tcPr marL="68580" marR="68580" marT="0" marB="0"/>
                </a:tc>
                <a:tc>
                  <a:txBody>
                    <a:bodyPr/>
                    <a:lstStyle/>
                    <a:p>
                      <a:pPr marL="0" indent="0" algn="ctr" defTabSz="914400" rtl="0" eaLnBrk="1" latinLnBrk="0" hangingPunct="1">
                        <a:lnSpc>
                          <a:spcPct val="150000"/>
                        </a:lnSpc>
                      </a:pPr>
                      <a:r>
                        <a:rPr lang="ru-RU" sz="1600" b="1" kern="0" dirty="0">
                          <a:solidFill>
                            <a:schemeClr val="tx1"/>
                          </a:solidFill>
                          <a:effectLst/>
                          <a:latin typeface="Georgia" panose="02040502050405020303" pitchFamily="18" charset="0"/>
                          <a:ea typeface="+mn-ea"/>
                          <a:cs typeface="+mn-cs"/>
                        </a:rPr>
                        <a:t>Ожидаемый результат</a:t>
                      </a:r>
                    </a:p>
                  </a:txBody>
                  <a:tcPr marL="68580" marR="68580" marT="0" marB="0"/>
                </a:tc>
                <a:tc>
                  <a:txBody>
                    <a:bodyPr/>
                    <a:lstStyle/>
                    <a:p>
                      <a:pPr marL="0" indent="0" algn="ctr" defTabSz="914400" rtl="0" eaLnBrk="1" latinLnBrk="0" hangingPunct="1">
                        <a:lnSpc>
                          <a:spcPct val="150000"/>
                        </a:lnSpc>
                      </a:pPr>
                      <a:r>
                        <a:rPr lang="ru-RU" sz="1600" b="1" kern="0" dirty="0">
                          <a:solidFill>
                            <a:schemeClr val="tx1"/>
                          </a:solidFill>
                          <a:effectLst/>
                          <a:latin typeface="Georgia" panose="02040502050405020303" pitchFamily="18" charset="0"/>
                          <a:ea typeface="+mn-ea"/>
                          <a:cs typeface="+mn-cs"/>
                        </a:rPr>
                        <a:t>Статус</a:t>
                      </a:r>
                    </a:p>
                  </a:txBody>
                  <a:tcPr marL="68580" marR="68580" marT="0" marB="0"/>
                </a:tc>
                <a:tc>
                  <a:txBody>
                    <a:bodyPr/>
                    <a:lstStyle/>
                    <a:p>
                      <a:pPr marL="0" indent="0" algn="ctr" defTabSz="914400" rtl="0" eaLnBrk="1" latinLnBrk="0" hangingPunct="1">
                        <a:lnSpc>
                          <a:spcPct val="150000"/>
                        </a:lnSpc>
                      </a:pPr>
                      <a:r>
                        <a:rPr lang="ru-RU" sz="1600" b="1" kern="0" dirty="0">
                          <a:solidFill>
                            <a:schemeClr val="tx1"/>
                          </a:solidFill>
                          <a:effectLst/>
                          <a:latin typeface="Georgia" panose="02040502050405020303" pitchFamily="18" charset="0"/>
                          <a:ea typeface="+mn-ea"/>
                          <a:cs typeface="+mn-cs"/>
                        </a:rPr>
                        <a:t>Комментарий</a:t>
                      </a:r>
                    </a:p>
                  </a:txBody>
                  <a:tcPr marL="68580" marR="68580" marT="0" marB="0"/>
                </a:tc>
                <a:extLst>
                  <a:ext uri="{0D108BD9-81ED-4DB2-BD59-A6C34878D82A}">
                    <a16:rowId xmlns:a16="http://schemas.microsoft.com/office/drawing/2014/main" val="3558976984"/>
                  </a:ext>
                </a:extLst>
              </a:tr>
              <a:tr h="168019">
                <a:tc vMerge="1">
                  <a:txBody>
                    <a:bodyPr/>
                    <a:lstStyle/>
                    <a:p>
                      <a:endParaRPr lang="ru-RU"/>
                    </a:p>
                  </a:txBody>
                  <a:tcPr/>
                </a:tc>
                <a:tc>
                  <a:txBody>
                    <a:bodyPr/>
                    <a:lstStyle/>
                    <a:p>
                      <a:pPr marL="0" indent="0" algn="ctr" defTabSz="914400" rtl="0" eaLnBrk="1" latinLnBrk="0" hangingPunct="1">
                        <a:lnSpc>
                          <a:spcPct val="150000"/>
                        </a:lnSpc>
                      </a:pPr>
                      <a:r>
                        <a:rPr lang="ru-RU" sz="1600" b="1" kern="0" dirty="0">
                          <a:solidFill>
                            <a:schemeClr val="tx1"/>
                          </a:solidFill>
                          <a:effectLst/>
                          <a:latin typeface="Georgia" panose="02040502050405020303" pitchFamily="18" charset="0"/>
                          <a:ea typeface="+mn-ea"/>
                          <a:cs typeface="+mn-cs"/>
                        </a:rPr>
                        <a:t> </a:t>
                      </a:r>
                    </a:p>
                  </a:txBody>
                  <a:tcPr marL="68580" marR="68580" marT="0" marB="0"/>
                </a:tc>
                <a:tc>
                  <a:txBody>
                    <a:bodyPr/>
                    <a:lstStyle/>
                    <a:p>
                      <a:pPr marL="0" indent="0" algn="ctr" defTabSz="914400" rtl="0" eaLnBrk="1" latinLnBrk="0" hangingPunct="1">
                        <a:lnSpc>
                          <a:spcPct val="150000"/>
                        </a:lnSpc>
                      </a:pPr>
                      <a:r>
                        <a:rPr lang="ru-RU" sz="1600" b="1" kern="0">
                          <a:solidFill>
                            <a:schemeClr val="tx1"/>
                          </a:solidFill>
                          <a:effectLst/>
                          <a:latin typeface="Georgia" panose="02040502050405020303" pitchFamily="18" charset="0"/>
                          <a:ea typeface="+mn-ea"/>
                          <a:cs typeface="+mn-cs"/>
                        </a:rPr>
                        <a:t> </a:t>
                      </a:r>
                    </a:p>
                  </a:txBody>
                  <a:tcPr marL="68580" marR="68580" marT="0" marB="0"/>
                </a:tc>
                <a:tc>
                  <a:txBody>
                    <a:bodyPr/>
                    <a:lstStyle/>
                    <a:p>
                      <a:pPr marL="0" indent="0" algn="ctr" defTabSz="914400" rtl="0" eaLnBrk="1" latinLnBrk="0" hangingPunct="1">
                        <a:lnSpc>
                          <a:spcPct val="150000"/>
                        </a:lnSpc>
                      </a:pPr>
                      <a:r>
                        <a:rPr lang="ru-RU" sz="1600" b="1" kern="0">
                          <a:solidFill>
                            <a:schemeClr val="tx1"/>
                          </a:solidFill>
                          <a:effectLst/>
                          <a:latin typeface="Georgia" panose="02040502050405020303" pitchFamily="18" charset="0"/>
                          <a:ea typeface="+mn-ea"/>
                          <a:cs typeface="+mn-cs"/>
                        </a:rPr>
                        <a:t> </a:t>
                      </a:r>
                    </a:p>
                  </a:txBody>
                  <a:tcPr marL="68580" marR="68580" marT="0" marB="0"/>
                </a:tc>
                <a:tc>
                  <a:txBody>
                    <a:bodyPr/>
                    <a:lstStyle/>
                    <a:p>
                      <a:pPr marL="0" indent="0" algn="ctr" defTabSz="914400" rtl="0" eaLnBrk="1" latinLnBrk="0" hangingPunct="1">
                        <a:lnSpc>
                          <a:spcPct val="150000"/>
                        </a:lnSpc>
                      </a:pPr>
                      <a:r>
                        <a:rPr lang="ru-RU" sz="1600" b="1" kern="0">
                          <a:solidFill>
                            <a:schemeClr val="tx1"/>
                          </a:solidFill>
                          <a:effectLst/>
                          <a:latin typeface="Georgia" panose="02040502050405020303" pitchFamily="18" charset="0"/>
                          <a:ea typeface="+mn-ea"/>
                          <a:cs typeface="+mn-cs"/>
                        </a:rPr>
                        <a:t> </a:t>
                      </a:r>
                    </a:p>
                  </a:txBody>
                  <a:tcPr marL="68580" marR="68580" marT="0" marB="0"/>
                </a:tc>
                <a:tc>
                  <a:txBody>
                    <a:bodyPr/>
                    <a:lstStyle/>
                    <a:p>
                      <a:pPr marL="0" indent="0" algn="ctr" defTabSz="914400" rtl="0" eaLnBrk="1" latinLnBrk="0" hangingPunct="1">
                        <a:lnSpc>
                          <a:spcPct val="150000"/>
                        </a:lnSpc>
                      </a:pPr>
                      <a:r>
                        <a:rPr lang="ru-RU" sz="1600" b="1" kern="0" dirty="0">
                          <a:solidFill>
                            <a:schemeClr val="tx1"/>
                          </a:solidFill>
                          <a:effectLst/>
                          <a:latin typeface="Georgia" panose="02040502050405020303" pitchFamily="18" charset="0"/>
                          <a:ea typeface="+mn-ea"/>
                          <a:cs typeface="+mn-cs"/>
                        </a:rPr>
                        <a:t> </a:t>
                      </a:r>
                    </a:p>
                  </a:txBody>
                  <a:tcPr marL="68580" marR="68580" marT="0" marB="0"/>
                </a:tc>
                <a:extLst>
                  <a:ext uri="{0D108BD9-81ED-4DB2-BD59-A6C34878D82A}">
                    <a16:rowId xmlns:a16="http://schemas.microsoft.com/office/drawing/2014/main" val="292793685"/>
                  </a:ext>
                </a:extLst>
              </a:tr>
              <a:tr h="397284">
                <a:tc>
                  <a:txBody>
                    <a:bodyPr/>
                    <a:lstStyle/>
                    <a:p>
                      <a:pPr marL="0" indent="0" algn="ctr" defTabSz="914400" rtl="0" eaLnBrk="1" latinLnBrk="0" hangingPunct="1">
                        <a:lnSpc>
                          <a:spcPct val="150000"/>
                        </a:lnSpc>
                      </a:pPr>
                      <a:r>
                        <a:rPr lang="ru-RU" sz="1600" b="1" kern="0" dirty="0">
                          <a:solidFill>
                            <a:schemeClr val="tx1"/>
                          </a:solidFill>
                          <a:effectLst/>
                          <a:latin typeface="Georgia" panose="02040502050405020303" pitchFamily="18" charset="0"/>
                          <a:ea typeface="+mn-ea"/>
                          <a:cs typeface="+mn-cs"/>
                        </a:rPr>
                        <a:t>Постусловие</a:t>
                      </a:r>
                    </a:p>
                  </a:txBody>
                  <a:tcPr marL="68580" marR="68580" marT="0" marB="0"/>
                </a:tc>
                <a:tc gridSpan="5">
                  <a:txBody>
                    <a:bodyPr/>
                    <a:lstStyle/>
                    <a:p>
                      <a:pPr marL="0" indent="0" algn="ctr" defTabSz="914400" rtl="0" eaLnBrk="1" latinLnBrk="0" hangingPunct="1">
                        <a:lnSpc>
                          <a:spcPct val="150000"/>
                        </a:lnSpc>
                      </a:pPr>
                      <a:r>
                        <a:rPr lang="ru-RU" sz="1600" b="1" kern="0" dirty="0">
                          <a:solidFill>
                            <a:schemeClr val="tx1"/>
                          </a:solidFill>
                          <a:effectLst/>
                          <a:latin typeface="Georgia" panose="02040502050405020303" pitchFamily="18" charset="0"/>
                          <a:ea typeface="+mn-ea"/>
                          <a:cs typeface="+mn-cs"/>
                        </a:rPr>
                        <a:t> </a:t>
                      </a:r>
                    </a:p>
                  </a:txBody>
                  <a:tcPr marL="68580" marR="68580"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204210857"/>
                  </a:ext>
                </a:extLst>
              </a:tr>
            </a:tbl>
          </a:graphicData>
        </a:graphic>
      </p:graphicFrame>
    </p:spTree>
    <p:extLst>
      <p:ext uri="{BB962C8B-B14F-4D97-AF65-F5344CB8AC3E}">
        <p14:creationId xmlns:p14="http://schemas.microsoft.com/office/powerpoint/2010/main" val="22019594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A852CD-32A8-499B-AA43-0F2E4FAAC3DB}"/>
              </a:ext>
            </a:extLst>
          </p:cNvPr>
          <p:cNvSpPr>
            <a:spLocks noGrp="1"/>
          </p:cNvSpPr>
          <p:nvPr>
            <p:ph type="title"/>
          </p:nvPr>
        </p:nvSpPr>
        <p:spPr>
          <a:xfrm>
            <a:off x="1371600" y="230609"/>
            <a:ext cx="9601200" cy="733697"/>
          </a:xfrm>
        </p:spPr>
        <p:txBody>
          <a:bodyPr>
            <a:normAutofit fontScale="90000"/>
          </a:bodyPr>
          <a:lstStyle/>
          <a:p>
            <a:r>
              <a:rPr lang="ru-RU" dirty="0"/>
              <a:t>Пример развернутой записи тестового случая</a:t>
            </a:r>
          </a:p>
        </p:txBody>
      </p:sp>
      <p:graphicFrame>
        <p:nvGraphicFramePr>
          <p:cNvPr id="5" name="Объект 4">
            <a:extLst>
              <a:ext uri="{FF2B5EF4-FFF2-40B4-BE49-F238E27FC236}">
                <a16:creationId xmlns:a16="http://schemas.microsoft.com/office/drawing/2014/main" id="{54355C8C-1FE9-4547-8D47-245862122609}"/>
              </a:ext>
            </a:extLst>
          </p:cNvPr>
          <p:cNvGraphicFramePr>
            <a:graphicFrameLocks noGrp="1"/>
          </p:cNvGraphicFramePr>
          <p:nvPr>
            <p:ph idx="1"/>
            <p:extLst>
              <p:ext uri="{D42A27DB-BD31-4B8C-83A1-F6EECF244321}">
                <p14:modId xmlns:p14="http://schemas.microsoft.com/office/powerpoint/2010/main" val="2708428589"/>
              </p:ext>
            </p:extLst>
          </p:nvPr>
        </p:nvGraphicFramePr>
        <p:xfrm>
          <a:off x="1219200" y="964306"/>
          <a:ext cx="10687049" cy="5821238"/>
        </p:xfrm>
        <a:graphic>
          <a:graphicData uri="http://schemas.openxmlformats.org/drawingml/2006/table">
            <a:tbl>
              <a:tblPr firstRow="1" firstCol="1">
                <a:tableStyleId>{ED083AE6-46FA-4A59-8FB0-9F97EB10719F}</a:tableStyleId>
              </a:tblPr>
              <a:tblGrid>
                <a:gridCol w="1039018">
                  <a:extLst>
                    <a:ext uri="{9D8B030D-6E8A-4147-A177-3AD203B41FA5}">
                      <a16:colId xmlns:a16="http://schemas.microsoft.com/office/drawing/2014/main" val="2766197081"/>
                    </a:ext>
                  </a:extLst>
                </a:gridCol>
                <a:gridCol w="710350">
                  <a:extLst>
                    <a:ext uri="{9D8B030D-6E8A-4147-A177-3AD203B41FA5}">
                      <a16:colId xmlns:a16="http://schemas.microsoft.com/office/drawing/2014/main" val="439150102"/>
                    </a:ext>
                  </a:extLst>
                </a:gridCol>
                <a:gridCol w="3678974">
                  <a:extLst>
                    <a:ext uri="{9D8B030D-6E8A-4147-A177-3AD203B41FA5}">
                      <a16:colId xmlns:a16="http://schemas.microsoft.com/office/drawing/2014/main" val="3870339248"/>
                    </a:ext>
                  </a:extLst>
                </a:gridCol>
                <a:gridCol w="3372207">
                  <a:extLst>
                    <a:ext uri="{9D8B030D-6E8A-4147-A177-3AD203B41FA5}">
                      <a16:colId xmlns:a16="http://schemas.microsoft.com/office/drawing/2014/main" val="4178822702"/>
                    </a:ext>
                  </a:extLst>
                </a:gridCol>
                <a:gridCol w="943250">
                  <a:extLst>
                    <a:ext uri="{9D8B030D-6E8A-4147-A177-3AD203B41FA5}">
                      <a16:colId xmlns:a16="http://schemas.microsoft.com/office/drawing/2014/main" val="1937703359"/>
                    </a:ext>
                  </a:extLst>
                </a:gridCol>
                <a:gridCol w="943250">
                  <a:extLst>
                    <a:ext uri="{9D8B030D-6E8A-4147-A177-3AD203B41FA5}">
                      <a16:colId xmlns:a16="http://schemas.microsoft.com/office/drawing/2014/main" val="617041799"/>
                    </a:ext>
                  </a:extLst>
                </a:gridCol>
              </a:tblGrid>
              <a:tr h="334838">
                <a:tc>
                  <a:txBody>
                    <a:bodyPr/>
                    <a:lstStyle/>
                    <a:p>
                      <a:pPr indent="0" algn="ctr">
                        <a:lnSpc>
                          <a:spcPct val="100000"/>
                        </a:lnSpc>
                      </a:pPr>
                      <a:r>
                        <a:rPr lang="ru-RU" sz="1200" kern="0" dirty="0">
                          <a:effectLst/>
                          <a:latin typeface="Georgia" panose="02040502050405020303" pitchFamily="18" charset="0"/>
                        </a:rPr>
                        <a:t>Тест кейс ID</a:t>
                      </a:r>
                      <a:endParaRPr lang="ru-RU" sz="12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gridSpan="5">
                  <a:txBody>
                    <a:bodyPr/>
                    <a:lstStyle/>
                    <a:p>
                      <a:pPr indent="0" algn="just">
                        <a:lnSpc>
                          <a:spcPct val="100000"/>
                        </a:lnSpc>
                      </a:pPr>
                      <a:r>
                        <a:rPr lang="ru-RU" sz="1200" kern="0">
                          <a:effectLst/>
                          <a:latin typeface="Georgia" panose="02040502050405020303" pitchFamily="18" charset="0"/>
                        </a:rPr>
                        <a:t>1</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2644306010"/>
                  </a:ext>
                </a:extLst>
              </a:tr>
              <a:tr h="334838">
                <a:tc>
                  <a:txBody>
                    <a:bodyPr/>
                    <a:lstStyle/>
                    <a:p>
                      <a:pPr indent="0" algn="ctr">
                        <a:lnSpc>
                          <a:spcPct val="100000"/>
                        </a:lnSpc>
                      </a:pPr>
                      <a:r>
                        <a:rPr lang="ru-RU" sz="1200" kern="0" dirty="0">
                          <a:effectLst/>
                          <a:latin typeface="Georgia" panose="02040502050405020303" pitchFamily="18" charset="0"/>
                        </a:rPr>
                        <a:t>Заголовок</a:t>
                      </a:r>
                      <a:endParaRPr lang="ru-RU" sz="12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gridSpan="5">
                  <a:txBody>
                    <a:bodyPr/>
                    <a:lstStyle/>
                    <a:p>
                      <a:pPr indent="0" algn="just">
                        <a:lnSpc>
                          <a:spcPct val="100000"/>
                        </a:lnSpc>
                      </a:pPr>
                      <a:r>
                        <a:rPr lang="ru-RU" sz="1200" kern="0" dirty="0">
                          <a:effectLst/>
                          <a:latin typeface="Georgia" panose="02040502050405020303" pitchFamily="18" charset="0"/>
                        </a:rPr>
                        <a:t>Отправка сообщения через форму обратной связи на странице “Контакты” </a:t>
                      </a:r>
                      <a:endParaRPr lang="ru-RU" sz="12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19141475"/>
                  </a:ext>
                </a:extLst>
              </a:tr>
              <a:tr h="334838">
                <a:tc>
                  <a:txBody>
                    <a:bodyPr/>
                    <a:lstStyle/>
                    <a:p>
                      <a:pPr indent="0" algn="ctr">
                        <a:lnSpc>
                          <a:spcPct val="100000"/>
                        </a:lnSpc>
                      </a:pPr>
                      <a:r>
                        <a:rPr lang="ru-RU" sz="1200" kern="0" dirty="0">
                          <a:effectLst/>
                          <a:latin typeface="Georgia" panose="02040502050405020303" pitchFamily="18" charset="0"/>
                        </a:rPr>
                        <a:t>Предусловие</a:t>
                      </a:r>
                      <a:endParaRPr lang="ru-RU" sz="12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gridSpan="5">
                  <a:txBody>
                    <a:bodyPr/>
                    <a:lstStyle/>
                    <a:p>
                      <a:pPr indent="0" algn="just">
                        <a:lnSpc>
                          <a:spcPct val="100000"/>
                        </a:lnSpc>
                      </a:pPr>
                      <a:r>
                        <a:rPr lang="ru-RU" sz="1200" kern="0">
                          <a:effectLst/>
                          <a:latin typeface="Georgia" panose="02040502050405020303" pitchFamily="18" charset="0"/>
                        </a:rPr>
                        <a:t>Открыта главная страница сайта victorz.ru. Есть доступ к почте администратора сайта victorz.ru </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2239701623"/>
                  </a:ext>
                </a:extLst>
              </a:tr>
              <a:tr h="334838">
                <a:tc rowSpan="9">
                  <a:txBody>
                    <a:bodyPr/>
                    <a:lstStyle/>
                    <a:p>
                      <a:pPr indent="0" algn="ctr">
                        <a:lnSpc>
                          <a:spcPct val="100000"/>
                        </a:lnSpc>
                      </a:pPr>
                      <a:r>
                        <a:rPr lang="ru-RU" sz="1200" kern="0" dirty="0">
                          <a:effectLst/>
                          <a:latin typeface="Georgia" panose="02040502050405020303" pitchFamily="18" charset="0"/>
                        </a:rPr>
                        <a:t> </a:t>
                      </a:r>
                      <a:endParaRPr lang="ru-RU" sz="12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ctr">
                        <a:lnSpc>
                          <a:spcPct val="100000"/>
                        </a:lnSpc>
                      </a:pPr>
                      <a:r>
                        <a:rPr lang="ru-RU" sz="1200" b="1" kern="0" dirty="0">
                          <a:effectLst/>
                          <a:latin typeface="Georgia" panose="02040502050405020303" pitchFamily="18" charset="0"/>
                        </a:rPr>
                        <a:t>№ шага</a:t>
                      </a:r>
                      <a:endParaRPr lang="ru-RU" sz="1200" b="1"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ctr">
                        <a:lnSpc>
                          <a:spcPct val="100000"/>
                        </a:lnSpc>
                      </a:pPr>
                      <a:r>
                        <a:rPr lang="ru-RU" sz="1200" b="1" kern="0" dirty="0">
                          <a:effectLst/>
                          <a:latin typeface="Georgia" panose="02040502050405020303" pitchFamily="18" charset="0"/>
                        </a:rPr>
                        <a:t>Шаг</a:t>
                      </a:r>
                      <a:endParaRPr lang="ru-RU" sz="1200" b="1"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ctr">
                        <a:lnSpc>
                          <a:spcPct val="100000"/>
                        </a:lnSpc>
                      </a:pPr>
                      <a:r>
                        <a:rPr lang="ru-RU" sz="1200" b="1" kern="0" dirty="0">
                          <a:effectLst/>
                          <a:latin typeface="Georgia" panose="02040502050405020303" pitchFamily="18" charset="0"/>
                        </a:rPr>
                        <a:t>Ожидаемый результат</a:t>
                      </a:r>
                      <a:endParaRPr lang="ru-RU" sz="1200" b="1"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ctr">
                        <a:lnSpc>
                          <a:spcPct val="100000"/>
                        </a:lnSpc>
                      </a:pPr>
                      <a:r>
                        <a:rPr lang="ru-RU" sz="1200" b="1" kern="0">
                          <a:effectLst/>
                          <a:latin typeface="Georgia" panose="02040502050405020303" pitchFamily="18" charset="0"/>
                        </a:rPr>
                        <a:t>Статус</a:t>
                      </a:r>
                      <a:endParaRPr lang="ru-RU" sz="1200" b="1"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ctr">
                        <a:lnSpc>
                          <a:spcPct val="100000"/>
                        </a:lnSpc>
                      </a:pPr>
                      <a:r>
                        <a:rPr lang="ru-RU" sz="1200" b="1" kern="0" dirty="0">
                          <a:effectLst/>
                          <a:latin typeface="Georgia" panose="02040502050405020303" pitchFamily="18" charset="0"/>
                        </a:rPr>
                        <a:t>Комментарий</a:t>
                      </a:r>
                      <a:endParaRPr lang="ru-RU" sz="1200" b="1"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extLst>
                  <a:ext uri="{0D108BD9-81ED-4DB2-BD59-A6C34878D82A}">
                    <a16:rowId xmlns:a16="http://schemas.microsoft.com/office/drawing/2014/main" val="1623365047"/>
                  </a:ext>
                </a:extLst>
              </a:tr>
              <a:tr h="334838">
                <a:tc vMerge="1">
                  <a:txBody>
                    <a:bodyPr/>
                    <a:lstStyle/>
                    <a:p>
                      <a:endParaRPr lang="ru-RU"/>
                    </a:p>
                  </a:txBody>
                  <a:tcPr/>
                </a:tc>
                <a:tc>
                  <a:txBody>
                    <a:bodyPr/>
                    <a:lstStyle/>
                    <a:p>
                      <a:pPr indent="0" algn="just">
                        <a:lnSpc>
                          <a:spcPct val="100000"/>
                        </a:lnSpc>
                      </a:pPr>
                      <a:r>
                        <a:rPr lang="ru-RU" sz="1200" kern="0">
                          <a:effectLst/>
                          <a:latin typeface="Georgia" panose="02040502050405020303" pitchFamily="18" charset="0"/>
                        </a:rPr>
                        <a:t>1</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В верхнем меню сайта нажать на ссылку “Контакты” </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dirty="0">
                          <a:effectLst/>
                          <a:latin typeface="Georgia" panose="02040502050405020303" pitchFamily="18" charset="0"/>
                        </a:rPr>
                        <a:t>Открылась страница “Контакты” </a:t>
                      </a:r>
                      <a:endParaRPr lang="ru-RU" sz="12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Пройден</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 </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extLst>
                  <a:ext uri="{0D108BD9-81ED-4DB2-BD59-A6C34878D82A}">
                    <a16:rowId xmlns:a16="http://schemas.microsoft.com/office/drawing/2014/main" val="203159892"/>
                  </a:ext>
                </a:extLst>
              </a:tr>
              <a:tr h="334838">
                <a:tc vMerge="1">
                  <a:txBody>
                    <a:bodyPr/>
                    <a:lstStyle/>
                    <a:p>
                      <a:endParaRPr lang="ru-RU"/>
                    </a:p>
                  </a:txBody>
                  <a:tcPr/>
                </a:tc>
                <a:tc>
                  <a:txBody>
                    <a:bodyPr/>
                    <a:lstStyle/>
                    <a:p>
                      <a:pPr indent="0" algn="just">
                        <a:lnSpc>
                          <a:spcPct val="100000"/>
                        </a:lnSpc>
                      </a:pPr>
                      <a:r>
                        <a:rPr lang="ru-RU" sz="1200" kern="0">
                          <a:effectLst/>
                          <a:latin typeface="Georgia" panose="02040502050405020303" pitchFamily="18" charset="0"/>
                        </a:rPr>
                        <a:t>2</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dirty="0">
                          <a:effectLst/>
                          <a:latin typeface="Georgia" panose="02040502050405020303" pitchFamily="18" charset="0"/>
                        </a:rPr>
                        <a:t>Ввести значение в поле “Ваше имя” состоящее из латинских букв, кириллицы </a:t>
                      </a:r>
                      <a:endParaRPr lang="ru-RU" sz="12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В поле “Ваше имя” отображается введённое имя </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Пройден</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 </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extLst>
                  <a:ext uri="{0D108BD9-81ED-4DB2-BD59-A6C34878D82A}">
                    <a16:rowId xmlns:a16="http://schemas.microsoft.com/office/drawing/2014/main" val="1851961758"/>
                  </a:ext>
                </a:extLst>
              </a:tr>
              <a:tr h="334838">
                <a:tc vMerge="1">
                  <a:txBody>
                    <a:bodyPr/>
                    <a:lstStyle/>
                    <a:p>
                      <a:endParaRPr lang="ru-RU"/>
                    </a:p>
                  </a:txBody>
                  <a:tcPr/>
                </a:tc>
                <a:tc>
                  <a:txBody>
                    <a:bodyPr/>
                    <a:lstStyle/>
                    <a:p>
                      <a:pPr indent="0" algn="just">
                        <a:lnSpc>
                          <a:spcPct val="100000"/>
                        </a:lnSpc>
                      </a:pPr>
                      <a:r>
                        <a:rPr lang="ru-RU" sz="1200" kern="0">
                          <a:effectLst/>
                          <a:latin typeface="Georgia" panose="02040502050405020303" pitchFamily="18" charset="0"/>
                        </a:rPr>
                        <a:t>3</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dirty="0">
                          <a:effectLst/>
                          <a:latin typeface="Georgia" panose="02040502050405020303" pitchFamily="18" charset="0"/>
                        </a:rPr>
                        <a:t>Ввести корректный </a:t>
                      </a:r>
                      <a:r>
                        <a:rPr lang="ru-RU" sz="1200" kern="0" dirty="0" err="1">
                          <a:effectLst/>
                          <a:latin typeface="Georgia" panose="02040502050405020303" pitchFamily="18" charset="0"/>
                        </a:rPr>
                        <a:t>email</a:t>
                      </a:r>
                      <a:r>
                        <a:rPr lang="ru-RU" sz="1200" kern="0" dirty="0">
                          <a:effectLst/>
                          <a:latin typeface="Georgia" panose="02040502050405020303" pitchFamily="18" charset="0"/>
                        </a:rPr>
                        <a:t> в поле “Ваш </a:t>
                      </a:r>
                      <a:r>
                        <a:rPr lang="ru-RU" sz="1200" kern="0" dirty="0" err="1">
                          <a:effectLst/>
                          <a:latin typeface="Georgia" panose="02040502050405020303" pitchFamily="18" charset="0"/>
                        </a:rPr>
                        <a:t>e-mail</a:t>
                      </a:r>
                      <a:r>
                        <a:rPr lang="ru-RU" sz="1200" kern="0" dirty="0">
                          <a:effectLst/>
                          <a:latin typeface="Georgia" panose="02040502050405020303" pitchFamily="18" charset="0"/>
                        </a:rPr>
                        <a:t>” </a:t>
                      </a:r>
                      <a:endParaRPr lang="ru-RU" sz="12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В поле “Ваш e-mail” отображается введённый email </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Пройден</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 </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extLst>
                  <a:ext uri="{0D108BD9-81ED-4DB2-BD59-A6C34878D82A}">
                    <a16:rowId xmlns:a16="http://schemas.microsoft.com/office/drawing/2014/main" val="696106847"/>
                  </a:ext>
                </a:extLst>
              </a:tr>
              <a:tr h="334838">
                <a:tc vMerge="1">
                  <a:txBody>
                    <a:bodyPr/>
                    <a:lstStyle/>
                    <a:p>
                      <a:endParaRPr lang="ru-RU"/>
                    </a:p>
                  </a:txBody>
                  <a:tcPr/>
                </a:tc>
                <a:tc>
                  <a:txBody>
                    <a:bodyPr/>
                    <a:lstStyle/>
                    <a:p>
                      <a:pPr indent="0" algn="just">
                        <a:lnSpc>
                          <a:spcPct val="100000"/>
                        </a:lnSpc>
                      </a:pPr>
                      <a:r>
                        <a:rPr lang="ru-RU" sz="1200" kern="0">
                          <a:effectLst/>
                          <a:latin typeface="Georgia" panose="02040502050405020303" pitchFamily="18" charset="0"/>
                        </a:rPr>
                        <a:t>4</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Ввести в поле “Тема” значение состоящее из латинских букв, кириллицы, спецсимволов и чисел </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В поле “Тема” отображается введённый текст</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Пройден</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 </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extLst>
                  <a:ext uri="{0D108BD9-81ED-4DB2-BD59-A6C34878D82A}">
                    <a16:rowId xmlns:a16="http://schemas.microsoft.com/office/drawing/2014/main" val="227282290"/>
                  </a:ext>
                </a:extLst>
              </a:tr>
              <a:tr h="334838">
                <a:tc vMerge="1">
                  <a:txBody>
                    <a:bodyPr/>
                    <a:lstStyle/>
                    <a:p>
                      <a:endParaRPr lang="ru-RU"/>
                    </a:p>
                  </a:txBody>
                  <a:tcPr/>
                </a:tc>
                <a:tc>
                  <a:txBody>
                    <a:bodyPr/>
                    <a:lstStyle/>
                    <a:p>
                      <a:pPr indent="0" algn="just">
                        <a:lnSpc>
                          <a:spcPct val="100000"/>
                        </a:lnSpc>
                      </a:pPr>
                      <a:r>
                        <a:rPr lang="ru-RU" sz="1200" kern="0">
                          <a:effectLst/>
                          <a:latin typeface="Georgia" panose="02040502050405020303" pitchFamily="18" charset="0"/>
                        </a:rPr>
                        <a:t>5</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dirty="0">
                          <a:effectLst/>
                          <a:latin typeface="Georgia" panose="02040502050405020303" pitchFamily="18" charset="0"/>
                        </a:rPr>
                        <a:t>Ввести в поле “Сообщение” значение состоящее из латинских букв, кириллицы, спецсимволов и чисел </a:t>
                      </a:r>
                      <a:endParaRPr lang="ru-RU" sz="12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В поле “Сообщение” отображается введённый текст </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Пройден</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 </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extLst>
                  <a:ext uri="{0D108BD9-81ED-4DB2-BD59-A6C34878D82A}">
                    <a16:rowId xmlns:a16="http://schemas.microsoft.com/office/drawing/2014/main" val="312760106"/>
                  </a:ext>
                </a:extLst>
              </a:tr>
              <a:tr h="334838">
                <a:tc vMerge="1">
                  <a:txBody>
                    <a:bodyPr/>
                    <a:lstStyle/>
                    <a:p>
                      <a:endParaRPr lang="ru-RU"/>
                    </a:p>
                  </a:txBody>
                  <a:tcPr/>
                </a:tc>
                <a:tc>
                  <a:txBody>
                    <a:bodyPr/>
                    <a:lstStyle/>
                    <a:p>
                      <a:pPr indent="0" algn="just">
                        <a:lnSpc>
                          <a:spcPct val="100000"/>
                        </a:lnSpc>
                      </a:pPr>
                      <a:r>
                        <a:rPr lang="ru-RU" sz="1200" kern="0">
                          <a:effectLst/>
                          <a:latin typeface="Georgia" panose="02040502050405020303" pitchFamily="18" charset="0"/>
                        </a:rPr>
                        <a:t>6</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Ввести в поле капчи требуемое капчей значение </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В поле капчи отображается введённое значение </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Пройден</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 </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extLst>
                  <a:ext uri="{0D108BD9-81ED-4DB2-BD59-A6C34878D82A}">
                    <a16:rowId xmlns:a16="http://schemas.microsoft.com/office/drawing/2014/main" val="343375707"/>
                  </a:ext>
                </a:extLst>
              </a:tr>
              <a:tr h="569850">
                <a:tc vMerge="1">
                  <a:txBody>
                    <a:bodyPr/>
                    <a:lstStyle/>
                    <a:p>
                      <a:endParaRPr lang="ru-RU"/>
                    </a:p>
                  </a:txBody>
                  <a:tcPr/>
                </a:tc>
                <a:tc>
                  <a:txBody>
                    <a:bodyPr/>
                    <a:lstStyle/>
                    <a:p>
                      <a:pPr indent="0" algn="just">
                        <a:lnSpc>
                          <a:spcPct val="100000"/>
                        </a:lnSpc>
                      </a:pPr>
                      <a:r>
                        <a:rPr lang="ru-RU" sz="1200" kern="0">
                          <a:effectLst/>
                          <a:latin typeface="Georgia" panose="02040502050405020303" pitchFamily="18" charset="0"/>
                        </a:rPr>
                        <a:t>7</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Нажать под заполняемой формой на кнопку “Отправить” </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Под кнопкой «Отправить» появился текст “Спасибо. Ваше сообщение было отправлено.”  Все заполненные поля очищены.</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Пройден</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 </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extLst>
                  <a:ext uri="{0D108BD9-81ED-4DB2-BD59-A6C34878D82A}">
                    <a16:rowId xmlns:a16="http://schemas.microsoft.com/office/drawing/2014/main" val="3072841728"/>
                  </a:ext>
                </a:extLst>
              </a:tr>
              <a:tr h="569850">
                <a:tc vMerge="1">
                  <a:txBody>
                    <a:bodyPr/>
                    <a:lstStyle/>
                    <a:p>
                      <a:endParaRPr lang="ru-RU"/>
                    </a:p>
                  </a:txBody>
                  <a:tcPr/>
                </a:tc>
                <a:tc>
                  <a:txBody>
                    <a:bodyPr/>
                    <a:lstStyle/>
                    <a:p>
                      <a:pPr indent="0" algn="just">
                        <a:lnSpc>
                          <a:spcPct val="100000"/>
                        </a:lnSpc>
                      </a:pPr>
                      <a:r>
                        <a:rPr lang="ru-RU" sz="1200" kern="0">
                          <a:effectLst/>
                          <a:latin typeface="Georgia" panose="02040502050405020303" pitchFamily="18" charset="0"/>
                        </a:rPr>
                        <a:t>8</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Проверить почту администратора сайта </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На почту пришло сообщение, отправленное с сайта через форму обратной связи и содержащее в теле сообщения данные введённые на шагах 1-5. </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Пройден</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a:txBody>
                    <a:bodyPr/>
                    <a:lstStyle/>
                    <a:p>
                      <a:pPr indent="0" algn="just">
                        <a:lnSpc>
                          <a:spcPct val="100000"/>
                        </a:lnSpc>
                      </a:pPr>
                      <a:r>
                        <a:rPr lang="ru-RU" sz="1200" kern="0">
                          <a:effectLst/>
                          <a:latin typeface="Georgia" panose="02040502050405020303" pitchFamily="18" charset="0"/>
                        </a:rPr>
                        <a:t> </a:t>
                      </a:r>
                      <a:endParaRPr lang="ru-RU" sz="12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extLst>
                  <a:ext uri="{0D108BD9-81ED-4DB2-BD59-A6C34878D82A}">
                    <a16:rowId xmlns:a16="http://schemas.microsoft.com/office/drawing/2014/main" val="135745170"/>
                  </a:ext>
                </a:extLst>
              </a:tr>
              <a:tr h="334838">
                <a:tc>
                  <a:txBody>
                    <a:bodyPr/>
                    <a:lstStyle/>
                    <a:p>
                      <a:pPr indent="0" algn="ctr">
                        <a:lnSpc>
                          <a:spcPct val="100000"/>
                        </a:lnSpc>
                      </a:pPr>
                      <a:r>
                        <a:rPr lang="ru-RU" sz="1200" kern="0" dirty="0">
                          <a:effectLst/>
                          <a:latin typeface="Georgia" panose="02040502050405020303" pitchFamily="18" charset="0"/>
                        </a:rPr>
                        <a:t>Постусловие</a:t>
                      </a:r>
                      <a:endParaRPr lang="ru-RU" sz="12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gridSpan="5">
                  <a:txBody>
                    <a:bodyPr/>
                    <a:lstStyle/>
                    <a:p>
                      <a:pPr indent="0" algn="just">
                        <a:lnSpc>
                          <a:spcPct val="100000"/>
                        </a:lnSpc>
                      </a:pPr>
                      <a:r>
                        <a:rPr lang="ru-RU" sz="1200" kern="0" dirty="0">
                          <a:effectLst/>
                          <a:latin typeface="Georgia" panose="02040502050405020303" pitchFamily="18" charset="0"/>
                        </a:rPr>
                        <a:t> </a:t>
                      </a:r>
                      <a:endParaRPr lang="ru-RU" sz="12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50425" marR="50425"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600039796"/>
                  </a:ext>
                </a:extLst>
              </a:tr>
            </a:tbl>
          </a:graphicData>
        </a:graphic>
      </p:graphicFrame>
      <p:sp>
        <p:nvSpPr>
          <p:cNvPr id="4" name="Номер слайда 3">
            <a:extLst>
              <a:ext uri="{FF2B5EF4-FFF2-40B4-BE49-F238E27FC236}">
                <a16:creationId xmlns:a16="http://schemas.microsoft.com/office/drawing/2014/main" id="{19B215E1-7816-40E7-BD51-9C7162470454}"/>
              </a:ext>
            </a:extLst>
          </p:cNvPr>
          <p:cNvSpPr>
            <a:spLocks noGrp="1"/>
          </p:cNvSpPr>
          <p:nvPr>
            <p:ph type="sldNum" sz="quarter" idx="12"/>
          </p:nvPr>
        </p:nvSpPr>
        <p:spPr/>
        <p:txBody>
          <a:bodyPr/>
          <a:lstStyle/>
          <a:p>
            <a:fld id="{25A42088-C730-408A-A823-60BED1AFCEA0}" type="slidenum">
              <a:rPr lang="ru-RU" smtClean="0"/>
              <a:t>27</a:t>
            </a:fld>
            <a:endParaRPr lang="ru-RU"/>
          </a:p>
        </p:txBody>
      </p:sp>
    </p:spTree>
    <p:extLst>
      <p:ext uri="{BB962C8B-B14F-4D97-AF65-F5344CB8AC3E}">
        <p14:creationId xmlns:p14="http://schemas.microsoft.com/office/powerpoint/2010/main" val="13880384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FC97EA-889B-9486-94BF-7226373BDAE2}"/>
              </a:ext>
            </a:extLst>
          </p:cNvPr>
          <p:cNvSpPr>
            <a:spLocks noGrp="1"/>
          </p:cNvSpPr>
          <p:nvPr>
            <p:ph type="title"/>
          </p:nvPr>
        </p:nvSpPr>
        <p:spPr>
          <a:xfrm>
            <a:off x="1371600" y="596538"/>
            <a:ext cx="10043160" cy="733697"/>
          </a:xfrm>
        </p:spPr>
        <p:txBody>
          <a:bodyPr>
            <a:normAutofit fontScale="90000"/>
          </a:bodyPr>
          <a:lstStyle/>
          <a:p>
            <a:r>
              <a:rPr lang="ru-RU" dirty="0"/>
              <a:t>Шаблон и пример краткой записи тестового случая</a:t>
            </a:r>
          </a:p>
        </p:txBody>
      </p:sp>
      <p:graphicFrame>
        <p:nvGraphicFramePr>
          <p:cNvPr id="5" name="Объект 4">
            <a:extLst>
              <a:ext uri="{FF2B5EF4-FFF2-40B4-BE49-F238E27FC236}">
                <a16:creationId xmlns:a16="http://schemas.microsoft.com/office/drawing/2014/main" id="{9D77B099-43A9-A74E-5D1E-B0DB994066E4}"/>
              </a:ext>
            </a:extLst>
          </p:cNvPr>
          <p:cNvGraphicFramePr>
            <a:graphicFrameLocks noGrp="1"/>
          </p:cNvGraphicFramePr>
          <p:nvPr>
            <p:ph idx="1"/>
            <p:extLst>
              <p:ext uri="{D42A27DB-BD31-4B8C-83A1-F6EECF244321}">
                <p14:modId xmlns:p14="http://schemas.microsoft.com/office/powerpoint/2010/main" val="4247190975"/>
              </p:ext>
            </p:extLst>
          </p:nvPr>
        </p:nvGraphicFramePr>
        <p:xfrm>
          <a:off x="967741" y="1330235"/>
          <a:ext cx="10850877" cy="1008508"/>
        </p:xfrm>
        <a:graphic>
          <a:graphicData uri="http://schemas.openxmlformats.org/drawingml/2006/table">
            <a:tbl>
              <a:tblPr firstRow="1">
                <a:tableStyleId>{ED083AE6-46FA-4A59-8FB0-9F97EB10719F}</a:tableStyleId>
              </a:tblPr>
              <a:tblGrid>
                <a:gridCol w="2222741">
                  <a:extLst>
                    <a:ext uri="{9D8B030D-6E8A-4147-A177-3AD203B41FA5}">
                      <a16:colId xmlns:a16="http://schemas.microsoft.com/office/drawing/2014/main" val="2326342181"/>
                    </a:ext>
                  </a:extLst>
                </a:gridCol>
                <a:gridCol w="1568812">
                  <a:extLst>
                    <a:ext uri="{9D8B030D-6E8A-4147-A177-3AD203B41FA5}">
                      <a16:colId xmlns:a16="http://schemas.microsoft.com/office/drawing/2014/main" val="2843002649"/>
                    </a:ext>
                  </a:extLst>
                </a:gridCol>
                <a:gridCol w="1562848">
                  <a:extLst>
                    <a:ext uri="{9D8B030D-6E8A-4147-A177-3AD203B41FA5}">
                      <a16:colId xmlns:a16="http://schemas.microsoft.com/office/drawing/2014/main" val="1238490069"/>
                    </a:ext>
                  </a:extLst>
                </a:gridCol>
                <a:gridCol w="1266096">
                  <a:extLst>
                    <a:ext uri="{9D8B030D-6E8A-4147-A177-3AD203B41FA5}">
                      <a16:colId xmlns:a16="http://schemas.microsoft.com/office/drawing/2014/main" val="1614986292"/>
                    </a:ext>
                  </a:extLst>
                </a:gridCol>
                <a:gridCol w="1707796">
                  <a:extLst>
                    <a:ext uri="{9D8B030D-6E8A-4147-A177-3AD203B41FA5}">
                      <a16:colId xmlns:a16="http://schemas.microsoft.com/office/drawing/2014/main" val="1352408781"/>
                    </a:ext>
                  </a:extLst>
                </a:gridCol>
                <a:gridCol w="1686061">
                  <a:extLst>
                    <a:ext uri="{9D8B030D-6E8A-4147-A177-3AD203B41FA5}">
                      <a16:colId xmlns:a16="http://schemas.microsoft.com/office/drawing/2014/main" val="962260397"/>
                    </a:ext>
                  </a:extLst>
                </a:gridCol>
                <a:gridCol w="836523">
                  <a:extLst>
                    <a:ext uri="{9D8B030D-6E8A-4147-A177-3AD203B41FA5}">
                      <a16:colId xmlns:a16="http://schemas.microsoft.com/office/drawing/2014/main" val="707745993"/>
                    </a:ext>
                  </a:extLst>
                </a:gridCol>
              </a:tblGrid>
              <a:tr h="0">
                <a:tc>
                  <a:txBody>
                    <a:bodyPr/>
                    <a:lstStyle/>
                    <a:p>
                      <a:pPr indent="0" algn="ctr">
                        <a:lnSpc>
                          <a:spcPct val="150000"/>
                        </a:lnSpc>
                      </a:pPr>
                      <a:r>
                        <a:rPr lang="ru-RU" sz="1600" kern="0" dirty="0">
                          <a:effectLst/>
                          <a:latin typeface="Georgia" panose="02040502050405020303" pitchFamily="18" charset="0"/>
                        </a:rPr>
                        <a:t>Заголовок</a:t>
                      </a:r>
                      <a:endParaRPr lang="ru-RU" sz="16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lgn="ctr">
                        <a:lnSpc>
                          <a:spcPct val="150000"/>
                        </a:lnSpc>
                      </a:pPr>
                      <a:r>
                        <a:rPr lang="ru-RU" sz="1600" dirty="0">
                          <a:effectLst/>
                          <a:latin typeface="Georgia" panose="02040502050405020303" pitchFamily="18" charset="0"/>
                          <a:ea typeface="Calibri" panose="020F0502020204030204" pitchFamily="34" charset="0"/>
                          <a:cs typeface="Calibri" panose="020F0502020204030204" pitchFamily="34" charset="0"/>
                        </a:rPr>
                        <a:t>Предусловие</a:t>
                      </a:r>
                    </a:p>
                  </a:txBody>
                  <a:tcPr marL="68580" marR="68580" marT="0" marB="0" anchor="ctr"/>
                </a:tc>
                <a:tc>
                  <a:txBody>
                    <a:bodyPr/>
                    <a:lstStyle/>
                    <a:p>
                      <a:pPr indent="0" algn="ctr">
                        <a:lnSpc>
                          <a:spcPct val="150000"/>
                        </a:lnSpc>
                      </a:pPr>
                      <a:r>
                        <a:rPr lang="ru-RU" sz="1600" dirty="0">
                          <a:effectLst/>
                          <a:latin typeface="Georgia" panose="02040502050405020303" pitchFamily="18" charset="0"/>
                        </a:rPr>
                        <a:t>Шаги</a:t>
                      </a:r>
                      <a:endParaRPr lang="ru-RU" sz="1600" dirty="0">
                        <a:effectLst/>
                        <a:latin typeface="Georgia" panose="02040502050405020303" pitchFamily="18" charset="0"/>
                        <a:ea typeface="Calibri" panose="020F0502020204030204" pitchFamily="34" charset="0"/>
                        <a:cs typeface="Calibri" panose="020F0502020204030204" pitchFamily="34" charset="0"/>
                      </a:endParaRPr>
                    </a:p>
                  </a:txBody>
                  <a:tcPr marL="68580" marR="68580" marT="0" marB="0" anchor="ctr"/>
                </a:tc>
                <a:tc>
                  <a:txBody>
                    <a:bodyPr/>
                    <a:lstStyle/>
                    <a:p>
                      <a:pPr indent="0" algn="ctr">
                        <a:lnSpc>
                          <a:spcPct val="150000"/>
                        </a:lnSpc>
                      </a:pPr>
                      <a:r>
                        <a:rPr lang="ru-RU" sz="1600" kern="0" dirty="0">
                          <a:effectLst/>
                          <a:latin typeface="Georgia" panose="02040502050405020303" pitchFamily="18" charset="0"/>
                        </a:rPr>
                        <a:t>Тестовые данные</a:t>
                      </a:r>
                      <a:endParaRPr lang="ru-RU" sz="16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lgn="ctr">
                        <a:lnSpc>
                          <a:spcPct val="150000"/>
                        </a:lnSpc>
                      </a:pPr>
                      <a:r>
                        <a:rPr lang="ru-RU" sz="1600" kern="0" dirty="0">
                          <a:effectLst/>
                          <a:latin typeface="Georgia" panose="02040502050405020303" pitchFamily="18" charset="0"/>
                        </a:rPr>
                        <a:t>Ожидаемый результат</a:t>
                      </a:r>
                      <a:endParaRPr lang="ru-RU" sz="16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lgn="ctr">
                        <a:lnSpc>
                          <a:spcPct val="150000"/>
                        </a:lnSpc>
                      </a:pPr>
                      <a:r>
                        <a:rPr lang="ru-RU" sz="1600" kern="0" dirty="0">
                          <a:effectLst/>
                          <a:latin typeface="Georgia" panose="02040502050405020303" pitchFamily="18" charset="0"/>
                        </a:rPr>
                        <a:t>Действительный результат</a:t>
                      </a:r>
                      <a:endParaRPr lang="ru-RU" sz="16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lgn="ctr">
                        <a:lnSpc>
                          <a:spcPct val="150000"/>
                        </a:lnSpc>
                      </a:pPr>
                      <a:r>
                        <a:rPr lang="ru-RU" sz="1600" kern="0" dirty="0">
                          <a:effectLst/>
                          <a:latin typeface="Georgia" panose="02040502050405020303" pitchFamily="18" charset="0"/>
                        </a:rPr>
                        <a:t>Статус</a:t>
                      </a:r>
                      <a:endParaRPr lang="ru-RU" sz="16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5060993"/>
                  </a:ext>
                </a:extLst>
              </a:tr>
              <a:tr h="0">
                <a:tc>
                  <a:txBody>
                    <a:bodyPr/>
                    <a:lstStyle/>
                    <a:p>
                      <a:pPr marL="342900" lvl="0" indent="0" algn="just">
                        <a:lnSpc>
                          <a:spcPct val="150000"/>
                        </a:lnSpc>
                        <a:buFont typeface="+mj-lt"/>
                        <a:buAutoNum type="arabicParenR"/>
                      </a:pPr>
                      <a:r>
                        <a:rPr lang="ru-RU" sz="1600" dirty="0">
                          <a:effectLst/>
                          <a:latin typeface="Georgia" panose="02040502050405020303" pitchFamily="18" charset="0"/>
                        </a:rPr>
                        <a:t> </a:t>
                      </a:r>
                      <a:endParaRPr lang="ru-RU" sz="1600" dirty="0">
                        <a:effectLst/>
                        <a:latin typeface="Georgia" panose="02040502050405020303" pitchFamily="18" charset="0"/>
                        <a:ea typeface="Calibri" panose="020F0502020204030204" pitchFamily="34" charset="0"/>
                        <a:cs typeface="Calibri" panose="020F0502020204030204" pitchFamily="34" charset="0"/>
                      </a:endParaRPr>
                    </a:p>
                  </a:txBody>
                  <a:tcPr marL="68580" marR="68580" marT="0" marB="0"/>
                </a:tc>
                <a:tc>
                  <a:txBody>
                    <a:bodyPr/>
                    <a:lstStyle/>
                    <a:p>
                      <a:pPr marL="342900" lvl="0" indent="0" algn="just">
                        <a:lnSpc>
                          <a:spcPct val="150000"/>
                        </a:lnSpc>
                        <a:buFont typeface="+mj-lt"/>
                        <a:buAutoNum type="arabicParenR"/>
                      </a:pPr>
                      <a:endParaRPr lang="ru-RU" sz="1600" dirty="0">
                        <a:effectLst/>
                        <a:latin typeface="Georgia" panose="02040502050405020303" pitchFamily="18" charset="0"/>
                        <a:ea typeface="Calibri" panose="020F0502020204030204" pitchFamily="34" charset="0"/>
                        <a:cs typeface="Calibri" panose="020F0502020204030204" pitchFamily="34" charset="0"/>
                      </a:endParaRPr>
                    </a:p>
                  </a:txBody>
                  <a:tcPr marL="68580" marR="68580" marT="0" marB="0"/>
                </a:tc>
                <a:tc>
                  <a:txBody>
                    <a:bodyPr/>
                    <a:lstStyle/>
                    <a:p>
                      <a:pPr marL="342900" lvl="0" indent="0" algn="just">
                        <a:lnSpc>
                          <a:spcPct val="150000"/>
                        </a:lnSpc>
                        <a:buFont typeface="+mj-lt"/>
                        <a:buAutoNum type="arabicParenR"/>
                      </a:pPr>
                      <a:r>
                        <a:rPr lang="ru-RU" sz="1600" dirty="0">
                          <a:effectLst/>
                          <a:latin typeface="Georgia" panose="02040502050405020303" pitchFamily="18" charset="0"/>
                        </a:rPr>
                        <a:t> </a:t>
                      </a:r>
                      <a:endParaRPr lang="ru-RU" sz="1600" dirty="0">
                        <a:effectLst/>
                        <a:latin typeface="Georgia" panose="02040502050405020303" pitchFamily="18" charset="0"/>
                        <a:ea typeface="Calibri" panose="020F0502020204030204" pitchFamily="34" charset="0"/>
                        <a:cs typeface="Calibri" panose="020F0502020204030204" pitchFamily="34" charset="0"/>
                      </a:endParaRPr>
                    </a:p>
                  </a:txBody>
                  <a:tcPr marL="68580" marR="68580" marT="0" marB="0"/>
                </a:tc>
                <a:tc>
                  <a:txBody>
                    <a:bodyPr/>
                    <a:lstStyle/>
                    <a:p>
                      <a:pPr indent="0" algn="just">
                        <a:lnSpc>
                          <a:spcPct val="150000"/>
                        </a:lnSpc>
                      </a:pPr>
                      <a:r>
                        <a:rPr lang="en-US" sz="1600" kern="0">
                          <a:effectLst/>
                          <a:latin typeface="Georgia" panose="02040502050405020303" pitchFamily="18" charset="0"/>
                        </a:rPr>
                        <a:t> </a:t>
                      </a:r>
                      <a:endParaRPr lang="ru-RU" sz="16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0" algn="just">
                        <a:lnSpc>
                          <a:spcPct val="150000"/>
                        </a:lnSpc>
                      </a:pPr>
                      <a:r>
                        <a:rPr lang="ru-RU" sz="1600" kern="0">
                          <a:effectLst/>
                          <a:latin typeface="Georgia" panose="02040502050405020303" pitchFamily="18" charset="0"/>
                        </a:rPr>
                        <a:t> </a:t>
                      </a:r>
                      <a:endParaRPr lang="ru-RU" sz="16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0" algn="just">
                        <a:lnSpc>
                          <a:spcPct val="150000"/>
                        </a:lnSpc>
                      </a:pPr>
                      <a:r>
                        <a:rPr lang="ru-RU" sz="1600" kern="0">
                          <a:effectLst/>
                          <a:latin typeface="Georgia" panose="02040502050405020303" pitchFamily="18" charset="0"/>
                        </a:rPr>
                        <a:t> </a:t>
                      </a:r>
                      <a:endParaRPr lang="ru-RU" sz="1600" kern="100">
                        <a:effectLst/>
                        <a:latin typeface="Georgia" panose="02040502050405020303"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0" algn="just">
                        <a:lnSpc>
                          <a:spcPct val="150000"/>
                        </a:lnSpc>
                      </a:pPr>
                      <a:r>
                        <a:rPr lang="en-US" sz="1600" kern="0" dirty="0">
                          <a:effectLst/>
                          <a:latin typeface="Georgia" panose="02040502050405020303" pitchFamily="18" charset="0"/>
                        </a:rPr>
                        <a:t> </a:t>
                      </a:r>
                      <a:endParaRPr lang="ru-RU" sz="16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65747165"/>
                  </a:ext>
                </a:extLst>
              </a:tr>
            </a:tbl>
          </a:graphicData>
        </a:graphic>
      </p:graphicFrame>
      <p:sp>
        <p:nvSpPr>
          <p:cNvPr id="4" name="Номер слайда 3">
            <a:extLst>
              <a:ext uri="{FF2B5EF4-FFF2-40B4-BE49-F238E27FC236}">
                <a16:creationId xmlns:a16="http://schemas.microsoft.com/office/drawing/2014/main" id="{7E2F89C4-152D-C35D-6039-D552578DE31E}"/>
              </a:ext>
            </a:extLst>
          </p:cNvPr>
          <p:cNvSpPr>
            <a:spLocks noGrp="1"/>
          </p:cNvSpPr>
          <p:nvPr>
            <p:ph type="sldNum" sz="quarter" idx="12"/>
          </p:nvPr>
        </p:nvSpPr>
        <p:spPr/>
        <p:txBody>
          <a:bodyPr/>
          <a:lstStyle/>
          <a:p>
            <a:fld id="{25A42088-C730-408A-A823-60BED1AFCEA0}" type="slidenum">
              <a:rPr lang="ru-RU" smtClean="0"/>
              <a:t>28</a:t>
            </a:fld>
            <a:endParaRPr lang="ru-RU"/>
          </a:p>
        </p:txBody>
      </p:sp>
      <p:graphicFrame>
        <p:nvGraphicFramePr>
          <p:cNvPr id="6" name="Таблица 5">
            <a:extLst>
              <a:ext uri="{FF2B5EF4-FFF2-40B4-BE49-F238E27FC236}">
                <a16:creationId xmlns:a16="http://schemas.microsoft.com/office/drawing/2014/main" id="{1D0FC0F1-8D27-F9E8-8668-F6A8CD7F480E}"/>
              </a:ext>
            </a:extLst>
          </p:cNvPr>
          <p:cNvGraphicFramePr>
            <a:graphicFrameLocks noGrp="1"/>
          </p:cNvGraphicFramePr>
          <p:nvPr>
            <p:extLst>
              <p:ext uri="{D42A27DB-BD31-4B8C-83A1-F6EECF244321}">
                <p14:modId xmlns:p14="http://schemas.microsoft.com/office/powerpoint/2010/main" val="1615805094"/>
              </p:ext>
            </p:extLst>
          </p:nvPr>
        </p:nvGraphicFramePr>
        <p:xfrm>
          <a:off x="967741" y="2852953"/>
          <a:ext cx="10850877" cy="2837308"/>
        </p:xfrm>
        <a:graphic>
          <a:graphicData uri="http://schemas.openxmlformats.org/drawingml/2006/table">
            <a:tbl>
              <a:tblPr firstRow="1" firstCol="1">
                <a:tableStyleId>{ED083AE6-46FA-4A59-8FB0-9F97EB10719F}</a:tableStyleId>
              </a:tblPr>
              <a:tblGrid>
                <a:gridCol w="2254231">
                  <a:extLst>
                    <a:ext uri="{9D8B030D-6E8A-4147-A177-3AD203B41FA5}">
                      <a16:colId xmlns:a16="http://schemas.microsoft.com/office/drawing/2014/main" val="2795696368"/>
                    </a:ext>
                  </a:extLst>
                </a:gridCol>
                <a:gridCol w="1625331">
                  <a:extLst>
                    <a:ext uri="{9D8B030D-6E8A-4147-A177-3AD203B41FA5}">
                      <a16:colId xmlns:a16="http://schemas.microsoft.com/office/drawing/2014/main" val="2967247801"/>
                    </a:ext>
                  </a:extLst>
                </a:gridCol>
                <a:gridCol w="1467581">
                  <a:extLst>
                    <a:ext uri="{9D8B030D-6E8A-4147-A177-3AD203B41FA5}">
                      <a16:colId xmlns:a16="http://schemas.microsoft.com/office/drawing/2014/main" val="2568558607"/>
                    </a:ext>
                  </a:extLst>
                </a:gridCol>
                <a:gridCol w="1263166">
                  <a:extLst>
                    <a:ext uri="{9D8B030D-6E8A-4147-A177-3AD203B41FA5}">
                      <a16:colId xmlns:a16="http://schemas.microsoft.com/office/drawing/2014/main" val="2032320373"/>
                    </a:ext>
                  </a:extLst>
                </a:gridCol>
                <a:gridCol w="1738045">
                  <a:extLst>
                    <a:ext uri="{9D8B030D-6E8A-4147-A177-3AD203B41FA5}">
                      <a16:colId xmlns:a16="http://schemas.microsoft.com/office/drawing/2014/main" val="3353068766"/>
                    </a:ext>
                  </a:extLst>
                </a:gridCol>
                <a:gridCol w="1698841">
                  <a:extLst>
                    <a:ext uri="{9D8B030D-6E8A-4147-A177-3AD203B41FA5}">
                      <a16:colId xmlns:a16="http://schemas.microsoft.com/office/drawing/2014/main" val="1177367085"/>
                    </a:ext>
                  </a:extLst>
                </a:gridCol>
                <a:gridCol w="803682">
                  <a:extLst>
                    <a:ext uri="{9D8B030D-6E8A-4147-A177-3AD203B41FA5}">
                      <a16:colId xmlns:a16="http://schemas.microsoft.com/office/drawing/2014/main" val="452316913"/>
                    </a:ext>
                  </a:extLst>
                </a:gridCol>
              </a:tblGrid>
              <a:tr h="367570">
                <a:tc>
                  <a:txBody>
                    <a:bodyPr/>
                    <a:lstStyle/>
                    <a:p>
                      <a:pPr indent="0" algn="ctr">
                        <a:lnSpc>
                          <a:spcPct val="150000"/>
                        </a:lnSpc>
                      </a:pPr>
                      <a:r>
                        <a:rPr lang="ru-RU" sz="1600" kern="0" dirty="0">
                          <a:effectLst/>
                          <a:latin typeface="Georgia" panose="02040502050405020303" pitchFamily="18" charset="0"/>
                        </a:rPr>
                        <a:t>Заголовок</a:t>
                      </a:r>
                      <a:endParaRPr lang="ru-RU" sz="16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lgn="ctr">
                        <a:lnSpc>
                          <a:spcPct val="150000"/>
                        </a:lnSpc>
                      </a:pPr>
                      <a:r>
                        <a:rPr lang="ru-RU" sz="1600" dirty="0">
                          <a:effectLst/>
                          <a:latin typeface="Georgia" panose="02040502050405020303" pitchFamily="18" charset="0"/>
                          <a:ea typeface="Calibri" panose="020F0502020204030204" pitchFamily="34" charset="0"/>
                          <a:cs typeface="Calibri" panose="020F0502020204030204" pitchFamily="34" charset="0"/>
                        </a:rPr>
                        <a:t>Предусловие</a:t>
                      </a:r>
                    </a:p>
                  </a:txBody>
                  <a:tcPr marL="68580" marR="68580" marT="0" marB="0" anchor="ctr"/>
                </a:tc>
                <a:tc>
                  <a:txBody>
                    <a:bodyPr/>
                    <a:lstStyle/>
                    <a:p>
                      <a:pPr indent="0" algn="ctr">
                        <a:lnSpc>
                          <a:spcPct val="150000"/>
                        </a:lnSpc>
                      </a:pPr>
                      <a:r>
                        <a:rPr lang="ru-RU" sz="1600" dirty="0">
                          <a:effectLst/>
                          <a:latin typeface="Georgia" panose="02040502050405020303" pitchFamily="18" charset="0"/>
                        </a:rPr>
                        <a:t>Шаги</a:t>
                      </a:r>
                      <a:endParaRPr lang="ru-RU" sz="1600" dirty="0">
                        <a:effectLst/>
                        <a:latin typeface="Georgia" panose="02040502050405020303" pitchFamily="18" charset="0"/>
                        <a:ea typeface="Calibri" panose="020F0502020204030204" pitchFamily="34" charset="0"/>
                        <a:cs typeface="Calibri" panose="020F0502020204030204" pitchFamily="34" charset="0"/>
                      </a:endParaRPr>
                    </a:p>
                  </a:txBody>
                  <a:tcPr marL="68580" marR="68580" marT="0" marB="0" anchor="ctr"/>
                </a:tc>
                <a:tc>
                  <a:txBody>
                    <a:bodyPr/>
                    <a:lstStyle/>
                    <a:p>
                      <a:pPr indent="0" algn="ctr">
                        <a:lnSpc>
                          <a:spcPct val="150000"/>
                        </a:lnSpc>
                      </a:pPr>
                      <a:r>
                        <a:rPr lang="ru-RU" sz="1600" kern="0" dirty="0">
                          <a:effectLst/>
                          <a:latin typeface="Georgia" panose="02040502050405020303" pitchFamily="18" charset="0"/>
                        </a:rPr>
                        <a:t>Тестовые данные</a:t>
                      </a:r>
                      <a:endParaRPr lang="ru-RU" sz="16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lgn="ctr">
                        <a:lnSpc>
                          <a:spcPct val="150000"/>
                        </a:lnSpc>
                      </a:pPr>
                      <a:r>
                        <a:rPr lang="ru-RU" sz="1600" kern="0" dirty="0">
                          <a:effectLst/>
                          <a:latin typeface="Georgia" panose="02040502050405020303" pitchFamily="18" charset="0"/>
                        </a:rPr>
                        <a:t>Ожидаемый результат</a:t>
                      </a:r>
                      <a:endParaRPr lang="ru-RU" sz="16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lgn="ctr">
                        <a:lnSpc>
                          <a:spcPct val="150000"/>
                        </a:lnSpc>
                      </a:pPr>
                      <a:r>
                        <a:rPr lang="ru-RU" sz="1600" kern="0" dirty="0">
                          <a:effectLst/>
                          <a:latin typeface="Georgia" panose="02040502050405020303" pitchFamily="18" charset="0"/>
                        </a:rPr>
                        <a:t>Действительный результат</a:t>
                      </a:r>
                      <a:endParaRPr lang="ru-RU" sz="16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lgn="ctr">
                        <a:lnSpc>
                          <a:spcPct val="150000"/>
                        </a:lnSpc>
                      </a:pPr>
                      <a:r>
                        <a:rPr lang="ru-RU" sz="1600" kern="0" dirty="0">
                          <a:effectLst/>
                          <a:latin typeface="Georgia" panose="02040502050405020303" pitchFamily="18" charset="0"/>
                        </a:rPr>
                        <a:t>Статус</a:t>
                      </a:r>
                      <a:endParaRPr lang="ru-RU" sz="16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265555182"/>
                  </a:ext>
                </a:extLst>
              </a:tr>
              <a:tr h="673288">
                <a:tc>
                  <a:txBody>
                    <a:bodyPr/>
                    <a:lstStyle/>
                    <a:p>
                      <a:pPr marL="342900" lvl="0" indent="0" algn="just">
                        <a:lnSpc>
                          <a:spcPct val="150000"/>
                        </a:lnSpc>
                        <a:buFont typeface="+mj-lt"/>
                        <a:buAutoNum type="arabicParenR"/>
                      </a:pPr>
                      <a:r>
                        <a:rPr lang="ru-RU" sz="1600" b="0" dirty="0">
                          <a:effectLst/>
                          <a:latin typeface="Georgia" panose="02040502050405020303" pitchFamily="18" charset="0"/>
                        </a:rPr>
                        <a:t>Проверка возможности входа в систему при неверной комбинации логина и пароля.</a:t>
                      </a:r>
                      <a:endParaRPr lang="ru-RU" sz="1600" b="0" dirty="0">
                        <a:effectLst/>
                        <a:latin typeface="Georgia" panose="02040502050405020303" pitchFamily="18" charset="0"/>
                        <a:ea typeface="Calibri" panose="020F0502020204030204" pitchFamily="34" charset="0"/>
                        <a:cs typeface="Calibri" panose="020F0502020204030204" pitchFamily="34" charset="0"/>
                      </a:endParaRPr>
                    </a:p>
                  </a:txBody>
                  <a:tcPr marL="52055" marR="52055" marT="0" marB="0"/>
                </a:tc>
                <a:tc>
                  <a:txBody>
                    <a:bodyPr/>
                    <a:lstStyle/>
                    <a:p>
                      <a:pPr marL="342900" lvl="0" indent="0" algn="just">
                        <a:lnSpc>
                          <a:spcPct val="150000"/>
                        </a:lnSpc>
                        <a:buFont typeface="+mj-lt"/>
                        <a:buAutoNum type="arabicParenR"/>
                      </a:pPr>
                      <a:endParaRPr lang="ru-RU" sz="1600" dirty="0">
                        <a:effectLst/>
                        <a:latin typeface="Georgia" panose="02040502050405020303" pitchFamily="18" charset="0"/>
                        <a:ea typeface="Calibri" panose="020F0502020204030204" pitchFamily="34" charset="0"/>
                        <a:cs typeface="Calibri" panose="020F0502020204030204" pitchFamily="34" charset="0"/>
                      </a:endParaRPr>
                    </a:p>
                  </a:txBody>
                  <a:tcPr marL="52055" marR="52055" marT="0" marB="0"/>
                </a:tc>
                <a:tc>
                  <a:txBody>
                    <a:bodyPr/>
                    <a:lstStyle/>
                    <a:p>
                      <a:pPr marL="342900" lvl="0" indent="0" algn="just">
                        <a:lnSpc>
                          <a:spcPct val="150000"/>
                        </a:lnSpc>
                        <a:buFont typeface="+mj-lt"/>
                        <a:buAutoNum type="arabicParenR"/>
                      </a:pPr>
                      <a:r>
                        <a:rPr lang="ru-RU" sz="1600" dirty="0">
                          <a:effectLst/>
                          <a:latin typeface="Georgia" panose="02040502050405020303" pitchFamily="18" charset="0"/>
                        </a:rPr>
                        <a:t>Ввести тестовые данные.</a:t>
                      </a:r>
                    </a:p>
                    <a:p>
                      <a:pPr marL="342900" lvl="0" indent="0" algn="just">
                        <a:lnSpc>
                          <a:spcPct val="150000"/>
                        </a:lnSpc>
                        <a:buFont typeface="+mj-lt"/>
                        <a:buAutoNum type="arabicParenR"/>
                      </a:pPr>
                      <a:r>
                        <a:rPr lang="ru-RU" sz="1600" dirty="0">
                          <a:effectLst/>
                          <a:latin typeface="Georgia" panose="02040502050405020303" pitchFamily="18" charset="0"/>
                        </a:rPr>
                        <a:t>Нажать «ВОЙТИ».</a:t>
                      </a:r>
                      <a:endParaRPr lang="ru-RU" sz="1600" dirty="0">
                        <a:effectLst/>
                        <a:latin typeface="Georgia" panose="02040502050405020303" pitchFamily="18" charset="0"/>
                        <a:ea typeface="Calibri" panose="020F0502020204030204" pitchFamily="34" charset="0"/>
                        <a:cs typeface="Calibri" panose="020F0502020204030204" pitchFamily="34" charset="0"/>
                      </a:endParaRPr>
                    </a:p>
                  </a:txBody>
                  <a:tcPr marL="52055" marR="52055" marT="0" marB="0"/>
                </a:tc>
                <a:tc>
                  <a:txBody>
                    <a:bodyPr/>
                    <a:lstStyle/>
                    <a:p>
                      <a:pPr indent="0" algn="just">
                        <a:lnSpc>
                          <a:spcPct val="150000"/>
                        </a:lnSpc>
                      </a:pPr>
                      <a:r>
                        <a:rPr lang="ru-RU" sz="1600" kern="0" dirty="0">
                          <a:effectLst/>
                          <a:latin typeface="Georgia" panose="02040502050405020303" pitchFamily="18" charset="0"/>
                        </a:rPr>
                        <a:t>Логин: </a:t>
                      </a:r>
                      <a:r>
                        <a:rPr lang="en-US" sz="1600" kern="0" dirty="0">
                          <a:effectLst/>
                          <a:latin typeface="Georgia" panose="02040502050405020303" pitchFamily="18" charset="0"/>
                        </a:rPr>
                        <a:t>Manager</a:t>
                      </a:r>
                      <a:endParaRPr lang="ru-RU" sz="1600" kern="100" dirty="0">
                        <a:effectLst/>
                        <a:latin typeface="Georgia" panose="02040502050405020303" pitchFamily="18" charset="0"/>
                      </a:endParaRPr>
                    </a:p>
                    <a:p>
                      <a:pPr indent="0" algn="just">
                        <a:lnSpc>
                          <a:spcPct val="150000"/>
                        </a:lnSpc>
                      </a:pPr>
                      <a:r>
                        <a:rPr lang="ru-RU" sz="1600" kern="0" dirty="0">
                          <a:effectLst/>
                          <a:latin typeface="Georgia" panose="02040502050405020303" pitchFamily="18" charset="0"/>
                        </a:rPr>
                        <a:t>Пароль: </a:t>
                      </a:r>
                      <a:r>
                        <a:rPr lang="en-US" sz="1600" kern="0" dirty="0">
                          <a:effectLst/>
                          <a:latin typeface="Georgia" panose="02040502050405020303" pitchFamily="18" charset="0"/>
                        </a:rPr>
                        <a:t>MM</a:t>
                      </a:r>
                      <a:endParaRPr lang="ru-RU" sz="1600" kern="100" dirty="0">
                        <a:effectLst/>
                        <a:latin typeface="Georgia" panose="02040502050405020303" pitchFamily="18" charset="0"/>
                      </a:endParaRPr>
                    </a:p>
                    <a:p>
                      <a:pPr indent="0" algn="just">
                        <a:lnSpc>
                          <a:spcPct val="150000"/>
                        </a:lnSpc>
                      </a:pPr>
                      <a:r>
                        <a:rPr lang="ru-RU" sz="1600" kern="0" dirty="0">
                          <a:effectLst/>
                          <a:latin typeface="Georgia" panose="02040502050405020303" pitchFamily="18" charset="0"/>
                        </a:rPr>
                        <a:t> </a:t>
                      </a:r>
                      <a:endParaRPr lang="ru-RU" sz="16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52055" marR="52055" marT="0" marB="0"/>
                </a:tc>
                <a:tc>
                  <a:txBody>
                    <a:bodyPr/>
                    <a:lstStyle/>
                    <a:p>
                      <a:pPr indent="0" algn="just">
                        <a:lnSpc>
                          <a:spcPct val="150000"/>
                        </a:lnSpc>
                      </a:pPr>
                      <a:r>
                        <a:rPr lang="ru-RU" sz="1600" kern="0" dirty="0">
                          <a:effectLst/>
                          <a:latin typeface="Georgia" panose="02040502050405020303" pitchFamily="18" charset="0"/>
                        </a:rPr>
                        <a:t>Выводится сообщение «Неверный логин/пароль».</a:t>
                      </a:r>
                      <a:endParaRPr lang="ru-RU" sz="1600" kern="100" dirty="0">
                        <a:effectLst/>
                        <a:latin typeface="Georgia" panose="02040502050405020303" pitchFamily="18" charset="0"/>
                      </a:endParaRPr>
                    </a:p>
                    <a:p>
                      <a:pPr indent="0" algn="just">
                        <a:lnSpc>
                          <a:spcPct val="150000"/>
                        </a:lnSpc>
                      </a:pPr>
                      <a:r>
                        <a:rPr lang="ru-RU" sz="1600" kern="0" dirty="0">
                          <a:effectLst/>
                          <a:latin typeface="Georgia" panose="02040502050405020303" pitchFamily="18" charset="0"/>
                        </a:rPr>
                        <a:t> </a:t>
                      </a:r>
                      <a:endParaRPr lang="ru-RU" sz="16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52055" marR="52055" marT="0" marB="0"/>
                </a:tc>
                <a:tc>
                  <a:txBody>
                    <a:bodyPr/>
                    <a:lstStyle/>
                    <a:p>
                      <a:pPr indent="0" algn="just">
                        <a:lnSpc>
                          <a:spcPct val="150000"/>
                        </a:lnSpc>
                      </a:pPr>
                      <a:r>
                        <a:rPr lang="ru-RU" sz="1600" kern="0" dirty="0">
                          <a:effectLst/>
                          <a:latin typeface="Georgia" panose="02040502050405020303" pitchFamily="18" charset="0"/>
                        </a:rPr>
                        <a:t>Выводится сообщение «Неверный логин/пароль».</a:t>
                      </a:r>
                      <a:endParaRPr lang="ru-RU" sz="1600" kern="100" dirty="0">
                        <a:effectLst/>
                        <a:latin typeface="Georgia" panose="02040502050405020303" pitchFamily="18" charset="0"/>
                      </a:endParaRPr>
                    </a:p>
                    <a:p>
                      <a:pPr indent="0" algn="just">
                        <a:lnSpc>
                          <a:spcPct val="150000"/>
                        </a:lnSpc>
                      </a:pPr>
                      <a:r>
                        <a:rPr lang="ru-RU" sz="1600" kern="0" dirty="0">
                          <a:effectLst/>
                          <a:latin typeface="Georgia" panose="02040502050405020303" pitchFamily="18" charset="0"/>
                        </a:rPr>
                        <a:t> </a:t>
                      </a:r>
                      <a:endParaRPr lang="ru-RU" sz="16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52055" marR="52055" marT="0" marB="0"/>
                </a:tc>
                <a:tc>
                  <a:txBody>
                    <a:bodyPr/>
                    <a:lstStyle/>
                    <a:p>
                      <a:pPr indent="0" algn="just">
                        <a:lnSpc>
                          <a:spcPct val="150000"/>
                        </a:lnSpc>
                      </a:pPr>
                      <a:r>
                        <a:rPr lang="ru-RU" sz="1600" kern="0" dirty="0">
                          <a:effectLst/>
                          <a:latin typeface="Georgia" panose="02040502050405020303" pitchFamily="18" charset="0"/>
                        </a:rPr>
                        <a:t>Пройден</a:t>
                      </a:r>
                      <a:endParaRPr lang="ru-RU" sz="1600" kern="100" dirty="0">
                        <a:effectLst/>
                        <a:latin typeface="Georgia" panose="02040502050405020303" pitchFamily="18" charset="0"/>
                        <a:ea typeface="Times New Roman" panose="02020603050405020304" pitchFamily="18" charset="0"/>
                        <a:cs typeface="Times New Roman" panose="02020603050405020304" pitchFamily="18" charset="0"/>
                      </a:endParaRPr>
                    </a:p>
                  </a:txBody>
                  <a:tcPr marL="52055" marR="52055" marT="0" marB="0"/>
                </a:tc>
                <a:extLst>
                  <a:ext uri="{0D108BD9-81ED-4DB2-BD59-A6C34878D82A}">
                    <a16:rowId xmlns:a16="http://schemas.microsoft.com/office/drawing/2014/main" val="3612950696"/>
                  </a:ext>
                </a:extLst>
              </a:tr>
            </a:tbl>
          </a:graphicData>
        </a:graphic>
      </p:graphicFrame>
    </p:spTree>
    <p:extLst>
      <p:ext uri="{BB962C8B-B14F-4D97-AF65-F5344CB8AC3E}">
        <p14:creationId xmlns:p14="http://schemas.microsoft.com/office/powerpoint/2010/main" val="20056556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6B54037-6B25-10A2-941F-1171B390BE0E}"/>
              </a:ext>
            </a:extLst>
          </p:cNvPr>
          <p:cNvSpPr>
            <a:spLocks noGrp="1"/>
          </p:cNvSpPr>
          <p:nvPr>
            <p:ph type="title"/>
          </p:nvPr>
        </p:nvSpPr>
        <p:spPr/>
        <p:txBody>
          <a:bodyPr/>
          <a:lstStyle/>
          <a:p>
            <a:r>
              <a:rPr lang="ru-RU" dirty="0"/>
              <a:t>Правила составления тест-кейсов</a:t>
            </a:r>
          </a:p>
        </p:txBody>
      </p:sp>
      <p:sp>
        <p:nvSpPr>
          <p:cNvPr id="3" name="Объект 2">
            <a:extLst>
              <a:ext uri="{FF2B5EF4-FFF2-40B4-BE49-F238E27FC236}">
                <a16:creationId xmlns:a16="http://schemas.microsoft.com/office/drawing/2014/main" id="{1D0E1F6F-54D1-175A-8DC8-7FAF276CA4D8}"/>
              </a:ext>
            </a:extLst>
          </p:cNvPr>
          <p:cNvSpPr>
            <a:spLocks noGrp="1"/>
          </p:cNvSpPr>
          <p:nvPr>
            <p:ph idx="1"/>
          </p:nvPr>
        </p:nvSpPr>
        <p:spPr/>
        <p:txBody>
          <a:bodyPr>
            <a:normAutofit/>
          </a:bodyPr>
          <a:lstStyle/>
          <a:p>
            <a:pPr marL="457200" indent="-457200">
              <a:buFont typeface="+mj-lt"/>
              <a:buAutoNum type="arabicPeriod"/>
            </a:pPr>
            <a:r>
              <a:rPr lang="ru-RU" dirty="0"/>
              <a:t>Заголовок должен быть чётким, лаконичным и выражающим суть проверки. В него не нужно добавлять шаги тест-кейса.</a:t>
            </a:r>
          </a:p>
          <a:p>
            <a:pPr marL="457200" indent="-457200">
              <a:buFont typeface="+mj-lt"/>
              <a:buAutoNum type="arabicPeriod"/>
            </a:pPr>
            <a:r>
              <a:rPr lang="ru-RU" dirty="0"/>
              <a:t>В предусловии важно описать состояние системы, которое нужно для выполнения шагов тест-кейса. Например, там могут быть конкретные ссылки на среды, где проводятся тестирования. Или на документы, которые понадобятся для прохождения шагов.</a:t>
            </a:r>
          </a:p>
          <a:p>
            <a:pPr marL="457200" indent="-457200">
              <a:buFont typeface="+mj-lt"/>
              <a:buAutoNum type="arabicPeriod"/>
            </a:pPr>
            <a:r>
              <a:rPr lang="ru-RU" dirty="0"/>
              <a:t>Шаги тест-кейса не нужно описывать слишком подробно. Например, следует писать «Введите </a:t>
            </a:r>
            <a:r>
              <a:rPr lang="ru-RU" dirty="0" err="1"/>
              <a:t>email</a:t>
            </a:r>
            <a:r>
              <a:rPr lang="ru-RU" dirty="0"/>
              <a:t>» вместо «Введите </a:t>
            </a:r>
            <a:r>
              <a:rPr lang="ru-RU" dirty="0" err="1"/>
              <a:t>email</a:t>
            </a:r>
            <a:r>
              <a:rPr lang="ru-RU" dirty="0"/>
              <a:t>, нажимая клавиши на клавиатуре».</a:t>
            </a:r>
          </a:p>
          <a:p>
            <a:pPr marL="457200" indent="-457200">
              <a:buFont typeface="+mj-lt"/>
              <a:buAutoNum type="arabicPeriod"/>
            </a:pPr>
            <a:r>
              <a:rPr lang="ru-RU" dirty="0"/>
              <a:t>Шаги не должны быть размытыми или абстрактными. Нельзя сказать «Зайдите в раздел «Магазин» — лучше указать путь к нему, если он не слишком очевиден.</a:t>
            </a:r>
          </a:p>
          <a:p>
            <a:pPr marL="457200" indent="-457200">
              <a:buFont typeface="+mj-lt"/>
              <a:buAutoNum type="arabicPeriod"/>
            </a:pPr>
            <a:r>
              <a:rPr lang="ru-RU" dirty="0"/>
              <a:t>Скриншоты лучше использовать только как дополнение к словесному описанию, но не в качестве его замены.</a:t>
            </a:r>
          </a:p>
        </p:txBody>
      </p:sp>
      <p:sp>
        <p:nvSpPr>
          <p:cNvPr id="4" name="Номер слайда 3">
            <a:extLst>
              <a:ext uri="{FF2B5EF4-FFF2-40B4-BE49-F238E27FC236}">
                <a16:creationId xmlns:a16="http://schemas.microsoft.com/office/drawing/2014/main" id="{DB103900-9087-ED20-D86A-5B5D760BA20D}"/>
              </a:ext>
            </a:extLst>
          </p:cNvPr>
          <p:cNvSpPr>
            <a:spLocks noGrp="1"/>
          </p:cNvSpPr>
          <p:nvPr>
            <p:ph type="sldNum" sz="quarter" idx="12"/>
          </p:nvPr>
        </p:nvSpPr>
        <p:spPr/>
        <p:txBody>
          <a:bodyPr/>
          <a:lstStyle/>
          <a:p>
            <a:fld id="{25A42088-C730-408A-A823-60BED1AFCEA0}" type="slidenum">
              <a:rPr lang="ru-RU" smtClean="0"/>
              <a:t>29</a:t>
            </a:fld>
            <a:endParaRPr lang="ru-RU"/>
          </a:p>
        </p:txBody>
      </p:sp>
    </p:spTree>
    <p:extLst>
      <p:ext uri="{BB962C8B-B14F-4D97-AF65-F5344CB8AC3E}">
        <p14:creationId xmlns:p14="http://schemas.microsoft.com/office/powerpoint/2010/main" val="11981634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8D3D08D-5157-45E5-0B27-66AB763BA39F}"/>
              </a:ext>
            </a:extLst>
          </p:cNvPr>
          <p:cNvSpPr>
            <a:spLocks noGrp="1"/>
          </p:cNvSpPr>
          <p:nvPr>
            <p:ph type="title"/>
          </p:nvPr>
        </p:nvSpPr>
        <p:spPr/>
        <p:txBody>
          <a:bodyPr/>
          <a:lstStyle/>
          <a:p>
            <a:r>
              <a:rPr lang="ru-RU" dirty="0"/>
              <a:t>Статусы тестов</a:t>
            </a:r>
          </a:p>
        </p:txBody>
      </p:sp>
      <p:sp>
        <p:nvSpPr>
          <p:cNvPr id="3" name="Объект 2">
            <a:extLst>
              <a:ext uri="{FF2B5EF4-FFF2-40B4-BE49-F238E27FC236}">
                <a16:creationId xmlns:a16="http://schemas.microsoft.com/office/drawing/2014/main" id="{57812471-D289-206D-AA61-E7D999A94DDC}"/>
              </a:ext>
            </a:extLst>
          </p:cNvPr>
          <p:cNvSpPr>
            <a:spLocks noGrp="1"/>
          </p:cNvSpPr>
          <p:nvPr>
            <p:ph idx="1"/>
          </p:nvPr>
        </p:nvSpPr>
        <p:spPr/>
        <p:txBody>
          <a:bodyPr>
            <a:normAutofit fontScale="92500"/>
          </a:bodyPr>
          <a:lstStyle/>
          <a:p>
            <a:r>
              <a:rPr lang="ru-RU" b="1" dirty="0"/>
              <a:t>«</a:t>
            </a:r>
            <a:r>
              <a:rPr lang="ru-RU" b="1" dirty="0" err="1"/>
              <a:t>Passed</a:t>
            </a:r>
            <a:r>
              <a:rPr lang="ru-RU" b="1" dirty="0"/>
              <a:t>»/«Пройден»</a:t>
            </a:r>
            <a:r>
              <a:rPr lang="ru-RU" dirty="0"/>
              <a:t>. Статус означает, что ПО проверено и удовлетворило ожидания. Оно работает исправно и соответствует требованиям. Комментарий не нужен.</a:t>
            </a:r>
          </a:p>
          <a:p>
            <a:r>
              <a:rPr lang="ru-RU" b="1" dirty="0"/>
              <a:t>«</a:t>
            </a:r>
            <a:r>
              <a:rPr lang="ru-RU" b="1" dirty="0" err="1"/>
              <a:t>Failed</a:t>
            </a:r>
            <a:r>
              <a:rPr lang="ru-RU" b="1" dirty="0"/>
              <a:t>»/«Провален»</a:t>
            </a:r>
            <a:r>
              <a:rPr lang="ru-RU" dirty="0"/>
              <a:t>. Поведение тестируемой системы не отвечает ожидаемым результатам, обнаружен дефект. Расписывается исчерпывающий комментарий.</a:t>
            </a:r>
          </a:p>
          <a:p>
            <a:r>
              <a:rPr lang="ru-RU" b="1" dirty="0"/>
              <a:t>«</a:t>
            </a:r>
            <a:r>
              <a:rPr lang="ru-RU" b="1" dirty="0" err="1"/>
              <a:t>Blocked</a:t>
            </a:r>
            <a:r>
              <a:rPr lang="ru-RU" b="1" dirty="0"/>
              <a:t>»/«Заблокирован»</a:t>
            </a:r>
            <a:r>
              <a:rPr lang="ru-RU" dirty="0"/>
              <a:t>. Говорит о невозможности выполнения тестирования, т. е. существуют препятствия для проверки. Например, тот или иной модуль или компонент, блокирующий весь процесс. Комментарий описывает причину.</a:t>
            </a:r>
          </a:p>
          <a:p>
            <a:r>
              <a:rPr lang="ru-RU" b="1" dirty="0"/>
              <a:t>«</a:t>
            </a:r>
            <a:r>
              <a:rPr lang="ru-RU" b="1" dirty="0" err="1"/>
              <a:t>Skipped</a:t>
            </a:r>
            <a:r>
              <a:rPr lang="ru-RU" b="1" dirty="0"/>
              <a:t>»/«Пропущен»</a:t>
            </a:r>
            <a:r>
              <a:rPr lang="ru-RU" dirty="0"/>
              <a:t>. Означает, что тестирование пропущено. Среди потенциальных причин – отсутствие нужного модуля для планируемой проверки.</a:t>
            </a:r>
          </a:p>
          <a:p>
            <a:r>
              <a:rPr lang="ru-RU" b="1" dirty="0"/>
              <a:t>«</a:t>
            </a:r>
            <a:r>
              <a:rPr lang="ru-RU" b="1" dirty="0" err="1"/>
              <a:t>Draft</a:t>
            </a:r>
            <a:r>
              <a:rPr lang="ru-RU" b="1" dirty="0"/>
              <a:t>»/«В разработке»</a:t>
            </a:r>
            <a:r>
              <a:rPr lang="ru-RU" dirty="0"/>
              <a:t>. Статус показывает, что либо отсутствует субъект проверки, либо она ещё не начиналась.</a:t>
            </a:r>
          </a:p>
          <a:p>
            <a:r>
              <a:rPr lang="ru-RU" b="1" dirty="0"/>
              <a:t>«In </a:t>
            </a:r>
            <a:r>
              <a:rPr lang="ru-RU" b="1" dirty="0" err="1"/>
              <a:t>progress</a:t>
            </a:r>
            <a:r>
              <a:rPr lang="ru-RU" b="1" dirty="0"/>
              <a:t>»/«В процессе»</a:t>
            </a:r>
            <a:r>
              <a:rPr lang="ru-RU" dirty="0"/>
              <a:t>. Указывает на долгосрочное исполнение</a:t>
            </a:r>
          </a:p>
          <a:p>
            <a:endParaRPr lang="ru-RU" dirty="0"/>
          </a:p>
        </p:txBody>
      </p:sp>
      <p:sp>
        <p:nvSpPr>
          <p:cNvPr id="4" name="Номер слайда 3">
            <a:extLst>
              <a:ext uri="{FF2B5EF4-FFF2-40B4-BE49-F238E27FC236}">
                <a16:creationId xmlns:a16="http://schemas.microsoft.com/office/drawing/2014/main" id="{E125648E-A81A-E869-0030-0137C216615E}"/>
              </a:ext>
            </a:extLst>
          </p:cNvPr>
          <p:cNvSpPr>
            <a:spLocks noGrp="1"/>
          </p:cNvSpPr>
          <p:nvPr>
            <p:ph type="sldNum" sz="quarter" idx="12"/>
          </p:nvPr>
        </p:nvSpPr>
        <p:spPr/>
        <p:txBody>
          <a:bodyPr/>
          <a:lstStyle/>
          <a:p>
            <a:fld id="{25A42088-C730-408A-A823-60BED1AFCEA0}" type="slidenum">
              <a:rPr lang="ru-RU" smtClean="0"/>
              <a:t>30</a:t>
            </a:fld>
            <a:endParaRPr lang="ru-RU"/>
          </a:p>
        </p:txBody>
      </p:sp>
    </p:spTree>
    <p:extLst>
      <p:ext uri="{BB962C8B-B14F-4D97-AF65-F5344CB8AC3E}">
        <p14:creationId xmlns:p14="http://schemas.microsoft.com/office/powerpoint/2010/main" val="42786131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Позитивные и негативные тест-кейсы</a:t>
            </a:r>
          </a:p>
        </p:txBody>
      </p:sp>
      <p:sp>
        <p:nvSpPr>
          <p:cNvPr id="3" name="Объект 2"/>
          <p:cNvSpPr>
            <a:spLocks noGrp="1"/>
          </p:cNvSpPr>
          <p:nvPr>
            <p:ph idx="1"/>
          </p:nvPr>
        </p:nvSpPr>
        <p:spPr/>
        <p:txBody>
          <a:bodyPr/>
          <a:lstStyle/>
          <a:p>
            <a:r>
              <a:rPr lang="ru-RU" b="1" dirty="0"/>
              <a:t>Позитивные тест-кейсы </a:t>
            </a:r>
            <a:r>
              <a:rPr lang="ru-RU" dirty="0"/>
              <a:t>проверяют, что система правильно работает при корректных входных данных. Например, при вводе правильного пароля из шести символов система должна позволить создать аккаунт. Такие кейсы показывают, что функционал работает в штатном режиме.</a:t>
            </a:r>
          </a:p>
          <a:p>
            <a:endParaRPr lang="ru-RU" dirty="0"/>
          </a:p>
          <a:p>
            <a:r>
              <a:rPr lang="ru-RU" b="1" dirty="0"/>
              <a:t>Негативные тест-кейсы </a:t>
            </a:r>
            <a:r>
              <a:rPr lang="ru-RU" dirty="0"/>
              <a:t>намеренно передают несоответствующие данные (Что произойдет, если ввести слишком короткий пароль? Или указать несуществующий </a:t>
            </a:r>
            <a:r>
              <a:rPr lang="ru-RU" dirty="0" err="1"/>
              <a:t>email</a:t>
            </a:r>
            <a:r>
              <a:rPr lang="ru-RU" dirty="0"/>
              <a:t>?) Хорошее программное обеспечение должно корректно обработать ошибку и показать понятное сообщение пользователю. При разработке тест-кейсов важно предусмотреть все возможные сценарии некорректного использования.</a:t>
            </a:r>
          </a:p>
          <a:p>
            <a:endParaRPr lang="ru-RU" dirty="0"/>
          </a:p>
          <a:p>
            <a:r>
              <a:rPr lang="ru-RU" dirty="0"/>
              <a:t>И негативные и позитивные тесты под конец тестирования должны иметь статус </a:t>
            </a:r>
            <a:r>
              <a:rPr lang="ru-RU" b="1" dirty="0" err="1"/>
              <a:t>Passed</a:t>
            </a:r>
            <a:r>
              <a:rPr lang="ru-RU" dirty="0"/>
              <a:t>.</a:t>
            </a:r>
          </a:p>
        </p:txBody>
      </p:sp>
      <p:sp>
        <p:nvSpPr>
          <p:cNvPr id="4" name="Номер слайда 3"/>
          <p:cNvSpPr>
            <a:spLocks noGrp="1"/>
          </p:cNvSpPr>
          <p:nvPr>
            <p:ph type="sldNum" sz="quarter" idx="12"/>
          </p:nvPr>
        </p:nvSpPr>
        <p:spPr/>
        <p:txBody>
          <a:bodyPr/>
          <a:lstStyle/>
          <a:p>
            <a:fld id="{25A42088-C730-408A-A823-60BED1AFCEA0}" type="slidenum">
              <a:rPr lang="ru-RU" smtClean="0"/>
              <a:t>31</a:t>
            </a:fld>
            <a:endParaRPr lang="ru-RU"/>
          </a:p>
        </p:txBody>
      </p:sp>
    </p:spTree>
    <p:extLst>
      <p:ext uri="{BB962C8B-B14F-4D97-AF65-F5344CB8AC3E}">
        <p14:creationId xmlns:p14="http://schemas.microsoft.com/office/powerpoint/2010/main" val="38681554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63445" y="400067"/>
            <a:ext cx="9601200" cy="733697"/>
          </a:xfrm>
        </p:spPr>
        <p:txBody>
          <a:bodyPr/>
          <a:lstStyle/>
          <a:p>
            <a:r>
              <a:rPr lang="ru-RU" dirty="0"/>
              <a:t>Практическое задание</a:t>
            </a:r>
          </a:p>
        </p:txBody>
      </p:sp>
      <p:sp>
        <p:nvSpPr>
          <p:cNvPr id="3" name="Объект 2"/>
          <p:cNvSpPr>
            <a:spLocks noGrp="1"/>
          </p:cNvSpPr>
          <p:nvPr>
            <p:ph sz="half" idx="1"/>
          </p:nvPr>
        </p:nvSpPr>
        <p:spPr>
          <a:xfrm>
            <a:off x="1263445" y="1230894"/>
            <a:ext cx="5510981" cy="5461168"/>
          </a:xfrm>
        </p:spPr>
        <p:txBody>
          <a:bodyPr>
            <a:noAutofit/>
          </a:bodyPr>
          <a:lstStyle/>
          <a:p>
            <a:r>
              <a:rPr lang="ru-RU" sz="2400" dirty="0"/>
              <a:t>Перед вами поставлена задача протестировать кофе-автомат.</a:t>
            </a:r>
          </a:p>
          <a:p>
            <a:r>
              <a:rPr lang="ru-RU" sz="2400" dirty="0"/>
              <a:t>Составьте по меньшей мере один тест-кейс для каждого из следующих типов:</a:t>
            </a:r>
          </a:p>
          <a:p>
            <a:pPr marL="457200" indent="-457200">
              <a:buAutoNum type="arabicPeriod"/>
            </a:pPr>
            <a:r>
              <a:rPr lang="ru-RU" sz="2400" dirty="0"/>
              <a:t>Позитивный тест-кейс, статус </a:t>
            </a:r>
            <a:r>
              <a:rPr lang="ru-RU" sz="2400" b="1" dirty="0" err="1"/>
              <a:t>Passed</a:t>
            </a:r>
            <a:endParaRPr lang="ru-RU" sz="2400" b="1" dirty="0"/>
          </a:p>
          <a:p>
            <a:pPr marL="457200" indent="-457200">
              <a:buAutoNum type="arabicPeriod"/>
            </a:pPr>
            <a:r>
              <a:rPr lang="ru-RU" sz="2400" dirty="0"/>
              <a:t>Негативный тест-кейс, статус </a:t>
            </a:r>
            <a:r>
              <a:rPr lang="ru-RU" sz="2400" b="1" dirty="0" err="1"/>
              <a:t>Passed</a:t>
            </a:r>
            <a:endParaRPr lang="ru-RU" sz="2400" b="1" dirty="0"/>
          </a:p>
          <a:p>
            <a:pPr marL="457200" indent="-457200">
              <a:buAutoNum type="arabicPeriod"/>
            </a:pPr>
            <a:r>
              <a:rPr lang="ru-RU" sz="2400" dirty="0"/>
              <a:t>Тест-кейс, статус </a:t>
            </a:r>
            <a:r>
              <a:rPr lang="ru-RU" sz="2400" b="1" dirty="0" err="1"/>
              <a:t>Failed</a:t>
            </a:r>
            <a:endParaRPr lang="ru-RU" sz="2400" dirty="0"/>
          </a:p>
          <a:p>
            <a:pPr marL="457200" indent="-457200">
              <a:buAutoNum type="arabicPeriod"/>
            </a:pPr>
            <a:r>
              <a:rPr lang="ru-RU" sz="2400" dirty="0"/>
              <a:t>Тест-кейс, статус </a:t>
            </a:r>
            <a:r>
              <a:rPr lang="ru-RU" sz="2400" b="1" dirty="0" err="1"/>
              <a:t>Blocked</a:t>
            </a:r>
            <a:endParaRPr lang="ru-RU" sz="2400" b="1" dirty="0"/>
          </a:p>
          <a:p>
            <a:pPr marL="457200" indent="-457200">
              <a:buAutoNum type="arabicPeriod"/>
            </a:pPr>
            <a:r>
              <a:rPr lang="ru-RU" sz="2400" dirty="0"/>
              <a:t>Тест-кейс, статус </a:t>
            </a:r>
            <a:r>
              <a:rPr lang="ru-RU" sz="2400" b="1" dirty="0" err="1"/>
              <a:t>In</a:t>
            </a:r>
            <a:r>
              <a:rPr lang="ru-RU" sz="2400" b="1" dirty="0"/>
              <a:t> </a:t>
            </a:r>
            <a:r>
              <a:rPr lang="ru-RU" sz="2400" b="1" dirty="0" err="1"/>
              <a:t>progress</a:t>
            </a:r>
            <a:endParaRPr lang="ru-RU" sz="2400" b="1" dirty="0"/>
          </a:p>
          <a:p>
            <a:pPr marL="457200" indent="-457200">
              <a:buAutoNum type="arabicPeriod"/>
            </a:pPr>
            <a:endParaRPr lang="ru-RU" sz="2400" dirty="0"/>
          </a:p>
          <a:p>
            <a:pPr marL="457200" indent="-457200">
              <a:buAutoNum type="arabicPeriod"/>
            </a:pPr>
            <a:endParaRPr lang="ru-RU" sz="2400" dirty="0"/>
          </a:p>
        </p:txBody>
      </p:sp>
      <p:sp>
        <p:nvSpPr>
          <p:cNvPr id="4" name="Номер слайда 3"/>
          <p:cNvSpPr>
            <a:spLocks noGrp="1"/>
          </p:cNvSpPr>
          <p:nvPr>
            <p:ph type="sldNum" sz="quarter" idx="12"/>
          </p:nvPr>
        </p:nvSpPr>
        <p:spPr/>
        <p:txBody>
          <a:bodyPr/>
          <a:lstStyle/>
          <a:p>
            <a:fld id="{25A42088-C730-408A-A823-60BED1AFCEA0}" type="slidenum">
              <a:rPr lang="ru-RU" smtClean="0"/>
              <a:t>32</a:t>
            </a:fld>
            <a:endParaRPr lang="ru-RU"/>
          </a:p>
        </p:txBody>
      </p:sp>
      <p:pic>
        <p:nvPicPr>
          <p:cNvPr id="1026" name="Picture 2" descr="Picture background"/>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l="13558" t="13090"/>
          <a:stretch/>
        </p:blipFill>
        <p:spPr bwMode="auto">
          <a:xfrm>
            <a:off x="6882581" y="766916"/>
            <a:ext cx="4345858" cy="5825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7954764"/>
      </p:ext>
    </p:extLst>
  </p:cSld>
  <p:clrMapOvr>
    <a:masterClrMapping/>
  </p:clrMapOvr>
</p:sld>
</file>

<file path=ppt/theme/theme1.xml><?xml version="1.0" encoding="utf-8"?>
<a:theme xmlns:a="http://schemas.openxmlformats.org/drawingml/2006/main" name="Уголки">
  <a:themeElements>
    <a:clrScheme name="Уголки">
      <a:dk1>
        <a:sysClr val="windowText" lastClr="000000"/>
      </a:dk1>
      <a:lt1>
        <a:sysClr val="window" lastClr="FFFFFF"/>
      </a:lt1>
      <a:dk2>
        <a:srgbClr val="1A2E40"/>
      </a:dk2>
      <a:lt2>
        <a:srgbClr val="EBE7DD"/>
      </a:lt2>
      <a:accent1>
        <a:srgbClr val="69A1AB"/>
      </a:accent1>
      <a:accent2>
        <a:srgbClr val="F2C418"/>
      </a:accent2>
      <a:accent3>
        <a:srgbClr val="87492C"/>
      </a:accent3>
      <a:accent4>
        <a:srgbClr val="4A845E"/>
      </a:accent4>
      <a:accent5>
        <a:srgbClr val="DC9528"/>
      </a:accent5>
      <a:accent6>
        <a:srgbClr val="9A5D78"/>
      </a:accent6>
      <a:hlink>
        <a:srgbClr val="66C8E3"/>
      </a:hlink>
      <a:folHlink>
        <a:srgbClr val="B162A1"/>
      </a:folHlink>
    </a:clrScheme>
    <a:fontScheme name="Уголки">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Уголки">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17F9D331-421E-442F-B033-AF5B21A44854}"/>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TM10001105[[fn=Уголки]]</Template>
  <TotalTime>431</TotalTime>
  <Words>2750</Words>
  <Application>Microsoft Office PowerPoint</Application>
  <PresentationFormat>Широкоэкранный</PresentationFormat>
  <Paragraphs>279</Paragraphs>
  <Slides>32</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32</vt:i4>
      </vt:variant>
    </vt:vector>
  </HeadingPairs>
  <TitlesOfParts>
    <vt:vector size="37" baseType="lpstr">
      <vt:lpstr>Calibri</vt:lpstr>
      <vt:lpstr>Franklin Gothic Book</vt:lpstr>
      <vt:lpstr>Georgia</vt:lpstr>
      <vt:lpstr>Wingdings</vt:lpstr>
      <vt:lpstr>Уголки</vt:lpstr>
      <vt:lpstr>Лекция 14    Структурное и функциональное тестирование ПО. Тест-кейсы</vt:lpstr>
      <vt:lpstr>Методы черного, серого, белого ящиков</vt:lpstr>
      <vt:lpstr>Способы тестирования</vt:lpstr>
      <vt:lpstr>Структурное тестирование</vt:lpstr>
      <vt:lpstr>Этапы структурного тестирования</vt:lpstr>
      <vt:lpstr>Граф потока управления</vt:lpstr>
      <vt:lpstr>Презентация PowerPoint</vt:lpstr>
      <vt:lpstr>Справка: проблема остановки</vt:lpstr>
      <vt:lpstr>Критерии тестирования на основе потока управления</vt:lpstr>
      <vt:lpstr>Презентация PowerPoint</vt:lpstr>
      <vt:lpstr>Презентация PowerPoint</vt:lpstr>
      <vt:lpstr>Пример:</vt:lpstr>
      <vt:lpstr>Покрытие операторов</vt:lpstr>
      <vt:lpstr>Покрытие ветвей</vt:lpstr>
      <vt:lpstr>Функциональное тестирование</vt:lpstr>
      <vt:lpstr>Рекомендации для функционального тестирования</vt:lpstr>
      <vt:lpstr>Методы функционального тестирования</vt:lpstr>
      <vt:lpstr>Метод эквивалентного разбиения</vt:lpstr>
      <vt:lpstr>Анализ граничных значений </vt:lpstr>
      <vt:lpstr>Метод функциональных диаграмм</vt:lpstr>
      <vt:lpstr>Метод, основанный на предположении об ошибке </vt:lpstr>
      <vt:lpstr>Тестовые сценарии и случаи (Test Case)</vt:lpstr>
      <vt:lpstr>Цели создания тестовых сценариев</vt:lpstr>
      <vt:lpstr>Основные атрибуты</vt:lpstr>
      <vt:lpstr>Жизненный цикл тестового сценария</vt:lpstr>
      <vt:lpstr>Шаблон развернутой записи тестового случая</vt:lpstr>
      <vt:lpstr>Пример развернутой записи тестового случая</vt:lpstr>
      <vt:lpstr>Шаблон и пример краткой записи тестового случая</vt:lpstr>
      <vt:lpstr>Правила составления тест-кейсов</vt:lpstr>
      <vt:lpstr>Статусы тестов</vt:lpstr>
      <vt:lpstr>Позитивные и негативные тест-кейсы</vt:lpstr>
      <vt:lpstr>Практическое задание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Лекция …    Заголовок</dc:title>
  <dc:creator>Лилия Челищева</dc:creator>
  <cp:lastModifiedBy>Лилия Челищева</cp:lastModifiedBy>
  <cp:revision>24</cp:revision>
  <dcterms:created xsi:type="dcterms:W3CDTF">2023-09-01T22:02:12Z</dcterms:created>
  <dcterms:modified xsi:type="dcterms:W3CDTF">2026-01-19T20:39:01Z</dcterms:modified>
</cp:coreProperties>
</file>