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95" r:id="rId1"/>
  </p:sldMasterIdLst>
  <p:notesMasterIdLst>
    <p:notesMasterId r:id="rId22"/>
  </p:notesMasterIdLst>
  <p:sldIdLst>
    <p:sldId id="256" r:id="rId2"/>
    <p:sldId id="343" r:id="rId3"/>
    <p:sldId id="347" r:id="rId4"/>
    <p:sldId id="303" r:id="rId5"/>
    <p:sldId id="356" r:id="rId6"/>
    <p:sldId id="355" r:id="rId7"/>
    <p:sldId id="344" r:id="rId8"/>
    <p:sldId id="345" r:id="rId9"/>
    <p:sldId id="358" r:id="rId10"/>
    <p:sldId id="349" r:id="rId11"/>
    <p:sldId id="353" r:id="rId12"/>
    <p:sldId id="354" r:id="rId13"/>
    <p:sldId id="350" r:id="rId14"/>
    <p:sldId id="359" r:id="rId15"/>
    <p:sldId id="346" r:id="rId16"/>
    <p:sldId id="348" r:id="rId17"/>
    <p:sldId id="257" r:id="rId18"/>
    <p:sldId id="351" r:id="rId19"/>
    <p:sldId id="352" r:id="rId20"/>
    <p:sldId id="35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9F18C-B0EF-4C3B-831E-15C3CF792C09}" type="datetimeFigureOut">
              <a:rPr lang="ru-RU" smtClean="0"/>
              <a:t>05.10.2025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3E470-2E3C-4AB4-A461-A838E60D5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914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none" baseline="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sz="1400" baseline="0">
                <a:solidFill>
                  <a:schemeClr val="tx2"/>
                </a:solidFill>
              </a:defRPr>
            </a:lvl1pPr>
          </a:lstStyle>
          <a:p>
            <a:fld id="{15D38347-702E-498B-B08C-DEF354D6629E}" type="datetime1">
              <a:rPr lang="ru-RU" smtClean="0"/>
              <a:t>05.10.2025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sz="1400" baseline="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06201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0696-10F3-4B5A-B71C-22707C2001B8}" type="datetime1">
              <a:rPr lang="ru-RU" smtClean="0"/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33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88F0F0C-D99A-410F-9911-63A47C4FE68F}" type="datetime1">
              <a:rPr lang="ru-RU" smtClean="0"/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485155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593669"/>
            <a:ext cx="4447786" cy="427373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1593669"/>
            <a:ext cx="4447786" cy="427373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A0CF-EE6C-47A3-85BE-0F26FBE60222}" type="datetime1">
              <a:rPr lang="ru-RU" smtClean="0"/>
              <a:t>05.10.2025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587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3790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352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2348104"/>
            <a:ext cx="4443984" cy="382409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2348105"/>
            <a:ext cx="4443984" cy="382409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526E4-1211-434F-B87B-977DA01F1840}" type="datetime1">
              <a:rPr lang="ru-RU" smtClean="0"/>
              <a:t>05.10.2025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981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CEF9-D33A-4081-AB8F-855DF995F0BB}" type="datetime1">
              <a:rPr lang="ru-RU" smtClean="0"/>
              <a:t>05.10.2025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45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D69E-1695-4575-8EC2-2D08D3507A7E}" type="datetime1">
              <a:rPr lang="ru-RU" smtClean="0"/>
              <a:t>05.10.2025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6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10B2DC-3A84-42CE-BFEC-A52F2FA5ABE8}" type="datetime1">
              <a:rPr lang="ru-RU" smtClean="0"/>
              <a:t>05.10.2025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63344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C280E5-A025-45B5-92AB-31FBC1254ED0}" type="datetime1">
              <a:rPr lang="ru-RU" smtClean="0"/>
              <a:t>05.10.2025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593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1637211"/>
            <a:ext cx="9601200" cy="42301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7454-E3F2-4967-91D0-7E58FC732875}" type="datetime1">
              <a:rPr lang="ru-RU" smtClean="0"/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6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0532A-A3E8-4F11-B367-EDFC1ADEDC15}" type="datetime1">
              <a:rPr lang="ru-RU" smtClean="0"/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81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1506583"/>
            <a:ext cx="9601200" cy="475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600" y="6374670"/>
            <a:ext cx="114633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6CE7A49A-459E-499C-837E-09F78318E92A}" type="datetime1">
              <a:rPr lang="ru-RU" smtClean="0"/>
              <a:pPr/>
              <a:t>05.10.2025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4514" y="6374670"/>
            <a:ext cx="6461075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92170" y="6374670"/>
            <a:ext cx="12806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4367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3600" kern="1200" baseline="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Tx/>
        <a:buNone/>
        <a:defRPr sz="20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1pPr>
      <a:lvl2pPr marL="5303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20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2pPr>
      <a:lvl3pPr marL="9875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3pPr>
      <a:lvl4pPr marL="14447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4pPr>
      <a:lvl5pPr marL="19019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6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4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plantuml.com/ru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56258-0E67-7C7B-2850-681FD0BB7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000" dirty="0"/>
              <a:t>Лекция 6  </a:t>
            </a:r>
            <a:br>
              <a:rPr lang="ru-RU" sz="6000" dirty="0"/>
            </a:br>
            <a:r>
              <a:rPr lang="ru-RU" sz="6000" dirty="0"/>
              <a:t> </a:t>
            </a:r>
            <a:r>
              <a:rPr lang="en-US" sz="6000" dirty="0"/>
              <a:t>UML. </a:t>
            </a:r>
            <a:r>
              <a:rPr lang="ru-RU" sz="6000" dirty="0"/>
              <a:t>Диаграммы последовательности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DB230C-D752-D32B-FD0D-416920046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Технология разработки программного обеспечения</a:t>
            </a:r>
          </a:p>
          <a:p>
            <a:r>
              <a:rPr lang="ru-RU" dirty="0"/>
              <a:t>Преподаватель: Челищева Лилия Дмитриевна</a:t>
            </a:r>
          </a:p>
        </p:txBody>
      </p:sp>
    </p:spTree>
    <p:extLst>
      <p:ext uri="{BB962C8B-B14F-4D97-AF65-F5344CB8AC3E}">
        <p14:creationId xmlns:p14="http://schemas.microsoft.com/office/powerpoint/2010/main" val="1586075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E39F5D-6EC7-4086-B9A9-84E454EF3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последовательности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1F8F00-F7DF-4915-886C-A250F1C03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Диаграммой последовательности </a:t>
            </a:r>
            <a:r>
              <a:rPr lang="ru-RU" dirty="0"/>
              <a:t>(</a:t>
            </a:r>
            <a:r>
              <a:rPr lang="ru-RU" dirty="0" err="1"/>
              <a:t>Sequence</a:t>
            </a:r>
            <a:r>
              <a:rPr lang="ru-RU" dirty="0"/>
              <a:t> </a:t>
            </a:r>
            <a:r>
              <a:rPr lang="ru-RU" dirty="0" err="1"/>
              <a:t>diagram</a:t>
            </a:r>
            <a:r>
              <a:rPr lang="ru-RU" dirty="0"/>
              <a:t>) называется диаграмма, акцентирующая внимание </a:t>
            </a:r>
            <a:r>
              <a:rPr lang="ru-RU" b="1" dirty="0"/>
              <a:t>на временной упорядоченности сообщений</a:t>
            </a:r>
            <a:r>
              <a:rPr lang="ru-RU" dirty="0"/>
              <a:t>. Графически такая диаграмма представляет собой таблицу, объекты в которой располагаются вдоль оси X, а сообщения в порядке возрастания времени - вдоль оси Y.</a:t>
            </a:r>
          </a:p>
          <a:p>
            <a:endParaRPr lang="ru-RU" dirty="0"/>
          </a:p>
          <a:p>
            <a:r>
              <a:rPr lang="ru-RU" dirty="0"/>
              <a:t>Иллюстрирует один значимый </a:t>
            </a:r>
            <a:r>
              <a:rPr lang="en-US" dirty="0"/>
              <a:t>Use Case</a:t>
            </a:r>
            <a:r>
              <a:rPr lang="ru-RU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AC9146-05E2-4417-A7E0-4DDB6B93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3025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E077D7-330A-4F4C-8671-E05C53A93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Элементы диаграммы последовательности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761359-C9F0-4F08-98C0-C1361DA0D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00151"/>
            <a:ext cx="9601200" cy="5353050"/>
          </a:xfrm>
        </p:spPr>
        <p:txBody>
          <a:bodyPr>
            <a:normAutofit/>
          </a:bodyPr>
          <a:lstStyle/>
          <a:p>
            <a:r>
              <a:rPr lang="ru-RU" b="1" dirty="0" err="1"/>
              <a:t>Актор</a:t>
            </a:r>
            <a:r>
              <a:rPr lang="ru-RU" dirty="0"/>
              <a:t>. Действующее лицо, использующее систему.</a:t>
            </a:r>
          </a:p>
          <a:p>
            <a:r>
              <a:rPr lang="ru-RU" b="1" dirty="0"/>
              <a:t>Объект</a:t>
            </a:r>
            <a:r>
              <a:rPr lang="ru-RU" dirty="0"/>
              <a:t>. Объекты системы в таких диаграммах всегда представлены прямоугольниками с именами внутри. В прямоугольнике помимо названия объекта указывают его класс. Обе эти части разделяются двоеточием. </a:t>
            </a:r>
          </a:p>
          <a:p>
            <a:r>
              <a:rPr lang="ru-RU" b="1" dirty="0"/>
              <a:t>Линия жизни </a:t>
            </a:r>
            <a:r>
              <a:rPr lang="ru-RU" dirty="0"/>
              <a:t>— Life Line. Временная шкала в диаграмме последовательности идёт сверху вниз. У каждого объекта своя пунктирная линия, их ещё называют линиями жизни, которые обозначают последовательности действий объектов и не пересекаются. </a:t>
            </a:r>
          </a:p>
          <a:p>
            <a:r>
              <a:rPr lang="ru-RU" b="1" dirty="0"/>
              <a:t>Фрагмент выполнения или активация </a:t>
            </a:r>
            <a:r>
              <a:rPr lang="ru-RU" dirty="0"/>
              <a:t>— </a:t>
            </a:r>
            <a:r>
              <a:rPr lang="ru-RU" dirty="0" err="1"/>
              <a:t>Activation</a:t>
            </a:r>
            <a:r>
              <a:rPr lang="ru-RU" dirty="0"/>
              <a:t> </a:t>
            </a:r>
            <a:r>
              <a:rPr lang="ru-RU" dirty="0" err="1"/>
              <a:t>Bar</a:t>
            </a:r>
            <a:r>
              <a:rPr lang="ru-RU" dirty="0"/>
              <a:t>. Узкий прямоугольник на линии жизни, который показывает начало и завершение действия с участием объекта, его активизации во времени. </a:t>
            </a:r>
          </a:p>
          <a:p>
            <a:r>
              <a:rPr lang="ru-RU" b="1" dirty="0"/>
              <a:t>Сообщение</a:t>
            </a:r>
            <a:r>
              <a:rPr lang="ru-RU" dirty="0"/>
              <a:t> — Message. Стрелка, которая показывает взаимодействие между разными объектами в момент, когда они посылают сообщения друг другу. Стрелки помогают понять не только смысл взаимодействия, но и то, кто его начал и по отношению к кому. Сообщения могут говорить также о создании или уничтожении участников последовательности.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4CC2A2-970B-4988-BFFE-43D51F829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620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3" name="Rectangle 23">
            <a:extLst>
              <a:ext uri="{FF2B5EF4-FFF2-40B4-BE49-F238E27FC236}">
                <a16:creationId xmlns:a16="http://schemas.microsoft.com/office/drawing/2014/main" id="{51C91248-969C-4076-B001-6C2F003CCD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8913"/>
            <a:ext cx="8686800" cy="1027112"/>
          </a:xfrm>
        </p:spPr>
        <p:txBody>
          <a:bodyPr/>
          <a:lstStyle/>
          <a:p>
            <a:r>
              <a:rPr lang="ru-RU" altLang="ru-RU" sz="4000"/>
              <a:t>Диаграмма последовательности</a:t>
            </a:r>
          </a:p>
        </p:txBody>
      </p:sp>
      <p:pic>
        <p:nvPicPr>
          <p:cNvPr id="286726" name="Picture 6">
            <a:extLst>
              <a:ext uri="{FF2B5EF4-FFF2-40B4-BE49-F238E27FC236}">
                <a16:creationId xmlns:a16="http://schemas.microsoft.com/office/drawing/2014/main" id="{7EA69318-D28A-49F3-92FD-28E7835CA225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03389" y="2022476"/>
            <a:ext cx="8713787" cy="4252913"/>
          </a:xfrm>
          <a:noFill/>
          <a:ln/>
        </p:spPr>
      </p:pic>
      <p:sp>
        <p:nvSpPr>
          <p:cNvPr id="286727" name="Text Box 7">
            <a:extLst>
              <a:ext uri="{FF2B5EF4-FFF2-40B4-BE49-F238E27FC236}">
                <a16:creationId xmlns:a16="http://schemas.microsoft.com/office/drawing/2014/main" id="{585D1F11-72BC-4928-AA14-3B6061D2D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5851" y="1196975"/>
            <a:ext cx="127111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800">
                <a:solidFill>
                  <a:schemeClr val="tx2"/>
                </a:solidFill>
              </a:rPr>
              <a:t>Объект</a:t>
            </a:r>
          </a:p>
        </p:txBody>
      </p:sp>
      <p:sp>
        <p:nvSpPr>
          <p:cNvPr id="286728" name="Line 8">
            <a:extLst>
              <a:ext uri="{FF2B5EF4-FFF2-40B4-BE49-F238E27FC236}">
                <a16:creationId xmlns:a16="http://schemas.microsoft.com/office/drawing/2014/main" id="{F5D9F4EE-CA91-4810-9A98-11FD5E4E91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1539" y="1628775"/>
            <a:ext cx="865187" cy="431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>
              <a:solidFill>
                <a:schemeClr val="tx2"/>
              </a:solidFill>
            </a:endParaRPr>
          </a:p>
        </p:txBody>
      </p:sp>
      <p:sp>
        <p:nvSpPr>
          <p:cNvPr id="286729" name="Line 9">
            <a:extLst>
              <a:ext uri="{FF2B5EF4-FFF2-40B4-BE49-F238E27FC236}">
                <a16:creationId xmlns:a16="http://schemas.microsoft.com/office/drawing/2014/main" id="{5DE82CE4-9F76-4AAC-8F2A-5547A466EDF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4063" y="1628775"/>
            <a:ext cx="576262" cy="431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>
              <a:solidFill>
                <a:schemeClr val="tx2"/>
              </a:solidFill>
            </a:endParaRPr>
          </a:p>
        </p:txBody>
      </p:sp>
      <p:sp>
        <p:nvSpPr>
          <p:cNvPr id="286730" name="Text Box 10">
            <a:extLst>
              <a:ext uri="{FF2B5EF4-FFF2-40B4-BE49-F238E27FC236}">
                <a16:creationId xmlns:a16="http://schemas.microsoft.com/office/drawing/2014/main" id="{BA558167-F522-4387-9FDF-49A8226AD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1196975"/>
            <a:ext cx="10903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800">
                <a:solidFill>
                  <a:schemeClr val="tx2"/>
                </a:solidFill>
              </a:rPr>
              <a:t>Класс</a:t>
            </a:r>
          </a:p>
        </p:txBody>
      </p:sp>
      <p:sp>
        <p:nvSpPr>
          <p:cNvPr id="286731" name="Line 11">
            <a:extLst>
              <a:ext uri="{FF2B5EF4-FFF2-40B4-BE49-F238E27FC236}">
                <a16:creationId xmlns:a16="http://schemas.microsoft.com/office/drawing/2014/main" id="{51D9B61C-7A95-4560-AE96-688241AD99A6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1776" y="1628775"/>
            <a:ext cx="576263" cy="431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>
              <a:solidFill>
                <a:schemeClr val="tx2"/>
              </a:solidFill>
            </a:endParaRPr>
          </a:p>
        </p:txBody>
      </p:sp>
      <p:sp>
        <p:nvSpPr>
          <p:cNvPr id="286732" name="Text Box 12">
            <a:extLst>
              <a:ext uri="{FF2B5EF4-FFF2-40B4-BE49-F238E27FC236}">
                <a16:creationId xmlns:a16="http://schemas.microsoft.com/office/drawing/2014/main" id="{848C1738-1D9C-4B18-ADC4-8EB312FE6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8446" y="1096030"/>
            <a:ext cx="10468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800" dirty="0" err="1">
                <a:solidFill>
                  <a:schemeClr val="tx2"/>
                </a:solidFill>
              </a:rPr>
              <a:t>Актор</a:t>
            </a:r>
            <a:endParaRPr lang="ru-RU" altLang="ru-RU" sz="2800" dirty="0">
              <a:solidFill>
                <a:schemeClr val="tx2"/>
              </a:solidFill>
            </a:endParaRPr>
          </a:p>
        </p:txBody>
      </p:sp>
      <p:sp>
        <p:nvSpPr>
          <p:cNvPr id="286733" name="Line 13">
            <a:extLst>
              <a:ext uri="{FF2B5EF4-FFF2-40B4-BE49-F238E27FC236}">
                <a16:creationId xmlns:a16="http://schemas.microsoft.com/office/drawing/2014/main" id="{E4757816-F2BC-4E8B-B7AE-9E377A021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7713" y="1628775"/>
            <a:ext cx="576262" cy="431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>
              <a:solidFill>
                <a:schemeClr val="tx2"/>
              </a:solidFill>
            </a:endParaRPr>
          </a:p>
        </p:txBody>
      </p:sp>
      <p:sp>
        <p:nvSpPr>
          <p:cNvPr id="286734" name="Text Box 14">
            <a:extLst>
              <a:ext uri="{FF2B5EF4-FFF2-40B4-BE49-F238E27FC236}">
                <a16:creationId xmlns:a16="http://schemas.microsoft.com/office/drawing/2014/main" id="{FA566024-7DC1-4418-9148-D16BB17D2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0326" y="6338888"/>
            <a:ext cx="219002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800">
                <a:solidFill>
                  <a:schemeClr val="tx2"/>
                </a:solidFill>
              </a:rPr>
              <a:t>Линия жизни</a:t>
            </a:r>
          </a:p>
        </p:txBody>
      </p:sp>
      <p:sp>
        <p:nvSpPr>
          <p:cNvPr id="286735" name="Line 15">
            <a:extLst>
              <a:ext uri="{FF2B5EF4-FFF2-40B4-BE49-F238E27FC236}">
                <a16:creationId xmlns:a16="http://schemas.microsoft.com/office/drawing/2014/main" id="{98F11A2F-C622-46BB-BFEA-30C989A06B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2850" y="5589588"/>
            <a:ext cx="719138" cy="7921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>
              <a:solidFill>
                <a:schemeClr val="tx2"/>
              </a:solidFill>
            </a:endParaRPr>
          </a:p>
        </p:txBody>
      </p:sp>
      <p:sp>
        <p:nvSpPr>
          <p:cNvPr id="286736" name="Line 16">
            <a:extLst>
              <a:ext uri="{FF2B5EF4-FFF2-40B4-BE49-F238E27FC236}">
                <a16:creationId xmlns:a16="http://schemas.microsoft.com/office/drawing/2014/main" id="{76D3D4EA-5A64-4157-A6AB-BF2589EB492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24788" y="5589588"/>
            <a:ext cx="792162" cy="7921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>
              <a:solidFill>
                <a:schemeClr val="tx2"/>
              </a:solidFill>
            </a:endParaRPr>
          </a:p>
        </p:txBody>
      </p:sp>
      <p:sp>
        <p:nvSpPr>
          <p:cNvPr id="286737" name="Text Box 17">
            <a:extLst>
              <a:ext uri="{FF2B5EF4-FFF2-40B4-BE49-F238E27FC236}">
                <a16:creationId xmlns:a16="http://schemas.microsoft.com/office/drawing/2014/main" id="{89CACB69-E215-4030-AEBB-09246ED7A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7939" y="6338888"/>
            <a:ext cx="198964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800">
                <a:solidFill>
                  <a:schemeClr val="tx2"/>
                </a:solidFill>
              </a:rPr>
              <a:t>Сообщение</a:t>
            </a:r>
          </a:p>
        </p:txBody>
      </p:sp>
      <p:sp>
        <p:nvSpPr>
          <p:cNvPr id="286738" name="Line 18">
            <a:extLst>
              <a:ext uri="{FF2B5EF4-FFF2-40B4-BE49-F238E27FC236}">
                <a16:creationId xmlns:a16="http://schemas.microsoft.com/office/drawing/2014/main" id="{3B143A91-A457-4DCF-B606-8143C8C43B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4563" y="4941888"/>
            <a:ext cx="215900" cy="14398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>
              <a:solidFill>
                <a:schemeClr val="tx2"/>
              </a:solidFill>
            </a:endParaRPr>
          </a:p>
        </p:txBody>
      </p:sp>
      <p:sp>
        <p:nvSpPr>
          <p:cNvPr id="286739" name="Text Box 19">
            <a:extLst>
              <a:ext uri="{FF2B5EF4-FFF2-40B4-BE49-F238E27FC236}">
                <a16:creationId xmlns:a16="http://schemas.microsoft.com/office/drawing/2014/main" id="{98DAF08C-E7AE-497B-A614-BB83A8FEA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334" y="4706005"/>
            <a:ext cx="141096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800" dirty="0">
                <a:solidFill>
                  <a:schemeClr val="tx2"/>
                </a:solidFill>
              </a:rPr>
              <a:t>Данные</a:t>
            </a:r>
          </a:p>
        </p:txBody>
      </p:sp>
      <p:sp>
        <p:nvSpPr>
          <p:cNvPr id="286740" name="Line 20">
            <a:extLst>
              <a:ext uri="{FF2B5EF4-FFF2-40B4-BE49-F238E27FC236}">
                <a16:creationId xmlns:a16="http://schemas.microsoft.com/office/drawing/2014/main" id="{2401C8D1-B0B5-4037-8968-B5D9DBE52D4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08439" y="4005263"/>
            <a:ext cx="354011" cy="70074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>
              <a:solidFill>
                <a:schemeClr val="tx2"/>
              </a:solidFill>
            </a:endParaRPr>
          </a:p>
        </p:txBody>
      </p:sp>
      <p:sp>
        <p:nvSpPr>
          <p:cNvPr id="286741" name="Text Box 21">
            <a:extLst>
              <a:ext uri="{FF2B5EF4-FFF2-40B4-BE49-F238E27FC236}">
                <a16:creationId xmlns:a16="http://schemas.microsoft.com/office/drawing/2014/main" id="{54AF6094-D0BA-481C-BA80-5A4DE1F58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3" y="6338888"/>
            <a:ext cx="179889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2800">
                <a:solidFill>
                  <a:schemeClr val="tx2"/>
                </a:solidFill>
              </a:rPr>
              <a:t>Активация</a:t>
            </a:r>
          </a:p>
        </p:txBody>
      </p:sp>
      <p:sp>
        <p:nvSpPr>
          <p:cNvPr id="286742" name="Line 22">
            <a:extLst>
              <a:ext uri="{FF2B5EF4-FFF2-40B4-BE49-F238E27FC236}">
                <a16:creationId xmlns:a16="http://schemas.microsoft.com/office/drawing/2014/main" id="{8E15AEC1-DFA3-4A59-A284-181D76A7D6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83114" y="4305300"/>
            <a:ext cx="1339937" cy="221932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>
              <a:solidFill>
                <a:schemeClr val="tx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1E855FA-EBEF-453F-8864-45B2B6447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BDA895-6B06-43F4-A80B-91D8FCD1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Участники и линии жизни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D491B90-4B06-4941-9BA5-156BEB2DB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</a:t>
            </a:fld>
            <a:endParaRPr lang="ru-RU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9C44990F-88E0-4FE9-9270-BA004A62A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88" y="2200275"/>
            <a:ext cx="2600325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8A8432CC-3F00-4F37-8687-3FB924D7F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5051" y="1844301"/>
            <a:ext cx="4998485" cy="4104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Стрелка: влево 5">
            <a:extLst>
              <a:ext uri="{FF2B5EF4-FFF2-40B4-BE49-F238E27FC236}">
                <a16:creationId xmlns:a16="http://schemas.microsoft.com/office/drawing/2014/main" id="{19B3B228-B385-453C-AD61-713FE61F5415}"/>
              </a:ext>
            </a:extLst>
          </p:cNvPr>
          <p:cNvSpPr/>
          <p:nvPr/>
        </p:nvSpPr>
        <p:spPr>
          <a:xfrm>
            <a:off x="9567862" y="4847889"/>
            <a:ext cx="2171700" cy="10477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Уничтожение</a:t>
            </a:r>
          </a:p>
        </p:txBody>
      </p:sp>
    </p:spTree>
    <p:extLst>
      <p:ext uri="{BB962C8B-B14F-4D97-AF65-F5344CB8AC3E}">
        <p14:creationId xmlns:p14="http://schemas.microsoft.com/office/powerpoint/2010/main" val="3118811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9A901-49CA-4961-9F73-A29FEE31F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Линии активности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AAF0610-5129-46A7-A2AA-5D29F368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</a:t>
            </a:fld>
            <a:endParaRPr lang="ru-RU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D358D6AB-3F7E-4F38-9131-9DE17F22FA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7630" y="1781175"/>
            <a:ext cx="7789140" cy="3845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5190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>
            <a:extLst>
              <a:ext uri="{FF2B5EF4-FFF2-40B4-BE49-F238E27FC236}">
                <a16:creationId xmlns:a16="http://schemas.microsoft.com/office/drawing/2014/main" id="{D4DA79C1-B423-4FA2-A2A9-E1933AE174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Стрелки - Сообщения</a:t>
            </a:r>
          </a:p>
        </p:txBody>
      </p:sp>
      <p:sp>
        <p:nvSpPr>
          <p:cNvPr id="353283" name="Rectangle 3">
            <a:extLst>
              <a:ext uri="{FF2B5EF4-FFF2-40B4-BE49-F238E27FC236}">
                <a16:creationId xmlns:a16="http://schemas.microsoft.com/office/drawing/2014/main" id="{8E487533-E1BB-498A-9DA6-3F4ED904DF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2400" dirty="0"/>
              <a:t>Сплошная линия с треугольной стрелкой - вызов процедуры или другого вложенного потока управления. </a:t>
            </a:r>
            <a:r>
              <a:rPr lang="ru-RU" altLang="ru-RU" sz="2400" dirty="0" err="1"/>
              <a:t>М.б</a:t>
            </a:r>
            <a:r>
              <a:rPr lang="ru-RU" altLang="ru-RU" sz="2400" dirty="0"/>
              <a:t>. использована совместно с параллельно активными объектами, когда один из них передает сигнал и ожидает, пока не закончится некоторая вложенная последовательность действий. Обычно все такие сообщения являются синхронными, т. е. инициируемыми по завершении некоторой деятельности или при выполнении некоторого условия.</a:t>
            </a:r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Ø"/>
            </a:pPr>
            <a:endParaRPr lang="ru-RU" altLang="ru-RU" sz="2400" dirty="0"/>
          </a:p>
          <a:p>
            <a:pPr marL="342900" indent="-342900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ru-RU" altLang="ru-RU" sz="2400" dirty="0"/>
              <a:t>Сплошная линия с V-образной стрелкой - простой поток управления. Каждая такая стрелка изображает один этап в последовательности потока управления. Обычно все такие сообщения являются асинхронными.</a:t>
            </a:r>
          </a:p>
        </p:txBody>
      </p:sp>
      <p:sp>
        <p:nvSpPr>
          <p:cNvPr id="353286" name="AutoShape 6">
            <a:extLst>
              <a:ext uri="{FF2B5EF4-FFF2-40B4-BE49-F238E27FC236}">
                <a16:creationId xmlns:a16="http://schemas.microsoft.com/office/drawing/2014/main" id="{E64F9806-E8FB-4D8A-9DE2-AAE3356817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53288" name="AutoShape 8">
            <a:extLst>
              <a:ext uri="{FF2B5EF4-FFF2-40B4-BE49-F238E27FC236}">
                <a16:creationId xmlns:a16="http://schemas.microsoft.com/office/drawing/2014/main" id="{8A3C56B9-5E3D-498C-B48C-66FDC1F471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53290" name="AutoShape 10">
            <a:extLst>
              <a:ext uri="{FF2B5EF4-FFF2-40B4-BE49-F238E27FC236}">
                <a16:creationId xmlns:a16="http://schemas.microsoft.com/office/drawing/2014/main" id="{E1787EC1-3916-4822-9326-D120B5B92C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53292" name="AutoShape 12">
            <a:extLst>
              <a:ext uri="{FF2B5EF4-FFF2-40B4-BE49-F238E27FC236}">
                <a16:creationId xmlns:a16="http://schemas.microsoft.com/office/drawing/2014/main" id="{A4FEC27E-8FA0-4381-9C7F-354C0DD8F0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53294" name="AutoShape 14">
            <a:extLst>
              <a:ext uri="{FF2B5EF4-FFF2-40B4-BE49-F238E27FC236}">
                <a16:creationId xmlns:a16="http://schemas.microsoft.com/office/drawing/2014/main" id="{FCF47152-725D-480D-A728-A427CD11EB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RU"/>
          </a:p>
        </p:txBody>
      </p:sp>
      <p:pic>
        <p:nvPicPr>
          <p:cNvPr id="353296" name="Picture 16">
            <a:extLst>
              <a:ext uri="{FF2B5EF4-FFF2-40B4-BE49-F238E27FC236}">
                <a16:creationId xmlns:a16="http://schemas.microsoft.com/office/drawing/2014/main" id="{4DE47BB5-9694-418A-ADD3-1D89FEBF0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222" b="2158"/>
          <a:stretch>
            <a:fillRect/>
          </a:stretch>
        </p:blipFill>
        <p:spPr bwMode="auto">
          <a:xfrm>
            <a:off x="10090151" y="47609"/>
            <a:ext cx="1987549" cy="1458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C0C097A-D067-4508-BC73-2F73271F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1" name="Rectangle 3">
            <a:extLst>
              <a:ext uri="{FF2B5EF4-FFF2-40B4-BE49-F238E27FC236}">
                <a16:creationId xmlns:a16="http://schemas.microsoft.com/office/drawing/2014/main" id="{4B8141F1-9532-466A-AD26-235AB31770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altLang="ru-RU" sz="2400" dirty="0"/>
              <a:t>Сплошная линия с </a:t>
            </a:r>
            <a:r>
              <a:rPr lang="ru-RU" altLang="ru-RU" sz="2400" dirty="0" err="1"/>
              <a:t>полустрелкой</a:t>
            </a:r>
            <a:r>
              <a:rPr lang="ru-RU" altLang="ru-RU" sz="2400" dirty="0"/>
              <a:t> - обозначение асинхронного потока управления. Соответствующие сообщения формируются в произвольные, заранее не известные моменты времени, как правило, активными объектами. Обычно сообщения этого типа являются начальными в последовательности потока управления и чаще всего инициируются актерами.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altLang="ru-RU" sz="2400" dirty="0"/>
              <a:t>Пунктирная линия с V-образной стрелкой - возврат из вызова процедуры. Стрелки этого типа зачастую отсутствуют на диаграммах кооперации, поскольку неявно предполагается их существование после окончания процесса активизации некоторой деятельности.</a:t>
            </a:r>
          </a:p>
        </p:txBody>
      </p:sp>
      <p:sp>
        <p:nvSpPr>
          <p:cNvPr id="355332" name="AutoShape 4">
            <a:extLst>
              <a:ext uri="{FF2B5EF4-FFF2-40B4-BE49-F238E27FC236}">
                <a16:creationId xmlns:a16="http://schemas.microsoft.com/office/drawing/2014/main" id="{98BE61B4-9E95-4D4B-BF79-E80FB038F1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55333" name="AutoShape 5">
            <a:extLst>
              <a:ext uri="{FF2B5EF4-FFF2-40B4-BE49-F238E27FC236}">
                <a16:creationId xmlns:a16="http://schemas.microsoft.com/office/drawing/2014/main" id="{B2B7CD94-9EA6-4FDB-A594-F438190F68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355334" name="AutoShape 6">
            <a:extLst>
              <a:ext uri="{FF2B5EF4-FFF2-40B4-BE49-F238E27FC236}">
                <a16:creationId xmlns:a16="http://schemas.microsoft.com/office/drawing/2014/main" id="{A19D2C1A-6C84-4665-8E4E-72D34CC21A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RU"/>
          </a:p>
        </p:txBody>
      </p:sp>
      <p:pic>
        <p:nvPicPr>
          <p:cNvPr id="355336" name="Picture 8">
            <a:extLst>
              <a:ext uri="{FF2B5EF4-FFF2-40B4-BE49-F238E27FC236}">
                <a16:creationId xmlns:a16="http://schemas.microsoft.com/office/drawing/2014/main" id="{F7E5501E-C6EB-4690-9FDD-A553F9327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00" b="2156"/>
          <a:stretch>
            <a:fillRect/>
          </a:stretch>
        </p:blipFill>
        <p:spPr bwMode="auto">
          <a:xfrm>
            <a:off x="9710738" y="0"/>
            <a:ext cx="2014537" cy="1509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8C011F7-9A8B-461C-BAD2-771C44CDB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FA1469-32A7-4471-95C1-16A65944B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объектов в сообщениях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2DDC78E-B79F-43F2-BD85-0224C04187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7328" y="1745158"/>
            <a:ext cx="4429743" cy="4277322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3BD474-D69E-4291-846F-6553E1CA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680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307B5BD-0CB7-45AE-A094-D316D1D3F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Ветвление (альтернатива)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1DB04A3F-20B7-4EDE-A8FE-A899D3C12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107" y="1780155"/>
            <a:ext cx="7244186" cy="3980322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70B7E7-31E3-47D0-9F4C-03A86CD3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F364F8-CCEB-40F7-92A9-CA96AC1C4CA7}"/>
              </a:ext>
            </a:extLst>
          </p:cNvPr>
          <p:cNvSpPr txBox="1"/>
          <p:nvPr/>
        </p:nvSpPr>
        <p:spPr>
          <a:xfrm>
            <a:off x="2686050" y="6067425"/>
            <a:ext cx="5800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2"/>
                </a:solidFill>
                <a:latin typeface="Georgia" panose="02040502050405020303" pitchFamily="18" charset="0"/>
              </a:rPr>
              <a:t>Блок со вторым условием/</a:t>
            </a:r>
            <a:r>
              <a:rPr lang="en-US" dirty="0">
                <a:solidFill>
                  <a:schemeClr val="tx2"/>
                </a:solidFill>
                <a:latin typeface="Georgia" panose="02040502050405020303" pitchFamily="18" charset="0"/>
              </a:rPr>
              <a:t>else </a:t>
            </a:r>
            <a:r>
              <a:rPr lang="ru-RU" dirty="0">
                <a:solidFill>
                  <a:schemeClr val="tx2"/>
                </a:solidFill>
                <a:latin typeface="Georgia" panose="02040502050405020303" pitchFamily="18" charset="0"/>
              </a:rPr>
              <a:t>может отсутствовать</a:t>
            </a:r>
          </a:p>
        </p:txBody>
      </p:sp>
    </p:spTree>
    <p:extLst>
      <p:ext uri="{BB962C8B-B14F-4D97-AF65-F5344CB8AC3E}">
        <p14:creationId xmlns:p14="http://schemas.microsoft.com/office/powerpoint/2010/main" val="2745318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64BD83-4323-4E9C-95A7-3CD069C95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11</a:t>
            </a:fld>
            <a:endParaRPr lang="ru-RU"/>
          </a:p>
        </p:txBody>
      </p:sp>
      <p:pic>
        <p:nvPicPr>
          <p:cNvPr id="3074" name="Picture 2" descr="Пример для alt">
            <a:extLst>
              <a:ext uri="{FF2B5EF4-FFF2-40B4-BE49-F238E27FC236}">
                <a16:creationId xmlns:a16="http://schemas.microsoft.com/office/drawing/2014/main" id="{7CBD9388-50DA-4A5D-B92D-F87179AE91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3757" y="1506538"/>
            <a:ext cx="9376886" cy="4754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0411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7CCE73-BB4F-4FA1-AE72-3F69B4D35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Опционально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CECB41-C610-4983-8F58-8CF200CDE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6584"/>
            <a:ext cx="9601200" cy="1360442"/>
          </a:xfrm>
        </p:spPr>
        <p:txBody>
          <a:bodyPr/>
          <a:lstStyle/>
          <a:p>
            <a:r>
              <a:rPr lang="ru-RU" dirty="0" err="1"/>
              <a:t>Opt</a:t>
            </a:r>
            <a:r>
              <a:rPr lang="ru-RU" dirty="0"/>
              <a:t> — используется для того, чтобы выделить сообщение в опциональный кейс. Например, объект может отправить запрос, а второй объект, в зависимости от полученных данных, может выполнить дополнительное действие.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879742-460E-4CBB-ABA7-07320AD3F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12</a:t>
            </a:fld>
            <a:endParaRPr lang="ru-RU"/>
          </a:p>
        </p:txBody>
      </p:sp>
      <p:pic>
        <p:nvPicPr>
          <p:cNvPr id="4098" name="Picture 2" descr="Пример для opt">
            <a:extLst>
              <a:ext uri="{FF2B5EF4-FFF2-40B4-BE49-F238E27FC236}">
                <a16:creationId xmlns:a16="http://schemas.microsoft.com/office/drawing/2014/main" id="{9AECBE58-BE1D-4384-A16F-3D64B4E97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867026"/>
            <a:ext cx="8286750" cy="390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558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FB292-6DB5-4B24-838D-141FEFB62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Цикл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E62179A-1830-4C8B-8C12-7FA96A9BA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13</a:t>
            </a:fld>
            <a:endParaRPr lang="ru-RU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589492A-8250-4606-BD7E-D826161A4AF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301" y="1710779"/>
            <a:ext cx="5586412" cy="4283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6432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2B91B2-25F7-4866-8123-88190591C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Выполнение действия объектом на самом себе</a:t>
            </a:r>
            <a:br>
              <a:rPr lang="en-US" dirty="0"/>
            </a:br>
            <a:r>
              <a:rPr lang="en-US" dirty="0"/>
              <a:t>(</a:t>
            </a:r>
            <a:r>
              <a:rPr lang="ru-RU" dirty="0"/>
              <a:t>а также рекурсия)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7328561-AF65-4C43-8EEB-B2E234440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3238" y="1984140"/>
            <a:ext cx="4115374" cy="4277322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33461F-304B-4BFD-8017-B3CDFF529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14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5668659-DDE2-4045-B531-5CA46D724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255" y="2752544"/>
            <a:ext cx="3448531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404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BFF3AC-C5CD-4A11-A7DB-1A33D274E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BBF659-9AAC-4E1A-B396-19CFF5953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15</a:t>
            </a:fld>
            <a:endParaRPr lang="ru-RU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CAEFE22D-BE24-43F5-B9A6-0F19F7691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0219" y="27463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42F3D5D-46DD-43DD-8275-FBB0005D80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0219" y="188502"/>
            <a:ext cx="5771536" cy="63012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0070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12DE17A-F999-4EE9-AF7C-8934A0B2C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16</a:t>
            </a:fld>
            <a:endParaRPr lang="ru-RU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73780471-BF4F-4616-B9F4-CD75A91A4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BD99E2D3-7063-4EAE-B9C7-C5C6303C9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4168" y="481779"/>
            <a:ext cx="1783280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0E45AD83-C370-4146-89BB-CDC17A2173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9645307"/>
              </p:ext>
            </p:extLst>
          </p:nvPr>
        </p:nvGraphicFramePr>
        <p:xfrm>
          <a:off x="1415845" y="206477"/>
          <a:ext cx="8681884" cy="7534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Visio" r:id="rId3" imgW="7124665" imgH="6187124" progId="Visio.Drawing.15">
                  <p:embed/>
                </p:oleObj>
              </mc:Choice>
              <mc:Fallback>
                <p:oleObj name="Visio" r:id="rId3" imgW="7124665" imgH="6187124" progId="Visio.Drawing.15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5845" y="206477"/>
                        <a:ext cx="8681884" cy="75348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7839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9282F9-4D3C-BC75-AAA6-3F765CAB3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Plant UML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FC71DD-32F2-11BD-C730-C9C91CC71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PlantUML</a:t>
            </a:r>
            <a:r>
              <a:rPr lang="ru-RU" dirty="0"/>
              <a:t> - это универсальный инструмент, позволяющий быстро и просто создавать широкий спектр диаграмм.</a:t>
            </a:r>
          </a:p>
          <a:p>
            <a:endParaRPr lang="ru-RU" dirty="0"/>
          </a:p>
          <a:p>
            <a:r>
              <a:rPr lang="ru-RU" dirty="0"/>
              <a:t>Правильное оформление выполняется за вас.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2"/>
              </a:rPr>
              <a:t>https://plantuml.com/ru/</a:t>
            </a:r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1D505D-A966-076C-A1FB-EA145D9B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434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F5D5E2-475A-42B9-A00F-BA35144FB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Поддерживаемые </a:t>
            </a:r>
            <a:r>
              <a:rPr lang="en-US" dirty="0"/>
              <a:t>UML-</a:t>
            </a:r>
            <a:r>
              <a:rPr lang="ru-RU" dirty="0"/>
              <a:t>диаграммы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4BA76B-0FD3-491F-B551-E6D72F6A4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Диаграмма последовательности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Диаграмма случая использования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Диаграмма классов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Диаграмма объектов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Диаграмма деятельности</a:t>
            </a:r>
            <a:endParaRPr lang="en-US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/>
              <a:t>Диаграмма </a:t>
            </a:r>
            <a:r>
              <a:rPr lang="ru-RU" dirty="0"/>
              <a:t>компонентов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Диаграмма развертывания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Диаграмма состояний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Временная диаграмма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7B7C37-B960-414D-825F-6EDCDDE13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177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6153FD1-04A8-4E17-9112-2E9208BDD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9E06C47-F226-4226-B056-E6B0FA3C66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1330235"/>
            <a:ext cx="4447786" cy="521344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@startuml</a:t>
            </a:r>
          </a:p>
          <a:p>
            <a:r>
              <a:rPr lang="en-US" dirty="0"/>
              <a:t>participant </a:t>
            </a:r>
            <a:r>
              <a:rPr lang="en-US" dirty="0" err="1"/>
              <a:t>Participant</a:t>
            </a:r>
            <a:r>
              <a:rPr lang="en-US" dirty="0"/>
              <a:t> as Foo</a:t>
            </a:r>
          </a:p>
          <a:p>
            <a:r>
              <a:rPr lang="en-US" dirty="0"/>
              <a:t>actor       </a:t>
            </a:r>
            <a:r>
              <a:rPr lang="en-US" dirty="0" err="1"/>
              <a:t>Actor</a:t>
            </a:r>
            <a:r>
              <a:rPr lang="en-US" dirty="0"/>
              <a:t>       as Foo1</a:t>
            </a:r>
          </a:p>
          <a:p>
            <a:r>
              <a:rPr lang="en-US" dirty="0"/>
              <a:t>boundary    </a:t>
            </a:r>
            <a:r>
              <a:rPr lang="en-US" dirty="0" err="1"/>
              <a:t>Boundary</a:t>
            </a:r>
            <a:r>
              <a:rPr lang="en-US" dirty="0"/>
              <a:t>    as Foo2</a:t>
            </a:r>
          </a:p>
          <a:p>
            <a:r>
              <a:rPr lang="en-US" dirty="0"/>
              <a:t>control     </a:t>
            </a:r>
            <a:r>
              <a:rPr lang="en-US" dirty="0" err="1"/>
              <a:t>Control</a:t>
            </a:r>
            <a:r>
              <a:rPr lang="en-US" dirty="0"/>
              <a:t>     as Foo3</a:t>
            </a:r>
          </a:p>
          <a:p>
            <a:r>
              <a:rPr lang="en-US" dirty="0"/>
              <a:t>entity      </a:t>
            </a:r>
            <a:r>
              <a:rPr lang="en-US" dirty="0" err="1"/>
              <a:t>Entity</a:t>
            </a:r>
            <a:r>
              <a:rPr lang="en-US" dirty="0"/>
              <a:t>      as Foo4</a:t>
            </a:r>
          </a:p>
          <a:p>
            <a:r>
              <a:rPr lang="en-US" dirty="0"/>
              <a:t>database    </a:t>
            </a:r>
            <a:r>
              <a:rPr lang="en-US" dirty="0" err="1"/>
              <a:t>Database</a:t>
            </a:r>
            <a:r>
              <a:rPr lang="en-US" dirty="0"/>
              <a:t>    as Foo5</a:t>
            </a:r>
          </a:p>
          <a:p>
            <a:r>
              <a:rPr lang="en-US" dirty="0"/>
              <a:t>collections </a:t>
            </a:r>
            <a:r>
              <a:rPr lang="en-US" dirty="0" err="1"/>
              <a:t>Collections</a:t>
            </a:r>
            <a:r>
              <a:rPr lang="en-US" dirty="0"/>
              <a:t> as Foo6</a:t>
            </a:r>
          </a:p>
          <a:p>
            <a:r>
              <a:rPr lang="en-US" dirty="0"/>
              <a:t>queue       </a:t>
            </a:r>
            <a:r>
              <a:rPr lang="en-US" dirty="0" err="1"/>
              <a:t>Queue</a:t>
            </a:r>
            <a:r>
              <a:rPr lang="en-US" dirty="0"/>
              <a:t>       as Foo7</a:t>
            </a:r>
          </a:p>
          <a:p>
            <a:r>
              <a:rPr lang="en-US" dirty="0"/>
              <a:t>Foo -&gt; Foo1 : To actor </a:t>
            </a:r>
          </a:p>
          <a:p>
            <a:r>
              <a:rPr lang="en-US" dirty="0"/>
              <a:t>Foo -&gt; Foo2 : To boundary</a:t>
            </a:r>
          </a:p>
          <a:p>
            <a:r>
              <a:rPr lang="en-US" dirty="0"/>
              <a:t>Foo -&gt; Foo3 : To control</a:t>
            </a:r>
          </a:p>
          <a:p>
            <a:r>
              <a:rPr lang="en-US" dirty="0"/>
              <a:t>Foo -&gt; Foo4 : To entity</a:t>
            </a:r>
          </a:p>
          <a:p>
            <a:r>
              <a:rPr lang="en-US" dirty="0"/>
              <a:t>Foo -&gt; Foo5 : To database</a:t>
            </a:r>
          </a:p>
          <a:p>
            <a:r>
              <a:rPr lang="en-US" dirty="0"/>
              <a:t>Foo -&gt; Foo6 : To collections</a:t>
            </a:r>
          </a:p>
          <a:p>
            <a:r>
              <a:rPr lang="en-US" dirty="0"/>
              <a:t>Foo -&gt; Foo7 : To queue</a:t>
            </a:r>
          </a:p>
          <a:p>
            <a:r>
              <a:rPr lang="en-US" dirty="0"/>
              <a:t>@enduml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743C9840-55D0-4B04-9E9C-C9426ECD71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09786" y="1474285"/>
            <a:ext cx="6057900" cy="4272679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4FED25C-C272-4A59-9DDC-CAFB6F4A5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9138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9F85D5E-5067-4749-A175-1E017ABE5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Практическое задание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11611775-F23D-43D7-93A9-C131E952E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Создайте диаграммы последовательности для процессов: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/>
              <a:t>Взятие книги в библиотеке (библиотекарь фиксирует в системе кто и что взял)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/>
              <a:t>Возврат книг в библиотеку. Если срок сдачи вышел – сначала нужно оплатить штраф за просрочку (зависит от количества дней задержки)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7A6475-5E8D-4BAE-BD95-40001156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895151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81</TotalTime>
  <Words>677</Words>
  <Application>Microsoft Office PowerPoint</Application>
  <PresentationFormat>Широкоэкранный</PresentationFormat>
  <Paragraphs>95</Paragraphs>
  <Slides>20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Calibri</vt:lpstr>
      <vt:lpstr>Franklin Gothic Book</vt:lpstr>
      <vt:lpstr>Georgia</vt:lpstr>
      <vt:lpstr>Wingdings</vt:lpstr>
      <vt:lpstr>Уголки</vt:lpstr>
      <vt:lpstr>Visio</vt:lpstr>
      <vt:lpstr>Лекция 6    UML. Диаграммы последовательности</vt:lpstr>
      <vt:lpstr>Диаграмма последовательности</vt:lpstr>
      <vt:lpstr>Элементы диаграммы последовательности</vt:lpstr>
      <vt:lpstr>Диаграмма последовательности</vt:lpstr>
      <vt:lpstr>Участники и линии жизни</vt:lpstr>
      <vt:lpstr>Линии активности</vt:lpstr>
      <vt:lpstr>Стрелки - Сообщения</vt:lpstr>
      <vt:lpstr>Презентация PowerPoint</vt:lpstr>
      <vt:lpstr>Передача объектов в сообщениях</vt:lpstr>
      <vt:lpstr>Ветвление (альтернатива)</vt:lpstr>
      <vt:lpstr>Презентация PowerPoint</vt:lpstr>
      <vt:lpstr>Опционально</vt:lpstr>
      <vt:lpstr>Цикл</vt:lpstr>
      <vt:lpstr>Выполнение действия объектом на самом себе (а также рекурсия)</vt:lpstr>
      <vt:lpstr>Примеры</vt:lpstr>
      <vt:lpstr>Презентация PowerPoint</vt:lpstr>
      <vt:lpstr>Plant UML</vt:lpstr>
      <vt:lpstr>Поддерживаемые UML-диаграммы</vt:lpstr>
      <vt:lpstr>Пример</vt:lpstr>
      <vt:lpstr>Практическое 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…    Заголовок</dc:title>
  <dc:creator>Лилия Челищева</dc:creator>
  <cp:lastModifiedBy>Лилия Челищева</cp:lastModifiedBy>
  <cp:revision>11</cp:revision>
  <dcterms:created xsi:type="dcterms:W3CDTF">2023-09-01T22:02:12Z</dcterms:created>
  <dcterms:modified xsi:type="dcterms:W3CDTF">2025-10-05T09:20:41Z</dcterms:modified>
</cp:coreProperties>
</file>