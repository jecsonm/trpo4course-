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5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F18C-B0EF-4C3B-831E-15C3CF792C09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E470-2E3C-4AB4-A461-A838E60D5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91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none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</a:lstStyle>
          <a:p>
            <a:fld id="{15D38347-702E-498B-B08C-DEF354D6629E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sz="14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0620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0696-10F3-4B5A-B71C-22707C2001B8}" type="datetime1">
              <a:rPr lang="ru-RU" smtClean="0"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33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8F0F0C-D99A-410F-9911-63A47C4FE68F}" type="datetime1">
              <a:rPr lang="ru-RU" smtClean="0"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48515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593669"/>
            <a:ext cx="4447786" cy="427373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1593669"/>
            <a:ext cx="4447786" cy="427373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A0CF-EE6C-47A3-85BE-0F26FBE60222}" type="datetime1">
              <a:rPr lang="ru-RU" smtClean="0"/>
              <a:t>05.10.2025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8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79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52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348104"/>
            <a:ext cx="4443984" cy="382409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2348105"/>
            <a:ext cx="4443984" cy="38240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526E4-1211-434F-B87B-977DA01F1840}" type="datetime1">
              <a:rPr lang="ru-RU" smtClean="0"/>
              <a:t>05.10.2025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98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CEF9-D33A-4081-AB8F-855DF995F0BB}" type="datetime1">
              <a:rPr lang="ru-RU" smtClean="0"/>
              <a:t>05.10.2025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4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D69E-1695-4575-8EC2-2D08D3507A7E}" type="datetime1">
              <a:rPr lang="ru-RU" smtClean="0"/>
              <a:t>05.10.2025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6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10B2DC-3A84-42CE-BFEC-A52F2FA5ABE8}" type="datetime1">
              <a:rPr lang="ru-RU" smtClean="0"/>
              <a:t>05.10.2025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34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280E5-A025-45B5-92AB-31FBC1254ED0}" type="datetime1">
              <a:rPr lang="ru-RU" smtClean="0"/>
              <a:t>05.10.2025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93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37211"/>
            <a:ext cx="9601200" cy="42301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7454-E3F2-4967-91D0-7E58FC732875}" type="datetime1">
              <a:rPr lang="ru-RU" smtClean="0"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6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0532A-A3E8-4F11-B367-EDFC1ADEDC15}" type="datetime1">
              <a:rPr lang="ru-RU" smtClean="0"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506583"/>
            <a:ext cx="9601200" cy="475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6374670"/>
            <a:ext cx="114633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6CE7A49A-459E-499C-837E-09F78318E92A}" type="datetime1">
              <a:rPr lang="ru-RU" smtClean="0"/>
              <a:pPr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4514" y="6374670"/>
            <a:ext cx="6461075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2170" y="6374670"/>
            <a:ext cx="12806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436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600" kern="1200" baseline="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Tx/>
        <a:buNone/>
        <a:defRPr sz="20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1pPr>
      <a:lvl2pPr marL="5303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20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2pPr>
      <a:lvl3pPr marL="9875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3pPr>
      <a:lvl4pPr marL="14447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4pPr>
      <a:lvl5pPr marL="19019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6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" TargetMode="External"/><Relationship Id="rId2" Type="http://schemas.openxmlformats.org/officeDocument/2006/relationships/hyperlink" Target="https://pixso.ne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ramer.com/" TargetMode="External"/><Relationship Id="rId5" Type="http://schemas.openxmlformats.org/officeDocument/2006/relationships/hyperlink" Target="https://www.axure.com/" TargetMode="External"/><Relationship Id="rId4" Type="http://schemas.openxmlformats.org/officeDocument/2006/relationships/hyperlink" Target="https://www.adobe.com/products/xd.html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6258-0E67-7C7B-2850-681FD0BB7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 dirty="0"/>
              <a:t>Лекция </a:t>
            </a:r>
            <a:r>
              <a:rPr lang="en-US" sz="6000" dirty="0"/>
              <a:t>9</a:t>
            </a:r>
            <a:r>
              <a:rPr lang="ru-RU" sz="6000" dirty="0"/>
              <a:t>  </a:t>
            </a:r>
            <a:br>
              <a:rPr lang="ru-RU" sz="6000" dirty="0"/>
            </a:br>
            <a:r>
              <a:rPr lang="ru-RU" sz="6000" dirty="0"/>
              <a:t> Пользовательский интерфейс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DB230C-D752-D32B-FD0D-416920046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Технология разработки программного обеспечения</a:t>
            </a:r>
          </a:p>
          <a:p>
            <a:r>
              <a:rPr lang="ru-RU" dirty="0"/>
              <a:t>Преподаватель: Челищева Лилия Дмитриевна</a:t>
            </a:r>
          </a:p>
        </p:txBody>
      </p:sp>
    </p:spTree>
    <p:extLst>
      <p:ext uri="{BB962C8B-B14F-4D97-AF65-F5344CB8AC3E}">
        <p14:creationId xmlns:p14="http://schemas.microsoft.com/office/powerpoint/2010/main" val="158607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282F9-4D3C-BC75-AAA6-3F765CAB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Удобство использования программного обеспечения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C71DD-32F2-11BD-C730-C9C91CC7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Одним из важных показателей качества программного обеспечения является удобство его использования. </a:t>
            </a:r>
          </a:p>
          <a:p>
            <a:r>
              <a:rPr lang="ru-RU" dirty="0"/>
              <a:t>Основные характеристики: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понятность пользовательского интерфейса,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легкость обучения работе с ним,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трудоемкость решения определенных задач с его помощью,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производительность работы пользователя с ПО,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частота появления ошибок и жалоб на неудобства.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1D505D-A966-076C-A1FB-EA145D9B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43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C3A996-A571-4FEF-8969-210614FC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Психологические особенности удобства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F09381-119A-42F0-B0CF-A825C7EAB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Человек с разной скоростью выполняет разные виды взаимодействия с компьютером:</a:t>
            </a:r>
          </a:p>
          <a:p>
            <a:pPr marL="873252" lvl="1" indent="-342900">
              <a:buFont typeface="Wingdings" panose="05000000000000000000" pitchFamily="2" charset="2"/>
              <a:buChar char="v"/>
            </a:pPr>
            <a:r>
              <a:rPr lang="ru-RU" i="0" dirty="0"/>
              <a:t>Нажатие на клавишу клавиатуры: 0.2–1.25 с.</a:t>
            </a:r>
          </a:p>
          <a:p>
            <a:pPr marL="873252" lvl="1" indent="-342900">
              <a:buFont typeface="Wingdings" panose="05000000000000000000" pitchFamily="2" charset="2"/>
              <a:buChar char="v"/>
            </a:pPr>
            <a:r>
              <a:rPr lang="ru-RU" i="0" dirty="0"/>
              <a:t>Нажатие на кнопку мыши: 0.1 с.</a:t>
            </a:r>
          </a:p>
          <a:p>
            <a:pPr marL="873252" lvl="1" indent="-342900">
              <a:buFont typeface="Wingdings" panose="05000000000000000000" pitchFamily="2" charset="2"/>
              <a:buChar char="v"/>
            </a:pPr>
            <a:r>
              <a:rPr lang="ru-RU" i="0" dirty="0"/>
              <a:t>Перемещение курсора: 1.0-1.5 с.</a:t>
            </a:r>
          </a:p>
          <a:p>
            <a:pPr marL="873252" lvl="1" indent="-342900">
              <a:buFont typeface="Wingdings" panose="05000000000000000000" pitchFamily="2" charset="2"/>
              <a:buChar char="v"/>
            </a:pPr>
            <a:r>
              <a:rPr lang="ru-RU" i="0" dirty="0"/>
              <a:t>Распознавание визуального образа: 0.1 с.</a:t>
            </a:r>
          </a:p>
          <a:p>
            <a:pPr marL="873252" lvl="1" indent="-342900">
              <a:buFont typeface="Wingdings" panose="05000000000000000000" pitchFamily="2" charset="2"/>
              <a:buChar char="v"/>
            </a:pPr>
            <a:r>
              <a:rPr lang="ru-RU" i="0" dirty="0"/>
              <a:t>Перевод взгляда и переключение внимания с одного объекта на другой: 0.25 с.</a:t>
            </a:r>
          </a:p>
          <a:p>
            <a:pPr marL="873252" lvl="1" indent="-342900">
              <a:buFont typeface="Wingdings" panose="05000000000000000000" pitchFamily="2" charset="2"/>
              <a:buChar char="v"/>
            </a:pPr>
            <a:r>
              <a:rPr lang="ru-RU" i="0" dirty="0"/>
              <a:t>Выбор из двух альтернатив (принятие простейшего решения): 1.25 с.</a:t>
            </a:r>
          </a:p>
          <a:p>
            <a:pPr marL="873252" lvl="1" indent="-342900">
              <a:buFont typeface="Wingdings" panose="05000000000000000000" pitchFamily="2" charset="2"/>
              <a:buChar char="v"/>
            </a:pPr>
            <a:r>
              <a:rPr lang="ru-RU" i="0" dirty="0"/>
              <a:t>Переключение внимания с мыши на клавиатуру и обратно: 0.36 с.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CB8908-30D6-464E-A93B-B2F0ABF6C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52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DD1D4DA-9BF3-423D-B7A6-2DC9AAD18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Выводы из скорости действий: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Человек воспринимает и осознает информацию, а также производит действия достаточно медленно по сравнению с компьютером.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Глаз быстрее руки — человек гораздо быстрее узнает что-то, чем производит соответствующие действия.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937C7D-E66E-44CF-A865-F218EF182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1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F81163-61F2-4995-AD8D-0921EC003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Психологические особенности удобства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3E9113-8547-43D6-AD71-45405314F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Человеку очень тяжело долго сохранять сосредоточенность и не отвлекаться от какой-то деятельности.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Если нужно или не нужно привлекать внимание, помните о порядке реакции на раздражители: сначала движение, затем яркий цвет, затем все остальное.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Человеку свойственно ошибаться – ошибки следует ожидать и быть к ним терпимыми (вежливо и подробно сообщать о них в сообщениях об ошибках)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24736E-43EE-4A56-AF5A-79BABC53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281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2128A9-9257-4550-ACD1-2B389713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обеспечения понятности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E8A90-0011-41D5-821D-7A2CEDAFA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5137105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ru-RU" b="1" dirty="0"/>
              <a:t>Ментальная модель</a:t>
            </a:r>
            <a:r>
              <a:rPr lang="ru-RU" dirty="0"/>
              <a:t>. Пользователь понимает, как работать с системой, если ему объясняют набор сущностей, в терминах которых она функционирует, и правила работы с ними.</a:t>
            </a:r>
          </a:p>
          <a:p>
            <a:pPr marL="457200" indent="-457200">
              <a:buAutoNum type="arabicPeriod"/>
            </a:pPr>
            <a:r>
              <a:rPr lang="ru-RU" b="1" dirty="0"/>
              <a:t>Метафора</a:t>
            </a:r>
            <a:r>
              <a:rPr lang="ru-RU" dirty="0"/>
              <a:t>. Сейчас довольно часто объяснения того, как работает ПО, строятся вокруг той или иной метафоры, т.е. приводится какой-то механизм или предмет из реальной жизни (или литературы), знакомый большинству пользователей, и говорится, что данное ПО работает так же. Это помогает понять основные правила его работы очень быстро, даже если их достаточно много, в отличие от долгих объяснений модели.</a:t>
            </a:r>
          </a:p>
          <a:p>
            <a:pPr marL="457200" indent="-457200">
              <a:buAutoNum type="arabicPeriod"/>
            </a:pPr>
            <a:r>
              <a:rPr lang="ru-RU" b="1" dirty="0"/>
              <a:t>Наглядность</a:t>
            </a:r>
            <a:r>
              <a:rPr lang="ru-RU" dirty="0"/>
              <a:t>. Свойство наглядности означает, что само представление интерфейса подсказывает, как с ним надо работать, — оно использует широко распространенные стереотипы и наглядные (не обязательно видимые глазами!) связи между элементами управления и управляемыми объектами.</a:t>
            </a:r>
          </a:p>
          <a:p>
            <a:pPr marL="457200" indent="-457200">
              <a:buAutoNum type="arabicPeriod"/>
            </a:pPr>
            <a:r>
              <a:rPr lang="ru-RU" b="1" dirty="0"/>
              <a:t>Стандарт</a:t>
            </a:r>
            <a:r>
              <a:rPr lang="ru-RU" dirty="0"/>
              <a:t>. Человек хорошо воспринимает то, что привычно. Одним из способов «внедрения» нужных привычек является стандартизация и широкое использование стандартных интерфейсов.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C3AB83-4EE7-4225-9CAF-9CBBC508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085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8EA7CB-59DE-46FF-A8A0-A5DE58CB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Память человека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4A0C7C-DFD0-4DE2-AA7F-88D5B857D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В кратковременную память помещается не более 5-9 (7±2) объектов.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Долговременная же память хранит информацию в виде некоторой структуры с большим количеством связей между элементами; чтобы поместить туда нечто, нужно связать эту вещь с несколькими другими, лучше уже знакомыми.</a:t>
            </a:r>
          </a:p>
          <a:p>
            <a:endParaRPr lang="ru-RU" dirty="0"/>
          </a:p>
          <a:p>
            <a:r>
              <a:rPr lang="ru-RU" dirty="0"/>
              <a:t>Следовательно, на форме следует располагать от 5 до 9 элементов (не более), а для улучшения запоминания деталей можно использовать ассоциации.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224B50-4F2E-47D3-8639-9E3F8B99A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553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9AFEF-A953-457E-8EFC-5496168F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Разные категории пользователей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355972-5741-46EC-9B09-9869179CE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Необходимо обращать внимание на возрастные и другие особенности людей.</a:t>
            </a:r>
          </a:p>
          <a:p>
            <a:r>
              <a:rPr lang="ru-RU" dirty="0"/>
              <a:t>Примеры: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Использование в интерфейсе программы мелких шрифтов, маленьких кнопок и пиктограмм способно сделать ее недоступной для тех, кому более 40 лет.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Использование только цветов для различения каких-то элементов интерфейса сделает его неудобным для людей с нарушениями цветового восприятия (а это около 10% всех возможных пользователей).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854967-E849-480F-870E-82B31E342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82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9641F-0680-4BCA-8492-71C7139E2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принципы создания удобного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E99341-E407-4ED6-A2AA-444E553D0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Адекватность интерфейса</a:t>
            </a:r>
            <a:r>
              <a:rPr lang="ru-RU" dirty="0"/>
              <a:t>. Адекватность пользовательского интерфейса программы — это его соответствие тем задачам, которые пользователи должны и хотели бы решать с ее помощью.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Производительность работы пользователей</a:t>
            </a:r>
            <a:r>
              <a:rPr lang="ru-RU" dirty="0"/>
              <a:t>. Это количество однотипных реальных задач, которые пользователь может решить с помощью ПО за единицу времени.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Скорость обучения новых пользователей</a:t>
            </a:r>
            <a:r>
              <a:rPr lang="ru-RU" dirty="0"/>
              <a:t>. Это количество задач, выполнению которых новый пользователь самостоятельно обучается за единицу времени.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Эффективность предотвращения и преодоления ошибок пользователей</a:t>
            </a:r>
            <a:r>
              <a:rPr lang="ru-RU" dirty="0"/>
              <a:t>. Этот показатель тем лучше, чем реже пользователи ошибаются при работе с данным интерфейсом и чем меньше времени и усилий требуется для преодоления последствий уже сделанных ошибок.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3E65EB-3290-4C46-AB55-7172EA9E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655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8FBA571-E32D-4A36-A07E-51FB2636A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Субъективное удовлетворение пользователей. Повышается:</a:t>
            </a:r>
          </a:p>
          <a:p>
            <a:pPr marL="873252" lvl="1" indent="-342900">
              <a:buFont typeface="Wingdings" panose="05000000000000000000" pitchFamily="2" charset="2"/>
              <a:buChar char="v"/>
            </a:pPr>
            <a:r>
              <a:rPr lang="ru-RU" i="0" dirty="0"/>
              <a:t>Если интерфейс программы эстетичен и элегантен, т.е. построен на немногих и близких к гармоничному (1:1.618) соотношениях между размерами отдельных элементов и расстояниями между ними, на мягких, неброских цветах и не режущих глаз их сочетаниях, небольшом количестве контрастов, слегка сглаженных углах, на аккуратном выравнивании отдельных элементов.</a:t>
            </a:r>
          </a:p>
          <a:p>
            <a:pPr marL="873252" lvl="1" indent="-342900">
              <a:buFont typeface="Wingdings" panose="05000000000000000000" pitchFamily="2" charset="2"/>
              <a:buChar char="v"/>
            </a:pPr>
            <a:r>
              <a:rPr lang="ru-RU" i="0" dirty="0"/>
              <a:t>Если в работе системы не возникает долгих пауз, во время которых пользователи не знают, чем заняться. Даже если системе требуется много времени для выполнения каких-то действий, показываемые в это время картинки и предоставляемая дополнительная информация могут снизить субъективную длительность ожидания.</a:t>
            </a:r>
          </a:p>
          <a:p>
            <a:pPr marL="873252" lvl="1" indent="-342900">
              <a:buFont typeface="Wingdings" panose="05000000000000000000" pitchFamily="2" charset="2"/>
              <a:buChar char="v"/>
            </a:pPr>
            <a:r>
              <a:rPr lang="ru-RU" i="0" dirty="0"/>
              <a:t>Если у пользователей, даже достаточно неопытных, не возникает стресса при работе с системой.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3E277A-B2A8-4491-915B-F19E206C3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54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035C24-4230-45E7-9F8F-29F1058DE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возникновения стресса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4D1B2B-970C-45BB-8AAA-27C339866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От осознания ответственности за производимые действия и невозможности отменить их, если они вдруг окажутся неправильными.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От необходимости поддерживать высокий уровень внимания, запоминать какие-то вещи, чтобы использовать их позднее, или серьезно обдумывать выполнение каждого очередного действия.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От отсутствия контроля за поведением системы, когда она выполняет непонятные действия или сообщает о событиях, которые сам пользователь не инициировал (или не может связать их со своими предыдущими действиями).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От частых, категоричных и неинформативных сообщениях об ошибках.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94A37B-4ED7-4290-B280-F604C0C1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341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684A7-0080-4DB9-8856-320C3FDF6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 удобства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901B6B-B007-4F2E-8DE8-16DFA67DC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515139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Правило доступности</a:t>
            </a:r>
            <a:r>
              <a:rPr lang="ru-RU" dirty="0"/>
              <a:t>. Система должна быть настолько понятной, чтобы пользователь, никогда раньше не видевший ее, но хорошо разбирающийся в предметной области, мог без всякого обучения начать ее использовать.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Правило эффективности</a:t>
            </a:r>
            <a:r>
              <a:rPr lang="ru-RU" dirty="0"/>
              <a:t>. Система не должна препятствовать эффективной работе опытных пользователей, работающих с ней долгое время.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Правило непрерывного развития</a:t>
            </a:r>
            <a:r>
              <a:rPr lang="ru-RU" dirty="0"/>
              <a:t>. Система должна способствовать непрерывному росту знаний, умений и навыков пользователя и приспосабливаться к его меняющемуся опыту.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2C239D-AC46-4C9B-A7C0-67DC5FBF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549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0321C7E-3D02-4CBE-8DC8-93200F34D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Правило поддержки</a:t>
            </a:r>
            <a:r>
              <a:rPr lang="ru-RU" dirty="0"/>
              <a:t>. Система должна способствовать более простому и быстрому решению задач пользователя. Это означает, прежде всего, что система должна действительно решать задачи пользователя. Кроме того, она должна решать их лучше, проще и быстрее, чем имевшиеся до ее появления инструменты и методы.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Правило соблюдения контекста</a:t>
            </a:r>
            <a:r>
              <a:rPr lang="ru-RU" dirty="0"/>
              <a:t>. Система должна быть согласована с контекстом, в котором ей предстоит работать. Это правило требует от системы быть работоспособной не «вообще», а именно в том окружении, в котором ею будут пользоваться. В контекст могут входить специфика и объемы входных и выходных данных, тип и цели организаций, в которых система должна работать, уровень пользователей, зашумленность помещений и пр.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840A3D-6831-4580-B34A-D41D121D8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171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B455E2-0DA8-47FE-9748-5089DCBD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 удобства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4B1F0B-63D5-4F7D-B6B0-5EA2241E2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Принцип структуризации</a:t>
            </a:r>
            <a:r>
              <a:rPr lang="ru-RU" dirty="0"/>
              <a:t>. Пользовательский интерфейс должен быть целесообразно структурирован. Близкие по смыслу, родственные его части должны быть связаны видимым образом, а независимые — разделены; похожие элементы должны выглядеть похоже, а непохожие — различаться.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Принцип простоты</a:t>
            </a:r>
            <a:r>
              <a:rPr lang="ru-RU" dirty="0"/>
              <a:t>. Наиболее распространенные операции должны выполняться максимально просто. При этом должны быть видимые ссылки на более сложные процедуры.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Принцип видимости</a:t>
            </a:r>
            <a:r>
              <a:rPr lang="ru-RU" dirty="0"/>
              <a:t>. Все функции и данные, необходимые для решения определенной задачи, должны быть видны, когда пользователь пытается ее решить.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Принцип обратной связи</a:t>
            </a:r>
            <a:r>
              <a:rPr lang="ru-RU" dirty="0"/>
              <a:t>. Пользователь должен получать сообщения о действиях системы и о важных событиях внутри нее. Сообщения должны быть информативными, краткими, однозначными и написанными на языке, понятном пользователю.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07D561-41D9-4C3F-AEED-8EB2A718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400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AF6433A-58D7-44CC-9F34-CCA9B055E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Принцип толерантности</a:t>
            </a:r>
            <a:r>
              <a:rPr lang="ru-RU" dirty="0"/>
              <a:t>. Интерфейс должен быть гибким и терпимым к ошибкам пользователя. Ущерб от ошибок должен снижаться за счет возможности отмены и повтора действий и за счет разумной интерпретации любых разумных действий пользователя и введенных им данных. По возможности, следует избегать обязывающего взаимодействия (модальных диалогов), основанного на ограничении свободы пользователя.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Принцип повторного использования</a:t>
            </a:r>
            <a:r>
              <a:rPr lang="ru-RU" dirty="0"/>
              <a:t>. Следует стараться использовать многократно внутренние и внешние компоненты, обеспечивая тем самым унифицированность интерфейса и сходство между похожими его элементами.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81CC36-3C5B-4AC3-9D39-9E482607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542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6D681B-4593-457C-A2E3-24760A0FC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Методы разработки удобного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E90FCA-81C2-4E9C-B053-516D5161B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1. Метод ролей.</a:t>
            </a:r>
          </a:p>
          <a:p>
            <a:r>
              <a:rPr lang="ru-RU" dirty="0"/>
              <a:t>Эта модель представляет собой список ролей пользователей системы. Каждая роль — это группа связанных задач и потребностей некоторого множества пользователей. Модель ролей может определять связи между ролями (роли могут уточнять друг друга, включать друг друга или просто быть похожими) и набор из одной-трех центральных ролей, на которые, в основном, и будет нацелено проектирование.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5F429B-8418-40BD-935B-0D41B593F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044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65BF666-5A90-4BCC-8BAB-12ACF44C3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2. Модель содержимого.</a:t>
            </a:r>
          </a:p>
          <a:p>
            <a:r>
              <a:rPr lang="ru-RU" dirty="0"/>
              <a:t>Модель содержимого пользовательского интерфейса описывает набор взаимосвязанных контекстов взаимодействия или рабочих пространств (представляемых экранами, формами, окнами, диалогами, страницами и пр.) с содержащимися в них данными и возможными в их рамках действиями.</a:t>
            </a:r>
          </a:p>
          <a:p>
            <a:r>
              <a:rPr lang="ru-RU" dirty="0"/>
              <a:t>При построении этой модели нужно определить, что войдет в состав интерфейса (какие данные и функции), и не решать вопрос о том, как именно оно будет выглядеть.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2F3F97-BB3C-49D2-B001-11C5E4AC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990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872EAB-3075-4F41-A826-AAD4F2065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Карта навигации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5631C2-A726-4553-BC56-63621D4E2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Карта навигации, визуальная карта ПО </a:t>
            </a:r>
            <a:r>
              <a:rPr lang="ru-RU" dirty="0"/>
              <a:t>— это графическое представление структуры и информационного дизайна приложения, показывающее иерархию страниц и взаимосвязи между ними. Она помогает планировать, разрабатывать и улучшать ПО, предоставляя наглядное понимание того, как пользователь будет перемещаться по нему, и помогает команде в совместной работе. </a:t>
            </a:r>
          </a:p>
          <a:p>
            <a:r>
              <a:rPr lang="ru-RU" dirty="0"/>
              <a:t>Представляет собой дерево (т.е. у каждого элемента может быть только один, основной, предок, даже если благодаря общему меню из любой страницы можно попасть на любую страницу).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03D0ED-81FF-46E3-90B4-E0146C73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165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5D7376-8F8D-4BF6-8573-5B012953A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Карта навигации: пример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8A1D37-4FED-44D2-B87D-C2CC263A6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19</a:t>
            </a:fld>
            <a:endParaRPr lang="ru-RU"/>
          </a:p>
        </p:txBody>
      </p:sp>
      <p:pic>
        <p:nvPicPr>
          <p:cNvPr id="6" name="Объект 5" descr="Изображение выглядит как текст, снимок экрана, диаграмм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1F4B9B40-4D41-4243-8F13-D2221E4A7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850" y="2040731"/>
            <a:ext cx="788670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582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3D51A9-7A43-44F3-AC27-2CACE84D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Цветовая палитра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09D2E1-18E1-4861-B650-208B35BF1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 помощью цвета можно задать тон и сформировать имидж бренда, привлечь внимание аудитории, повлиять на её эмоции и повысить удобство использования продукта.</a:t>
            </a:r>
          </a:p>
          <a:p>
            <a:r>
              <a:rPr lang="ru-RU" b="1" dirty="0"/>
              <a:t>Цветовая схема </a:t>
            </a:r>
            <a:r>
              <a:rPr lang="ru-RU" dirty="0"/>
              <a:t>— это набор сочетаний цветов, который используется для сайта или продукта и помогает создать гармоничный дизайн, передать атмосферу продукта и улучшить восприятие информации. Работа по определённой цветовой схеме упрощает процесс разработки и экономит время.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293A3B-41D8-41D3-9110-B7D01934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551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738F84-73C4-4F8D-A144-0A15B529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Психология цвета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C5F525-EF87-4D85-B82A-8A0B0466C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Красный — сила и страсть, вызывает сильные эмоции, может ассоциироваться с революцией и властью.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Синий — уверенность, доверие, надёжность, стабильность. Часто используется в сфере материнства и детства, а также финансов и страхования.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Зелёный — экологичность, доверие, спокойствие, также используется финансовыми организациями и банками.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Жёлтый — позитив, оптимизм, солнечный свет.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Оранжевый — дружелюбие, уверенность, радость, развлечения, позитив. Также часто используют онлайн-магазины.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Фиолетовый — креативность, фантазия, романтика. В тёмном варианте ассоциируется с превосходством.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Белый — нейтральный, спокойный, символ чистоты.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Чёрный — строгий, официальный, может ассоциироваться как со скорбью и трауром, так и с </a:t>
            </a:r>
            <a:r>
              <a:rPr lang="ru-RU" dirty="0" err="1"/>
              <a:t>премиальностью</a:t>
            </a:r>
            <a:r>
              <a:rPr lang="ru-RU" dirty="0"/>
              <a:t>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34BB35-AE09-4D13-BDAB-216288E6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653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472E9-972A-47DD-AD79-010B4FF99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цветовых сочетаний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0C1F71-CB5F-4C78-88E9-A386DBF5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22</a:t>
            </a:fld>
            <a:endParaRPr lang="ru-RU"/>
          </a:p>
        </p:txBody>
      </p:sp>
      <p:pic>
        <p:nvPicPr>
          <p:cNvPr id="1026" name="Picture 2" descr="Сочетание цветов в интерьере | Фридлендеръ">
            <a:extLst>
              <a:ext uri="{FF2B5EF4-FFF2-40B4-BE49-F238E27FC236}">
                <a16:creationId xmlns:a16="http://schemas.microsoft.com/office/drawing/2014/main" id="{616518ED-0EDD-4307-971A-5A4AB4D73A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73" y="1759352"/>
            <a:ext cx="10919776" cy="447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338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25606-ABAC-41A6-AD27-AAD935312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Приложения для проектирования пользовательского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1DB252-5E36-4C05-8449-379F3A3A4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78329"/>
            <a:ext cx="9601200" cy="4583133"/>
          </a:xfrm>
        </p:spPr>
        <p:txBody>
          <a:bodyPr/>
          <a:lstStyle/>
          <a:p>
            <a:r>
              <a:rPr lang="en-US" dirty="0" err="1"/>
              <a:t>Pixso</a:t>
            </a:r>
            <a:r>
              <a:rPr lang="ru-RU" dirty="0"/>
              <a:t> – </a:t>
            </a:r>
            <a:r>
              <a:rPr lang="en-US" dirty="0">
                <a:hlinkClick r:id="rId2"/>
              </a:rPr>
              <a:t>https://pixso.net</a:t>
            </a:r>
            <a:endParaRPr lang="ru-RU" dirty="0"/>
          </a:p>
          <a:p>
            <a:r>
              <a:rPr lang="en-US" dirty="0"/>
              <a:t>Figma</a:t>
            </a:r>
            <a:r>
              <a:rPr lang="ru-RU" dirty="0"/>
              <a:t> – </a:t>
            </a:r>
            <a:r>
              <a:rPr lang="en-US" dirty="0">
                <a:hlinkClick r:id="rId3"/>
              </a:rPr>
              <a:t>https://www.figma.com/</a:t>
            </a:r>
            <a:endParaRPr lang="ru-RU" dirty="0"/>
          </a:p>
          <a:p>
            <a:r>
              <a:rPr lang="en-US" dirty="0"/>
              <a:t>Adobe XD</a:t>
            </a:r>
            <a:r>
              <a:rPr lang="ru-RU" dirty="0"/>
              <a:t> – </a:t>
            </a:r>
            <a:r>
              <a:rPr lang="en-US" dirty="0">
                <a:hlinkClick r:id="rId4"/>
              </a:rPr>
              <a:t>https://www.adobe.com/products/xd.html</a:t>
            </a:r>
            <a:endParaRPr lang="ru-RU" dirty="0"/>
          </a:p>
          <a:p>
            <a:r>
              <a:rPr lang="en-US" dirty="0"/>
              <a:t>Axure RP</a:t>
            </a:r>
            <a:r>
              <a:rPr lang="ru-RU" dirty="0"/>
              <a:t> – </a:t>
            </a:r>
            <a:r>
              <a:rPr lang="en-US" dirty="0">
                <a:hlinkClick r:id="rId5"/>
              </a:rPr>
              <a:t>https://www.axure.com</a:t>
            </a:r>
            <a:endParaRPr lang="ru-RU" dirty="0"/>
          </a:p>
          <a:p>
            <a:r>
              <a:rPr lang="en-US" dirty="0"/>
              <a:t>Framer</a:t>
            </a:r>
            <a:r>
              <a:rPr lang="ru-RU" dirty="0"/>
              <a:t> – </a:t>
            </a:r>
            <a:r>
              <a:rPr lang="en-US" dirty="0">
                <a:hlinkClick r:id="rId6"/>
              </a:rPr>
              <a:t>https://www.framer.com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E18EB0-3C13-4785-8828-569001935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775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AACAA-D1C5-4D9B-BC54-7B3ACFF7F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A22CC1-83DE-4152-8A23-2C4B6CC2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 вас заказали разработку сайта для зоомагазина.</a:t>
            </a:r>
          </a:p>
          <a:p>
            <a:r>
              <a:rPr lang="ru-RU" dirty="0"/>
              <a:t>Вам нужно создать: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Карта навигации сайта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Макет окна корзины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Макет окна описания одного товара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FDDC8F-C66E-4517-A929-8462669E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717444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1146</TotalTime>
  <Words>1809</Words>
  <Application>Microsoft Office PowerPoint</Application>
  <PresentationFormat>Широкоэкранный</PresentationFormat>
  <Paragraphs>127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Calibri</vt:lpstr>
      <vt:lpstr>Franklin Gothic Book</vt:lpstr>
      <vt:lpstr>Georgia</vt:lpstr>
      <vt:lpstr>Wingdings</vt:lpstr>
      <vt:lpstr>Уголки</vt:lpstr>
      <vt:lpstr>Лекция 9    Пользовательский интерфейс</vt:lpstr>
      <vt:lpstr>Удобство использования программного обеспечения</vt:lpstr>
      <vt:lpstr>Психологические особенности удобства</vt:lpstr>
      <vt:lpstr>Презентация PowerPoint</vt:lpstr>
      <vt:lpstr>Психологические особенности удобства</vt:lpstr>
      <vt:lpstr>Способы обеспечения понятности</vt:lpstr>
      <vt:lpstr>Память человека</vt:lpstr>
      <vt:lpstr>Разные категории пользователей</vt:lpstr>
      <vt:lpstr>Общие принципы создания удобного ПО</vt:lpstr>
      <vt:lpstr>Презентация PowerPoint</vt:lpstr>
      <vt:lpstr>Причины возникновения стресса</vt:lpstr>
      <vt:lpstr>Правила удобства</vt:lpstr>
      <vt:lpstr>Презентация PowerPoint</vt:lpstr>
      <vt:lpstr>Принципы удобства</vt:lpstr>
      <vt:lpstr>Презентация PowerPoint</vt:lpstr>
      <vt:lpstr>Методы разработки удобного ПО</vt:lpstr>
      <vt:lpstr>Презентация PowerPoint</vt:lpstr>
      <vt:lpstr>Карта навигации</vt:lpstr>
      <vt:lpstr>Карта навигации: пример</vt:lpstr>
      <vt:lpstr>Цветовая палитра</vt:lpstr>
      <vt:lpstr>Психология цвета</vt:lpstr>
      <vt:lpstr>Виды цветовых сочетаний</vt:lpstr>
      <vt:lpstr>Приложения для проектирования пользовательского интерфейса</vt:lpstr>
      <vt:lpstr>Практическое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…    Заголовок</dc:title>
  <dc:creator>Лилия Челищева</dc:creator>
  <cp:lastModifiedBy>Лилия Челищева</cp:lastModifiedBy>
  <cp:revision>11</cp:revision>
  <dcterms:created xsi:type="dcterms:W3CDTF">2023-09-01T22:02:12Z</dcterms:created>
  <dcterms:modified xsi:type="dcterms:W3CDTF">2025-10-06T04:20:30Z</dcterms:modified>
</cp:coreProperties>
</file>