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095" r:id="rId1"/>
  </p:sldMasterIdLst>
  <p:notesMasterIdLst>
    <p:notesMasterId r:id="rId35"/>
  </p:notesMasterIdLst>
  <p:sldIdLst>
    <p:sldId id="256" r:id="rId2"/>
    <p:sldId id="258" r:id="rId3"/>
    <p:sldId id="259" r:id="rId4"/>
    <p:sldId id="257" r:id="rId5"/>
    <p:sldId id="260" r:id="rId6"/>
    <p:sldId id="265" r:id="rId7"/>
    <p:sldId id="266" r:id="rId8"/>
    <p:sldId id="267" r:id="rId9"/>
    <p:sldId id="279" r:id="rId10"/>
    <p:sldId id="268" r:id="rId11"/>
    <p:sldId id="269" r:id="rId12"/>
    <p:sldId id="270" r:id="rId13"/>
    <p:sldId id="271" r:id="rId14"/>
    <p:sldId id="272" r:id="rId15"/>
    <p:sldId id="273" r:id="rId16"/>
    <p:sldId id="280" r:id="rId17"/>
    <p:sldId id="320" r:id="rId18"/>
    <p:sldId id="317" r:id="rId19"/>
    <p:sldId id="321" r:id="rId20"/>
    <p:sldId id="315" r:id="rId21"/>
    <p:sldId id="323" r:id="rId22"/>
    <p:sldId id="324" r:id="rId23"/>
    <p:sldId id="325" r:id="rId24"/>
    <p:sldId id="326" r:id="rId25"/>
    <p:sldId id="322" r:id="rId26"/>
    <p:sldId id="327" r:id="rId27"/>
    <p:sldId id="328" r:id="rId28"/>
    <p:sldId id="281" r:id="rId29"/>
    <p:sldId id="302" r:id="rId30"/>
    <p:sldId id="307" r:id="rId31"/>
    <p:sldId id="304" r:id="rId32"/>
    <p:sldId id="305" r:id="rId33"/>
    <p:sldId id="306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Стиль из темы 1 - акцент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B9F18C-B0EF-4C3B-831E-15C3CF792C09}" type="datetimeFigureOut">
              <a:rPr lang="ru-RU" smtClean="0"/>
              <a:t>05.10.2025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D3E470-2E3C-4AB4-A461-A838E60D5F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5914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D3E470-2E3C-4AB4-A461-A838E60D5F10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08000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none" baseline="0">
                <a:solidFill>
                  <a:schemeClr val="tx2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sz="1400" baseline="0">
                <a:solidFill>
                  <a:schemeClr val="tx2"/>
                </a:solidFill>
              </a:defRPr>
            </a:lvl1pPr>
          </a:lstStyle>
          <a:p>
            <a:fld id="{8A6CC4B2-FE64-453D-B6F7-7ADDF632C160}" type="datetime1">
              <a:rPr lang="ru-RU" smtClean="0"/>
              <a:t>05.10.2025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sz="1400" baseline="0">
                <a:solidFill>
                  <a:schemeClr val="tx2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sz="2800" baseline="0">
                <a:solidFill>
                  <a:schemeClr val="tx2"/>
                </a:solidFill>
              </a:defRPr>
            </a:lvl1pPr>
          </a:lstStyle>
          <a:p>
            <a:fld id="{25A42088-C730-408A-A823-60BED1AFCEA0}" type="slidenum">
              <a:rPr lang="ru-RU" smtClean="0"/>
              <a:pPr/>
              <a:t>‹#›</a:t>
            </a:fld>
            <a:endParaRPr lang="ru-RU" dirty="0"/>
          </a:p>
        </p:txBody>
      </p:sp>
      <p:grpSp>
        <p:nvGrpSpPr>
          <p:cNvPr id="9" name="Group 8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606201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140B7-47F1-465E-BAB0-97403BE89A48}" type="datetime1">
              <a:rPr lang="ru-RU" smtClean="0"/>
              <a:t>05.10.2025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3332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EF1E9D0-6A1C-4113-8594-5EFAC99A333E}" type="datetime1">
              <a:rPr lang="ru-RU" smtClean="0"/>
              <a:t>05.10.2025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8485155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1593669"/>
            <a:ext cx="4447786" cy="427373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1593669"/>
            <a:ext cx="4447786" cy="427373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5348F-90FC-4459-BC14-E5E82470D557}" type="datetime1">
              <a:rPr lang="ru-RU" smtClean="0"/>
              <a:t>05.10.2025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75879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63790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3524" y="1516952"/>
            <a:ext cx="4443984" cy="637903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2348104"/>
            <a:ext cx="4443984" cy="3824095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1516952"/>
            <a:ext cx="4443984" cy="637903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2348105"/>
            <a:ext cx="4443984" cy="382409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3515A-1E44-4464-82EE-CB3D092613EA}" type="datetime1">
              <a:rPr lang="ru-RU" smtClean="0"/>
              <a:t>05.10.2025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9819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A7669-28A5-4C58-80A9-A1888AC5590C}" type="datetime1">
              <a:rPr lang="ru-RU" smtClean="0"/>
              <a:t>05.10.2025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145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F95E7-0EE5-4B74-A218-D257879D06F2}" type="datetime1">
              <a:rPr lang="ru-RU" smtClean="0"/>
              <a:t>05.10.2025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6761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1371CF0-25DD-47E4-AB66-446BC4B0177D}" type="datetime1">
              <a:rPr lang="ru-RU" smtClean="0"/>
              <a:t>05.10.2025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633441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DE6A822-00D6-4A9B-9198-BAA655936141}" type="datetime1">
              <a:rPr lang="ru-RU" smtClean="0"/>
              <a:t>05.10.2025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45939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1637211"/>
            <a:ext cx="9601200" cy="423018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4A2D-6E86-4B8C-B5C4-FC8BA0C1BB3B}" type="datetime1">
              <a:rPr lang="ru-RU" smtClean="0"/>
              <a:t>05.10.2025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763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2E769-C9A6-4866-800B-DB5C0B3B3AE8}" type="datetime1">
              <a:rPr lang="ru-RU" smtClean="0"/>
              <a:t>05.10.2025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38158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Заголовок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E874C1-93E9-6FCD-55B7-B8CDBD5EC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57201"/>
            <a:ext cx="11582400" cy="102711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аблица 2">
            <a:extLst>
              <a:ext uri="{FF2B5EF4-FFF2-40B4-BE49-F238E27FC236}">
                <a16:creationId xmlns:a16="http://schemas.microsoft.com/office/drawing/2014/main" id="{7EED1651-CA65-9F58-518F-E7DBC3AC66A7}"/>
              </a:ext>
            </a:extLst>
          </p:cNvPr>
          <p:cNvSpPr>
            <a:spLocks noGrp="1"/>
          </p:cNvSpPr>
          <p:nvPr>
            <p:ph type="tbl" idx="1"/>
          </p:nvPr>
        </p:nvSpPr>
        <p:spPr>
          <a:xfrm>
            <a:off x="239185" y="1628776"/>
            <a:ext cx="11713633" cy="5040313"/>
          </a:xfrm>
        </p:spPr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E96970E-F83D-6746-5968-CDB8847337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67584" y="6524625"/>
            <a:ext cx="624416" cy="217488"/>
          </a:xfrm>
        </p:spPr>
        <p:txBody>
          <a:bodyPr/>
          <a:lstStyle>
            <a:lvl1pPr>
              <a:defRPr/>
            </a:lvl1pPr>
          </a:lstStyle>
          <a:p>
            <a:fld id="{1902752A-B111-44B3-966C-F7543765A22A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015409361"/>
      </p:ext>
    </p:extLst>
  </p:cSld>
  <p:clrMapOvr>
    <a:masterClrMapping/>
  </p:clrMapOvr>
  <p:transition>
    <p:randomBa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596538"/>
            <a:ext cx="9601200" cy="7336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1506583"/>
            <a:ext cx="9601200" cy="47548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71600" y="6374670"/>
            <a:ext cx="1146333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aseline="0">
                <a:solidFill>
                  <a:schemeClr val="tx2"/>
                </a:solidFill>
                <a:latin typeface="Georgia" panose="02040502050405020303" pitchFamily="18" charset="0"/>
              </a:defRPr>
            </a:lvl1pPr>
          </a:lstStyle>
          <a:p>
            <a:fld id="{96A6CEA4-1A86-40AD-8E90-28A7DB731A85}" type="datetime1">
              <a:rPr lang="ru-RU" smtClean="0"/>
              <a:t>05.10.2025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74514" y="6374670"/>
            <a:ext cx="6461075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aseline="0">
                <a:solidFill>
                  <a:schemeClr val="tx2"/>
                </a:solidFill>
                <a:latin typeface="Georgia" panose="02040502050405020303" pitchFamily="18" charset="0"/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92170" y="6374670"/>
            <a:ext cx="12806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 baseline="0">
                <a:solidFill>
                  <a:schemeClr val="tx2"/>
                </a:solidFill>
                <a:latin typeface="Georgia" panose="02040502050405020303" pitchFamily="18" charset="0"/>
              </a:defRPr>
            </a:lvl1pPr>
          </a:lstStyle>
          <a:p>
            <a:fld id="{25A42088-C730-408A-A823-60BED1AFCEA0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44367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6" r:id="rId1"/>
    <p:sldLayoutId id="2147484097" r:id="rId2"/>
    <p:sldLayoutId id="2147484098" r:id="rId3"/>
    <p:sldLayoutId id="2147484099" r:id="rId4"/>
    <p:sldLayoutId id="2147484100" r:id="rId5"/>
    <p:sldLayoutId id="2147484101" r:id="rId6"/>
    <p:sldLayoutId id="2147484102" r:id="rId7"/>
    <p:sldLayoutId id="2147484103" r:id="rId8"/>
    <p:sldLayoutId id="2147484104" r:id="rId9"/>
    <p:sldLayoutId id="2147484105" r:id="rId10"/>
    <p:sldLayoutId id="2147484106" r:id="rId11"/>
    <p:sldLayoutId id="2147484107" r:id="rId12"/>
  </p:sldLayoutIdLst>
  <p:hf hdr="0" ftr="0" dt="0"/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3600" kern="1200" baseline="0">
          <a:solidFill>
            <a:schemeClr val="tx2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Tx/>
        <a:buNone/>
        <a:defRPr sz="2000" kern="1200" baseline="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1pPr>
      <a:lvl2pPr marL="530352" indent="0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Tx/>
        <a:buNone/>
        <a:defRPr sz="2000" i="1" kern="1200" baseline="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2pPr>
      <a:lvl3pPr marL="987552" indent="0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Tx/>
        <a:buNone/>
        <a:defRPr sz="1800" kern="1200" baseline="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3pPr>
      <a:lvl4pPr marL="1444752" indent="0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Tx/>
        <a:buNone/>
        <a:defRPr sz="1800" i="1" kern="1200" baseline="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4pPr>
      <a:lvl5pPr marL="1901952" indent="0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Tx/>
        <a:buNone/>
        <a:defRPr sz="1600" kern="1200" baseline="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F56258-0E67-7C7B-2850-681FD0BB75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6000"/>
              <a:t>Лекция 12 </a:t>
            </a:r>
            <a:br>
              <a:rPr lang="ru-RU" sz="6000" dirty="0"/>
            </a:br>
            <a:r>
              <a:rPr lang="ru-RU" sz="5400" dirty="0"/>
              <a:t> Качество ПО. Паттерны</a:t>
            </a:r>
            <a:endParaRPr lang="ru-RU" sz="60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9DB230C-D752-D32B-FD0D-4169200468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lang="ru-RU" dirty="0"/>
              <a:t>Технология разработки программного обеспечения</a:t>
            </a:r>
          </a:p>
          <a:p>
            <a:r>
              <a:rPr lang="ru-RU" dirty="0"/>
              <a:t>Преподаватель: Челищева Лилия Дмитриевна</a:t>
            </a:r>
          </a:p>
        </p:txBody>
      </p:sp>
    </p:spTree>
    <p:extLst>
      <p:ext uri="{BB962C8B-B14F-4D97-AF65-F5344CB8AC3E}">
        <p14:creationId xmlns:p14="http://schemas.microsoft.com/office/powerpoint/2010/main" val="1586075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71600" y="596538"/>
            <a:ext cx="9601200" cy="733697"/>
          </a:xfrm>
        </p:spPr>
        <p:txBody>
          <a:bodyPr/>
          <a:lstStyle/>
          <a:p>
            <a:r>
              <a:rPr lang="ru-RU" dirty="0"/>
              <a:t>Модульность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71600" y="1506583"/>
            <a:ext cx="9601200" cy="4754879"/>
          </a:xfrm>
        </p:spPr>
        <p:txBody>
          <a:bodyPr/>
          <a:lstStyle/>
          <a:p>
            <a:r>
              <a:rPr lang="ru-RU" b="1" dirty="0"/>
              <a:t>Модульность</a:t>
            </a:r>
            <a:r>
              <a:rPr lang="ru-RU" dirty="0"/>
              <a:t> — это наиболее общая демонстрация разделения понятий. Программная система делится на именуемые и адресуемые компоненты, часто называемые модулями, которые затем интегрируются для совместного решения проблемы.</a:t>
            </a:r>
          </a:p>
          <a:p>
            <a:r>
              <a:rPr lang="ru-RU" b="1" dirty="0"/>
              <a:t>Модуль</a:t>
            </a:r>
            <a:r>
              <a:rPr lang="ru-RU" dirty="0"/>
              <a:t> — фрагмент программного текста, являющийся строительным блоком для физической структуры системы. Как правило, модуль состоит из интерфейсной части и части-реализации.</a:t>
            </a:r>
          </a:p>
          <a:p>
            <a:r>
              <a:rPr lang="ru-RU" b="1" dirty="0"/>
              <a:t>Модульность</a:t>
            </a:r>
            <a:r>
              <a:rPr lang="ru-RU" dirty="0"/>
              <a:t> — свойство системы, которая может подвергаться декомпозиции на ряд внутренне связанных и слабо зависящих друг от друга модулей.</a:t>
            </a:r>
          </a:p>
          <a:p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определению</a:t>
            </a:r>
            <a:r>
              <a:rPr lang="en-US" dirty="0"/>
              <a:t> Г. </a:t>
            </a:r>
            <a:r>
              <a:rPr lang="en-US" dirty="0" err="1"/>
              <a:t>Майерса</a:t>
            </a:r>
            <a:r>
              <a:rPr lang="en-US" dirty="0"/>
              <a:t> </a:t>
            </a:r>
            <a:r>
              <a:rPr lang="en-US" b="1" dirty="0" err="1"/>
              <a:t>модульность</a:t>
            </a:r>
            <a:r>
              <a:rPr lang="en-US" dirty="0"/>
              <a:t> — </a:t>
            </a:r>
            <a:r>
              <a:rPr lang="en-US" dirty="0" err="1"/>
              <a:t>свойство</a:t>
            </a:r>
            <a:r>
              <a:rPr lang="en-US" dirty="0"/>
              <a:t> ПО, </a:t>
            </a:r>
            <a:r>
              <a:rPr lang="en-US" dirty="0" err="1"/>
              <a:t>обеспечивающее</a:t>
            </a:r>
            <a:r>
              <a:rPr lang="en-US" dirty="0"/>
              <a:t> </a:t>
            </a:r>
            <a:r>
              <a:rPr lang="en-US" dirty="0" err="1"/>
              <a:t>интеллектуальную</a:t>
            </a:r>
            <a:r>
              <a:rPr lang="en-US" dirty="0"/>
              <a:t> </a:t>
            </a:r>
            <a:r>
              <a:rPr lang="en-US" dirty="0" err="1"/>
              <a:t>возможность</a:t>
            </a:r>
            <a:r>
              <a:rPr lang="en-US" dirty="0"/>
              <a:t> </a:t>
            </a:r>
            <a:r>
              <a:rPr lang="en-US" dirty="0" err="1"/>
              <a:t>создания</a:t>
            </a:r>
            <a:r>
              <a:rPr lang="en-US" dirty="0"/>
              <a:t> </a:t>
            </a:r>
            <a:r>
              <a:rPr lang="en-US" dirty="0" err="1"/>
              <a:t>сколь</a:t>
            </a:r>
            <a:r>
              <a:rPr lang="en-US" dirty="0"/>
              <a:t> </a:t>
            </a:r>
            <a:r>
              <a:rPr lang="en-US" dirty="0" err="1"/>
              <a:t>угодно</a:t>
            </a:r>
            <a:r>
              <a:rPr lang="en-US" dirty="0"/>
              <a:t> </a:t>
            </a:r>
            <a:r>
              <a:rPr lang="en-US" dirty="0" err="1"/>
              <a:t>сложной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FC55053-68B6-A42C-013E-20B8636F7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4548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71600" y="596538"/>
            <a:ext cx="9601200" cy="733697"/>
          </a:xfrm>
        </p:spPr>
        <p:txBody>
          <a:bodyPr/>
          <a:lstStyle/>
          <a:p>
            <a:r>
              <a:rPr lang="ru-RU" dirty="0"/>
              <a:t>Модульный метод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71600" y="1506583"/>
            <a:ext cx="9601200" cy="4754879"/>
          </a:xfrm>
        </p:spPr>
        <p:txBody>
          <a:bodyPr/>
          <a:lstStyle/>
          <a:p>
            <a:r>
              <a:rPr lang="ru-RU" dirty="0"/>
              <a:t>Метод проектирования, который можно называть "модульным", должен удовлетворять пяти основным требованиям: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Декомпозиции (</a:t>
            </a:r>
            <a:r>
              <a:rPr lang="en-US" dirty="0"/>
              <a:t>decomposability).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Композиции (</a:t>
            </a:r>
            <a:r>
              <a:rPr lang="en-US" dirty="0"/>
              <a:t>composability).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Понятности (</a:t>
            </a:r>
            <a:r>
              <a:rPr lang="en-US" dirty="0"/>
              <a:t>understandability).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Непрерывности (</a:t>
            </a:r>
            <a:r>
              <a:rPr lang="en-US" dirty="0"/>
              <a:t>continuity).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Защищенности (</a:t>
            </a:r>
            <a:r>
              <a:rPr lang="en-US" dirty="0"/>
              <a:t>protection).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6DAEF28-DCB1-5E5F-380C-F884BEDD3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8565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9282F9-4D3C-BC75-AAA6-3F765CAB3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EFC71DD-32F2-11BD-C730-C9C91CC714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sz="2400" dirty="0"/>
              <a:t>Метод проектирования удовлетворяет критерию Декомпозиции, если он помогает разложить задачу на несколько менее сложных подзадач, объединяемых простой структурой, и настолько независимых, что в дальнейшем можно отдельно продолжить работу над каждой из них.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sz="2400" dirty="0"/>
              <a:t>Метод удовлетворяет критерию Модульной Композиции, если он обеспечивает разработку элементов программного продукта, свободно объединяемых между собой для получения новых систем, быть может, в среде, отличающейся от той, для которой эти элементы первоначально разрабатывались.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71D505D-A966-076C-A1FB-EA145D9B0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6434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E63322-786F-7736-BC5C-E8D359745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AE7AC0B-2F2D-3C31-9F07-244E70EDD6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sz="2400" dirty="0"/>
              <a:t>Метод удовлетворяет критерию Модульной Понятности, если он помогает получить такую программу, читая которую можно понять содержание каждого модуля, не зная текста остальных, или, в худшем случае, ознакомившись лишь с некоторыми из них.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sz="2400" dirty="0"/>
              <a:t>Метод удовлетворяет критерию Модульной Непрерывности, если незначительное изменение спецификаций разработанной системы приведет к изменению одного или небольшого числа модулей.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sz="2400" dirty="0"/>
              <a:t>Метод удовлетворяет критерию Модульной Защищенности, если он приводит к архитектуре системы, в которой аварийная ситуация, возникшая во время выполнения модуля, ограничится только этим модулем, или, в худшем случае, распространится лишь на несколько соседних модулей.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88D9743-DE56-AEBF-F000-D2B8DDE69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6494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Правила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71600" y="1212980"/>
            <a:ext cx="9784080" cy="5041516"/>
          </a:xfrm>
        </p:spPr>
        <p:txBody>
          <a:bodyPr>
            <a:normAutofit/>
          </a:bodyPr>
          <a:lstStyle/>
          <a:p>
            <a:r>
              <a:rPr lang="ru-RU" dirty="0"/>
              <a:t>Из рассмотренных критериев следуют пять правил, которые должны соблюдаться, чтобы обеспечить </a:t>
            </a:r>
            <a:r>
              <a:rPr lang="ru-RU" i="1" dirty="0"/>
              <a:t>модульность</a:t>
            </a:r>
            <a:r>
              <a:rPr lang="ru-RU" dirty="0"/>
              <a:t>:</a:t>
            </a:r>
          </a:p>
          <a:p>
            <a:r>
              <a:rPr lang="ru-RU" b="1" dirty="0"/>
              <a:t>Прямое отображение — </a:t>
            </a:r>
            <a:r>
              <a:rPr lang="ru-RU" dirty="0"/>
              <a:t>Модульная структура, создаваемая в процессе конструирования ПО, должна оставаться совместимой с модульной структурой, создаваемой в процессе моделирования проблемной области.</a:t>
            </a:r>
          </a:p>
          <a:p>
            <a:r>
              <a:rPr lang="ru-RU" b="1" dirty="0"/>
              <a:t>Минимум интерфейсов — </a:t>
            </a:r>
            <a:r>
              <a:rPr lang="ru-RU" dirty="0"/>
              <a:t>Каждый модуль должен поддерживать связь с возможно меньшим числом других модулей.</a:t>
            </a:r>
          </a:p>
          <a:p>
            <a:r>
              <a:rPr lang="ru-RU" b="1" dirty="0"/>
              <a:t>Слабая связность интерфейсов — </a:t>
            </a:r>
            <a:r>
              <a:rPr lang="ru-RU" dirty="0"/>
              <a:t>Если два модуля общаются между собой, то они должны обмениваться как можно меньшим объемом информации.</a:t>
            </a:r>
          </a:p>
          <a:p>
            <a:r>
              <a:rPr lang="ru-RU" b="1" dirty="0"/>
              <a:t>Явные интерфейсы — </a:t>
            </a:r>
            <a:r>
              <a:rPr lang="ru-RU" dirty="0"/>
              <a:t>Всякое общение двух модулей A и B между собой должно быть очевидным и отражаться в тексте A и/или B.</a:t>
            </a:r>
          </a:p>
          <a:p>
            <a:r>
              <a:rPr lang="ru-RU" b="1" dirty="0"/>
              <a:t>Скрытие информации — </a:t>
            </a:r>
            <a:r>
              <a:rPr lang="ru-RU" dirty="0"/>
              <a:t>Разработчик каждого модуля должен выбрать некоторое подмножество свойств модуля в качестве официальной информации о модуле, доступной авторам клиентских модулей.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DAA5670-1A14-1364-4841-E206E0B2E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1013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Принципы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59632" y="1212979"/>
            <a:ext cx="10487609" cy="5421085"/>
          </a:xfrm>
        </p:spPr>
        <p:txBody>
          <a:bodyPr>
            <a:noAutofit/>
          </a:bodyPr>
          <a:lstStyle/>
          <a:p>
            <a:r>
              <a:rPr lang="ru-RU" dirty="0"/>
              <a:t>Из предыдущих правил и, косвенным образом, из критериев следуют пять принципов конструирования </a:t>
            </a:r>
            <a:r>
              <a:rPr lang="ru-RU" i="1" dirty="0"/>
              <a:t>ПО</a:t>
            </a:r>
            <a:r>
              <a:rPr lang="ru-RU" dirty="0"/>
              <a:t>:</a:t>
            </a:r>
          </a:p>
          <a:p>
            <a:r>
              <a:rPr lang="ru-RU" b="1" dirty="0"/>
              <a:t>Принцип Лингвистических Модульных Единиц — </a:t>
            </a:r>
            <a:r>
              <a:rPr lang="ru-RU" dirty="0"/>
              <a:t>Модули должны соответствовать синтаксическим единицам используемого языка.</a:t>
            </a:r>
          </a:p>
          <a:p>
            <a:r>
              <a:rPr lang="ru-RU" b="1" dirty="0"/>
              <a:t>Принцип </a:t>
            </a:r>
            <a:r>
              <a:rPr lang="ru-RU" b="1" dirty="0" err="1"/>
              <a:t>Самодокументирования</a:t>
            </a:r>
            <a:r>
              <a:rPr lang="ru-RU" b="1" dirty="0"/>
              <a:t> — </a:t>
            </a:r>
            <a:r>
              <a:rPr lang="ru-RU" dirty="0"/>
              <a:t>Разработчик модуля должен стремиться к тому, чтобы вся информация о модуле содержалась в самом модуле.</a:t>
            </a:r>
          </a:p>
          <a:p>
            <a:r>
              <a:rPr lang="ru-RU" b="1" dirty="0"/>
              <a:t>Принцип Унифицированного Доступа — </a:t>
            </a:r>
            <a:r>
              <a:rPr lang="ru-RU" dirty="0"/>
              <a:t>Все службы, предоставляемые модулем, должны быть доступны в унифицированной нотации, которая не подведет вне зависимости от реализации, использующей память или вычисления.</a:t>
            </a:r>
          </a:p>
          <a:p>
            <a:r>
              <a:rPr lang="ru-RU" b="1" dirty="0"/>
              <a:t>Принцип Открыт-Закрыт — </a:t>
            </a:r>
            <a:r>
              <a:rPr lang="ru-RU" dirty="0"/>
              <a:t>Модули должны иметь возможность быть как открытыми, так и закрытыми.</a:t>
            </a:r>
          </a:p>
          <a:p>
            <a:r>
              <a:rPr lang="ru-RU" b="1" dirty="0"/>
              <a:t>Принцип Единственного Выбора — </a:t>
            </a:r>
            <a:r>
              <a:rPr lang="ru-RU" dirty="0"/>
              <a:t>Всякий раз, когда система программного обеспечения должна поддерживать множество альтернатив, их полный список должен быть известен только одному модулю системы.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FDEE138-7F12-450A-030D-A9ACAF150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4241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Принципы </a:t>
            </a:r>
            <a:r>
              <a:rPr lang="en-US" dirty="0"/>
              <a:t>SOLID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b="1" dirty="0"/>
              <a:t>SOLID</a:t>
            </a:r>
            <a:r>
              <a:rPr lang="ru-RU" sz="2800" dirty="0"/>
              <a:t> — это аббревиатура пяти основных принципов проектирования в объектно-ориентированном программировании. Аббревиатура SOLID была предложена Робертом Мартином, автором нескольких книг, широко известных в сообществе разработчиков и членом </a:t>
            </a:r>
            <a:r>
              <a:rPr lang="en-US" sz="2800" dirty="0"/>
              <a:t>Agile Alliance</a:t>
            </a:r>
            <a:r>
              <a:rPr lang="ru-RU" sz="2800" dirty="0"/>
              <a:t>. Эти принципы позволяют строить на базе ООП масштабируемые и сопровождаемые программные продукты с понятной бизнес-логикой.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C1E3EFD-3A77-62DE-FA50-9C7881851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99819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Необходимые термины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sz="2400" b="1" dirty="0"/>
              <a:t>Модуль верхнего уровня</a:t>
            </a:r>
            <a:r>
              <a:rPr lang="ru-RU" sz="2400" dirty="0"/>
              <a:t> — класс, который выполняет действие с помощью инструмента.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sz="2400" b="1" dirty="0"/>
              <a:t>Модуль нижнего уровня</a:t>
            </a:r>
            <a:r>
              <a:rPr lang="ru-RU" sz="2400" dirty="0"/>
              <a:t> — инструмент, необходимый для выполнения действия.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sz="2400" b="1" dirty="0"/>
              <a:t>Абстракция</a:t>
            </a:r>
            <a:r>
              <a:rPr lang="ru-RU" sz="2400" dirty="0"/>
              <a:t> — интерфейс, который соединяет два класса (модуля).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sz="2400" b="1" dirty="0"/>
              <a:t>Детали</a:t>
            </a:r>
            <a:r>
              <a:rPr lang="ru-RU" sz="2400" dirty="0"/>
              <a:t> — то, как работает инструмент.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20B71A3-AC64-8E55-0A55-868DA9637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96802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Расшифровка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b="1" dirty="0"/>
              <a:t>Single responsibility</a:t>
            </a:r>
            <a:r>
              <a:rPr lang="en-US" sz="2400" dirty="0"/>
              <a:t> — </a:t>
            </a:r>
            <a:r>
              <a:rPr lang="ru-RU" sz="2400" dirty="0"/>
              <a:t>принцип единственной ответственности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/>
              <a:t>Open-closed</a:t>
            </a:r>
            <a:r>
              <a:rPr lang="en-US" sz="2400" dirty="0"/>
              <a:t> — </a:t>
            </a:r>
            <a:r>
              <a:rPr lang="ru-RU" sz="2400" dirty="0"/>
              <a:t>принцип открытости / закрытости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 err="1"/>
              <a:t>Liskov</a:t>
            </a:r>
            <a:r>
              <a:rPr lang="en-US" sz="2400" b="1" dirty="0"/>
              <a:t> substitution </a:t>
            </a:r>
            <a:r>
              <a:rPr lang="en-US" sz="2400" dirty="0"/>
              <a:t>— </a:t>
            </a:r>
            <a:r>
              <a:rPr lang="ru-RU" sz="2400" dirty="0"/>
              <a:t>принцип подстановки Барбары Лисков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/>
              <a:t>Interface segregation </a:t>
            </a:r>
            <a:r>
              <a:rPr lang="en-US" sz="2400" dirty="0"/>
              <a:t>— </a:t>
            </a:r>
            <a:r>
              <a:rPr lang="ru-RU" sz="2400" dirty="0"/>
              <a:t>принцип разделения интерфейса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/>
              <a:t>Dependency inversion </a:t>
            </a:r>
            <a:r>
              <a:rPr lang="en-US" sz="2400" dirty="0"/>
              <a:t>— </a:t>
            </a:r>
            <a:r>
              <a:rPr lang="ru-RU" sz="2400" dirty="0"/>
              <a:t>принцип инверсии зависимостей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3766018-F161-096F-D3F9-F5A827C58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06485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71600" y="596538"/>
            <a:ext cx="9601200" cy="1036319"/>
          </a:xfrm>
        </p:spPr>
        <p:txBody>
          <a:bodyPr>
            <a:normAutofit fontScale="90000"/>
          </a:bodyPr>
          <a:lstStyle/>
          <a:p>
            <a:r>
              <a:rPr lang="ru-RU" dirty="0"/>
              <a:t>S – </a:t>
            </a:r>
            <a:r>
              <a:rPr lang="ru-RU" dirty="0" err="1"/>
              <a:t>Single</a:t>
            </a:r>
            <a:r>
              <a:rPr lang="ru-RU" dirty="0"/>
              <a:t> </a:t>
            </a:r>
            <a:r>
              <a:rPr lang="ru-RU" dirty="0" err="1"/>
              <a:t>Responsibility</a:t>
            </a:r>
            <a:r>
              <a:rPr lang="ru-RU" dirty="0"/>
              <a:t> (Принцип единственной ответственности)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>
          <a:xfrm>
            <a:off x="1479833" y="1632857"/>
            <a:ext cx="2551178" cy="4299034"/>
          </a:xfrm>
        </p:spPr>
        <p:txBody>
          <a:bodyPr/>
          <a:lstStyle/>
          <a:p>
            <a:r>
              <a:rPr lang="ru-RU" i="1" dirty="0"/>
              <a:t>Каждый класс должен отвечать только за одну операцию.</a:t>
            </a:r>
            <a:endParaRPr lang="ru-RU" dirty="0"/>
          </a:p>
        </p:txBody>
      </p:sp>
      <p:pic>
        <p:nvPicPr>
          <p:cNvPr id="2054" name="Picture 6" descr="single-responsibility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6243" y="1558212"/>
            <a:ext cx="6912864" cy="4918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94B9B66-904A-8B3D-DDBE-2EE07D8BA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09271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 — Open-Closed (</a:t>
            </a:r>
            <a:r>
              <a:rPr lang="ru-RU" dirty="0"/>
              <a:t>Принцип открытости-закрытости)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1250301" y="1779548"/>
            <a:ext cx="2435607" cy="4023360"/>
          </a:xfrm>
        </p:spPr>
        <p:txBody>
          <a:bodyPr/>
          <a:lstStyle/>
          <a:p>
            <a:r>
              <a:rPr lang="ru-RU" i="1" dirty="0"/>
              <a:t>Классы должны  быть  открыты для расширения, но закрыты для модификации.</a:t>
            </a:r>
            <a:endParaRPr lang="ru-RU" dirty="0"/>
          </a:p>
        </p:txBody>
      </p:sp>
      <p:pic>
        <p:nvPicPr>
          <p:cNvPr id="3074" name="Picture 2" descr="open-closed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5909" y="1779548"/>
            <a:ext cx="7863008" cy="4481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99786F5-2961-38D0-8683-A7B5505D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03254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71600" y="596538"/>
            <a:ext cx="9601200" cy="1054980"/>
          </a:xfrm>
        </p:spPr>
        <p:txBody>
          <a:bodyPr>
            <a:normAutofit fontScale="90000"/>
          </a:bodyPr>
          <a:lstStyle/>
          <a:p>
            <a:r>
              <a:rPr lang="ru-RU" dirty="0"/>
              <a:t>L — </a:t>
            </a:r>
            <a:r>
              <a:rPr lang="ru-RU" dirty="0" err="1"/>
              <a:t>Liskov</a:t>
            </a:r>
            <a:r>
              <a:rPr lang="ru-RU" dirty="0"/>
              <a:t> </a:t>
            </a:r>
            <a:r>
              <a:rPr lang="ru-RU" dirty="0" err="1"/>
              <a:t>Substitution</a:t>
            </a:r>
            <a:r>
              <a:rPr lang="ru-RU" dirty="0"/>
              <a:t> (Принцип подстановки Барбары Лисков)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1470503" y="1737360"/>
            <a:ext cx="2359154" cy="4023360"/>
          </a:xfrm>
        </p:spPr>
        <p:txBody>
          <a:bodyPr>
            <a:normAutofit lnSpcReduction="10000"/>
          </a:bodyPr>
          <a:lstStyle/>
          <a:p>
            <a:r>
              <a:rPr lang="ru-RU" i="1" dirty="0"/>
              <a:t>Если П является подтипом Т, то любые объекты типа Т, присутствующие в программе, могут заменяться объектами типа П без негативных последствий для функциональности программы.</a:t>
            </a:r>
            <a:endParaRPr lang="ru-RU" dirty="0"/>
          </a:p>
        </p:txBody>
      </p:sp>
      <p:pic>
        <p:nvPicPr>
          <p:cNvPr id="4098" name="Picture 2" descr="liskov-substitution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8395" y="1737360"/>
            <a:ext cx="6027391" cy="5295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E3D6F64-CB83-9C15-54A4-D7E580C86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21576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 — Interface Segregation (</a:t>
            </a:r>
            <a:r>
              <a:rPr lang="ru-RU" dirty="0"/>
              <a:t>Принцип разделения интерфейсов)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793102" y="1845734"/>
            <a:ext cx="1822082" cy="4023360"/>
          </a:xfrm>
        </p:spPr>
        <p:txBody>
          <a:bodyPr/>
          <a:lstStyle/>
          <a:p>
            <a:r>
              <a:rPr lang="ru-RU" i="1" dirty="0"/>
              <a:t>Не следует ставить клиент в зависимость от методов, которые он не использует.</a:t>
            </a:r>
            <a:endParaRPr lang="ru-RU" dirty="0"/>
          </a:p>
        </p:txBody>
      </p:sp>
      <p:pic>
        <p:nvPicPr>
          <p:cNvPr id="5122" name="Picture 2" descr="interface-segregation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5184" y="1737360"/>
            <a:ext cx="9396636" cy="4709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1CF3C93-4C8B-5C91-8B68-D69C5E7E9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45769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D — </a:t>
            </a:r>
            <a:r>
              <a:rPr lang="ru-RU" dirty="0" err="1"/>
              <a:t>Dependency</a:t>
            </a:r>
            <a:r>
              <a:rPr lang="ru-RU" dirty="0"/>
              <a:t> </a:t>
            </a:r>
            <a:r>
              <a:rPr lang="ru-RU" dirty="0" err="1"/>
              <a:t>Inversion</a:t>
            </a:r>
            <a:r>
              <a:rPr lang="ru-RU" dirty="0"/>
              <a:t> (Принцип инверсии зависимостей)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1306286" y="1737359"/>
            <a:ext cx="2370685" cy="4023360"/>
          </a:xfrm>
        </p:spPr>
        <p:txBody>
          <a:bodyPr>
            <a:normAutofit lnSpcReduction="10000"/>
          </a:bodyPr>
          <a:lstStyle/>
          <a:p>
            <a:r>
              <a:rPr lang="ru-RU" i="1" dirty="0"/>
              <a:t>Модули верхнего уровня не должны зависеть от модулей нижнего уровня. И те, и другие должны зависеть от абстракций. Абстракции не должны зависеть от деталей. Детали должны зависеть от абстракций.</a:t>
            </a:r>
            <a:endParaRPr lang="ru-RU" dirty="0"/>
          </a:p>
        </p:txBody>
      </p:sp>
      <p:pic>
        <p:nvPicPr>
          <p:cNvPr id="6146" name="Picture 2" descr="dependency-inversion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3347" y="1737359"/>
            <a:ext cx="7986531" cy="4963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AC2053B-D376-54B5-8A13-7B496BE8B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49457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64D8E5-886A-75A9-749A-2A2C89896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Паттерны (шаблоны) проектирования</a:t>
            </a:r>
            <a:endParaRPr lang="ru-RU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FB40187-47E9-BF5A-AF08-CF830FBA22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ru-RU" altLang="ru-RU" sz="2400" b="1" dirty="0"/>
              <a:t>Шаблон проектирования</a:t>
            </a:r>
            <a:r>
              <a:rPr lang="ru-RU" altLang="ru-RU" sz="2400" dirty="0"/>
              <a:t> или </a:t>
            </a:r>
            <a:r>
              <a:rPr lang="ru-RU" altLang="ru-RU" sz="2400" b="1" dirty="0"/>
              <a:t>паттерн</a:t>
            </a:r>
            <a:r>
              <a:rPr lang="ru-RU" altLang="ru-RU" sz="2400" dirty="0"/>
              <a:t> (</a:t>
            </a:r>
            <a:r>
              <a:rPr lang="ru-RU" altLang="ru-RU" sz="2400" i="1" dirty="0" err="1"/>
              <a:t>design</a:t>
            </a:r>
            <a:r>
              <a:rPr lang="ru-RU" altLang="ru-RU" sz="2400" i="1" dirty="0"/>
              <a:t> </a:t>
            </a:r>
            <a:r>
              <a:rPr lang="ru-RU" altLang="ru-RU" sz="2400" i="1" dirty="0" err="1"/>
              <a:t>pattern</a:t>
            </a:r>
            <a:r>
              <a:rPr lang="ru-RU" altLang="ru-RU" sz="2400" dirty="0"/>
              <a:t>) в разработке ПО — повторимая архитектурная конструкция, представляющая собой решение проблемы проектирования в рамках некоторого часто возникающего контекста.</a:t>
            </a:r>
          </a:p>
          <a:p>
            <a:pPr>
              <a:lnSpc>
                <a:spcPct val="90000"/>
              </a:lnSpc>
            </a:pPr>
            <a:r>
              <a:rPr lang="ru-RU" altLang="ru-RU" sz="2400" b="1" dirty="0"/>
              <a:t>Шаблон</a:t>
            </a:r>
            <a:r>
              <a:rPr lang="ru-RU" altLang="ru-RU" sz="2400" dirty="0"/>
              <a:t> – не законченный образец, не код; это пример решения задачи, который можно использовать в различных ситуациях.</a:t>
            </a:r>
          </a:p>
          <a:p>
            <a:pPr>
              <a:lnSpc>
                <a:spcPct val="90000"/>
              </a:lnSpc>
            </a:pPr>
            <a:r>
              <a:rPr lang="ru-RU" altLang="ru-RU" sz="2400" b="1" dirty="0"/>
              <a:t>ОО шаблоны</a:t>
            </a:r>
            <a:r>
              <a:rPr lang="ru-RU" altLang="ru-RU" sz="2400" dirty="0"/>
              <a:t> показывают отношения и взаимодействия между классами или объектами, без определения того, какие конечные классы или объекты приложения будут использоваться.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173FA94-E49B-E698-4165-25C35DB87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19012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50" name="Rectangle 2">
            <a:extLst>
              <a:ext uri="{FF2B5EF4-FFF2-40B4-BE49-F238E27FC236}">
                <a16:creationId xmlns:a16="http://schemas.microsoft.com/office/drawing/2014/main" id="{5EEB8163-D10B-908F-11CE-BA01CADDB9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/>
              <a:t>Определения</a:t>
            </a:r>
          </a:p>
        </p:txBody>
      </p:sp>
      <p:sp>
        <p:nvSpPr>
          <p:cNvPr id="309251" name="Rectangle 3">
            <a:extLst>
              <a:ext uri="{FF2B5EF4-FFF2-40B4-BE49-F238E27FC236}">
                <a16:creationId xmlns:a16="http://schemas.microsoft.com/office/drawing/2014/main" id="{4C6758E2-7024-8EC2-FF90-E228DE5AED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altLang="ru-RU" sz="2400" b="1" dirty="0"/>
              <a:t>Идиомы</a:t>
            </a:r>
            <a:r>
              <a:rPr lang="ru-RU" altLang="ru-RU" sz="2400" dirty="0"/>
              <a:t> – «низкоуровневые» шаблоны, учитывающие специфику конкретного языка программирования. Они не универсальные.</a:t>
            </a:r>
          </a:p>
          <a:p>
            <a:r>
              <a:rPr lang="ru-RU" altLang="ru-RU" sz="2400" b="1" dirty="0"/>
              <a:t>Архитектурные шаблоны</a:t>
            </a:r>
            <a:r>
              <a:rPr lang="ru-RU" altLang="ru-RU" sz="2400" dirty="0"/>
              <a:t> –  «наивысший» уровень, охватывают архитектуру всей программной системы.</a:t>
            </a:r>
          </a:p>
          <a:p>
            <a:r>
              <a:rPr lang="ru-RU" altLang="ru-RU" sz="2400" b="1" dirty="0"/>
              <a:t>Алгоритмы </a:t>
            </a:r>
            <a:r>
              <a:rPr lang="ru-RU" altLang="ru-RU" sz="2400" dirty="0"/>
              <a:t>– шаблоны вычисления, так как решают вычислительные задачи.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3A04325-6F69-899F-6C8A-9F8D83475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17</a:t>
            </a:fld>
            <a:endParaRPr lang="ru-RU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178" name="Rectangle 2">
            <a:extLst>
              <a:ext uri="{FF2B5EF4-FFF2-40B4-BE49-F238E27FC236}">
                <a16:creationId xmlns:a16="http://schemas.microsoft.com/office/drawing/2014/main" id="{9EC7290C-B5B6-75E9-495E-33ED3ED64A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/>
              <a:t>Плюсы</a:t>
            </a:r>
          </a:p>
        </p:txBody>
      </p:sp>
      <p:sp>
        <p:nvSpPr>
          <p:cNvPr id="306179" name="Rectangle 3">
            <a:extLst>
              <a:ext uri="{FF2B5EF4-FFF2-40B4-BE49-F238E27FC236}">
                <a16:creationId xmlns:a16="http://schemas.microsoft.com/office/drawing/2014/main" id="{922A0656-51C7-FED6-B651-41A673B41A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71600" y="1175657"/>
            <a:ext cx="9601200" cy="5085805"/>
          </a:xfrm>
        </p:spPr>
        <p:txBody>
          <a:bodyPr>
            <a:no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altLang="ru-RU" sz="2800" dirty="0"/>
              <a:t>Снижение сложности разработки за счёт готовых абстракций для решения целого класса проблем.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altLang="ru-RU" sz="2800" dirty="0"/>
              <a:t>Облегчение коммуникации между разработчиками, позволяя ссылаться на известные шаблоны.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altLang="ru-RU" sz="2800" dirty="0"/>
              <a:t>Снижение количества ошибок за счет унификации деталей решений (модулей, элементов проекта, …).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altLang="ru-RU" sz="2800" dirty="0"/>
              <a:t>Возможность многократно использовать удачное решение (≈ как использование готовых библиотек кода).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altLang="ru-RU" sz="2800" dirty="0"/>
              <a:t>Возможность выбрать наиболее подходящий вариант проектирования из набора шаблонов.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36545D4-2002-4724-27FB-8AC68FEAB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18</a:t>
            </a:fld>
            <a:endParaRPr lang="ru-RU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74" name="Rectangle 2">
            <a:extLst>
              <a:ext uri="{FF2B5EF4-FFF2-40B4-BE49-F238E27FC236}">
                <a16:creationId xmlns:a16="http://schemas.microsoft.com/office/drawing/2014/main" id="{D0BD7AF0-E7A8-FC04-A197-CB66C6A9F1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/>
              <a:t>Минусы</a:t>
            </a:r>
          </a:p>
        </p:txBody>
      </p:sp>
      <p:sp>
        <p:nvSpPr>
          <p:cNvPr id="310275" name="Rectangle 3">
            <a:extLst>
              <a:ext uri="{FF2B5EF4-FFF2-40B4-BE49-F238E27FC236}">
                <a16:creationId xmlns:a16="http://schemas.microsoft.com/office/drawing/2014/main" id="{82BFDB52-7EEE-29B7-9ABF-B1CD9A2121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71600" y="1147665"/>
            <a:ext cx="9601200" cy="5477070"/>
          </a:xfrm>
        </p:spPr>
        <p:txBody>
          <a:bodyPr>
            <a:normAutofit/>
          </a:bodyPr>
          <a:lstStyle/>
          <a:p>
            <a:pPr marL="342900" indent="-342900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ru-RU" altLang="ru-RU" sz="2400" dirty="0"/>
              <a:t>Слепое следование шаблону может привести к усложнению программы.</a:t>
            </a:r>
          </a:p>
          <a:p>
            <a:pPr marL="342900" indent="-342900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ru-RU" altLang="ru-RU" sz="2400" dirty="0"/>
              <a:t>Использование шаблона без особых оснований.</a:t>
            </a:r>
          </a:p>
          <a:p>
            <a:pPr marL="342900" indent="-342900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ru-RU" altLang="ru-RU" sz="2400" dirty="0"/>
              <a:t>Шаблоны проектирования в ООП – идиоматическое воспроизведение элементов функциональных языков.</a:t>
            </a:r>
          </a:p>
          <a:p>
            <a:pPr marL="342900" indent="-342900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ru-RU" altLang="ru-RU" sz="2400" dirty="0"/>
              <a:t>Питер </a:t>
            </a:r>
            <a:r>
              <a:rPr lang="ru-RU" altLang="ru-RU" sz="2400" dirty="0" err="1"/>
              <a:t>Норвиг</a:t>
            </a:r>
            <a:r>
              <a:rPr lang="ru-RU" altLang="ru-RU" sz="2400" dirty="0"/>
              <a:t>: «16 из 23 шаблонов </a:t>
            </a:r>
            <a:r>
              <a:rPr lang="ru-RU" altLang="ru-RU" sz="2400" dirty="0" err="1"/>
              <a:t>GoF</a:t>
            </a:r>
            <a:r>
              <a:rPr lang="ru-RU" altLang="ru-RU" sz="2400" dirty="0"/>
              <a:t> в </a:t>
            </a:r>
            <a:r>
              <a:rPr lang="ru-RU" altLang="ru-RU" sz="2400" dirty="0" err="1"/>
              <a:t>Lisp</a:t>
            </a:r>
            <a:r>
              <a:rPr lang="ru-RU" altLang="ru-RU" sz="2400" dirty="0"/>
              <a:t> реализуются существенно проще, чем в С++, либо оказываются незаметны».</a:t>
            </a:r>
          </a:p>
          <a:p>
            <a:pPr marL="342900" indent="-342900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ru-RU" altLang="ru-RU" sz="2400" dirty="0"/>
              <a:t>Пол Грэхэм: идея шаблонов проектирования = анти-паттерн, сигнал, что система не обладает достаточным уровнем абстракции, и необходима её тщательная переработка.</a:t>
            </a:r>
          </a:p>
          <a:p>
            <a:pPr marL="342900" indent="-342900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ru-RU" altLang="ru-RU" sz="2400" dirty="0"/>
              <a:t>Шаблон = «готовое решение, но не прямое обращение к библиотеке» = отказ от повторного использования в пользу дублирования.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4FB4B887-6F19-E897-22D3-A0545AF77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19</a:t>
            </a:fld>
            <a:endParaRPr lang="ru-RU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228" name="Rectangle 100">
            <a:extLst>
              <a:ext uri="{FF2B5EF4-FFF2-40B4-BE49-F238E27FC236}">
                <a16:creationId xmlns:a16="http://schemas.microsoft.com/office/drawing/2014/main" id="{317310AB-9D43-D1EF-CD44-1370AC7BD0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03389" y="251928"/>
            <a:ext cx="9554547" cy="1027113"/>
          </a:xfrm>
        </p:spPr>
        <p:txBody>
          <a:bodyPr>
            <a:normAutofit fontScale="90000"/>
          </a:bodyPr>
          <a:lstStyle/>
          <a:p>
            <a:r>
              <a:rPr lang="ru-RU" altLang="ru-RU" sz="4000" dirty="0"/>
              <a:t>Типы шаблонов проектирования: Основные (</a:t>
            </a:r>
            <a:r>
              <a:rPr lang="en-US" altLang="ru-RU" sz="4000" dirty="0"/>
              <a:t>Fundamental)</a:t>
            </a:r>
            <a:endParaRPr lang="ru-RU" altLang="ru-RU" sz="4000" dirty="0"/>
          </a:p>
        </p:txBody>
      </p:sp>
      <p:graphicFrame>
        <p:nvGraphicFramePr>
          <p:cNvPr id="304240" name="Group 112">
            <a:extLst>
              <a:ext uri="{FF2B5EF4-FFF2-40B4-BE49-F238E27FC236}">
                <a16:creationId xmlns:a16="http://schemas.microsoft.com/office/drawing/2014/main" id="{03380CA6-7CD0-96AD-49A3-9CA978E8DD3E}"/>
              </a:ext>
            </a:extLst>
          </p:cNvPr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1664620665"/>
              </p:ext>
            </p:extLst>
          </p:nvPr>
        </p:nvGraphicFramePr>
        <p:xfrm>
          <a:off x="1287625" y="1524000"/>
          <a:ext cx="10450286" cy="5120640"/>
        </p:xfrm>
        <a:graphic>
          <a:graphicData uri="http://schemas.openxmlformats.org/drawingml/2006/table">
            <a:tbl>
              <a:tblPr firstRow="1">
                <a:tableStyleId>{775DCB02-9BB8-47FD-8907-85C794F793BA}</a:tableStyleId>
              </a:tblPr>
              <a:tblGrid>
                <a:gridCol w="1780970">
                  <a:extLst>
                    <a:ext uri="{9D8B030D-6E8A-4147-A177-3AD203B41FA5}">
                      <a16:colId xmlns:a16="http://schemas.microsoft.com/office/drawing/2014/main" val="4117723359"/>
                    </a:ext>
                  </a:extLst>
                </a:gridCol>
                <a:gridCol w="1311967">
                  <a:extLst>
                    <a:ext uri="{9D8B030D-6E8A-4147-A177-3AD203B41FA5}">
                      <a16:colId xmlns:a16="http://schemas.microsoft.com/office/drawing/2014/main" val="672620017"/>
                    </a:ext>
                  </a:extLst>
                </a:gridCol>
                <a:gridCol w="7357349">
                  <a:extLst>
                    <a:ext uri="{9D8B030D-6E8A-4147-A177-3AD203B41FA5}">
                      <a16:colId xmlns:a16="http://schemas.microsoft.com/office/drawing/2014/main" val="4162444485"/>
                    </a:ext>
                  </a:extLst>
                </a:gridCol>
              </a:tblGrid>
              <a:tr h="3016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6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Название</a:t>
                      </a:r>
                      <a:endParaRPr kumimoji="0" lang="ru-RU" altLang="ru-RU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18000" marR="18000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600" b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Оригинал. название</a:t>
                      </a:r>
                      <a:endParaRPr kumimoji="0" lang="ru-RU" altLang="ru-RU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18000" marR="18000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6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Описание</a:t>
                      </a:r>
                      <a:endParaRPr kumimoji="0" lang="ru-RU" altLang="ru-RU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18000" marR="18000" marT="0" marB="0" horzOverflow="overflow"/>
                </a:tc>
                <a:extLst>
                  <a:ext uri="{0D108BD9-81ED-4DB2-BD59-A6C34878D82A}">
                    <a16:rowId xmlns:a16="http://schemas.microsoft.com/office/drawing/2014/main" val="101852290"/>
                  </a:ext>
                </a:extLst>
              </a:tr>
              <a:tr h="4762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6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Шаблон делегирования</a:t>
                      </a:r>
                      <a:endParaRPr kumimoji="0" lang="ru-RU" altLang="ru-R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18000" marR="18000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6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Delegation</a:t>
                      </a:r>
                      <a:r>
                        <a:rPr kumimoji="0" lang="ru-RU" alt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kumimoji="0" lang="ru-RU" altLang="ru-RU" sz="16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pattern</a:t>
                      </a:r>
                      <a:endParaRPr kumimoji="0" lang="ru-RU" alt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18000" marR="18000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Объект внешне выражает некоторое поведение, но в реальности передаёт ответственность за выполнение этого поведения связанному объекту</a:t>
                      </a:r>
                      <a:endParaRPr kumimoji="0" lang="ru-RU" alt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18000" marR="18000" marT="0" marB="0" horzOverflow="overflow"/>
                </a:tc>
                <a:extLst>
                  <a:ext uri="{0D108BD9-81ED-4DB2-BD59-A6C34878D82A}">
                    <a16:rowId xmlns:a16="http://schemas.microsoft.com/office/drawing/2014/main" val="4056089810"/>
                  </a:ext>
                </a:extLst>
              </a:tr>
              <a:tr h="2825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Шаблон функционального дизайна</a:t>
                      </a:r>
                      <a:endParaRPr kumimoji="0" lang="ru-RU" alt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18000" marR="18000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6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Functional design</a:t>
                      </a:r>
                      <a:endParaRPr kumimoji="0" lang="ru-RU" altLang="ru-R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18000" marR="18000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Гарантирует, что каждый модуль компьютерной программы имеет только одну обязанность и исполняет её с минимумом побочных эффектов на другие части программы</a:t>
                      </a:r>
                      <a:endParaRPr kumimoji="0" lang="ru-RU" alt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18000" marR="18000" marT="0" marB="0" horzOverflow="overflow"/>
                </a:tc>
                <a:extLst>
                  <a:ext uri="{0D108BD9-81ED-4DB2-BD59-A6C34878D82A}">
                    <a16:rowId xmlns:a16="http://schemas.microsoft.com/office/drawing/2014/main" val="2247678830"/>
                  </a:ext>
                </a:extLst>
              </a:tr>
              <a:tr h="2016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6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Неизменяемый интерфейс</a:t>
                      </a:r>
                      <a:endParaRPr kumimoji="0" lang="ru-RU" altLang="ru-R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18000" marR="18000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6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Immutable interface</a:t>
                      </a:r>
                      <a:endParaRPr kumimoji="0" lang="ru-RU" altLang="ru-R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18000" marR="18000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6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Создание неизменяемого объекта</a:t>
                      </a:r>
                      <a:endParaRPr kumimoji="0" lang="ru-RU" altLang="ru-R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18000" marR="18000" marT="0" marB="0" horzOverflow="overflow"/>
                </a:tc>
                <a:extLst>
                  <a:ext uri="{0D108BD9-81ED-4DB2-BD59-A6C34878D82A}">
                    <a16:rowId xmlns:a16="http://schemas.microsoft.com/office/drawing/2014/main" val="1798643403"/>
                  </a:ext>
                </a:extLst>
              </a:tr>
              <a:tr h="3476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6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Интерфейс</a:t>
                      </a:r>
                      <a:endParaRPr kumimoji="0" lang="ru-RU" altLang="ru-R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18000" marR="18000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6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Interface</a:t>
                      </a:r>
                      <a:endParaRPr kumimoji="0" lang="ru-RU" altLang="ru-R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18000" marR="18000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6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Общий метод для структурирования компьютерных программ для того, чтобы их было проще понять</a:t>
                      </a:r>
                      <a:endParaRPr kumimoji="0" lang="ru-RU" altLang="ru-R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18000" marR="18000" marT="0" marB="0" horzOverflow="overflow"/>
                </a:tc>
                <a:extLst>
                  <a:ext uri="{0D108BD9-81ED-4DB2-BD59-A6C34878D82A}">
                    <a16:rowId xmlns:a16="http://schemas.microsoft.com/office/drawing/2014/main" val="1556178301"/>
                  </a:ext>
                </a:extLst>
              </a:tr>
              <a:tr h="330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Интерфейс-маркер</a:t>
                      </a:r>
                      <a:endParaRPr kumimoji="0" lang="ru-RU" alt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18000" marR="18000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6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Marker interface</a:t>
                      </a:r>
                      <a:endParaRPr kumimoji="0" lang="ru-RU" altLang="ru-R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18000" marR="18000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6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В качестве атрибута применяется наличие или отсутствие реализации интерфейса-маркера. </a:t>
                      </a:r>
                      <a:endParaRPr kumimoji="0" lang="ru-RU" altLang="ru-R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18000" marR="18000" marT="0" marB="0" horzOverflow="overflow"/>
                </a:tc>
                <a:extLst>
                  <a:ext uri="{0D108BD9-81ED-4DB2-BD59-A6C34878D82A}">
                    <a16:rowId xmlns:a16="http://schemas.microsoft.com/office/drawing/2014/main" val="1316521291"/>
                  </a:ext>
                </a:extLst>
              </a:tr>
              <a:tr h="3032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6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Контейнер свойств</a:t>
                      </a:r>
                      <a:endParaRPr kumimoji="0" lang="ru-RU" altLang="ru-R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18000" marR="18000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6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Property Container</a:t>
                      </a:r>
                      <a:endParaRPr kumimoji="0" lang="ru-RU" altLang="ru-R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18000" marR="18000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Позволяет добавлять дополнительные свойства для класса в контейнер (внутри класса), вместо расширения класса новыми свойствами</a:t>
                      </a:r>
                      <a:endParaRPr kumimoji="0" lang="ru-RU" alt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18000" marR="18000" marT="0" marB="0" horzOverflow="overflow"/>
                </a:tc>
                <a:extLst>
                  <a:ext uri="{0D108BD9-81ED-4DB2-BD59-A6C34878D82A}">
                    <a16:rowId xmlns:a16="http://schemas.microsoft.com/office/drawing/2014/main" val="2095440787"/>
                  </a:ext>
                </a:extLst>
              </a:tr>
              <a:tr h="2825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6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Event Channel</a:t>
                      </a:r>
                      <a:endParaRPr kumimoji="0" lang="ru-RU" altLang="ru-R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18000" marR="18000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6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Event Channel</a:t>
                      </a:r>
                      <a:endParaRPr kumimoji="0" lang="ru-RU" altLang="ru-R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18000" marR="18000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Расширяет шаблон </a:t>
                      </a:r>
                      <a:r>
                        <a:rPr kumimoji="0" lang="ru-RU" altLang="ru-RU" sz="16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Publish</a:t>
                      </a:r>
                      <a:r>
                        <a:rPr kumimoji="0" lang="ru-RU" alt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/</a:t>
                      </a:r>
                      <a:r>
                        <a:rPr kumimoji="0" lang="ru-RU" altLang="ru-RU" sz="16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Subscribe</a:t>
                      </a:r>
                      <a:r>
                        <a:rPr kumimoji="0" lang="ru-RU" alt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, создавая централизованный канал для событий. Использует объект-представитель для подписки и объект-представитель для публикации события в канале. Представитель существует отдельно от реального издателя или подписчика. Подписчик может получать опубликованные события от более чем одного объекта, даже если он зарегистрирован только на одном канале</a:t>
                      </a:r>
                      <a:endParaRPr kumimoji="0" lang="ru-RU" alt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18000" marR="18000" marT="0" marB="0" horzOverflow="overflow"/>
                </a:tc>
                <a:extLst>
                  <a:ext uri="{0D108BD9-81ED-4DB2-BD59-A6C34878D82A}">
                    <a16:rowId xmlns:a16="http://schemas.microsoft.com/office/drawing/2014/main" val="2270061730"/>
                  </a:ext>
                </a:extLst>
              </a:tr>
            </a:tbl>
          </a:graphicData>
        </a:graphic>
      </p:graphicFrame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52981A4C-8576-6B6F-BAFA-6C47CFE615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02752A-B111-44B3-966C-F7543765A22A}" type="slidenum">
              <a:rPr lang="ru-RU" altLang="ru-RU" smtClean="0"/>
              <a:pPr/>
              <a:t>20</a:t>
            </a:fld>
            <a:endParaRPr lang="ru-RU" alt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370" name="Rectangle 2">
            <a:extLst>
              <a:ext uri="{FF2B5EF4-FFF2-40B4-BE49-F238E27FC236}">
                <a16:creationId xmlns:a16="http://schemas.microsoft.com/office/drawing/2014/main" id="{83628C9E-1F5E-959B-A10D-6F062474D1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03389" y="207963"/>
            <a:ext cx="10165150" cy="1027113"/>
          </a:xfrm>
        </p:spPr>
        <p:txBody>
          <a:bodyPr>
            <a:normAutofit fontScale="90000"/>
          </a:bodyPr>
          <a:lstStyle/>
          <a:p>
            <a:r>
              <a:rPr lang="ru-RU" altLang="ru-RU" sz="4000" dirty="0"/>
              <a:t>Типы шаблонов проектирования: Порождающие (</a:t>
            </a:r>
            <a:r>
              <a:rPr lang="en-US" altLang="ru-RU" sz="4000" dirty="0"/>
              <a:t>Creational</a:t>
            </a:r>
            <a:r>
              <a:rPr lang="ru-RU" altLang="ru-RU" sz="4000" dirty="0"/>
              <a:t>)</a:t>
            </a:r>
          </a:p>
        </p:txBody>
      </p:sp>
      <p:graphicFrame>
        <p:nvGraphicFramePr>
          <p:cNvPr id="314544" name="Group 176">
            <a:extLst>
              <a:ext uri="{FF2B5EF4-FFF2-40B4-BE49-F238E27FC236}">
                <a16:creationId xmlns:a16="http://schemas.microsoft.com/office/drawing/2014/main" id="{8C3E8AD5-2788-F814-A959-BB3A00AD1251}"/>
              </a:ext>
            </a:extLst>
          </p:cNvPr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3558329649"/>
              </p:ext>
            </p:extLst>
          </p:nvPr>
        </p:nvGraphicFramePr>
        <p:xfrm>
          <a:off x="1525005" y="1881407"/>
          <a:ext cx="10095721" cy="4744847"/>
        </p:xfrm>
        <a:graphic>
          <a:graphicData uri="http://schemas.openxmlformats.org/drawingml/2006/table">
            <a:tbl>
              <a:tblPr firstRow="1" firstCol="1">
                <a:tableStyleId>{775DCB02-9BB8-47FD-8907-85C794F793BA}</a:tableStyleId>
              </a:tblPr>
              <a:tblGrid>
                <a:gridCol w="2972350">
                  <a:extLst>
                    <a:ext uri="{9D8B030D-6E8A-4147-A177-3AD203B41FA5}">
                      <a16:colId xmlns:a16="http://schemas.microsoft.com/office/drawing/2014/main" val="2022302375"/>
                    </a:ext>
                  </a:extLst>
                </a:gridCol>
                <a:gridCol w="7123371">
                  <a:extLst>
                    <a:ext uri="{9D8B030D-6E8A-4147-A177-3AD203B41FA5}">
                      <a16:colId xmlns:a16="http://schemas.microsoft.com/office/drawing/2014/main" val="2197635523"/>
                    </a:ext>
                  </a:extLst>
                </a:gridCol>
              </a:tblGrid>
              <a:tr h="25042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6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Название</a:t>
                      </a:r>
                      <a:endParaRPr kumimoji="0" lang="ru-RU" altLang="ru-RU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18000" marR="18000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6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Описание</a:t>
                      </a:r>
                      <a:endParaRPr kumimoji="0" lang="ru-RU" altLang="ru-RU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18000" marR="18000" marT="0" marB="0" horzOverflow="overflow"/>
                </a:tc>
                <a:extLst>
                  <a:ext uri="{0D108BD9-81ED-4DB2-BD59-A6C34878D82A}">
                    <a16:rowId xmlns:a16="http://schemas.microsoft.com/office/drawing/2014/main" val="3607282755"/>
                  </a:ext>
                </a:extLst>
              </a:tr>
              <a:tr h="50084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Абстрактная фабрика (</a:t>
                      </a:r>
                      <a:r>
                        <a:rPr kumimoji="0" lang="ru-RU" altLang="ru-RU" sz="16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Abstract</a:t>
                      </a:r>
                      <a:r>
                        <a:rPr kumimoji="0" lang="ru-RU" alt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kumimoji="0" lang="ru-RU" altLang="ru-RU" sz="16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factory</a:t>
                      </a:r>
                      <a:r>
                        <a:rPr kumimoji="0" lang="ru-RU" alt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kumimoji="0" lang="ru-RU" alt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18000" marR="18000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Класс, который представляет собой интерфейс для создания компонентов системы </a:t>
                      </a:r>
                      <a:endParaRPr kumimoji="0" lang="ru-RU" alt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18000" marR="18000" marT="0" marB="0" horzOverflow="overflow"/>
                </a:tc>
                <a:extLst>
                  <a:ext uri="{0D108BD9-81ED-4DB2-BD59-A6C34878D82A}">
                    <a16:rowId xmlns:a16="http://schemas.microsoft.com/office/drawing/2014/main" val="313042725"/>
                  </a:ext>
                </a:extLst>
              </a:tr>
              <a:tr h="45119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6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Строитель (Builder)</a:t>
                      </a:r>
                      <a:endParaRPr kumimoji="0" lang="ru-RU" altLang="ru-R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18000" marR="18000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6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Класс, который представляет собой интерфейс для создания сложного объекта</a:t>
                      </a:r>
                      <a:endParaRPr kumimoji="0" lang="ru-RU" altLang="ru-R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18000" marR="18000" marT="0" marB="0" horzOverflow="overflow"/>
                </a:tc>
                <a:extLst>
                  <a:ext uri="{0D108BD9-81ED-4DB2-BD59-A6C34878D82A}">
                    <a16:rowId xmlns:a16="http://schemas.microsoft.com/office/drawing/2014/main" val="4150510714"/>
                  </a:ext>
                </a:extLst>
              </a:tr>
              <a:tr h="50084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6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Фабричный метод (Factory method)</a:t>
                      </a:r>
                      <a:endParaRPr kumimoji="0" lang="ru-RU" altLang="ru-R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18000" marR="18000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6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Определяет интерфейс для создания объекта, но оставляет подклассам решение о том, какой класс инстанцировать</a:t>
                      </a:r>
                      <a:endParaRPr kumimoji="0" lang="ru-RU" altLang="ru-R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18000" marR="18000" marT="0" marB="0" horzOverflow="overflow"/>
                </a:tc>
                <a:extLst>
                  <a:ext uri="{0D108BD9-81ED-4DB2-BD59-A6C34878D82A}">
                    <a16:rowId xmlns:a16="http://schemas.microsoft.com/office/drawing/2014/main" val="2356157338"/>
                  </a:ext>
                </a:extLst>
              </a:tr>
              <a:tr h="50084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Отложенная инициализация (</a:t>
                      </a:r>
                      <a:r>
                        <a:rPr kumimoji="0" lang="ru-RU" altLang="ru-RU" sz="16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Lazy</a:t>
                      </a:r>
                      <a:r>
                        <a:rPr kumimoji="0" lang="ru-RU" alt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kumimoji="0" lang="ru-RU" altLang="ru-RU" sz="16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initialization</a:t>
                      </a:r>
                      <a:r>
                        <a:rPr kumimoji="0" lang="ru-RU" alt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kumimoji="0" lang="ru-RU" alt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18000" marR="18000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6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Объект, инициализируемый во время первого обращения к нему</a:t>
                      </a:r>
                      <a:endParaRPr kumimoji="0" lang="ru-RU" altLang="ru-R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18000" marR="18000" marT="0" marB="0" horzOverflow="overflow"/>
                </a:tc>
                <a:extLst>
                  <a:ext uri="{0D108BD9-81ED-4DB2-BD59-A6C34878D82A}">
                    <a16:rowId xmlns:a16="http://schemas.microsoft.com/office/drawing/2014/main" val="1501292699"/>
                  </a:ext>
                </a:extLst>
              </a:tr>
              <a:tr h="50084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6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Пул одиночек (Multiton)</a:t>
                      </a:r>
                      <a:endParaRPr kumimoji="0" lang="ru-RU" altLang="ru-R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18000" marR="18000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6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Гарантирует, что класс имеет поименованные экземпляры объекта и обеспечивает глобальную точку доступа к ним</a:t>
                      </a:r>
                      <a:endParaRPr kumimoji="0" lang="ru-RU" altLang="ru-R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18000" marR="18000" marT="0" marB="0" horzOverflow="overflow"/>
                </a:tc>
                <a:extLst>
                  <a:ext uri="{0D108BD9-81ED-4DB2-BD59-A6C34878D82A}">
                    <a16:rowId xmlns:a16="http://schemas.microsoft.com/office/drawing/2014/main" val="3908245066"/>
                  </a:ext>
                </a:extLst>
              </a:tr>
              <a:tr h="50084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6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Объектный пул (Object pool)</a:t>
                      </a:r>
                      <a:endParaRPr kumimoji="0" lang="ru-RU" altLang="ru-R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18000" marR="18000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6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Класс, который представляет собой интерфейс для работы с набором инициализированных и готовых к использованию объектов</a:t>
                      </a:r>
                      <a:endParaRPr kumimoji="0" lang="ru-RU" altLang="ru-R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18000" marR="18000" marT="0" marB="0" horzOverflow="overflow"/>
                </a:tc>
                <a:extLst>
                  <a:ext uri="{0D108BD9-81ED-4DB2-BD59-A6C34878D82A}">
                    <a16:rowId xmlns:a16="http://schemas.microsoft.com/office/drawing/2014/main" val="2237244187"/>
                  </a:ext>
                </a:extLst>
              </a:tr>
              <a:tr h="50084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6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Прототип (Prototype)</a:t>
                      </a:r>
                      <a:endParaRPr kumimoji="0" lang="ru-RU" altLang="ru-R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18000" marR="18000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6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Определяет интерфейс создания объекта через клонирование другого объекта вместо создания через конструктор</a:t>
                      </a:r>
                      <a:endParaRPr kumimoji="0" lang="ru-RU" altLang="ru-R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18000" marR="18000" marT="0" marB="0" horzOverflow="overflow"/>
                </a:tc>
                <a:extLst>
                  <a:ext uri="{0D108BD9-81ED-4DB2-BD59-A6C34878D82A}">
                    <a16:rowId xmlns:a16="http://schemas.microsoft.com/office/drawing/2014/main" val="1234034768"/>
                  </a:ext>
                </a:extLst>
              </a:tr>
              <a:tr h="75126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Получение ресурса есть инициализация (Resource </a:t>
                      </a:r>
                      <a:r>
                        <a:rPr kumimoji="0" lang="ru-RU" altLang="ru-RU" sz="16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acquisition</a:t>
                      </a:r>
                      <a:r>
                        <a:rPr kumimoji="0" lang="ru-RU" alt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kumimoji="0" lang="ru-RU" altLang="ru-RU" sz="16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is</a:t>
                      </a:r>
                      <a:r>
                        <a:rPr kumimoji="0" lang="ru-RU" alt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kumimoji="0" lang="ru-RU" altLang="ru-RU" sz="16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initializat</a:t>
                      </a:r>
                      <a:r>
                        <a:rPr kumimoji="0" lang="ru-RU" alt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kumimoji="0" lang="ru-RU" alt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18000" marR="18000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6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Получение некоторого ресурса совмещается с инициализацией, а освобождение — с уничтожением объекта</a:t>
                      </a:r>
                      <a:endParaRPr kumimoji="0" lang="ru-RU" altLang="ru-R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18000" marR="18000" marT="0" marB="0" horzOverflow="overflow"/>
                </a:tc>
                <a:extLst>
                  <a:ext uri="{0D108BD9-81ED-4DB2-BD59-A6C34878D82A}">
                    <a16:rowId xmlns:a16="http://schemas.microsoft.com/office/drawing/2014/main" val="93222377"/>
                  </a:ext>
                </a:extLst>
              </a:tr>
              <a:tr h="25042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6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Одиночка (Singleton)</a:t>
                      </a:r>
                      <a:endParaRPr kumimoji="0" lang="ru-RU" altLang="ru-R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18000" marR="18000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Класс, который может иметь только один экземпляр</a:t>
                      </a:r>
                      <a:endParaRPr kumimoji="0" lang="ru-RU" alt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18000" marR="18000" marT="0" marB="0" horzOverflow="overflow"/>
                </a:tc>
                <a:extLst>
                  <a:ext uri="{0D108BD9-81ED-4DB2-BD59-A6C34878D82A}">
                    <a16:rowId xmlns:a16="http://schemas.microsoft.com/office/drawing/2014/main" val="2704237812"/>
                  </a:ext>
                </a:extLst>
              </a:tr>
            </a:tbl>
          </a:graphicData>
        </a:graphic>
      </p:graphicFrame>
      <p:sp>
        <p:nvSpPr>
          <p:cNvPr id="314519" name="Rectangle 151">
            <a:extLst>
              <a:ext uri="{FF2B5EF4-FFF2-40B4-BE49-F238E27FC236}">
                <a16:creationId xmlns:a16="http://schemas.microsoft.com/office/drawing/2014/main" id="{4F5C12C1-0BA9-2C1C-AA86-F459F5CD74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389" y="1235076"/>
            <a:ext cx="873918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ru-RU" altLang="ru-RU" dirty="0">
                <a:latin typeface="Georgia" panose="02040502050405020303" pitchFamily="18" charset="0"/>
              </a:rPr>
              <a:t>Позволяют сделать систему независимой от способа создания, композиции и представления объектов.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AD049DC-AAB3-9E82-94AB-7E7D588035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02752A-B111-44B3-966C-F7543765A22A}" type="slidenum">
              <a:rPr lang="ru-RU" altLang="ru-RU" smtClean="0"/>
              <a:pPr/>
              <a:t>21</a:t>
            </a:fld>
            <a:endParaRPr lang="ru-RU" alt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96" name="Rectangle 4">
            <a:extLst>
              <a:ext uri="{FF2B5EF4-FFF2-40B4-BE49-F238E27FC236}">
                <a16:creationId xmlns:a16="http://schemas.microsoft.com/office/drawing/2014/main" id="{ABD44C0E-FDB2-C057-8143-63202F1C05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03388" y="177482"/>
            <a:ext cx="9838579" cy="1027113"/>
          </a:xfrm>
        </p:spPr>
        <p:txBody>
          <a:bodyPr>
            <a:normAutofit fontScale="90000"/>
          </a:bodyPr>
          <a:lstStyle/>
          <a:p>
            <a:r>
              <a:rPr lang="ru-RU" altLang="ru-RU" sz="4000" dirty="0"/>
              <a:t>Типы шаблонов проектирования: Структурные (</a:t>
            </a:r>
            <a:r>
              <a:rPr lang="en-US" altLang="ru-RU" sz="4000" dirty="0"/>
              <a:t>Structural)</a:t>
            </a:r>
            <a:endParaRPr lang="ru-RU" altLang="ru-RU" sz="4000" dirty="0"/>
          </a:p>
        </p:txBody>
      </p:sp>
      <p:graphicFrame>
        <p:nvGraphicFramePr>
          <p:cNvPr id="315494" name="Group 102">
            <a:extLst>
              <a:ext uri="{FF2B5EF4-FFF2-40B4-BE49-F238E27FC236}">
                <a16:creationId xmlns:a16="http://schemas.microsoft.com/office/drawing/2014/main" id="{F3F7D320-A372-4E7E-32DF-25B78AA682B6}"/>
              </a:ext>
            </a:extLst>
          </p:cNvPr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903190887"/>
              </p:ext>
            </p:extLst>
          </p:nvPr>
        </p:nvGraphicFramePr>
        <p:xfrm>
          <a:off x="1399593" y="2127925"/>
          <a:ext cx="10142374" cy="4448808"/>
        </p:xfrm>
        <a:graphic>
          <a:graphicData uri="http://schemas.openxmlformats.org/drawingml/2006/table">
            <a:tbl>
              <a:tblPr firstRow="1" firstCol="1">
                <a:tableStyleId>{775DCB02-9BB8-47FD-8907-85C794F793BA}</a:tableStyleId>
              </a:tblPr>
              <a:tblGrid>
                <a:gridCol w="1884783">
                  <a:extLst>
                    <a:ext uri="{9D8B030D-6E8A-4147-A177-3AD203B41FA5}">
                      <a16:colId xmlns:a16="http://schemas.microsoft.com/office/drawing/2014/main" val="888705367"/>
                    </a:ext>
                  </a:extLst>
                </a:gridCol>
                <a:gridCol w="8257591">
                  <a:extLst>
                    <a:ext uri="{9D8B030D-6E8A-4147-A177-3AD203B41FA5}">
                      <a16:colId xmlns:a16="http://schemas.microsoft.com/office/drawing/2014/main" val="311252593"/>
                    </a:ext>
                  </a:extLst>
                </a:gridCol>
              </a:tblGrid>
              <a:tr h="24715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6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</a:rPr>
                        <a:t>Название</a:t>
                      </a:r>
                      <a:endParaRPr kumimoji="0" lang="ru-RU" altLang="ru-RU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18000" marR="18000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6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</a:rPr>
                        <a:t>Описание</a:t>
                      </a:r>
                      <a:endParaRPr kumimoji="0" lang="ru-RU" altLang="ru-RU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18000" marR="18000" marT="0" marB="0" horzOverflow="overflow"/>
                </a:tc>
                <a:extLst>
                  <a:ext uri="{0D108BD9-81ED-4DB2-BD59-A6C34878D82A}">
                    <a16:rowId xmlns:a16="http://schemas.microsoft.com/office/drawing/2014/main" val="1448564914"/>
                  </a:ext>
                </a:extLst>
              </a:tr>
              <a:tr h="49431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6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</a:rPr>
                        <a:t>Адаптер (Adapter / Wrapper)</a:t>
                      </a:r>
                      <a:endParaRPr kumimoji="0" lang="ru-RU" altLang="ru-R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18000" marR="18000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6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</a:rPr>
                        <a:t>Объект, обеспечивающий взаимодействие двух других объектов, один из которых использует, а другой предоставляет несовместимый с первым интерфейс</a:t>
                      </a:r>
                      <a:endParaRPr kumimoji="0" lang="ru-RU" altLang="ru-R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18000" marR="18000" marT="0" marB="0" horzOverflow="overflow"/>
                </a:tc>
                <a:extLst>
                  <a:ext uri="{0D108BD9-81ED-4DB2-BD59-A6C34878D82A}">
                    <a16:rowId xmlns:a16="http://schemas.microsoft.com/office/drawing/2014/main" val="225853519"/>
                  </a:ext>
                </a:extLst>
              </a:tr>
              <a:tr h="7414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6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</a:rPr>
                        <a:t>Мост (Bridge)</a:t>
                      </a:r>
                      <a:endParaRPr kumimoji="0" lang="ru-RU" altLang="ru-R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18000" marR="18000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</a:rPr>
                        <a:t>Структура, позволяющая изменять интерфейс обращения и интерфейс реализации класса независимо</a:t>
                      </a:r>
                      <a:r>
                        <a:rPr kumimoji="0" lang="en-US" alt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</a:rPr>
                        <a:t> </a:t>
                      </a:r>
                      <a:r>
                        <a:rPr kumimoji="0" lang="ru-RU" alt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</a:rPr>
                        <a:t>Да</a:t>
                      </a:r>
                      <a:r>
                        <a:rPr kumimoji="0" lang="en-US" alt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</a:rPr>
                        <a:t> </a:t>
                      </a:r>
                      <a:r>
                        <a:rPr kumimoji="0" lang="ru-RU" alt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</a:rPr>
                        <a:t>Компоновщик</a:t>
                      </a:r>
                      <a:r>
                        <a:rPr kumimoji="0" lang="en-US" alt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</a:rPr>
                        <a:t> </a:t>
                      </a:r>
                      <a:r>
                        <a:rPr kumimoji="0" lang="ru-RU" altLang="ru-RU" sz="16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</a:rPr>
                        <a:t>Composite</a:t>
                      </a:r>
                      <a:r>
                        <a:rPr kumimoji="0" lang="en-US" alt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</a:rPr>
                        <a:t> </a:t>
                      </a:r>
                      <a:r>
                        <a:rPr kumimoji="0" lang="ru-RU" alt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</a:rPr>
                        <a:t>Объект, который объединяет в себе объекты, подобные ему самому</a:t>
                      </a:r>
                      <a:endParaRPr kumimoji="0" lang="ru-RU" alt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18000" marR="18000" marT="0" marB="0" horzOverflow="overflow"/>
                </a:tc>
                <a:extLst>
                  <a:ext uri="{0D108BD9-81ED-4DB2-BD59-A6C34878D82A}">
                    <a16:rowId xmlns:a16="http://schemas.microsoft.com/office/drawing/2014/main" val="1451500285"/>
                  </a:ext>
                </a:extLst>
              </a:tr>
              <a:tr h="7414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6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</a:rPr>
                        <a:t>Декоратор</a:t>
                      </a:r>
                      <a:r>
                        <a:rPr kumimoji="0" lang="en-US" altLang="ru-RU" sz="16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</a:rPr>
                        <a:t> </a:t>
                      </a:r>
                      <a:r>
                        <a:rPr kumimoji="0" lang="ru-RU" altLang="ru-RU" sz="16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</a:rPr>
                        <a:t>или Обёртка</a:t>
                      </a:r>
                      <a:r>
                        <a:rPr kumimoji="0" lang="en-US" altLang="ru-RU" sz="16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</a:rPr>
                        <a:t> </a:t>
                      </a:r>
                      <a:r>
                        <a:rPr kumimoji="0" lang="ru-RU" altLang="ru-RU" sz="16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</a:rPr>
                        <a:t>(Wrapper/ Decorator)</a:t>
                      </a:r>
                      <a:endParaRPr kumimoji="0" lang="ru-RU" altLang="ru-R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18000" marR="18000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</a:rPr>
                        <a:t>Класс, расширяющий функциональность другого класса без использования наследования</a:t>
                      </a:r>
                      <a:endParaRPr kumimoji="0" lang="ru-RU" alt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18000" marR="18000" marT="0" marB="0" horzOverflow="overflow"/>
                </a:tc>
                <a:extLst>
                  <a:ext uri="{0D108BD9-81ED-4DB2-BD59-A6C34878D82A}">
                    <a16:rowId xmlns:a16="http://schemas.microsoft.com/office/drawing/2014/main" val="4127332757"/>
                  </a:ext>
                </a:extLst>
              </a:tr>
              <a:tr h="49431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6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</a:rPr>
                        <a:t>Фасад (Facade)</a:t>
                      </a:r>
                      <a:endParaRPr kumimoji="0" lang="ru-RU" altLang="ru-R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18000" marR="18000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6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</a:rPr>
                        <a:t>Объект, который абстрагирует работу с несколькими классами, объединяя их в единое целое</a:t>
                      </a:r>
                      <a:endParaRPr kumimoji="0" lang="ru-RU" altLang="ru-R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18000" marR="18000" marT="0" marB="0" horzOverflow="overflow"/>
                </a:tc>
                <a:extLst>
                  <a:ext uri="{0D108BD9-81ED-4DB2-BD59-A6C34878D82A}">
                    <a16:rowId xmlns:a16="http://schemas.microsoft.com/office/drawing/2014/main" val="135301481"/>
                  </a:ext>
                </a:extLst>
              </a:tr>
              <a:tr h="7414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6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</a:rPr>
                        <a:t>Единая точка входа (Front Controller)</a:t>
                      </a:r>
                      <a:endParaRPr kumimoji="0" lang="ru-RU" altLang="ru-R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18000" marR="18000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6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</a:rPr>
                        <a:t>Обеспечивает унифицированный интерфейс для интерфейсов в подсистеме. Front Controller определяет высокоуровневый интерфейс, упрощающий использование подсистемы</a:t>
                      </a:r>
                      <a:endParaRPr kumimoji="0" lang="ru-RU" altLang="ru-R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18000" marR="18000" marT="0" marB="0" horzOverflow="overflow"/>
                </a:tc>
                <a:extLst>
                  <a:ext uri="{0D108BD9-81ED-4DB2-BD59-A6C34878D82A}">
                    <a16:rowId xmlns:a16="http://schemas.microsoft.com/office/drawing/2014/main" val="287883514"/>
                  </a:ext>
                </a:extLst>
              </a:tr>
              <a:tr h="49431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6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</a:rPr>
                        <a:t>Приспособленец (Flyweight)</a:t>
                      </a:r>
                      <a:endParaRPr kumimoji="0" lang="ru-RU" altLang="ru-R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18000" marR="18000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6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</a:rPr>
                        <a:t>Это объект, представляющий себя как уникальный экземпляр в разных местах программы, но по факту не являющийся таковым</a:t>
                      </a:r>
                      <a:endParaRPr kumimoji="0" lang="ru-RU" altLang="ru-R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18000" marR="18000" marT="0" marB="0" horzOverflow="overflow"/>
                </a:tc>
                <a:extLst>
                  <a:ext uri="{0D108BD9-81ED-4DB2-BD59-A6C34878D82A}">
                    <a16:rowId xmlns:a16="http://schemas.microsoft.com/office/drawing/2014/main" val="3221909595"/>
                  </a:ext>
                </a:extLst>
              </a:tr>
              <a:tr h="49431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6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</a:rPr>
                        <a:t>Заместитель (Proxy)</a:t>
                      </a:r>
                      <a:endParaRPr kumimoji="0" lang="ru-RU" altLang="ru-R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18000" marR="18000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</a:rPr>
                        <a:t>Объект, который является посредником между двумя другими объектами, и который реализует/ограничивает доступ к объекту, к которому обращаются через него</a:t>
                      </a:r>
                      <a:endParaRPr kumimoji="0" lang="ru-RU" alt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18000" marR="18000" marT="0" marB="0" horzOverflow="overflow"/>
                </a:tc>
                <a:extLst>
                  <a:ext uri="{0D108BD9-81ED-4DB2-BD59-A6C34878D82A}">
                    <a16:rowId xmlns:a16="http://schemas.microsoft.com/office/drawing/2014/main" val="1081898422"/>
                  </a:ext>
                </a:extLst>
              </a:tr>
            </a:tbl>
          </a:graphicData>
        </a:graphic>
      </p:graphicFrame>
      <p:sp>
        <p:nvSpPr>
          <p:cNvPr id="315487" name="Rectangle 95">
            <a:extLst>
              <a:ext uri="{FF2B5EF4-FFF2-40B4-BE49-F238E27FC236}">
                <a16:creationId xmlns:a16="http://schemas.microsoft.com/office/drawing/2014/main" id="{5FEB8823-1D73-C3D7-0941-3D034DF071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388" y="1204595"/>
            <a:ext cx="862171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ru-RU" altLang="ru-RU" dirty="0">
                <a:latin typeface="Georgia" panose="02040502050405020303" pitchFamily="18" charset="0"/>
              </a:rPr>
              <a:t>Определяют различные сложные структуры, которые изменяют интерфейс уже существующих объектов или его реализацию, позволяя облегчить разработку и оптимизировать программу 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EE28FC4-AA01-084A-02F7-ECA35EEEE2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02752A-B111-44B3-966C-F7543765A22A}" type="slidenum">
              <a:rPr lang="ru-RU" altLang="ru-RU" smtClean="0"/>
              <a:pPr/>
              <a:t>22</a:t>
            </a:fld>
            <a:endParaRPr lang="ru-RU" alt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>
            <a:extLst>
              <a:ext uri="{FF2B5EF4-FFF2-40B4-BE49-F238E27FC236}">
                <a16:creationId xmlns:a16="http://schemas.microsoft.com/office/drawing/2014/main" id="{8FCDF4A2-5184-F32F-009A-7DDA35D7A3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76874" y="309245"/>
            <a:ext cx="9834465" cy="1027113"/>
          </a:xfrm>
        </p:spPr>
        <p:txBody>
          <a:bodyPr>
            <a:normAutofit fontScale="90000"/>
          </a:bodyPr>
          <a:lstStyle/>
          <a:p>
            <a:r>
              <a:rPr lang="ru-RU" altLang="ru-RU" sz="4000" dirty="0"/>
              <a:t>Типы шаблонов проектирования: Поведенческие (</a:t>
            </a:r>
            <a:r>
              <a:rPr lang="en-US" altLang="ru-RU" sz="4000" dirty="0"/>
              <a:t>Behavioral)</a:t>
            </a:r>
            <a:endParaRPr lang="ru-RU" altLang="ru-RU" sz="4000" dirty="0"/>
          </a:p>
        </p:txBody>
      </p:sp>
      <p:graphicFrame>
        <p:nvGraphicFramePr>
          <p:cNvPr id="317588" name="Group 148">
            <a:extLst>
              <a:ext uri="{FF2B5EF4-FFF2-40B4-BE49-F238E27FC236}">
                <a16:creationId xmlns:a16="http://schemas.microsoft.com/office/drawing/2014/main" id="{C3C85FFD-1939-9B8D-C063-4A54762677AF}"/>
              </a:ext>
            </a:extLst>
          </p:cNvPr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1458366345"/>
              </p:ext>
            </p:extLst>
          </p:nvPr>
        </p:nvGraphicFramePr>
        <p:xfrm>
          <a:off x="1380931" y="1977708"/>
          <a:ext cx="10338317" cy="4389120"/>
        </p:xfrm>
        <a:graphic>
          <a:graphicData uri="http://schemas.openxmlformats.org/drawingml/2006/table">
            <a:tbl>
              <a:tblPr firstRow="1" firstCol="1">
                <a:tableStyleId>{775DCB02-9BB8-47FD-8907-85C794F793BA}</a:tableStyleId>
              </a:tblPr>
              <a:tblGrid>
                <a:gridCol w="2400303">
                  <a:extLst>
                    <a:ext uri="{9D8B030D-6E8A-4147-A177-3AD203B41FA5}">
                      <a16:colId xmlns:a16="http://schemas.microsoft.com/office/drawing/2014/main" val="2765714178"/>
                    </a:ext>
                  </a:extLst>
                </a:gridCol>
                <a:gridCol w="7938014">
                  <a:extLst>
                    <a:ext uri="{9D8B030D-6E8A-4147-A177-3AD203B41FA5}">
                      <a16:colId xmlns:a16="http://schemas.microsoft.com/office/drawing/2014/main" val="766083270"/>
                    </a:ext>
                  </a:extLst>
                </a:gridCol>
              </a:tblGrid>
              <a:tr h="3284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6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Название</a:t>
                      </a:r>
                      <a:endParaRPr kumimoji="0" lang="ru-RU" altLang="ru-RU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6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Описание</a:t>
                      </a:r>
                      <a:endParaRPr kumimoji="0" lang="ru-RU" altLang="ru-RU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3400273871"/>
                  </a:ext>
                </a:extLst>
              </a:tr>
              <a:tr h="55837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Цепочка обязанностей (</a:t>
                      </a:r>
                      <a:r>
                        <a:rPr kumimoji="0" lang="ru-RU" altLang="ru-RU" sz="16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Chain</a:t>
                      </a:r>
                      <a:r>
                        <a:rPr kumimoji="0" lang="ru-RU" alt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kumimoji="0" lang="ru-RU" altLang="ru-RU" sz="16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of</a:t>
                      </a:r>
                      <a:r>
                        <a:rPr kumimoji="0" lang="ru-RU" alt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kumimoji="0" lang="ru-RU" altLang="ru-RU" sz="16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responsibility</a:t>
                      </a:r>
                      <a:r>
                        <a:rPr kumimoji="0" lang="ru-RU" alt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kumimoji="0" lang="ru-RU" alt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6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Предназначен для организации в системе уровней ответственности</a:t>
                      </a:r>
                      <a:endParaRPr kumimoji="0" lang="ru-RU" altLang="ru-R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3606984958"/>
                  </a:ext>
                </a:extLst>
              </a:tr>
              <a:tr h="55837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Команда (Command, Action, </a:t>
                      </a:r>
                      <a:r>
                        <a:rPr kumimoji="0" lang="ru-RU" altLang="ru-RU" sz="16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Transaction</a:t>
                      </a:r>
                      <a:r>
                        <a:rPr kumimoji="0" lang="ru-RU" alt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kumimoji="0" lang="ru-RU" alt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6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Представляет действие. Объект команды заключает в себе само действие и его параметры</a:t>
                      </a:r>
                      <a:endParaRPr kumimoji="0" lang="ru-RU" altLang="ru-R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2830807524"/>
                  </a:ext>
                </a:extLst>
              </a:tr>
              <a:tr h="55837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6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Интерпретатор (Interpreter)</a:t>
                      </a:r>
                      <a:endParaRPr kumimoji="0" lang="ru-RU" altLang="ru-R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6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Решает часто встречающуюся, но подверженную изменениям, задачу</a:t>
                      </a:r>
                      <a:endParaRPr kumimoji="0" lang="ru-RU" altLang="ru-R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677269436"/>
                  </a:ext>
                </a:extLst>
              </a:tr>
              <a:tr h="79107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6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Итератор (Iterator, Cursor)</a:t>
                      </a:r>
                      <a:endParaRPr kumimoji="0" lang="ru-RU" altLang="ru-R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6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Представляет собой объект, позволяющий получить последовательный доступ к элементам объекта-агрегата без использования описаний каждого из объектов, входящих в состав агрегации</a:t>
                      </a:r>
                      <a:endParaRPr kumimoji="0" lang="ru-RU" altLang="ru-R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699477303"/>
                  </a:ext>
                </a:extLst>
              </a:tr>
              <a:tr h="56643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6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Посредник (Mediator)</a:t>
                      </a:r>
                      <a:endParaRPr kumimoji="0" lang="ru-RU" altLang="ru-R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6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Обеспечивает взаимодействие множества объектов, формируя при этом слабую связанность и избавляя объекты от необходимости явно ссылаться друг на друга</a:t>
                      </a:r>
                      <a:endParaRPr kumimoji="0" lang="ru-RU" altLang="ru-R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3228689992"/>
                  </a:ext>
                </a:extLst>
              </a:tr>
              <a:tr h="55837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6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Хранитель (Memento, Token)</a:t>
                      </a:r>
                      <a:endParaRPr kumimoji="0" lang="ru-RU" altLang="ru-R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6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Позволяет не нарушая инкапсуляцию зафиксировать и сохранить внутренние состояния объекта так, чтобы позднее восстановить его в этих состояниях</a:t>
                      </a:r>
                      <a:endParaRPr kumimoji="0" lang="ru-RU" altLang="ru-R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3506339959"/>
                  </a:ext>
                </a:extLst>
              </a:tr>
              <a:tr h="3284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6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Null Object</a:t>
                      </a:r>
                      <a:endParaRPr kumimoji="0" lang="ru-RU" altLang="ru-R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Предотвращает нулевые указатели, предоставляя объект «по умолчанию»</a:t>
                      </a:r>
                      <a:endParaRPr kumimoji="0" lang="ru-RU" alt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953205602"/>
                  </a:ext>
                </a:extLst>
              </a:tr>
            </a:tbl>
          </a:graphicData>
        </a:graphic>
      </p:graphicFrame>
      <p:sp>
        <p:nvSpPr>
          <p:cNvPr id="317587" name="Rectangle 147">
            <a:extLst>
              <a:ext uri="{FF2B5EF4-FFF2-40B4-BE49-F238E27FC236}">
                <a16:creationId xmlns:a16="http://schemas.microsoft.com/office/drawing/2014/main" id="{CF33317B-90A1-48B4-C0CD-E5E08BC751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6874" y="1336358"/>
            <a:ext cx="87852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ru-RU" altLang="ru-RU" dirty="0">
                <a:latin typeface="Georgia" panose="02040502050405020303" pitchFamily="18" charset="0"/>
              </a:rPr>
              <a:t>определяют взаимодействие между объектами, увеличивая таким образом его гибкость 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B7A745E-F220-112C-E250-105DEEDC00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02752A-B111-44B3-966C-F7543765A22A}" type="slidenum">
              <a:rPr lang="ru-RU" altLang="ru-RU" smtClean="0"/>
              <a:pPr/>
              <a:t>23</a:t>
            </a:fld>
            <a:endParaRPr lang="ru-RU" alt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9559" name="Group 71">
            <a:extLst>
              <a:ext uri="{FF2B5EF4-FFF2-40B4-BE49-F238E27FC236}">
                <a16:creationId xmlns:a16="http://schemas.microsoft.com/office/drawing/2014/main" id="{FFF38EA1-0BDD-B93E-73C2-4ECBE35A36EE}"/>
              </a:ext>
            </a:extLst>
          </p:cNvPr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2722684800"/>
              </p:ext>
            </p:extLst>
          </p:nvPr>
        </p:nvGraphicFramePr>
        <p:xfrm>
          <a:off x="1063690" y="345232"/>
          <a:ext cx="10954138" cy="5760720"/>
        </p:xfrm>
        <a:graphic>
          <a:graphicData uri="http://schemas.openxmlformats.org/drawingml/2006/table">
            <a:tbl>
              <a:tblPr firstRow="1" firstCol="1">
                <a:tableStyleId>{775DCB02-9BB8-47FD-8907-85C794F793BA}</a:tableStyleId>
              </a:tblPr>
              <a:tblGrid>
                <a:gridCol w="2239347">
                  <a:extLst>
                    <a:ext uri="{9D8B030D-6E8A-4147-A177-3AD203B41FA5}">
                      <a16:colId xmlns:a16="http://schemas.microsoft.com/office/drawing/2014/main" val="3234968227"/>
                    </a:ext>
                  </a:extLst>
                </a:gridCol>
                <a:gridCol w="8714791">
                  <a:extLst>
                    <a:ext uri="{9D8B030D-6E8A-4147-A177-3AD203B41FA5}">
                      <a16:colId xmlns:a16="http://schemas.microsoft.com/office/drawing/2014/main" val="2935525805"/>
                    </a:ext>
                  </a:extLst>
                </a:gridCol>
              </a:tblGrid>
              <a:tr h="23172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8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Название</a:t>
                      </a:r>
                      <a:endParaRPr kumimoji="0" lang="ru-RU" altLang="ru-RU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18000" marR="18000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8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Описание</a:t>
                      </a:r>
                      <a:endParaRPr kumimoji="0" lang="ru-RU" altLang="ru-RU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18000" marR="18000" marT="0" marB="0" horzOverflow="overflow"/>
                </a:tc>
                <a:extLst>
                  <a:ext uri="{0D108BD9-81ED-4DB2-BD59-A6C34878D82A}">
                    <a16:rowId xmlns:a16="http://schemas.microsoft.com/office/drawing/2014/main" val="2231325735"/>
                  </a:ext>
                </a:extLst>
              </a:tr>
              <a:tr h="69515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8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Наблюдатель (Observer, Publish-Subscribe,Listener)</a:t>
                      </a:r>
                      <a:endParaRPr kumimoji="0" lang="ru-RU" altLang="ru-R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18000" marR="18000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8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Определяет зависимость типа «один ко многим» между объектами таким образом, что при изменении состояния одного объекта все зависящие от него оповещаются об этом событии</a:t>
                      </a:r>
                      <a:endParaRPr kumimoji="0" lang="ru-RU" altLang="ru-R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18000" marR="18000" marT="0" marB="0" horzOverflow="overflow"/>
                </a:tc>
                <a:extLst>
                  <a:ext uri="{0D108BD9-81ED-4DB2-BD59-A6C34878D82A}">
                    <a16:rowId xmlns:a16="http://schemas.microsoft.com/office/drawing/2014/main" val="2834718322"/>
                  </a:ext>
                </a:extLst>
              </a:tr>
              <a:tr h="23172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8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Слуга (Servant)</a:t>
                      </a:r>
                      <a:endParaRPr kumimoji="0" lang="ru-RU" altLang="ru-R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18000" marR="18000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8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Используется для обеспечения общей функциональности группе классов</a:t>
                      </a:r>
                      <a:endParaRPr kumimoji="0" lang="ru-RU" altLang="ru-R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18000" marR="18000" marT="0" marB="0" horzOverflow="overflow"/>
                </a:tc>
                <a:extLst>
                  <a:ext uri="{0D108BD9-81ED-4DB2-BD59-A6C34878D82A}">
                    <a16:rowId xmlns:a16="http://schemas.microsoft.com/office/drawing/2014/main" val="2106798282"/>
                  </a:ext>
                </a:extLst>
              </a:tr>
              <a:tr h="46343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8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Спецификация (Specification)</a:t>
                      </a:r>
                      <a:endParaRPr kumimoji="0" lang="ru-RU" altLang="ru-R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18000" marR="18000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8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Служит для связывания бизнес-логики</a:t>
                      </a:r>
                      <a:endParaRPr kumimoji="0" lang="ru-RU" altLang="ru-R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18000" marR="18000" marT="0" marB="0" horzOverflow="overflow"/>
                </a:tc>
                <a:extLst>
                  <a:ext uri="{0D108BD9-81ED-4DB2-BD59-A6C34878D82A}">
                    <a16:rowId xmlns:a16="http://schemas.microsoft.com/office/drawing/2014/main" val="635535312"/>
                  </a:ext>
                </a:extLst>
              </a:tr>
              <a:tr h="46343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8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Состояние (State, Objects for States)</a:t>
                      </a:r>
                      <a:endParaRPr kumimoji="0" lang="ru-RU" altLang="ru-R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18000" marR="18000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8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Используется в тех случаях, когда во время выполнения программы объект должен менять свое поведение в зависимости от своего состояния</a:t>
                      </a:r>
                      <a:endParaRPr kumimoji="0" lang="ru-RU" altLang="ru-R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18000" marR="18000" marT="0" marB="0" horzOverflow="overflow"/>
                </a:tc>
                <a:extLst>
                  <a:ext uri="{0D108BD9-81ED-4DB2-BD59-A6C34878D82A}">
                    <a16:rowId xmlns:a16="http://schemas.microsoft.com/office/drawing/2014/main" val="2607139336"/>
                  </a:ext>
                </a:extLst>
              </a:tr>
              <a:tr h="5123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8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Стратегия (Strategy)</a:t>
                      </a:r>
                      <a:endParaRPr kumimoji="0" lang="ru-RU" altLang="ru-R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18000" marR="18000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8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Предназначен для определения семейства алгоритмов, инкапсуляции каждого из них и обеспечения их взаимозаменяемости</a:t>
                      </a:r>
                      <a:endParaRPr kumimoji="0" lang="ru-RU" altLang="ru-R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18000" marR="18000" marT="0" marB="0" horzOverflow="overflow"/>
                </a:tc>
                <a:extLst>
                  <a:ext uri="{0D108BD9-81ED-4DB2-BD59-A6C34878D82A}">
                    <a16:rowId xmlns:a16="http://schemas.microsoft.com/office/drawing/2014/main" val="993273021"/>
                  </a:ext>
                </a:extLst>
              </a:tr>
              <a:tr h="5123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8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Шаблонный метод (Template method)</a:t>
                      </a:r>
                      <a:endParaRPr kumimoji="0" lang="ru-RU" altLang="ru-R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18000" marR="18000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8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Определяет основу алгоритма и позволяет наследникам переопределять некоторые шаги алгоритма, не изменяя его структуру в целом</a:t>
                      </a:r>
                      <a:endParaRPr kumimoji="0" lang="ru-RU" altLang="ru-R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18000" marR="18000" marT="0" marB="0" horzOverflow="overflow"/>
                </a:tc>
                <a:extLst>
                  <a:ext uri="{0D108BD9-81ED-4DB2-BD59-A6C34878D82A}">
                    <a16:rowId xmlns:a16="http://schemas.microsoft.com/office/drawing/2014/main" val="3823623353"/>
                  </a:ext>
                </a:extLst>
              </a:tr>
              <a:tr h="46343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8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Посетитель (Visitor)</a:t>
                      </a:r>
                      <a:endParaRPr kumimoji="0" lang="ru-RU" altLang="ru-R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18000" marR="18000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8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Описывает операцию, которая выполняется над объектами других классов. При изменении класса Visitor нет необходимости изменять обслуживаемые классы</a:t>
                      </a:r>
                      <a:endParaRPr kumimoji="0" lang="ru-RU" altLang="ru-R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18000" marR="18000" marT="0" marB="0" horzOverflow="overflow"/>
                </a:tc>
                <a:extLst>
                  <a:ext uri="{0D108BD9-81ED-4DB2-BD59-A6C34878D82A}">
                    <a16:rowId xmlns:a16="http://schemas.microsoft.com/office/drawing/2014/main" val="1149096616"/>
                  </a:ext>
                </a:extLst>
              </a:tr>
              <a:tr h="56913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8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Одноразовый посетитель (Single-serving visitor)</a:t>
                      </a:r>
                      <a:endParaRPr kumimoji="0" lang="ru-RU" altLang="ru-R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18000" marR="18000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8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Оптимизирует реализацию шаблона посетитель, который инициализируется, единожды используется, и затем удаляется</a:t>
                      </a:r>
                      <a:endParaRPr kumimoji="0" lang="ru-RU" altLang="ru-R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18000" marR="18000" marT="0" marB="0" horzOverflow="overflow"/>
                </a:tc>
                <a:extLst>
                  <a:ext uri="{0D108BD9-81ED-4DB2-BD59-A6C34878D82A}">
                    <a16:rowId xmlns:a16="http://schemas.microsoft.com/office/drawing/2014/main" val="1932916531"/>
                  </a:ext>
                </a:extLst>
              </a:tr>
              <a:tr h="56913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8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Иерархический посетитель (Hierarchical visitor)</a:t>
                      </a:r>
                      <a:endParaRPr kumimoji="0" lang="ru-RU" altLang="ru-R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18000" marR="18000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1793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358775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5381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71755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1747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16319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0891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2546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Предоставляет способ обхода всех вершин иерархической структуры данных (напр. древовидной)</a:t>
                      </a:r>
                      <a:endParaRPr kumimoji="0" lang="ru-RU" alt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 marL="18000" marR="18000" marT="0" marB="0" horzOverflow="overflow"/>
                </a:tc>
                <a:extLst>
                  <a:ext uri="{0D108BD9-81ED-4DB2-BD59-A6C34878D82A}">
                    <a16:rowId xmlns:a16="http://schemas.microsoft.com/office/drawing/2014/main" val="3870884537"/>
                  </a:ext>
                </a:extLst>
              </a:tr>
            </a:tbl>
          </a:graphicData>
        </a:graphic>
      </p:graphicFrame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FF4D8F2-92CF-76B2-C652-657AE796AA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02752A-B111-44B3-966C-F7543765A22A}" type="slidenum">
              <a:rPr lang="ru-RU" altLang="ru-RU" smtClean="0"/>
              <a:pPr/>
              <a:t>24</a:t>
            </a:fld>
            <a:endParaRPr lang="ru-RU" alt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98" name="Rectangle 2">
            <a:extLst>
              <a:ext uri="{FF2B5EF4-FFF2-40B4-BE49-F238E27FC236}">
                <a16:creationId xmlns:a16="http://schemas.microsoft.com/office/drawing/2014/main" id="{C1A294F9-F6C3-758A-1F83-F9B05B2CC1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altLang="ru-RU" sz="4000"/>
              <a:t>Типы шаблонов проектирования: Частные</a:t>
            </a:r>
          </a:p>
        </p:txBody>
      </p:sp>
      <p:sp>
        <p:nvSpPr>
          <p:cNvPr id="311299" name="Rectangle 3">
            <a:extLst>
              <a:ext uri="{FF2B5EF4-FFF2-40B4-BE49-F238E27FC236}">
                <a16:creationId xmlns:a16="http://schemas.microsoft.com/office/drawing/2014/main" id="{C692D848-7E7D-7550-FDAF-09205C4724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71600" y="1418253"/>
            <a:ext cx="9601200" cy="4843209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ru-RU" altLang="ru-RU" sz="1800" b="1" dirty="0"/>
              <a:t>Шаблоны параллельного программирования — </a:t>
            </a:r>
            <a:r>
              <a:rPr lang="ru-RU" altLang="ru-RU" sz="1800" dirty="0"/>
              <a:t>используются для более эффективного написания многопоточных программ, и предоставляет готовые решения проблем синхронизации.</a:t>
            </a:r>
            <a:endParaRPr lang="ru-RU" altLang="ru-RU" sz="1800" b="1" dirty="0"/>
          </a:p>
          <a:p>
            <a:pPr marL="285750" indent="-285750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ru-RU" altLang="ru-RU" sz="1800" b="1" dirty="0"/>
              <a:t>Active Object</a:t>
            </a:r>
            <a:r>
              <a:rPr lang="ru-RU" altLang="ru-RU" sz="1800" dirty="0"/>
              <a:t> Служит для отделения потока выполнения метода от потока, в котором он был вызван. Использует шаблоны асинхронный вызов методов и планировщик</a:t>
            </a:r>
          </a:p>
          <a:p>
            <a:pPr marL="285750" indent="-285750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ru-RU" altLang="ru-RU" sz="1800" b="1" dirty="0" err="1"/>
              <a:t>Balking</a:t>
            </a:r>
            <a:r>
              <a:rPr lang="ru-RU" altLang="ru-RU" sz="1800" dirty="0"/>
              <a:t> Служит для выполнения действия над объектом только тогда, когда тот находится в корректном состоянии.</a:t>
            </a:r>
          </a:p>
          <a:p>
            <a:pPr marL="285750" indent="-285750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ru-RU" altLang="ru-RU" sz="1800" b="1" dirty="0"/>
              <a:t>Обмен сообщениями (</a:t>
            </a:r>
            <a:r>
              <a:rPr lang="ru-RU" altLang="ru-RU" sz="1800" b="1" dirty="0" err="1"/>
              <a:t>Messaging</a:t>
            </a:r>
            <a:r>
              <a:rPr lang="ru-RU" altLang="ru-RU" sz="1800" b="1" dirty="0"/>
              <a:t> </a:t>
            </a:r>
            <a:r>
              <a:rPr lang="ru-RU" altLang="ru-RU" sz="1800" b="1" dirty="0" err="1"/>
              <a:t>design</a:t>
            </a:r>
            <a:r>
              <a:rPr lang="ru-RU" altLang="ru-RU" sz="1800" b="1" dirty="0"/>
              <a:t> </a:t>
            </a:r>
            <a:r>
              <a:rPr lang="ru-RU" altLang="ru-RU" sz="1800" b="1" dirty="0" err="1"/>
              <a:t>pattern</a:t>
            </a:r>
            <a:r>
              <a:rPr lang="ru-RU" altLang="ru-RU" sz="1800" b="1" dirty="0"/>
              <a:t>, MDP)</a:t>
            </a:r>
            <a:r>
              <a:rPr lang="ru-RU" altLang="ru-RU" sz="1800" dirty="0"/>
              <a:t> Позволяет компонентам и приложениям обмениваться информацией (сообщениями)</a:t>
            </a:r>
          </a:p>
          <a:p>
            <a:pPr>
              <a:lnSpc>
                <a:spcPct val="80000"/>
              </a:lnSpc>
            </a:pPr>
            <a:r>
              <a:rPr lang="ru-RU" altLang="ru-RU" sz="1800" b="1" dirty="0"/>
              <a:t>Шаблоны архитектуры системы</a:t>
            </a:r>
          </a:p>
          <a:p>
            <a:pPr marL="285750" indent="-285750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ru-RU" altLang="ru-RU" sz="1800" dirty="0"/>
              <a:t>Model-View-</a:t>
            </a:r>
            <a:r>
              <a:rPr lang="ru-RU" altLang="ru-RU" sz="1800" dirty="0" err="1"/>
              <a:t>Controller</a:t>
            </a:r>
            <a:r>
              <a:rPr lang="ru-RU" altLang="ru-RU" sz="1800" dirty="0"/>
              <a:t> (MVC) </a:t>
            </a:r>
          </a:p>
          <a:p>
            <a:pPr marL="285750" indent="-285750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ru-RU" altLang="ru-RU" sz="1800" dirty="0"/>
              <a:t>Model-View-</a:t>
            </a:r>
            <a:r>
              <a:rPr lang="ru-RU" altLang="ru-RU" sz="1800" dirty="0" err="1"/>
              <a:t>Presenter</a:t>
            </a:r>
            <a:endParaRPr lang="ru-RU" altLang="ru-RU" sz="1800" dirty="0"/>
          </a:p>
          <a:p>
            <a:pPr marL="285750" indent="-285750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ru-RU" altLang="ru-RU" sz="1800" dirty="0"/>
              <a:t>Model-View-View Model</a:t>
            </a:r>
          </a:p>
          <a:p>
            <a:pPr marL="285750" indent="-285750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ru-RU" altLang="ru-RU" sz="1800" dirty="0" err="1"/>
              <a:t>Presentation</a:t>
            </a:r>
            <a:r>
              <a:rPr lang="ru-RU" altLang="ru-RU" sz="1800" dirty="0"/>
              <a:t>-</a:t>
            </a:r>
            <a:r>
              <a:rPr lang="ru-RU" altLang="ru-RU" sz="1800" dirty="0" err="1"/>
              <a:t>Abstraction</a:t>
            </a:r>
            <a:r>
              <a:rPr lang="ru-RU" altLang="ru-RU" sz="1800" dirty="0"/>
              <a:t>-Control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BAED875-4B96-2205-5E19-16D60137D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25</a:t>
            </a:fld>
            <a:endParaRPr lang="ru-RU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14" name="Rectangle 2">
            <a:extLst>
              <a:ext uri="{FF2B5EF4-FFF2-40B4-BE49-F238E27FC236}">
                <a16:creationId xmlns:a16="http://schemas.microsoft.com/office/drawing/2014/main" id="{1B6E4692-4BB3-A45D-646F-F8F811C302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altLang="ru-RU" sz="4000"/>
              <a:t>Типы шаблонов проектирования: Прочие</a:t>
            </a:r>
          </a:p>
        </p:txBody>
      </p:sp>
      <p:sp>
        <p:nvSpPr>
          <p:cNvPr id="320515" name="Rectangle 3">
            <a:extLst>
              <a:ext uri="{FF2B5EF4-FFF2-40B4-BE49-F238E27FC236}">
                <a16:creationId xmlns:a16="http://schemas.microsoft.com/office/drawing/2014/main" id="{C9220AB0-4EA2-C718-D097-07877BEF72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 marL="342900" indent="-342900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ru-RU" altLang="ru-RU" sz="2400" b="1" dirty="0"/>
              <a:t>Carrier </a:t>
            </a:r>
            <a:r>
              <a:rPr lang="ru-RU" altLang="ru-RU" sz="2400" b="1" dirty="0" err="1"/>
              <a:t>Rider</a:t>
            </a:r>
            <a:r>
              <a:rPr lang="ru-RU" altLang="ru-RU" sz="2400" b="1" dirty="0"/>
              <a:t> </a:t>
            </a:r>
            <a:r>
              <a:rPr lang="ru-RU" altLang="ru-RU" sz="2400" b="1" dirty="0" err="1"/>
              <a:t>Mapper</a:t>
            </a:r>
            <a:r>
              <a:rPr lang="ru-RU" altLang="ru-RU" sz="2400" dirty="0"/>
              <a:t> описывают предоставление доступа к хранимой информации</a:t>
            </a:r>
          </a:p>
          <a:p>
            <a:pPr marL="342900" indent="-342900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ru-RU" altLang="ru-RU" sz="2400" b="1" dirty="0"/>
              <a:t>Аналитические шаблоны</a:t>
            </a:r>
            <a:r>
              <a:rPr lang="ru-RU" altLang="ru-RU" sz="2400" dirty="0"/>
              <a:t> описывают основной подход для составления требований для программного обеспечения (</a:t>
            </a:r>
            <a:r>
              <a:rPr lang="ru-RU" altLang="ru-RU" sz="2400" dirty="0" err="1"/>
              <a:t>requirement</a:t>
            </a:r>
            <a:r>
              <a:rPr lang="ru-RU" altLang="ru-RU" sz="2400" dirty="0"/>
              <a:t> </a:t>
            </a:r>
            <a:r>
              <a:rPr lang="ru-RU" altLang="ru-RU" sz="2400" dirty="0" err="1"/>
              <a:t>analysis</a:t>
            </a:r>
            <a:r>
              <a:rPr lang="ru-RU" altLang="ru-RU" sz="2400" dirty="0"/>
              <a:t>) до начала самого процесса программной разработки</a:t>
            </a:r>
          </a:p>
          <a:p>
            <a:pPr marL="342900" indent="-342900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ru-RU" altLang="ru-RU" sz="2400" b="1" dirty="0"/>
              <a:t>Коммуникационные шаблоны</a:t>
            </a:r>
            <a:r>
              <a:rPr lang="ru-RU" altLang="ru-RU" sz="2400" dirty="0"/>
              <a:t> описывают процесс общения между отдельными участниками/сотрудниками организации</a:t>
            </a:r>
          </a:p>
          <a:p>
            <a:pPr marL="342900" indent="-342900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ru-RU" altLang="ru-RU" sz="2400" b="1" dirty="0"/>
              <a:t>Организационные шаблоны</a:t>
            </a:r>
            <a:r>
              <a:rPr lang="ru-RU" altLang="ru-RU" sz="2400" dirty="0"/>
              <a:t> описывают организационную иерархию предприятия/фирмы</a:t>
            </a:r>
          </a:p>
          <a:p>
            <a:pPr marL="342900" indent="-342900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ru-RU" altLang="ru-RU" sz="2400" b="1" dirty="0"/>
              <a:t>Анти-паттерны (Anti-Design-</a:t>
            </a:r>
            <a:r>
              <a:rPr lang="ru-RU" altLang="ru-RU" sz="2400" b="1" dirty="0" err="1"/>
              <a:t>Patterns</a:t>
            </a:r>
            <a:r>
              <a:rPr lang="ru-RU" altLang="ru-RU" sz="2400" b="1" dirty="0"/>
              <a:t>)</a:t>
            </a:r>
            <a:r>
              <a:rPr lang="ru-RU" altLang="ru-RU" sz="2400" dirty="0"/>
              <a:t> описывают, как не следует поступать при разработке программ, показывая характерные ошибки в дизайне и в реализации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8E29FA9-CC4C-687D-5694-DC40BD5EE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26</a:t>
            </a:fld>
            <a:endParaRPr lang="ru-RU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55A0A0-EA20-6CF8-BFB9-9F01C88C7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altLang="ru-RU" dirty="0"/>
              <a:t>Паттерны проектирования: </a:t>
            </a:r>
            <a:r>
              <a:rPr lang="en-US" altLang="ru-RU" dirty="0"/>
              <a:t>Null Object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B73A8BD-0AF2-EAB0-6BC7-3D82FA87F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46167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DCCFAD-403F-477A-B097-1C2BA71C5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Паттерны проектирования: </a:t>
            </a:r>
            <a:r>
              <a:rPr lang="en-US" altLang="ru-RU" dirty="0"/>
              <a:t>Null Object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98D480C-BB92-97FF-8A57-B0CB0B47F7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altLang="ru-RU" sz="2400" b="1" dirty="0" err="1"/>
              <a:t>Null</a:t>
            </a:r>
            <a:r>
              <a:rPr lang="ru-RU" altLang="ru-RU" sz="2400" b="1" dirty="0"/>
              <a:t> Object</a:t>
            </a:r>
            <a:r>
              <a:rPr lang="ru-RU" altLang="ru-RU" sz="2400" dirty="0"/>
              <a:t> — это объект с определенным нейтральным («</a:t>
            </a:r>
            <a:r>
              <a:rPr lang="ru-RU" altLang="ru-RU" sz="2400" dirty="0" err="1"/>
              <a:t>null</a:t>
            </a:r>
            <a:r>
              <a:rPr lang="ru-RU" altLang="ru-RU" sz="2400" dirty="0"/>
              <a:t>») поведением. </a:t>
            </a:r>
          </a:p>
          <a:p>
            <a:r>
              <a:rPr lang="ru-RU" altLang="ru-RU" sz="2400" dirty="0"/>
              <a:t>Шаблон проектирования </a:t>
            </a:r>
            <a:r>
              <a:rPr lang="ru-RU" altLang="ru-RU" sz="2400" dirty="0" err="1"/>
              <a:t>Null</a:t>
            </a:r>
            <a:r>
              <a:rPr lang="ru-RU" altLang="ru-RU" sz="2400" dirty="0"/>
              <a:t> Object описывает использование таких объектов и их поведение (или отсутствие такового).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3DFA016-7B2B-210C-EAC5-48A2B659C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69420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94" name="Rectangle 2">
            <a:extLst>
              <a:ext uri="{FF2B5EF4-FFF2-40B4-BE49-F238E27FC236}">
                <a16:creationId xmlns:a16="http://schemas.microsoft.com/office/drawing/2014/main" id="{CF365C67-CFF7-A306-A3A2-C2672CFEAE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/>
              <a:t>Определение</a:t>
            </a:r>
          </a:p>
        </p:txBody>
      </p:sp>
      <p:sp>
        <p:nvSpPr>
          <p:cNvPr id="289795" name="Rectangle 3">
            <a:extLst>
              <a:ext uri="{FF2B5EF4-FFF2-40B4-BE49-F238E27FC236}">
                <a16:creationId xmlns:a16="http://schemas.microsoft.com/office/drawing/2014/main" id="{5DC7FF9A-C880-2161-85C1-45568A2A32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altLang="ru-RU" sz="2400" dirty="0"/>
              <a:t>В объектно-ориентированных языках объекты могут иметь значение NULL. Ссылки на такие объекты нуждаются в проверке на NULL-значение перед использованием, так как методы класса «нулевого» объекта, как правило, не могут вызываться.</a:t>
            </a:r>
          </a:p>
          <a:p>
            <a:r>
              <a:rPr lang="ru-RU" altLang="ru-RU" sz="2400" dirty="0"/>
              <a:t>Целью </a:t>
            </a:r>
            <a:r>
              <a:rPr lang="ru-RU" altLang="ru-RU" sz="2400" dirty="0" err="1"/>
              <a:t>Null-object</a:t>
            </a:r>
            <a:r>
              <a:rPr lang="ru-RU" altLang="ru-RU" sz="2400" dirty="0"/>
              <a:t> является инкапсулирование </a:t>
            </a:r>
            <a:r>
              <a:rPr lang="ru-RU" altLang="ru-RU" sz="2400" i="1" dirty="0"/>
              <a:t>отсутствия </a:t>
            </a:r>
            <a:r>
              <a:rPr lang="ru-RU" altLang="ru-RU" sz="2400" dirty="0"/>
              <a:t>объекта путем замещения его другим объектом, который ничего не делает.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A9E6A2A3-6E99-D08E-58D9-62E2573B0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29</a:t>
            </a:fld>
            <a:endParaRPr lang="ru-RU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058" name="Rectangle 2">
            <a:extLst>
              <a:ext uri="{FF2B5EF4-FFF2-40B4-BE49-F238E27FC236}">
                <a16:creationId xmlns:a16="http://schemas.microsoft.com/office/drawing/2014/main" id="{AF0C9310-6AB9-138F-1E17-7543ABF29F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/>
              <a:t>Применение</a:t>
            </a:r>
          </a:p>
        </p:txBody>
      </p:sp>
      <p:sp>
        <p:nvSpPr>
          <p:cNvPr id="301059" name="Rectangle 3">
            <a:extLst>
              <a:ext uri="{FF2B5EF4-FFF2-40B4-BE49-F238E27FC236}">
                <a16:creationId xmlns:a16="http://schemas.microsoft.com/office/drawing/2014/main" id="{0AF3573A-FCE5-1DE8-4A94-C784E0AA59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altLang="ru-RU" sz="2400" dirty="0"/>
              <a:t>Данный шаблон проектирования рекомендуется использовать, когда: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altLang="ru-RU" sz="2400" dirty="0"/>
              <a:t>Объект требует взаимодействия с другими объектами. </a:t>
            </a:r>
            <a:r>
              <a:rPr lang="ru-RU" altLang="ru-RU" sz="2400" dirty="0" err="1"/>
              <a:t>Null</a:t>
            </a:r>
            <a:r>
              <a:rPr lang="ru-RU" altLang="ru-RU" sz="2400" dirty="0"/>
              <a:t> Object не устанавливает нового взаимодействия — он использует уже установленное взаимодействие.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altLang="ru-RU" sz="2400" dirty="0"/>
              <a:t>Какие-то из взаимодействующих объектов должны бездействовать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altLang="ru-RU" sz="2400" dirty="0"/>
              <a:t>Требуется абстрагирование «общения» с объектами, имеющими NULL-значение.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D39187A-96AE-C0DF-4D1B-2BA7B123D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30</a:t>
            </a:fld>
            <a:endParaRPr lang="ru-RU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64" name="Rectangle 4">
            <a:extLst>
              <a:ext uri="{FF2B5EF4-FFF2-40B4-BE49-F238E27FC236}">
                <a16:creationId xmlns:a16="http://schemas.microsoft.com/office/drawing/2014/main" id="{E61FA449-4F92-55F2-87BB-CFBC799B51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/>
              <a:t>Диаграмма классов</a:t>
            </a:r>
          </a:p>
        </p:txBody>
      </p:sp>
      <p:sp>
        <p:nvSpPr>
          <p:cNvPr id="296966" name="AutoShape 6">
            <a:extLst>
              <a:ext uri="{FF2B5EF4-FFF2-40B4-BE49-F238E27FC236}">
                <a16:creationId xmlns:a16="http://schemas.microsoft.com/office/drawing/2014/main" id="{F9D5A028-FC43-8E76-10D7-59F529E2CDF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ru-RU"/>
          </a:p>
        </p:txBody>
      </p:sp>
      <p:pic>
        <p:nvPicPr>
          <p:cNvPr id="296967" name="Picture 7">
            <a:extLst>
              <a:ext uri="{FF2B5EF4-FFF2-40B4-BE49-F238E27FC236}">
                <a16:creationId xmlns:a16="http://schemas.microsoft.com/office/drawing/2014/main" id="{83AF9350-860A-25BF-8F0C-3D0C9BC7FA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735494"/>
            <a:ext cx="10244534" cy="4096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C1CBC12-C903-9074-B04F-C3B644C6C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31</a:t>
            </a:fld>
            <a:endParaRPr lang="ru-RU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Rectangle 2">
            <a:extLst>
              <a:ext uri="{FF2B5EF4-FFF2-40B4-BE49-F238E27FC236}">
                <a16:creationId xmlns:a16="http://schemas.microsoft.com/office/drawing/2014/main" id="{CA856D30-0DBE-5BE1-437E-482DAD1106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/>
              <a:t>Пример</a:t>
            </a:r>
          </a:p>
        </p:txBody>
      </p:sp>
      <p:sp>
        <p:nvSpPr>
          <p:cNvPr id="299011" name="Rectangle 3">
            <a:extLst>
              <a:ext uri="{FF2B5EF4-FFF2-40B4-BE49-F238E27FC236}">
                <a16:creationId xmlns:a16="http://schemas.microsoft.com/office/drawing/2014/main" id="{BE1E6EF0-19DD-9F8F-D82E-8306B2C1AC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55575" y="1330235"/>
            <a:ext cx="9601200" cy="5207103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80000"/>
              </a:lnSpc>
            </a:pPr>
            <a:r>
              <a:rPr lang="ru-RU" altLang="ru-RU" dirty="0" err="1">
                <a:latin typeface="Consolas" panose="020B0609020204030204" pitchFamily="49" charset="0"/>
              </a:rPr>
              <a:t>public</a:t>
            </a:r>
            <a:r>
              <a:rPr lang="ru-RU" altLang="ru-RU" dirty="0">
                <a:latin typeface="Consolas" panose="020B0609020204030204" pitchFamily="49" charset="0"/>
              </a:rPr>
              <a:t> </a:t>
            </a:r>
            <a:r>
              <a:rPr lang="ru-RU" altLang="ru-RU" dirty="0" err="1">
                <a:latin typeface="Consolas" panose="020B0609020204030204" pitchFamily="49" charset="0"/>
              </a:rPr>
              <a:t>abstract</a:t>
            </a:r>
            <a:r>
              <a:rPr lang="ru-RU" altLang="ru-RU" dirty="0">
                <a:latin typeface="Consolas" panose="020B0609020204030204" pitchFamily="49" charset="0"/>
              </a:rPr>
              <a:t> </a:t>
            </a:r>
            <a:r>
              <a:rPr lang="ru-RU" altLang="ru-RU" dirty="0" err="1">
                <a:latin typeface="Consolas" panose="020B0609020204030204" pitchFamily="49" charset="0"/>
              </a:rPr>
              <a:t>class</a:t>
            </a:r>
            <a:r>
              <a:rPr lang="ru-RU" altLang="ru-RU" dirty="0">
                <a:latin typeface="Consolas" panose="020B0609020204030204" pitchFamily="49" charset="0"/>
              </a:rPr>
              <a:t> </a:t>
            </a:r>
            <a:r>
              <a:rPr lang="ru-RU" altLang="ru-RU" dirty="0" err="1">
                <a:latin typeface="Consolas" panose="020B0609020204030204" pitchFamily="49" charset="0"/>
              </a:rPr>
              <a:t>AbstractEntity</a:t>
            </a:r>
            <a:r>
              <a:rPr lang="ru-RU" altLang="ru-RU" dirty="0">
                <a:latin typeface="Consolas" panose="020B0609020204030204" pitchFamily="49" charset="0"/>
              </a:rPr>
              <a:t> { </a:t>
            </a:r>
            <a:endParaRPr lang="en-US" altLang="ru-RU" dirty="0"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</a:pPr>
            <a:r>
              <a:rPr lang="en-US" altLang="ru-RU" dirty="0">
                <a:latin typeface="Consolas" panose="020B0609020204030204" pitchFamily="49" charset="0"/>
              </a:rPr>
              <a:t>    </a:t>
            </a:r>
            <a:r>
              <a:rPr lang="ru-RU" altLang="ru-RU" dirty="0" err="1">
                <a:latin typeface="Consolas" panose="020B0609020204030204" pitchFamily="49" charset="0"/>
              </a:rPr>
              <a:t>public</a:t>
            </a:r>
            <a:r>
              <a:rPr lang="ru-RU" altLang="ru-RU" dirty="0">
                <a:latin typeface="Consolas" panose="020B0609020204030204" pitchFamily="49" charset="0"/>
              </a:rPr>
              <a:t> </a:t>
            </a:r>
            <a:r>
              <a:rPr lang="ru-RU" altLang="ru-RU" dirty="0" err="1">
                <a:latin typeface="Consolas" panose="020B0609020204030204" pitchFamily="49" charset="0"/>
              </a:rPr>
              <a:t>abstract</a:t>
            </a:r>
            <a:r>
              <a:rPr lang="ru-RU" altLang="ru-RU" dirty="0">
                <a:latin typeface="Consolas" panose="020B0609020204030204" pitchFamily="49" charset="0"/>
              </a:rPr>
              <a:t> </a:t>
            </a:r>
            <a:r>
              <a:rPr lang="ru-RU" altLang="ru-RU" dirty="0" err="1">
                <a:latin typeface="Consolas" panose="020B0609020204030204" pitchFamily="49" charset="0"/>
              </a:rPr>
              <a:t>void</a:t>
            </a:r>
            <a:r>
              <a:rPr lang="ru-RU" altLang="ru-RU" dirty="0">
                <a:latin typeface="Consolas" panose="020B0609020204030204" pitchFamily="49" charset="0"/>
              </a:rPr>
              <a:t> </a:t>
            </a:r>
            <a:r>
              <a:rPr lang="ru-RU" altLang="ru-RU" dirty="0" err="1">
                <a:latin typeface="Consolas" panose="020B0609020204030204" pitchFamily="49" charset="0"/>
              </a:rPr>
              <a:t>doSomething</a:t>
            </a:r>
            <a:r>
              <a:rPr lang="ru-RU" altLang="ru-RU" dirty="0">
                <a:latin typeface="Consolas" panose="020B0609020204030204" pitchFamily="49" charset="0"/>
              </a:rPr>
              <a:t>(); </a:t>
            </a:r>
            <a:endParaRPr lang="en-US" altLang="ru-RU" dirty="0"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</a:pPr>
            <a:r>
              <a:rPr lang="ru-RU" altLang="ru-RU" dirty="0">
                <a:latin typeface="Consolas" panose="020B0609020204030204" pitchFamily="49" charset="0"/>
              </a:rPr>
              <a:t>}</a:t>
            </a:r>
            <a:endParaRPr lang="en-US" altLang="ru-RU" dirty="0"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</a:pPr>
            <a:endParaRPr lang="en-US" altLang="ru-RU" dirty="0"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</a:pPr>
            <a:r>
              <a:rPr lang="ru-RU" altLang="ru-RU" dirty="0" err="1">
                <a:latin typeface="Consolas" panose="020B0609020204030204" pitchFamily="49" charset="0"/>
              </a:rPr>
              <a:t>public</a:t>
            </a:r>
            <a:r>
              <a:rPr lang="ru-RU" altLang="ru-RU" dirty="0">
                <a:latin typeface="Consolas" panose="020B0609020204030204" pitchFamily="49" charset="0"/>
              </a:rPr>
              <a:t> </a:t>
            </a:r>
            <a:r>
              <a:rPr lang="ru-RU" altLang="ru-RU" dirty="0" err="1">
                <a:latin typeface="Consolas" panose="020B0609020204030204" pitchFamily="49" charset="0"/>
              </a:rPr>
              <a:t>class</a:t>
            </a:r>
            <a:r>
              <a:rPr lang="ru-RU" altLang="ru-RU" dirty="0">
                <a:latin typeface="Consolas" panose="020B0609020204030204" pitchFamily="49" charset="0"/>
              </a:rPr>
              <a:t> </a:t>
            </a:r>
            <a:r>
              <a:rPr lang="ru-RU" altLang="ru-RU" dirty="0" err="1">
                <a:latin typeface="Consolas" panose="020B0609020204030204" pitchFamily="49" charset="0"/>
              </a:rPr>
              <a:t>RealEntity</a:t>
            </a:r>
            <a:r>
              <a:rPr lang="ru-RU" altLang="ru-RU" dirty="0">
                <a:latin typeface="Consolas" panose="020B0609020204030204" pitchFamily="49" charset="0"/>
              </a:rPr>
              <a:t>: </a:t>
            </a:r>
            <a:r>
              <a:rPr lang="ru-RU" altLang="ru-RU" dirty="0" err="1">
                <a:latin typeface="Consolas" panose="020B0609020204030204" pitchFamily="49" charset="0"/>
              </a:rPr>
              <a:t>AbstractEntity</a:t>
            </a:r>
            <a:r>
              <a:rPr lang="ru-RU" altLang="ru-RU" dirty="0">
                <a:latin typeface="Consolas" panose="020B0609020204030204" pitchFamily="49" charset="0"/>
              </a:rPr>
              <a:t> { </a:t>
            </a:r>
            <a:endParaRPr lang="en-US" altLang="ru-RU" dirty="0"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</a:pPr>
            <a:r>
              <a:rPr lang="en-US" altLang="ru-RU" dirty="0">
                <a:latin typeface="Consolas" panose="020B0609020204030204" pitchFamily="49" charset="0"/>
              </a:rPr>
              <a:t>    </a:t>
            </a:r>
            <a:r>
              <a:rPr lang="ru-RU" altLang="ru-RU" dirty="0" err="1">
                <a:latin typeface="Consolas" panose="020B0609020204030204" pitchFamily="49" charset="0"/>
              </a:rPr>
              <a:t>public</a:t>
            </a:r>
            <a:r>
              <a:rPr lang="ru-RU" altLang="ru-RU" dirty="0">
                <a:latin typeface="Consolas" panose="020B0609020204030204" pitchFamily="49" charset="0"/>
              </a:rPr>
              <a:t> </a:t>
            </a:r>
            <a:r>
              <a:rPr lang="ru-RU" altLang="ru-RU" dirty="0" err="1">
                <a:latin typeface="Consolas" panose="020B0609020204030204" pitchFamily="49" charset="0"/>
              </a:rPr>
              <a:t>override</a:t>
            </a:r>
            <a:r>
              <a:rPr lang="ru-RU" altLang="ru-RU" dirty="0">
                <a:latin typeface="Consolas" panose="020B0609020204030204" pitchFamily="49" charset="0"/>
              </a:rPr>
              <a:t> </a:t>
            </a:r>
            <a:r>
              <a:rPr lang="ru-RU" altLang="ru-RU" dirty="0" err="1">
                <a:latin typeface="Consolas" panose="020B0609020204030204" pitchFamily="49" charset="0"/>
              </a:rPr>
              <a:t>void</a:t>
            </a:r>
            <a:r>
              <a:rPr lang="ru-RU" altLang="ru-RU" dirty="0">
                <a:latin typeface="Consolas" panose="020B0609020204030204" pitchFamily="49" charset="0"/>
              </a:rPr>
              <a:t> </a:t>
            </a:r>
            <a:r>
              <a:rPr lang="ru-RU" altLang="ru-RU" dirty="0" err="1">
                <a:latin typeface="Consolas" panose="020B0609020204030204" pitchFamily="49" charset="0"/>
              </a:rPr>
              <a:t>doSomething</a:t>
            </a:r>
            <a:r>
              <a:rPr lang="ru-RU" altLang="ru-RU" dirty="0">
                <a:latin typeface="Consolas" panose="020B0609020204030204" pitchFamily="49" charset="0"/>
              </a:rPr>
              <a:t>() </a:t>
            </a:r>
            <a:endParaRPr lang="en-US" altLang="ru-RU" dirty="0"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</a:pPr>
            <a:r>
              <a:rPr lang="en-US" altLang="ru-RU" dirty="0">
                <a:latin typeface="Consolas" panose="020B0609020204030204" pitchFamily="49" charset="0"/>
              </a:rPr>
              <a:t>    </a:t>
            </a:r>
            <a:r>
              <a:rPr lang="ru-RU" altLang="ru-RU" dirty="0">
                <a:latin typeface="Consolas" panose="020B0609020204030204" pitchFamily="49" charset="0"/>
              </a:rPr>
              <a:t>{ </a:t>
            </a:r>
            <a:endParaRPr lang="en-US" altLang="ru-RU" dirty="0"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</a:pPr>
            <a:r>
              <a:rPr lang="en-US" altLang="ru-RU" dirty="0">
                <a:latin typeface="Consolas" panose="020B0609020204030204" pitchFamily="49" charset="0"/>
              </a:rPr>
              <a:t>        </a:t>
            </a:r>
            <a:r>
              <a:rPr lang="ru-RU" altLang="ru-RU" dirty="0" err="1">
                <a:latin typeface="Consolas" panose="020B0609020204030204" pitchFamily="49" charset="0"/>
              </a:rPr>
              <a:t>Console.WriteLine</a:t>
            </a:r>
            <a:r>
              <a:rPr lang="ru-RU" altLang="ru-RU" dirty="0">
                <a:latin typeface="Consolas" panose="020B0609020204030204" pitchFamily="49" charset="0"/>
              </a:rPr>
              <a:t>("</a:t>
            </a:r>
            <a:r>
              <a:rPr lang="ru-RU" altLang="ru-RU" dirty="0" err="1">
                <a:latin typeface="Consolas" panose="020B0609020204030204" pitchFamily="49" charset="0"/>
              </a:rPr>
              <a:t>RealEntity</a:t>
            </a:r>
            <a:r>
              <a:rPr lang="ru-RU" altLang="ru-RU" dirty="0">
                <a:latin typeface="Consolas" panose="020B0609020204030204" pitchFamily="49" charset="0"/>
              </a:rPr>
              <a:t>::</a:t>
            </a:r>
            <a:r>
              <a:rPr lang="ru-RU" altLang="ru-RU" dirty="0" err="1">
                <a:latin typeface="Consolas" panose="020B0609020204030204" pitchFamily="49" charset="0"/>
              </a:rPr>
              <a:t>doSomething</a:t>
            </a:r>
            <a:r>
              <a:rPr lang="ru-RU" altLang="ru-RU" dirty="0">
                <a:latin typeface="Consolas" panose="020B0609020204030204" pitchFamily="49" charset="0"/>
              </a:rPr>
              <a:t>"); </a:t>
            </a:r>
            <a:endParaRPr lang="en-US" altLang="ru-RU" dirty="0"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</a:pPr>
            <a:r>
              <a:rPr lang="en-US" altLang="ru-RU" dirty="0">
                <a:latin typeface="Consolas" panose="020B0609020204030204" pitchFamily="49" charset="0"/>
              </a:rPr>
              <a:t>    </a:t>
            </a:r>
            <a:r>
              <a:rPr lang="ru-RU" altLang="ru-RU" dirty="0">
                <a:latin typeface="Consolas" panose="020B0609020204030204" pitchFamily="49" charset="0"/>
              </a:rPr>
              <a:t>} </a:t>
            </a:r>
            <a:endParaRPr lang="en-US" altLang="ru-RU" dirty="0"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</a:pPr>
            <a:r>
              <a:rPr lang="ru-RU" altLang="ru-RU" dirty="0">
                <a:latin typeface="Consolas" panose="020B0609020204030204" pitchFamily="49" charset="0"/>
              </a:rPr>
              <a:t>} </a:t>
            </a:r>
            <a:endParaRPr lang="en-US" altLang="ru-RU" dirty="0"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</a:pPr>
            <a:r>
              <a:rPr lang="ru-RU" altLang="ru-RU" dirty="0" err="1">
                <a:latin typeface="Consolas" panose="020B0609020204030204" pitchFamily="49" charset="0"/>
              </a:rPr>
              <a:t>public</a:t>
            </a:r>
            <a:r>
              <a:rPr lang="ru-RU" altLang="ru-RU" dirty="0">
                <a:latin typeface="Consolas" panose="020B0609020204030204" pitchFamily="49" charset="0"/>
              </a:rPr>
              <a:t> </a:t>
            </a:r>
            <a:r>
              <a:rPr lang="ru-RU" altLang="ru-RU" dirty="0" err="1">
                <a:latin typeface="Consolas" panose="020B0609020204030204" pitchFamily="49" charset="0"/>
              </a:rPr>
              <a:t>class</a:t>
            </a:r>
            <a:r>
              <a:rPr lang="ru-RU" altLang="ru-RU" dirty="0">
                <a:latin typeface="Consolas" panose="020B0609020204030204" pitchFamily="49" charset="0"/>
              </a:rPr>
              <a:t> </a:t>
            </a:r>
            <a:r>
              <a:rPr lang="ru-RU" altLang="ru-RU" dirty="0" err="1">
                <a:latin typeface="Consolas" panose="020B0609020204030204" pitchFamily="49" charset="0"/>
              </a:rPr>
              <a:t>NullEntity</a:t>
            </a:r>
            <a:r>
              <a:rPr lang="ru-RU" altLang="ru-RU" dirty="0">
                <a:latin typeface="Consolas" panose="020B0609020204030204" pitchFamily="49" charset="0"/>
              </a:rPr>
              <a:t>: </a:t>
            </a:r>
            <a:r>
              <a:rPr lang="ru-RU" altLang="ru-RU" dirty="0" err="1">
                <a:latin typeface="Consolas" panose="020B0609020204030204" pitchFamily="49" charset="0"/>
              </a:rPr>
              <a:t>AbstractEntity</a:t>
            </a:r>
            <a:r>
              <a:rPr lang="ru-RU" altLang="ru-RU" dirty="0">
                <a:latin typeface="Consolas" panose="020B0609020204030204" pitchFamily="49" charset="0"/>
              </a:rPr>
              <a:t> { </a:t>
            </a:r>
            <a:endParaRPr lang="en-US" altLang="ru-RU" dirty="0"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</a:pPr>
            <a:r>
              <a:rPr lang="en-US" altLang="ru-RU" dirty="0">
                <a:latin typeface="Consolas" panose="020B0609020204030204" pitchFamily="49" charset="0"/>
              </a:rPr>
              <a:t>    </a:t>
            </a:r>
            <a:r>
              <a:rPr lang="ru-RU" altLang="ru-RU" dirty="0" err="1">
                <a:latin typeface="Consolas" panose="020B0609020204030204" pitchFamily="49" charset="0"/>
              </a:rPr>
              <a:t>public</a:t>
            </a:r>
            <a:r>
              <a:rPr lang="ru-RU" altLang="ru-RU" dirty="0">
                <a:latin typeface="Consolas" panose="020B0609020204030204" pitchFamily="49" charset="0"/>
              </a:rPr>
              <a:t> </a:t>
            </a:r>
            <a:r>
              <a:rPr lang="ru-RU" altLang="ru-RU" dirty="0" err="1">
                <a:latin typeface="Consolas" panose="020B0609020204030204" pitchFamily="49" charset="0"/>
              </a:rPr>
              <a:t>override</a:t>
            </a:r>
            <a:r>
              <a:rPr lang="ru-RU" altLang="ru-RU" dirty="0">
                <a:latin typeface="Consolas" panose="020B0609020204030204" pitchFamily="49" charset="0"/>
              </a:rPr>
              <a:t> </a:t>
            </a:r>
            <a:r>
              <a:rPr lang="ru-RU" altLang="ru-RU" dirty="0" err="1">
                <a:latin typeface="Consolas" panose="020B0609020204030204" pitchFamily="49" charset="0"/>
              </a:rPr>
              <a:t>void</a:t>
            </a:r>
            <a:r>
              <a:rPr lang="ru-RU" altLang="ru-RU" dirty="0">
                <a:latin typeface="Consolas" panose="020B0609020204030204" pitchFamily="49" charset="0"/>
              </a:rPr>
              <a:t> </a:t>
            </a:r>
            <a:r>
              <a:rPr lang="ru-RU" altLang="ru-RU" dirty="0" err="1">
                <a:latin typeface="Consolas" panose="020B0609020204030204" pitchFamily="49" charset="0"/>
              </a:rPr>
              <a:t>doSomething</a:t>
            </a:r>
            <a:r>
              <a:rPr lang="ru-RU" altLang="ru-RU" dirty="0">
                <a:latin typeface="Consolas" panose="020B0609020204030204" pitchFamily="49" charset="0"/>
              </a:rPr>
              <a:t>() </a:t>
            </a:r>
            <a:endParaRPr lang="en-US" altLang="ru-RU" dirty="0"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</a:pPr>
            <a:r>
              <a:rPr lang="en-US" altLang="ru-RU" dirty="0">
                <a:latin typeface="Consolas" panose="020B0609020204030204" pitchFamily="49" charset="0"/>
              </a:rPr>
              <a:t>    </a:t>
            </a:r>
            <a:r>
              <a:rPr lang="ru-RU" altLang="ru-RU" dirty="0">
                <a:latin typeface="Consolas" panose="020B0609020204030204" pitchFamily="49" charset="0"/>
              </a:rPr>
              <a:t>{ </a:t>
            </a:r>
            <a:endParaRPr lang="en-US" altLang="ru-RU" dirty="0"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</a:pPr>
            <a:r>
              <a:rPr lang="en-US" altLang="ru-RU" dirty="0">
                <a:latin typeface="Consolas" panose="020B0609020204030204" pitchFamily="49" charset="0"/>
              </a:rPr>
              <a:t>        </a:t>
            </a:r>
            <a:r>
              <a:rPr lang="ru-RU" altLang="ru-RU" dirty="0" err="1">
                <a:latin typeface="Consolas" panose="020B0609020204030204" pitchFamily="49" charset="0"/>
              </a:rPr>
              <a:t>Console.WriteLine</a:t>
            </a:r>
            <a:r>
              <a:rPr lang="ru-RU" altLang="ru-RU" dirty="0">
                <a:latin typeface="Consolas" panose="020B0609020204030204" pitchFamily="49" charset="0"/>
              </a:rPr>
              <a:t>("</a:t>
            </a:r>
            <a:r>
              <a:rPr lang="ru-RU" altLang="ru-RU" dirty="0" err="1">
                <a:latin typeface="Consolas" panose="020B0609020204030204" pitchFamily="49" charset="0"/>
              </a:rPr>
              <a:t>NullEntity</a:t>
            </a:r>
            <a:r>
              <a:rPr lang="ru-RU" altLang="ru-RU" dirty="0">
                <a:latin typeface="Consolas" panose="020B0609020204030204" pitchFamily="49" charset="0"/>
              </a:rPr>
              <a:t>::</a:t>
            </a:r>
            <a:r>
              <a:rPr lang="ru-RU" altLang="ru-RU" dirty="0" err="1">
                <a:latin typeface="Consolas" panose="020B0609020204030204" pitchFamily="49" charset="0"/>
              </a:rPr>
              <a:t>doSomething</a:t>
            </a:r>
            <a:r>
              <a:rPr lang="ru-RU" altLang="ru-RU" dirty="0">
                <a:latin typeface="Consolas" panose="020B0609020204030204" pitchFamily="49" charset="0"/>
              </a:rPr>
              <a:t>"); </a:t>
            </a:r>
            <a:endParaRPr lang="en-US" altLang="ru-RU" dirty="0"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</a:pPr>
            <a:r>
              <a:rPr lang="en-US" altLang="ru-RU" dirty="0">
                <a:latin typeface="Consolas" panose="020B0609020204030204" pitchFamily="49" charset="0"/>
              </a:rPr>
              <a:t>    </a:t>
            </a:r>
            <a:r>
              <a:rPr lang="ru-RU" altLang="ru-RU" dirty="0">
                <a:latin typeface="Consolas" panose="020B0609020204030204" pitchFamily="49" charset="0"/>
              </a:rPr>
              <a:t>} </a:t>
            </a:r>
            <a:endParaRPr lang="en-US" altLang="ru-RU" dirty="0"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</a:pPr>
            <a:r>
              <a:rPr lang="ru-RU" altLang="ru-RU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3795CA8-62A2-4C40-7000-5D8E40287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32</a:t>
            </a:fld>
            <a:endParaRPr lang="ru-RU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34" name="Rectangle 2">
            <a:extLst>
              <a:ext uri="{FF2B5EF4-FFF2-40B4-BE49-F238E27FC236}">
                <a16:creationId xmlns:a16="http://schemas.microsoft.com/office/drawing/2014/main" id="{9C971B4A-E3A2-7756-9DA1-478F009984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altLang="ru-RU" sz="4000"/>
              <a:t>Пример применения шаблона </a:t>
            </a:r>
            <a:r>
              <a:rPr lang="en-US" altLang="ru-RU" sz="4000"/>
              <a:t>Null Object</a:t>
            </a:r>
            <a:endParaRPr lang="ru-RU" altLang="ru-RU" sz="4000"/>
          </a:p>
        </p:txBody>
      </p:sp>
      <p:sp>
        <p:nvSpPr>
          <p:cNvPr id="300035" name="Rectangle 3">
            <a:extLst>
              <a:ext uri="{FF2B5EF4-FFF2-40B4-BE49-F238E27FC236}">
                <a16:creationId xmlns:a16="http://schemas.microsoft.com/office/drawing/2014/main" id="{924D3723-4B06-98D0-6221-AB4E67E29B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11558" y="1226664"/>
            <a:ext cx="9881119" cy="5192797"/>
          </a:xfrm>
        </p:spPr>
        <p:txBody>
          <a:bodyPr>
            <a:normAutofit/>
          </a:bodyPr>
          <a:lstStyle/>
          <a:p>
            <a:endParaRPr lang="en-US" altLang="ru-RU" sz="2400" dirty="0">
              <a:latin typeface="Consolas" panose="020B0609020204030204" pitchFamily="49" charset="0"/>
            </a:endParaRPr>
          </a:p>
          <a:p>
            <a:r>
              <a:rPr lang="ru-RU" altLang="ru-RU" sz="2400" dirty="0" err="1">
                <a:latin typeface="Consolas" panose="020B0609020204030204" pitchFamily="49" charset="0"/>
              </a:rPr>
              <a:t>void</a:t>
            </a:r>
            <a:r>
              <a:rPr lang="ru-RU" altLang="ru-RU" sz="2400" dirty="0">
                <a:latin typeface="Consolas" panose="020B0609020204030204" pitchFamily="49" charset="0"/>
              </a:rPr>
              <a:t> </a:t>
            </a:r>
            <a:r>
              <a:rPr lang="ru-RU" altLang="ru-RU" sz="2400" dirty="0" err="1">
                <a:latin typeface="Consolas" panose="020B0609020204030204" pitchFamily="49" charset="0"/>
              </a:rPr>
              <a:t>Main</a:t>
            </a:r>
            <a:r>
              <a:rPr lang="ru-RU" altLang="ru-RU" sz="2400" dirty="0">
                <a:latin typeface="Consolas" panose="020B0609020204030204" pitchFamily="49" charset="0"/>
              </a:rPr>
              <a:t>() </a:t>
            </a:r>
            <a:endParaRPr lang="en-US" altLang="ru-RU" sz="2400" dirty="0">
              <a:latin typeface="Consolas" panose="020B0609020204030204" pitchFamily="49" charset="0"/>
            </a:endParaRPr>
          </a:p>
          <a:p>
            <a:r>
              <a:rPr lang="ru-RU" altLang="ru-RU" sz="2400" dirty="0">
                <a:latin typeface="Consolas" panose="020B0609020204030204" pitchFamily="49" charset="0"/>
              </a:rPr>
              <a:t>{ </a:t>
            </a:r>
            <a:endParaRPr lang="en-US" altLang="ru-RU" sz="2400" dirty="0">
              <a:latin typeface="Consolas" panose="020B0609020204030204" pitchFamily="49" charset="0"/>
            </a:endParaRPr>
          </a:p>
          <a:p>
            <a:r>
              <a:rPr lang="en-US" altLang="ru-RU" sz="2400" dirty="0">
                <a:latin typeface="Consolas" panose="020B0609020204030204" pitchFamily="49" charset="0"/>
              </a:rPr>
              <a:t>    </a:t>
            </a:r>
            <a:r>
              <a:rPr lang="ru-RU" altLang="ru-RU" sz="2400" dirty="0" err="1">
                <a:latin typeface="Consolas" panose="020B0609020204030204" pitchFamily="49" charset="0"/>
              </a:rPr>
              <a:t>AbstractEntity</a:t>
            </a:r>
            <a:r>
              <a:rPr lang="ru-RU" altLang="ru-RU" sz="2400" dirty="0">
                <a:latin typeface="Consolas" panose="020B0609020204030204" pitchFamily="49" charset="0"/>
              </a:rPr>
              <a:t> </a:t>
            </a:r>
            <a:r>
              <a:rPr lang="ru-RU" altLang="ru-RU" sz="2400" dirty="0" err="1">
                <a:latin typeface="Consolas" panose="020B0609020204030204" pitchFamily="49" charset="0"/>
              </a:rPr>
              <a:t>realEntity</a:t>
            </a:r>
            <a:r>
              <a:rPr lang="ru-RU" altLang="ru-RU" sz="2400" dirty="0">
                <a:latin typeface="Consolas" panose="020B0609020204030204" pitchFamily="49" charset="0"/>
              </a:rPr>
              <a:t> = </a:t>
            </a:r>
            <a:r>
              <a:rPr lang="ru-RU" altLang="ru-RU" sz="2400" dirty="0" err="1">
                <a:latin typeface="Consolas" panose="020B0609020204030204" pitchFamily="49" charset="0"/>
              </a:rPr>
              <a:t>new</a:t>
            </a:r>
            <a:r>
              <a:rPr lang="ru-RU" altLang="ru-RU" sz="2400" dirty="0">
                <a:latin typeface="Consolas" panose="020B0609020204030204" pitchFamily="49" charset="0"/>
              </a:rPr>
              <a:t> </a:t>
            </a:r>
            <a:r>
              <a:rPr lang="ru-RU" altLang="ru-RU" sz="2400" dirty="0" err="1">
                <a:latin typeface="Consolas" panose="020B0609020204030204" pitchFamily="49" charset="0"/>
              </a:rPr>
              <a:t>RealEntity</a:t>
            </a:r>
            <a:r>
              <a:rPr lang="ru-RU" altLang="ru-RU" sz="2400" dirty="0">
                <a:latin typeface="Consolas" panose="020B0609020204030204" pitchFamily="49" charset="0"/>
              </a:rPr>
              <a:t>(); </a:t>
            </a:r>
            <a:endParaRPr lang="en-US" altLang="ru-RU" sz="2400" dirty="0">
              <a:latin typeface="Consolas" panose="020B0609020204030204" pitchFamily="49" charset="0"/>
            </a:endParaRPr>
          </a:p>
          <a:p>
            <a:r>
              <a:rPr lang="en-US" altLang="ru-RU" sz="2400" dirty="0">
                <a:latin typeface="Consolas" panose="020B0609020204030204" pitchFamily="49" charset="0"/>
              </a:rPr>
              <a:t>    </a:t>
            </a:r>
            <a:r>
              <a:rPr lang="ru-RU" altLang="ru-RU" sz="2400" dirty="0" err="1">
                <a:latin typeface="Consolas" panose="020B0609020204030204" pitchFamily="49" charset="0"/>
              </a:rPr>
              <a:t>realEntity.doSomething</a:t>
            </a:r>
            <a:r>
              <a:rPr lang="ru-RU" altLang="ru-RU" sz="2400" dirty="0">
                <a:latin typeface="Consolas" panose="020B0609020204030204" pitchFamily="49" charset="0"/>
              </a:rPr>
              <a:t>(); </a:t>
            </a:r>
            <a:endParaRPr lang="en-US" altLang="ru-RU" sz="2400" dirty="0">
              <a:latin typeface="Consolas" panose="020B0609020204030204" pitchFamily="49" charset="0"/>
            </a:endParaRPr>
          </a:p>
          <a:p>
            <a:r>
              <a:rPr lang="en-US" altLang="ru-RU" sz="2400" dirty="0">
                <a:latin typeface="Consolas" panose="020B0609020204030204" pitchFamily="49" charset="0"/>
              </a:rPr>
              <a:t>    </a:t>
            </a:r>
            <a:r>
              <a:rPr lang="ru-RU" altLang="ru-RU" sz="2400" dirty="0">
                <a:latin typeface="Consolas" panose="020B0609020204030204" pitchFamily="49" charset="0"/>
              </a:rPr>
              <a:t>// </a:t>
            </a:r>
            <a:r>
              <a:rPr lang="ru-RU" altLang="ru-RU" sz="2400" dirty="0" err="1">
                <a:latin typeface="Consolas" panose="020B0609020204030204" pitchFamily="49" charset="0"/>
              </a:rPr>
              <a:t>RealEntity</a:t>
            </a:r>
            <a:r>
              <a:rPr lang="ru-RU" altLang="ru-RU" sz="2400" dirty="0">
                <a:latin typeface="Consolas" panose="020B0609020204030204" pitchFamily="49" charset="0"/>
              </a:rPr>
              <a:t>::</a:t>
            </a:r>
            <a:r>
              <a:rPr lang="ru-RU" altLang="ru-RU" sz="2400" dirty="0" err="1">
                <a:latin typeface="Consolas" panose="020B0609020204030204" pitchFamily="49" charset="0"/>
              </a:rPr>
              <a:t>doSomething</a:t>
            </a:r>
            <a:r>
              <a:rPr lang="ru-RU" altLang="ru-RU" sz="2400" dirty="0">
                <a:latin typeface="Consolas" panose="020B0609020204030204" pitchFamily="49" charset="0"/>
              </a:rPr>
              <a:t> </a:t>
            </a:r>
            <a:endParaRPr lang="en-US" altLang="ru-RU" sz="2400" dirty="0">
              <a:latin typeface="Consolas" panose="020B0609020204030204" pitchFamily="49" charset="0"/>
            </a:endParaRPr>
          </a:p>
          <a:p>
            <a:r>
              <a:rPr lang="en-US" altLang="ru-RU" sz="2400" dirty="0">
                <a:latin typeface="Consolas" panose="020B0609020204030204" pitchFamily="49" charset="0"/>
              </a:rPr>
              <a:t>    </a:t>
            </a:r>
            <a:r>
              <a:rPr lang="ru-RU" altLang="ru-RU" sz="2400" dirty="0" err="1">
                <a:latin typeface="Consolas" panose="020B0609020204030204" pitchFamily="49" charset="0"/>
              </a:rPr>
              <a:t>AbstractEntity</a:t>
            </a:r>
            <a:r>
              <a:rPr lang="ru-RU" altLang="ru-RU" sz="2400" dirty="0">
                <a:latin typeface="Consolas" panose="020B0609020204030204" pitchFamily="49" charset="0"/>
              </a:rPr>
              <a:t> </a:t>
            </a:r>
            <a:r>
              <a:rPr lang="ru-RU" altLang="ru-RU" sz="2400" dirty="0" err="1">
                <a:latin typeface="Consolas" panose="020B0609020204030204" pitchFamily="49" charset="0"/>
              </a:rPr>
              <a:t>unknownEntity</a:t>
            </a:r>
            <a:r>
              <a:rPr lang="ru-RU" altLang="ru-RU" sz="2400" dirty="0">
                <a:latin typeface="Consolas" panose="020B0609020204030204" pitchFamily="49" charset="0"/>
              </a:rPr>
              <a:t>=</a:t>
            </a:r>
            <a:r>
              <a:rPr lang="ru-RU" altLang="ru-RU" sz="2400" dirty="0" err="1">
                <a:latin typeface="Consolas" panose="020B0609020204030204" pitchFamily="49" charset="0"/>
              </a:rPr>
              <a:t>new</a:t>
            </a:r>
            <a:r>
              <a:rPr lang="ru-RU" altLang="ru-RU" sz="2400" dirty="0">
                <a:latin typeface="Consolas" panose="020B0609020204030204" pitchFamily="49" charset="0"/>
              </a:rPr>
              <a:t> </a:t>
            </a:r>
            <a:r>
              <a:rPr lang="ru-RU" altLang="ru-RU" sz="2400" dirty="0" err="1">
                <a:latin typeface="Consolas" panose="020B0609020204030204" pitchFamily="49" charset="0"/>
              </a:rPr>
              <a:t>NullEntity</a:t>
            </a:r>
            <a:r>
              <a:rPr lang="ru-RU" altLang="ru-RU" sz="2400" dirty="0">
                <a:latin typeface="Consolas" panose="020B0609020204030204" pitchFamily="49" charset="0"/>
              </a:rPr>
              <a:t>();</a:t>
            </a:r>
            <a:endParaRPr lang="en-US" altLang="ru-RU" sz="2400" dirty="0">
              <a:latin typeface="Consolas" panose="020B0609020204030204" pitchFamily="49" charset="0"/>
            </a:endParaRPr>
          </a:p>
          <a:p>
            <a:r>
              <a:rPr lang="ru-RU" altLang="ru-RU" sz="2400" dirty="0">
                <a:latin typeface="Consolas" panose="020B0609020204030204" pitchFamily="49" charset="0"/>
              </a:rPr>
              <a:t> </a:t>
            </a:r>
            <a:r>
              <a:rPr lang="en-US" altLang="ru-RU" sz="2400" dirty="0">
                <a:latin typeface="Consolas" panose="020B0609020204030204" pitchFamily="49" charset="0"/>
              </a:rPr>
              <a:t>   </a:t>
            </a:r>
            <a:r>
              <a:rPr lang="ru-RU" altLang="ru-RU" sz="2400" dirty="0" err="1">
                <a:latin typeface="Consolas" panose="020B0609020204030204" pitchFamily="49" charset="0"/>
              </a:rPr>
              <a:t>unknownEntity.doSomething</a:t>
            </a:r>
            <a:r>
              <a:rPr lang="ru-RU" altLang="ru-RU" sz="2400" dirty="0">
                <a:latin typeface="Consolas" panose="020B0609020204030204" pitchFamily="49" charset="0"/>
              </a:rPr>
              <a:t>(); </a:t>
            </a:r>
            <a:endParaRPr lang="en-US" altLang="ru-RU" sz="2400" dirty="0">
              <a:latin typeface="Consolas" panose="020B0609020204030204" pitchFamily="49" charset="0"/>
            </a:endParaRPr>
          </a:p>
          <a:p>
            <a:r>
              <a:rPr lang="en-US" altLang="ru-RU" sz="2400" dirty="0">
                <a:latin typeface="Consolas" panose="020B0609020204030204" pitchFamily="49" charset="0"/>
              </a:rPr>
              <a:t>    </a:t>
            </a:r>
            <a:r>
              <a:rPr lang="ru-RU" altLang="ru-RU" sz="2400" dirty="0">
                <a:latin typeface="Consolas" panose="020B0609020204030204" pitchFamily="49" charset="0"/>
              </a:rPr>
              <a:t>// </a:t>
            </a:r>
            <a:r>
              <a:rPr lang="ru-RU" altLang="ru-RU" sz="2400" dirty="0" err="1">
                <a:latin typeface="Consolas" panose="020B0609020204030204" pitchFamily="49" charset="0"/>
              </a:rPr>
              <a:t>NullEntity</a:t>
            </a:r>
            <a:r>
              <a:rPr lang="ru-RU" altLang="ru-RU" sz="2400" dirty="0">
                <a:latin typeface="Consolas" panose="020B0609020204030204" pitchFamily="49" charset="0"/>
              </a:rPr>
              <a:t>::</a:t>
            </a:r>
            <a:r>
              <a:rPr lang="ru-RU" altLang="ru-RU" sz="2400" dirty="0" err="1">
                <a:latin typeface="Consolas" panose="020B0609020204030204" pitchFamily="49" charset="0"/>
              </a:rPr>
              <a:t>doSomething</a:t>
            </a:r>
            <a:r>
              <a:rPr lang="ru-RU" altLang="ru-RU" sz="2400" dirty="0">
                <a:latin typeface="Consolas" panose="020B0609020204030204" pitchFamily="49" charset="0"/>
              </a:rPr>
              <a:t> </a:t>
            </a:r>
            <a:endParaRPr lang="en-US" altLang="ru-RU" sz="2400" dirty="0">
              <a:latin typeface="Consolas" panose="020B0609020204030204" pitchFamily="49" charset="0"/>
            </a:endParaRPr>
          </a:p>
          <a:p>
            <a:r>
              <a:rPr lang="ru-RU" altLang="ru-RU" sz="2400" dirty="0">
                <a:latin typeface="Consolas" panose="020B0609020204030204" pitchFamily="49" charset="0"/>
              </a:rPr>
              <a:t>}</a:t>
            </a:r>
            <a:endParaRPr lang="en-US" altLang="ru-RU" sz="2400" dirty="0">
              <a:latin typeface="Consolas" panose="020B0609020204030204" pitchFamily="49" charset="0"/>
            </a:endParaRPr>
          </a:p>
          <a:p>
            <a:endParaRPr lang="en-US" altLang="ru-RU" sz="2400" dirty="0">
              <a:latin typeface="Consolas" panose="020B0609020204030204" pitchFamily="49" charset="0"/>
            </a:endParaRPr>
          </a:p>
          <a:p>
            <a:endParaRPr lang="en-US" altLang="ru-RU" sz="2400" dirty="0">
              <a:latin typeface="Consolas" panose="020B0609020204030204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595C027-3E63-E1FC-5304-060A35050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33</a:t>
            </a:fld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Уголки">
  <a:themeElements>
    <a:clrScheme name="Уголки">
      <a:dk1>
        <a:sysClr val="windowText" lastClr="000000"/>
      </a:dk1>
      <a:lt1>
        <a:sysClr val="window" lastClr="FFFFFF"/>
      </a:lt1>
      <a:dk2>
        <a:srgbClr val="1A2E40"/>
      </a:dk2>
      <a:lt2>
        <a:srgbClr val="EBE7DD"/>
      </a:lt2>
      <a:accent1>
        <a:srgbClr val="69A1AB"/>
      </a:accent1>
      <a:accent2>
        <a:srgbClr val="F2C418"/>
      </a:accent2>
      <a:accent3>
        <a:srgbClr val="87492C"/>
      </a:accent3>
      <a:accent4>
        <a:srgbClr val="4A845E"/>
      </a:accent4>
      <a:accent5>
        <a:srgbClr val="DC9528"/>
      </a:accent5>
      <a:accent6>
        <a:srgbClr val="9A5D78"/>
      </a:accent6>
      <a:hlink>
        <a:srgbClr val="66C8E3"/>
      </a:hlink>
      <a:folHlink>
        <a:srgbClr val="B162A1"/>
      </a:folHlink>
    </a:clrScheme>
    <a:fontScheme name="Уголки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17F9D331-421E-442F-B033-AF5B21A4485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TM10001105[[fn=Уголки]]</Template>
  <TotalTime>419</TotalTime>
  <Words>2476</Words>
  <Application>Microsoft Office PowerPoint</Application>
  <PresentationFormat>Широкоэкранный</PresentationFormat>
  <Paragraphs>271</Paragraphs>
  <Slides>33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33</vt:i4>
      </vt:variant>
    </vt:vector>
  </HeadingPairs>
  <TitlesOfParts>
    <vt:vector size="40" baseType="lpstr">
      <vt:lpstr>Arial</vt:lpstr>
      <vt:lpstr>Calibri</vt:lpstr>
      <vt:lpstr>Consolas</vt:lpstr>
      <vt:lpstr>Franklin Gothic Book</vt:lpstr>
      <vt:lpstr>Georgia</vt:lpstr>
      <vt:lpstr>Wingdings</vt:lpstr>
      <vt:lpstr>Уголки</vt:lpstr>
      <vt:lpstr>Лекция 12   Качество ПО. Паттерны</vt:lpstr>
      <vt:lpstr>Модульность</vt:lpstr>
      <vt:lpstr>Модульный метод</vt:lpstr>
      <vt:lpstr>Презентация PowerPoint</vt:lpstr>
      <vt:lpstr>Презентация PowerPoint</vt:lpstr>
      <vt:lpstr>Правила</vt:lpstr>
      <vt:lpstr>Принципы</vt:lpstr>
      <vt:lpstr>Принципы SOLID</vt:lpstr>
      <vt:lpstr>Необходимые термины</vt:lpstr>
      <vt:lpstr>Расшифровка</vt:lpstr>
      <vt:lpstr>S – Single Responsibility (Принцип единственной ответственности)</vt:lpstr>
      <vt:lpstr>O — Open-Closed (Принцип открытости-закрытости)</vt:lpstr>
      <vt:lpstr>L — Liskov Substitution (Принцип подстановки Барбары Лисков)</vt:lpstr>
      <vt:lpstr>I — Interface Segregation (Принцип разделения интерфейсов)</vt:lpstr>
      <vt:lpstr>D — Dependency Inversion (Принцип инверсии зависимостей)</vt:lpstr>
      <vt:lpstr>Паттерны (шаблоны) проектирования</vt:lpstr>
      <vt:lpstr>Определения</vt:lpstr>
      <vt:lpstr>Плюсы</vt:lpstr>
      <vt:lpstr>Минусы</vt:lpstr>
      <vt:lpstr>Типы шаблонов проектирования: Основные (Fundamental)</vt:lpstr>
      <vt:lpstr>Типы шаблонов проектирования: Порождающие (Creational)</vt:lpstr>
      <vt:lpstr>Типы шаблонов проектирования: Структурные (Structural)</vt:lpstr>
      <vt:lpstr>Типы шаблонов проектирования: Поведенческие (Behavioral)</vt:lpstr>
      <vt:lpstr>Презентация PowerPoint</vt:lpstr>
      <vt:lpstr>Типы шаблонов проектирования: Частные</vt:lpstr>
      <vt:lpstr>Типы шаблонов проектирования: Прочие</vt:lpstr>
      <vt:lpstr>Паттерны проектирования: Null Object</vt:lpstr>
      <vt:lpstr>Паттерны проектирования: Null Object</vt:lpstr>
      <vt:lpstr>Определение</vt:lpstr>
      <vt:lpstr>Применение</vt:lpstr>
      <vt:lpstr>Диаграмма классов</vt:lpstr>
      <vt:lpstr>Пример</vt:lpstr>
      <vt:lpstr>Пример применения шаблона Null Object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…    Заголовок</dc:title>
  <dc:creator>Лилия Челищева</dc:creator>
  <cp:lastModifiedBy>Лилия Челищева</cp:lastModifiedBy>
  <cp:revision>8</cp:revision>
  <dcterms:created xsi:type="dcterms:W3CDTF">2023-09-01T22:02:12Z</dcterms:created>
  <dcterms:modified xsi:type="dcterms:W3CDTF">2025-10-05T09:30:31Z</dcterms:modified>
</cp:coreProperties>
</file>