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x" ContentType="application/vnd.ms-visio.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95" r:id="rId1"/>
  </p:sldMasterIdLst>
  <p:notesMasterIdLst>
    <p:notesMasterId r:id="rId30"/>
  </p:notesMasterIdLst>
  <p:sldIdLst>
    <p:sldId id="256" r:id="rId2"/>
    <p:sldId id="258" r:id="rId3"/>
    <p:sldId id="262" r:id="rId4"/>
    <p:sldId id="260" r:id="rId5"/>
    <p:sldId id="414" r:id="rId6"/>
    <p:sldId id="263" r:id="rId7"/>
    <p:sldId id="264" r:id="rId8"/>
    <p:sldId id="416" r:id="rId9"/>
    <p:sldId id="417" r:id="rId10"/>
    <p:sldId id="415" r:id="rId11"/>
    <p:sldId id="419" r:id="rId12"/>
    <p:sldId id="418" r:id="rId13"/>
    <p:sldId id="420" r:id="rId14"/>
    <p:sldId id="277" r:id="rId15"/>
    <p:sldId id="265" r:id="rId16"/>
    <p:sldId id="266" r:id="rId17"/>
    <p:sldId id="298" r:id="rId18"/>
    <p:sldId id="273" r:id="rId19"/>
    <p:sldId id="282" r:id="rId20"/>
    <p:sldId id="267" r:id="rId21"/>
    <p:sldId id="297" r:id="rId22"/>
    <p:sldId id="321" r:id="rId23"/>
    <p:sldId id="322" r:id="rId24"/>
    <p:sldId id="326" r:id="rId25"/>
    <p:sldId id="327" r:id="rId26"/>
    <p:sldId id="330" r:id="rId27"/>
    <p:sldId id="362" r:id="rId28"/>
    <p:sldId id="42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9F18C-B0EF-4C3B-831E-15C3CF792C09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3E470-2E3C-4AB4-A461-A838E60D5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914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1CA7DF1A-DF29-D88D-BE50-B72D8C6167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4780470-5DFE-49C6-98F9-D6B4607991A1}" type="slidenum">
              <a:rPr lang="ru-RU" altLang="ru-RU" smtClean="0"/>
              <a:pPr>
                <a:spcBef>
                  <a:spcPct val="0"/>
                </a:spcBef>
              </a:pPr>
              <a:t>3</a:t>
            </a:fld>
            <a:endParaRPr lang="ru-RU" altLang="ru-RU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F455C1C-8795-7B8E-039D-483DA319AB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7CD1C9C9-41B1-2056-A8AA-51F9A92F2C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28600" indent="-228600" eaLnBrk="1" hangingPunct="1"/>
            <a:r>
              <a:rPr lang="ru-RU" altLang="ru-RU">
                <a:latin typeface="Arial" panose="020B0604020202020204" pitchFamily="34" charset="0"/>
              </a:rPr>
              <a:t>Первичные цели при создании UML были следующими:</a:t>
            </a:r>
          </a:p>
          <a:p>
            <a:pPr marL="228600" indent="-228600" eaLnBrk="1" hangingPunct="1"/>
            <a:r>
              <a:rPr lang="ru-RU" altLang="ru-RU">
                <a:latin typeface="Arial" panose="020B0604020202020204" pitchFamily="34" charset="0"/>
              </a:rPr>
              <a:t>Предоставить пользователям готовый к использованию язык визуального моделирования, так чтобы они могли разрабатывать и обмениваться выразительными моделями. </a:t>
            </a:r>
          </a:p>
          <a:p>
            <a:pPr marL="228600" indent="-228600" eaLnBrk="1" hangingPunct="1"/>
            <a:r>
              <a:rPr lang="ru-RU" altLang="ru-RU">
                <a:latin typeface="Arial" panose="020B0604020202020204" pitchFamily="34" charset="0"/>
              </a:rPr>
              <a:t>Предоставить механизмы расширения и специализации, для расширения заложенных концепций. </a:t>
            </a:r>
          </a:p>
          <a:p>
            <a:pPr marL="228600" indent="-228600" eaLnBrk="1" hangingPunct="1"/>
            <a:r>
              <a:rPr lang="ru-RU" altLang="ru-RU">
                <a:latin typeface="Arial" panose="020B0604020202020204" pitchFamily="34" charset="0"/>
              </a:rPr>
              <a:t>Быть независимым от определенного языка программирования и процесса разработки. </a:t>
            </a:r>
          </a:p>
          <a:p>
            <a:pPr marL="228600" indent="-228600" eaLnBrk="1" hangingPunct="1"/>
            <a:r>
              <a:rPr lang="ru-RU" altLang="ru-RU">
                <a:latin typeface="Arial" panose="020B0604020202020204" pitchFamily="34" charset="0"/>
              </a:rPr>
              <a:t>Предоставить формальную базу для понимания языка моделирования. </a:t>
            </a:r>
          </a:p>
          <a:p>
            <a:pPr marL="228600" indent="-228600" eaLnBrk="1" hangingPunct="1"/>
            <a:r>
              <a:rPr lang="ru-RU" altLang="ru-RU">
                <a:latin typeface="Arial" panose="020B0604020202020204" pitchFamily="34" charset="0"/>
              </a:rPr>
              <a:t>Интегрировать лучший практический опыт разработок.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64FDC117-7A31-03D5-8B44-1096E1D8EC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4DF8F94-1D80-4896-9C78-E15C2F5B58A4}" type="slidenum">
              <a:rPr lang="ru-RU" altLang="ru-RU" smtClean="0"/>
              <a:pPr>
                <a:spcBef>
                  <a:spcPct val="0"/>
                </a:spcBef>
              </a:pPr>
              <a:t>7</a:t>
            </a:fld>
            <a:endParaRPr lang="ru-RU" altLang="ru-RU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8CDB2343-B6BE-3319-6223-474D183F2C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A03E7214-D5A8-94E2-F972-32E8D9076B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ru-RU" altLang="ru-RU">
                <a:latin typeface="Arial" panose="020B0604020202020204" pitchFamily="34" charset="0"/>
              </a:rPr>
              <a:t>Диаграммы, добавленные в версии </a:t>
            </a:r>
            <a:r>
              <a:rPr lang="en-US" altLang="ru-RU">
                <a:latin typeface="Arial" panose="020B0604020202020204" pitchFamily="34" charset="0"/>
              </a:rPr>
              <a:t>UML 2</a:t>
            </a:r>
            <a:r>
              <a:rPr lang="ru-RU" altLang="ru-RU">
                <a:latin typeface="Arial" panose="020B0604020202020204" pitchFamily="34" charset="0"/>
              </a:rPr>
              <a:t>.0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64FDC117-7A31-03D5-8B44-1096E1D8EC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4DF8F94-1D80-4896-9C78-E15C2F5B58A4}" type="slidenum">
              <a:rPr lang="ru-RU" altLang="ru-RU" smtClean="0"/>
              <a:pPr>
                <a:spcBef>
                  <a:spcPct val="0"/>
                </a:spcBef>
              </a:pPr>
              <a:t>8</a:t>
            </a:fld>
            <a:endParaRPr lang="ru-RU" altLang="ru-RU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8CDB2343-B6BE-3319-6223-474D183F2C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A03E7214-D5A8-94E2-F972-32E8D9076B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ru-RU" altLang="ru-RU">
                <a:latin typeface="Arial" panose="020B0604020202020204" pitchFamily="34" charset="0"/>
              </a:rPr>
              <a:t>Диаграммы, добавленные в версии </a:t>
            </a:r>
            <a:r>
              <a:rPr lang="en-US" altLang="ru-RU">
                <a:latin typeface="Arial" panose="020B0604020202020204" pitchFamily="34" charset="0"/>
              </a:rPr>
              <a:t>UML 2</a:t>
            </a:r>
            <a:r>
              <a:rPr lang="ru-RU" altLang="ru-RU">
                <a:latin typeface="Arial" panose="020B0604020202020204" pitchFamily="34" charset="0"/>
              </a:rPr>
              <a:t>.0</a:t>
            </a:r>
          </a:p>
        </p:txBody>
      </p:sp>
    </p:spTree>
    <p:extLst>
      <p:ext uri="{BB962C8B-B14F-4D97-AF65-F5344CB8AC3E}">
        <p14:creationId xmlns:p14="http://schemas.microsoft.com/office/powerpoint/2010/main" val="1361954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64FDC117-7A31-03D5-8B44-1096E1D8EC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4DF8F94-1D80-4896-9C78-E15C2F5B58A4}" type="slidenum">
              <a:rPr lang="ru-RU" altLang="ru-RU" smtClean="0"/>
              <a:pPr>
                <a:spcBef>
                  <a:spcPct val="0"/>
                </a:spcBef>
              </a:pPr>
              <a:t>9</a:t>
            </a:fld>
            <a:endParaRPr lang="ru-RU" altLang="ru-RU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8CDB2343-B6BE-3319-6223-474D183F2C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A03E7214-D5A8-94E2-F972-32E8D9076B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ru-RU" altLang="ru-RU">
                <a:latin typeface="Arial" panose="020B0604020202020204" pitchFamily="34" charset="0"/>
              </a:rPr>
              <a:t>Диаграммы, добавленные в версии </a:t>
            </a:r>
            <a:r>
              <a:rPr lang="en-US" altLang="ru-RU">
                <a:latin typeface="Arial" panose="020B0604020202020204" pitchFamily="34" charset="0"/>
              </a:rPr>
              <a:t>UML 2</a:t>
            </a:r>
            <a:r>
              <a:rPr lang="ru-RU" altLang="ru-RU">
                <a:latin typeface="Arial" panose="020B0604020202020204" pitchFamily="34" charset="0"/>
              </a:rPr>
              <a:t>.0</a:t>
            </a:r>
          </a:p>
        </p:txBody>
      </p:sp>
    </p:spTree>
    <p:extLst>
      <p:ext uri="{BB962C8B-B14F-4D97-AF65-F5344CB8AC3E}">
        <p14:creationId xmlns:p14="http://schemas.microsoft.com/office/powerpoint/2010/main" val="1883375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none" baseline="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sz="1400" baseline="0">
                <a:solidFill>
                  <a:schemeClr val="tx2"/>
                </a:solidFill>
              </a:defRPr>
            </a:lvl1pPr>
          </a:lstStyle>
          <a:p>
            <a:fld id="{093DEE83-386D-4956-A41E-3E5B6148A510}" type="datetime1">
              <a:rPr lang="ru-RU" smtClean="0"/>
              <a:t>22.09.2025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sz="1400" baseline="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06201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50B8-7986-4F1B-96AB-E9B380D4AD20}" type="datetime1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33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1D827D7-10D4-4C9D-A8AA-7081F433231A}" type="datetime1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485155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593669"/>
            <a:ext cx="4447786" cy="427373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1593669"/>
            <a:ext cx="4447786" cy="427373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7440A-F299-47AA-AACB-D6078AD02A67}" type="datetime1">
              <a:rPr lang="ru-RU" smtClean="0"/>
              <a:t>22.09.2025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587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3790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352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2348104"/>
            <a:ext cx="4443984" cy="382409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2348105"/>
            <a:ext cx="4443984" cy="382409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A7350-0812-4FE9-A0C6-9FD621CE8496}" type="datetime1">
              <a:rPr lang="ru-RU" smtClean="0"/>
              <a:t>22.09.2025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981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0B329-D20D-40DC-BDA4-4C101DDA4371}" type="datetime1">
              <a:rPr lang="ru-RU" smtClean="0"/>
              <a:t>22.09.2025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45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C6BF-6763-4389-AE82-C0BACC894D74}" type="datetime1">
              <a:rPr lang="ru-RU" smtClean="0"/>
              <a:t>22.09.2025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6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86E04E-A282-45DD-8FFF-4D8DD12AFE75}" type="datetime1">
              <a:rPr lang="ru-RU" smtClean="0"/>
              <a:t>22.09.2025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63344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C4B3E8-202D-4837-8371-5999CEB55C4B}" type="datetime1">
              <a:rPr lang="ru-RU" smtClean="0"/>
              <a:t>22.09.2025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593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1637211"/>
            <a:ext cx="9601200" cy="42301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36B8-2F05-42D4-84E1-4837DF789C5E}" type="datetime1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6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92DA5-F7D0-4BEF-87FF-DB8809C761C9}" type="datetime1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81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1506583"/>
            <a:ext cx="9601200" cy="475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600" y="6374670"/>
            <a:ext cx="114633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4913EF9C-2076-447D-94FA-2A67E80F5C8B}" type="datetime1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4514" y="6374670"/>
            <a:ext cx="6461075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92170" y="6374670"/>
            <a:ext cx="12806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4367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3600" kern="1200" baseline="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Tx/>
        <a:buNone/>
        <a:defRPr sz="20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1pPr>
      <a:lvl2pPr marL="5303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20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2pPr>
      <a:lvl3pPr marL="9875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3pPr>
      <a:lvl4pPr marL="14447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4pPr>
      <a:lvl5pPr marL="19019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6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diagrams.net/" TargetMode="External"/><Relationship Id="rId2" Type="http://schemas.openxmlformats.org/officeDocument/2006/relationships/hyperlink" Target="https://www.visual-paradigm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ebsequencediagrams.com/" TargetMode="External"/><Relationship Id="rId5" Type="http://schemas.openxmlformats.org/officeDocument/2006/relationships/hyperlink" Target="https://plantuml.com/ru/" TargetMode="External"/><Relationship Id="rId4" Type="http://schemas.openxmlformats.org/officeDocument/2006/relationships/hyperlink" Target="https://www.microsoft.com/ru-ru/microsoft-365/visio/flowchart-software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taruml.io/" TargetMode="External"/><Relationship Id="rId2" Type="http://schemas.openxmlformats.org/officeDocument/2006/relationships/hyperlink" Target="https://sparxsystems.com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56258-0E67-7C7B-2850-681FD0BB7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000" dirty="0"/>
              <a:t>Лекция 5  </a:t>
            </a:r>
            <a:br>
              <a:rPr lang="ru-RU" sz="6000" dirty="0"/>
            </a:br>
            <a:r>
              <a:rPr lang="en-US" sz="6000" dirty="0"/>
              <a:t>UML</a:t>
            </a:r>
            <a:r>
              <a:rPr lang="ru-RU" sz="6000" dirty="0"/>
              <a:t>. Моделирование использования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DB230C-D752-D32B-FD0D-416920046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Технология разработки программного обеспечения</a:t>
            </a:r>
          </a:p>
          <a:p>
            <a:r>
              <a:rPr lang="ru-RU" dirty="0"/>
              <a:t>Преподаватель: Челищева Лилия Дмитриевна</a:t>
            </a:r>
          </a:p>
        </p:txBody>
      </p:sp>
    </p:spTree>
    <p:extLst>
      <p:ext uri="{BB962C8B-B14F-4D97-AF65-F5344CB8AC3E}">
        <p14:creationId xmlns:p14="http://schemas.microsoft.com/office/powerpoint/2010/main" val="1586075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D64E84-5F86-75CB-7C6A-5392D174B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71DD14-DAD8-5804-DE26-D7EAE99CA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UML </a:t>
            </a:r>
            <a:r>
              <a:rPr lang="ru-RU" sz="2400" dirty="0"/>
              <a:t>(Unified </a:t>
            </a:r>
            <a:r>
              <a:rPr lang="ru-RU" sz="2400" dirty="0" err="1"/>
              <a:t>Modeling</a:t>
            </a:r>
            <a:r>
              <a:rPr lang="ru-RU" sz="2400" dirty="0"/>
              <a:t> Language, Унифицированный Язык Моделирования) — язык графического описания для объектного моделирования в области разработки программного обеспечения, который также можно применять для моделирования бизнес-процессов, системного проектирования и отображения организационных структур.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138A3BF-6E8C-A412-E2F0-BE28758E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388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>
            <a:extLst>
              <a:ext uri="{FF2B5EF4-FFF2-40B4-BE49-F238E27FC236}">
                <a16:creationId xmlns:a16="http://schemas.microsoft.com/office/drawing/2014/main" id="{714B9EA0-6F27-0750-A2F7-96C021474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dirty="0"/>
              <a:t>Цели создания </a:t>
            </a:r>
            <a:r>
              <a:rPr lang="en-US" altLang="ru-RU" dirty="0"/>
              <a:t>UML</a:t>
            </a:r>
            <a:endParaRPr lang="ru-RU" altLang="ru-RU" dirty="0"/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4368B476-245C-73CA-15A5-F2BDAA996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altLang="ru-RU" sz="2400" dirty="0"/>
              <a:t>Предоставить пользователям готовый к использованию язык визуального моделирования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altLang="ru-RU" sz="2400" dirty="0"/>
              <a:t>Предоставить механизмы расширения и специализации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altLang="ru-RU" sz="2400" dirty="0"/>
              <a:t>Быть независимым от определенного языка программирования и процесса разработки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altLang="ru-RU" sz="2400" dirty="0"/>
              <a:t>Интегрировать лучший практический опыт разработок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0563439-4A21-40E7-01FB-2B71C1FC6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2FB84E-5FC0-1544-6884-2840260A6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Проблемы, которые решает </a:t>
            </a:r>
            <a:r>
              <a:rPr lang="en-US" dirty="0"/>
              <a:t>UML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F150D2-8267-68DD-058D-5A851DEE8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b="1" dirty="0"/>
              <a:t>Проблема чтения кода</a:t>
            </a:r>
            <a:r>
              <a:rPr lang="ru-RU" sz="2400" dirty="0"/>
              <a:t>. Существуют некоторые вещи в ПС, которые невозможно понять по тексту кода (даже хорошо прокомментированного). UML – графический язык и, следовательно, решает проблему.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1" dirty="0"/>
              <a:t>Проблема потери информации</a:t>
            </a:r>
            <a:r>
              <a:rPr lang="ru-RU" sz="2400" dirty="0"/>
              <a:t>. Если разработчик уничтожил часть кода и никогда не записывал в каком-либо виде модель, тогда этот код будет утрачен навсегда. UML обеспечивает восстановление кода по модели.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1" dirty="0"/>
              <a:t>Проблема интерпретации модели</a:t>
            </a:r>
            <a:r>
              <a:rPr lang="ru-RU" sz="2400" dirty="0"/>
              <a:t>. Как правило, в проектной группе вырабатывается некоторый внутренний язык (совершенно непонятный извне). UML обладает корректно-определённой семантикой и, поэтому, разные разработчики будут одинаково трактовать модель.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D69B075-4051-B05B-1BB4-5B833175A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473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C87F3255-38AD-14F7-1407-A598646DF9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Диаграммы языка </a:t>
            </a:r>
            <a:r>
              <a:rPr lang="en-US" altLang="ru-RU"/>
              <a:t>UML</a:t>
            </a:r>
            <a:endParaRPr lang="ru-RU" altLang="ru-RU"/>
          </a:p>
        </p:txBody>
      </p:sp>
      <p:pic>
        <p:nvPicPr>
          <p:cNvPr id="13316" name="Picture 2">
            <a:extLst>
              <a:ext uri="{FF2B5EF4-FFF2-40B4-BE49-F238E27FC236}">
                <a16:creationId xmlns:a16="http://schemas.microsoft.com/office/drawing/2014/main" id="{D356D592-F39C-12B9-6292-768CC3A950B2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670" y="992033"/>
            <a:ext cx="8261639" cy="6131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9231A8F-9D18-1996-3B19-88FE38CD8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</a:t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57EDD94A-84B1-CCFD-8A8C-4B62D406F4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dirty="0"/>
              <a:t>Диаграммы языка </a:t>
            </a:r>
            <a:r>
              <a:rPr lang="en-US" altLang="ru-RU" dirty="0"/>
              <a:t>UML</a:t>
            </a:r>
            <a:r>
              <a:rPr lang="ru-RU" altLang="ru-RU" dirty="0"/>
              <a:t>. Структурные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548EFB4A-F55A-1DA6-6107-25FC6B824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954689"/>
              </p:ext>
            </p:extLst>
          </p:nvPr>
        </p:nvGraphicFramePr>
        <p:xfrm>
          <a:off x="1371600" y="1441857"/>
          <a:ext cx="10289308" cy="5385920"/>
        </p:xfrm>
        <a:graphic>
          <a:graphicData uri="http://schemas.openxmlformats.org/drawingml/2006/table">
            <a:tbl>
              <a:tblPr firstRow="1">
                <a:tableStyleId>{D27102A9-8310-4765-A935-A1911B00CA55}</a:tableStyleId>
              </a:tblPr>
              <a:tblGrid>
                <a:gridCol w="4115723">
                  <a:extLst>
                    <a:ext uri="{9D8B030D-6E8A-4147-A177-3AD203B41FA5}">
                      <a16:colId xmlns:a16="http://schemas.microsoft.com/office/drawing/2014/main" val="1595075126"/>
                    </a:ext>
                  </a:extLst>
                </a:gridCol>
                <a:gridCol w="6173585">
                  <a:extLst>
                    <a:ext uri="{9D8B030D-6E8A-4147-A177-3AD203B41FA5}">
                      <a16:colId xmlns:a16="http://schemas.microsoft.com/office/drawing/2014/main" val="1872254908"/>
                    </a:ext>
                  </a:extLst>
                </a:gridCol>
              </a:tblGrid>
              <a:tr h="540938"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</a:t>
                      </a:r>
                    </a:p>
                  </a:txBody>
                  <a:tcPr marL="142352" marR="142352" marT="142352" marB="14235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Описание</a:t>
                      </a:r>
                    </a:p>
                  </a:txBody>
                  <a:tcPr marL="142352" marR="142352" marT="142352" marB="142352"/>
                </a:tc>
                <a:extLst>
                  <a:ext uri="{0D108BD9-81ED-4DB2-BD59-A6C34878D82A}">
                    <a16:rowId xmlns:a16="http://schemas.microsoft.com/office/drawing/2014/main" val="3458203677"/>
                  </a:ext>
                </a:extLst>
              </a:tr>
              <a:tr h="1053406"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классов (</a:t>
                      </a:r>
                      <a:r>
                        <a:rPr lang="en-US" sz="2000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Class Diagram)</a:t>
                      </a:r>
                    </a:p>
                  </a:txBody>
                  <a:tcPr marL="142352" marR="142352" marT="142352" marB="14235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Описывает систему в виде набора классов со свойствами, доступными методами и взаимосвязями между классами.</a:t>
                      </a:r>
                    </a:p>
                  </a:txBody>
                  <a:tcPr marL="142352" marR="142352" marT="142352" marB="142352"/>
                </a:tc>
                <a:extLst>
                  <a:ext uri="{0D108BD9-81ED-4DB2-BD59-A6C34878D82A}">
                    <a16:rowId xmlns:a16="http://schemas.microsoft.com/office/drawing/2014/main" val="682510261"/>
                  </a:ext>
                </a:extLst>
              </a:tr>
              <a:tr h="1053406"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объектов (</a:t>
                      </a:r>
                      <a:r>
                        <a:rPr lang="en-US" sz="2000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Object Diagram)</a:t>
                      </a:r>
                    </a:p>
                  </a:txBody>
                  <a:tcPr marL="142352" marR="142352" marT="142352" marB="14235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Является экземпляром диаграммы классов и показывает конкретные значения свойств классов.</a:t>
                      </a:r>
                    </a:p>
                  </a:txBody>
                  <a:tcPr marL="142352" marR="142352" marT="142352" marB="142352"/>
                </a:tc>
                <a:extLst>
                  <a:ext uri="{0D108BD9-81ED-4DB2-BD59-A6C34878D82A}">
                    <a16:rowId xmlns:a16="http://schemas.microsoft.com/office/drawing/2014/main" val="4270575070"/>
                  </a:ext>
                </a:extLst>
              </a:tr>
              <a:tr h="1053406"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пакетов (</a:t>
                      </a:r>
                      <a:r>
                        <a:rPr lang="en-US" sz="2000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Package Diagram)</a:t>
                      </a:r>
                    </a:p>
                  </a:txBody>
                  <a:tcPr marL="142352" marR="142352" marT="142352" marB="14235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Описывает взаимосвязи пакетов. Пакет — группа классов, объединенных для упрощения сложной диаграммы классов.</a:t>
                      </a:r>
                    </a:p>
                  </a:txBody>
                  <a:tcPr marL="142352" marR="142352" marT="142352" marB="142352"/>
                </a:tc>
                <a:extLst>
                  <a:ext uri="{0D108BD9-81ED-4DB2-BD59-A6C34878D82A}">
                    <a16:rowId xmlns:a16="http://schemas.microsoft.com/office/drawing/2014/main" val="265739137"/>
                  </a:ext>
                </a:extLst>
              </a:tr>
              <a:tr h="1053406"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компонент (</a:t>
                      </a:r>
                      <a:r>
                        <a:rPr lang="en-US" sz="2000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Component Diagram)</a:t>
                      </a:r>
                    </a:p>
                  </a:txBody>
                  <a:tcPr marL="142352" marR="142352" marT="142352" marB="14235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Описывает архитектуру компонентов (сервисы, интерфейсы, приложения и т.д.) и зависимости между ними.</a:t>
                      </a:r>
                    </a:p>
                  </a:txBody>
                  <a:tcPr marL="142352" marR="142352" marT="142352" marB="142352"/>
                </a:tc>
                <a:extLst>
                  <a:ext uri="{0D108BD9-81ED-4DB2-BD59-A6C34878D82A}">
                    <a16:rowId xmlns:a16="http://schemas.microsoft.com/office/drawing/2014/main" val="1542751611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D64BDA6-1F5F-06C4-D86C-D2EA7CF89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</a:t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14F368B-631A-32BB-D056-CDD3696E0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567902E5-3DD7-CF6A-9430-5BA004158C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7196456"/>
              </p:ext>
            </p:extLst>
          </p:nvPr>
        </p:nvGraphicFramePr>
        <p:xfrm>
          <a:off x="1371600" y="1506538"/>
          <a:ext cx="10289308" cy="3915516"/>
        </p:xfrm>
        <a:graphic>
          <a:graphicData uri="http://schemas.openxmlformats.org/drawingml/2006/table">
            <a:tbl>
              <a:tblPr firstRow="1">
                <a:tableStyleId>{D27102A9-8310-4765-A935-A1911B00CA55}</a:tableStyleId>
              </a:tblPr>
              <a:tblGrid>
                <a:gridCol w="4115723">
                  <a:extLst>
                    <a:ext uri="{9D8B030D-6E8A-4147-A177-3AD203B41FA5}">
                      <a16:colId xmlns:a16="http://schemas.microsoft.com/office/drawing/2014/main" val="1595075126"/>
                    </a:ext>
                  </a:extLst>
                </a:gridCol>
                <a:gridCol w="6173585">
                  <a:extLst>
                    <a:ext uri="{9D8B030D-6E8A-4147-A177-3AD203B41FA5}">
                      <a16:colId xmlns:a16="http://schemas.microsoft.com/office/drawing/2014/main" val="1872254908"/>
                    </a:ext>
                  </a:extLst>
                </a:gridCol>
              </a:tblGrid>
              <a:tr h="540938"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</a:t>
                      </a:r>
                    </a:p>
                  </a:txBody>
                  <a:tcPr marL="142352" marR="142352" marT="142352" marB="14235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Описание</a:t>
                      </a:r>
                    </a:p>
                  </a:txBody>
                  <a:tcPr marL="142352" marR="142352" marT="142352" marB="142352"/>
                </a:tc>
                <a:extLst>
                  <a:ext uri="{0D108BD9-81ED-4DB2-BD59-A6C34878D82A}">
                    <a16:rowId xmlns:a16="http://schemas.microsoft.com/office/drawing/2014/main" val="3458203677"/>
                  </a:ext>
                </a:extLst>
              </a:tr>
              <a:tr h="1053406"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развертывания (</a:t>
                      </a:r>
                      <a:r>
                        <a:rPr lang="en-US" sz="2000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Deployment Diagram)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Описывает архитектуру системы с точки зрения ее развертывания на физическом уровне.</a:t>
                      </a:r>
                    </a:p>
                  </a:txBody>
                  <a:tcPr marL="152400" marR="152400" marT="152400" marB="152400"/>
                </a:tc>
                <a:extLst>
                  <a:ext uri="{0D108BD9-81ED-4DB2-BD59-A6C34878D82A}">
                    <a16:rowId xmlns:a16="http://schemas.microsoft.com/office/drawing/2014/main" val="682510261"/>
                  </a:ext>
                </a:extLst>
              </a:tr>
              <a:tr h="1053406"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профилей (</a:t>
                      </a:r>
                      <a:r>
                        <a:rPr lang="en-US" sz="2000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Profile Diagram)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Описывает пользовательские стереотипы и ограничения, применяемые к моделям.</a:t>
                      </a:r>
                    </a:p>
                  </a:txBody>
                  <a:tcPr marL="152400" marR="152400" marT="152400" marB="152400"/>
                </a:tc>
                <a:extLst>
                  <a:ext uri="{0D108BD9-81ED-4DB2-BD59-A6C34878D82A}">
                    <a16:rowId xmlns:a16="http://schemas.microsoft.com/office/drawing/2014/main" val="4270575070"/>
                  </a:ext>
                </a:extLst>
              </a:tr>
              <a:tr h="1053406"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композитной структуры (Composite Structure Diagram)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Описывает внутреннюю структуру классов и взаимодействие элементов класса между собой.</a:t>
                      </a:r>
                    </a:p>
                  </a:txBody>
                  <a:tcPr marL="152400" marR="152400" marT="152400" marB="152400"/>
                </a:tc>
                <a:extLst>
                  <a:ext uri="{0D108BD9-81ED-4DB2-BD59-A6C34878D82A}">
                    <a16:rowId xmlns:a16="http://schemas.microsoft.com/office/drawing/2014/main" val="265739137"/>
                  </a:ext>
                </a:extLst>
              </a:tr>
            </a:tbl>
          </a:graphicData>
        </a:graphic>
      </p:graphicFrame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04E3C4C-B3FD-AD6F-8318-6527EDECF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14F368B-631A-32BB-D056-CDD3696E0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Диаграммы языка </a:t>
            </a:r>
            <a:r>
              <a:rPr lang="en-US" altLang="ru-RU" dirty="0"/>
              <a:t>UML</a:t>
            </a:r>
            <a:r>
              <a:rPr lang="ru-RU" altLang="ru-RU" dirty="0"/>
              <a:t>. Поведенческие</a:t>
            </a:r>
            <a:endParaRPr lang="ru-RU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567902E5-3DD7-CF6A-9430-5BA004158C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9119834"/>
              </p:ext>
            </p:extLst>
          </p:nvPr>
        </p:nvGraphicFramePr>
        <p:xfrm>
          <a:off x="1371600" y="1506538"/>
          <a:ext cx="10289308" cy="4386110"/>
        </p:xfrm>
        <a:graphic>
          <a:graphicData uri="http://schemas.openxmlformats.org/drawingml/2006/table">
            <a:tbl>
              <a:tblPr firstRow="1">
                <a:tableStyleId>{D27102A9-8310-4765-A935-A1911B00CA55}</a:tableStyleId>
              </a:tblPr>
              <a:tblGrid>
                <a:gridCol w="4115723">
                  <a:extLst>
                    <a:ext uri="{9D8B030D-6E8A-4147-A177-3AD203B41FA5}">
                      <a16:colId xmlns:a16="http://schemas.microsoft.com/office/drawing/2014/main" val="1595075126"/>
                    </a:ext>
                  </a:extLst>
                </a:gridCol>
                <a:gridCol w="6173585">
                  <a:extLst>
                    <a:ext uri="{9D8B030D-6E8A-4147-A177-3AD203B41FA5}">
                      <a16:colId xmlns:a16="http://schemas.microsoft.com/office/drawing/2014/main" val="1872254908"/>
                    </a:ext>
                  </a:extLst>
                </a:gridCol>
              </a:tblGrid>
              <a:tr h="540938"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</a:t>
                      </a:r>
                    </a:p>
                  </a:txBody>
                  <a:tcPr marL="142352" marR="142352" marT="142352" marB="14235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Описание</a:t>
                      </a:r>
                    </a:p>
                  </a:txBody>
                  <a:tcPr marL="142352" marR="142352" marT="142352" marB="142352"/>
                </a:tc>
                <a:extLst>
                  <a:ext uri="{0D108BD9-81ED-4DB2-BD59-A6C34878D82A}">
                    <a16:rowId xmlns:a16="http://schemas.microsoft.com/office/drawing/2014/main" val="3458203677"/>
                  </a:ext>
                </a:extLst>
              </a:tr>
              <a:tr h="1053406"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прецедентов (Use Case Diagram). Употребляется также термин «Диаграмма вариантов использования»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Описывает набор функциональности (прецедент), доступной акторам (внешним для системы сущностям, например, пользователям).</a:t>
                      </a:r>
                    </a:p>
                  </a:txBody>
                  <a:tcPr marL="152400" marR="152400" marT="152400" marB="152400"/>
                </a:tc>
                <a:extLst>
                  <a:ext uri="{0D108BD9-81ED-4DB2-BD59-A6C34878D82A}">
                    <a16:rowId xmlns:a16="http://schemas.microsoft.com/office/drawing/2014/main" val="682510261"/>
                  </a:ext>
                </a:extLst>
              </a:tr>
              <a:tr h="1053406"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деятельности (</a:t>
                      </a:r>
                      <a:r>
                        <a:rPr lang="en-US" sz="2000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Activity Diagram)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Описывает рабочий процесс внутри каждого прецедента.</a:t>
                      </a:r>
                    </a:p>
                  </a:txBody>
                  <a:tcPr marL="152400" marR="152400" marT="152400" marB="152400"/>
                </a:tc>
                <a:extLst>
                  <a:ext uri="{0D108BD9-81ED-4DB2-BD59-A6C34878D82A}">
                    <a16:rowId xmlns:a16="http://schemas.microsoft.com/office/drawing/2014/main" val="4270575070"/>
                  </a:ext>
                </a:extLst>
              </a:tr>
              <a:tr h="1053406"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состояний (</a:t>
                      </a:r>
                      <a:r>
                        <a:rPr lang="en-US" sz="2000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State Machine Diagram)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Описывает состояния, в которых может находиться каждый объект, и правила перехода из одного состояния в другое.</a:t>
                      </a:r>
                    </a:p>
                  </a:txBody>
                  <a:tcPr marL="152400" marR="152400" marT="152400" marB="152400"/>
                </a:tc>
                <a:extLst>
                  <a:ext uri="{0D108BD9-81ED-4DB2-BD59-A6C34878D82A}">
                    <a16:rowId xmlns:a16="http://schemas.microsoft.com/office/drawing/2014/main" val="265739137"/>
                  </a:ext>
                </a:extLst>
              </a:tr>
            </a:tbl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C4254AB-A0AC-4F5E-0699-FBDF7779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162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567902E5-3DD7-CF6A-9430-5BA004158C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3877315"/>
              </p:ext>
            </p:extLst>
          </p:nvPr>
        </p:nvGraphicFramePr>
        <p:xfrm>
          <a:off x="1149928" y="421048"/>
          <a:ext cx="10289308" cy="5374864"/>
        </p:xfrm>
        <a:graphic>
          <a:graphicData uri="http://schemas.openxmlformats.org/drawingml/2006/table">
            <a:tbl>
              <a:tblPr firstRow="1">
                <a:tableStyleId>{D27102A9-8310-4765-A935-A1911B00CA55}</a:tableStyleId>
              </a:tblPr>
              <a:tblGrid>
                <a:gridCol w="4115723">
                  <a:extLst>
                    <a:ext uri="{9D8B030D-6E8A-4147-A177-3AD203B41FA5}">
                      <a16:colId xmlns:a16="http://schemas.microsoft.com/office/drawing/2014/main" val="1595075126"/>
                    </a:ext>
                  </a:extLst>
                </a:gridCol>
                <a:gridCol w="6173585">
                  <a:extLst>
                    <a:ext uri="{9D8B030D-6E8A-4147-A177-3AD203B41FA5}">
                      <a16:colId xmlns:a16="http://schemas.microsoft.com/office/drawing/2014/main" val="1872254908"/>
                    </a:ext>
                  </a:extLst>
                </a:gridCol>
              </a:tblGrid>
              <a:tr h="540938"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</a:t>
                      </a:r>
                    </a:p>
                  </a:txBody>
                  <a:tcPr marL="142352" marR="142352" marT="142352" marB="14235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Описание</a:t>
                      </a:r>
                    </a:p>
                  </a:txBody>
                  <a:tcPr marL="142352" marR="142352" marT="142352" marB="142352"/>
                </a:tc>
                <a:extLst>
                  <a:ext uri="{0D108BD9-81ED-4DB2-BD59-A6C34878D82A}">
                    <a16:rowId xmlns:a16="http://schemas.microsoft.com/office/drawing/2014/main" val="3458203677"/>
                  </a:ext>
                </a:extLst>
              </a:tr>
              <a:tr h="1053406"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последовательности (</a:t>
                      </a:r>
                      <a:r>
                        <a:rPr lang="en-US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Sequence Diagram)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Описывает логику взаимодействия и обмена данными между объектами в рамках прецедента в хронологическом порядке.</a:t>
                      </a:r>
                    </a:p>
                  </a:txBody>
                  <a:tcPr marL="152400" marR="152400" marT="152400" marB="152400"/>
                </a:tc>
                <a:extLst>
                  <a:ext uri="{0D108BD9-81ED-4DB2-BD59-A6C34878D82A}">
                    <a16:rowId xmlns:a16="http://schemas.microsoft.com/office/drawing/2014/main" val="682510261"/>
                  </a:ext>
                </a:extLst>
              </a:tr>
              <a:tr h="1053406"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коммуникации (</a:t>
                      </a:r>
                      <a:r>
                        <a:rPr lang="en-US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Communication Diagram)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Описывает логику взаимодействия и обмена данными между объектами в рамках прецедента. Схожа с sequence diagram, но без раскрытия хронологического порядка.</a:t>
                      </a:r>
                    </a:p>
                  </a:txBody>
                  <a:tcPr marL="152400" marR="152400" marT="152400" marB="152400"/>
                </a:tc>
                <a:extLst>
                  <a:ext uri="{0D108BD9-81ED-4DB2-BD59-A6C34878D82A}">
                    <a16:rowId xmlns:a16="http://schemas.microsoft.com/office/drawing/2014/main" val="4270575070"/>
                  </a:ext>
                </a:extLst>
              </a:tr>
              <a:tr h="1053406"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синхронизации (</a:t>
                      </a:r>
                      <a:r>
                        <a:rPr lang="en-US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Timing Diagram)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Описывает как объекты ведут себя на временной шкале без отображения взаимосвязей между объектами.</a:t>
                      </a:r>
                    </a:p>
                  </a:txBody>
                  <a:tcPr marL="152400" marR="152400" marT="152400" marB="152400"/>
                </a:tc>
                <a:extLst>
                  <a:ext uri="{0D108BD9-81ED-4DB2-BD59-A6C34878D82A}">
                    <a16:rowId xmlns:a16="http://schemas.microsoft.com/office/drawing/2014/main" val="265739137"/>
                  </a:ext>
                </a:extLst>
              </a:tr>
              <a:tr h="1053406"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обзора взаимодействия (</a:t>
                      </a:r>
                      <a:r>
                        <a:rPr lang="en-US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Interaction Overview Diagram)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Описывает процесс взаимодействия объектов. Похожа на </a:t>
                      </a:r>
                      <a:r>
                        <a:rPr lang="ru-RU" b="0" dirty="0" err="1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activity</a:t>
                      </a:r>
                      <a:r>
                        <a:rPr lang="ru-RU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diagram</a:t>
                      </a:r>
                      <a:r>
                        <a:rPr lang="ru-RU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, но более высокоуровневую, где каждый узел — другая диаграмма взаимодействия.</a:t>
                      </a:r>
                    </a:p>
                  </a:txBody>
                  <a:tcPr marL="152400" marR="152400" marT="152400" marB="152400"/>
                </a:tc>
                <a:extLst>
                  <a:ext uri="{0D108BD9-81ED-4DB2-BD59-A6C34878D82A}">
                    <a16:rowId xmlns:a16="http://schemas.microsoft.com/office/drawing/2014/main" val="3943466352"/>
                  </a:ext>
                </a:extLst>
              </a:tr>
            </a:tbl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D71A071-52D6-45A9-D236-E9D037E14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348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9526FF-078D-51EA-4093-8778CD81C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Сферы применения диаграмм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C02181D7-924C-324F-5BEB-1D2DEA96AF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5292852"/>
              </p:ext>
            </p:extLst>
          </p:nvPr>
        </p:nvGraphicFramePr>
        <p:xfrm>
          <a:off x="1295400" y="1447800"/>
          <a:ext cx="9601200" cy="4572000"/>
        </p:xfrm>
        <a:graphic>
          <a:graphicData uri="http://schemas.openxmlformats.org/drawingml/2006/table">
            <a:tbl>
              <a:tblPr firstRow="1">
                <a:tableStyleId>{D27102A9-8310-4765-A935-A1911B00CA55}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36067397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35648216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Задача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Диаграммы</a:t>
                      </a:r>
                    </a:p>
                  </a:txBody>
                  <a:tcPr marL="152400" marR="152400" marT="152400" marB="152400"/>
                </a:tc>
                <a:extLst>
                  <a:ext uri="{0D108BD9-81ED-4DB2-BD59-A6C34878D82A}">
                    <a16:rowId xmlns:a16="http://schemas.microsoft.com/office/drawing/2014/main" val="2556936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Необходимо описать взаимодействия между пользователем и системой и предоставить описание процесса её функционирования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прецедентов/вариантов использования (Use Case Diagram)</a:t>
                      </a:r>
                    </a:p>
                  </a:txBody>
                  <a:tcPr marL="152400" marR="152400" marT="152400" marB="152400"/>
                </a:tc>
                <a:extLst>
                  <a:ext uri="{0D108BD9-81ED-4DB2-BD59-A6C34878D82A}">
                    <a16:rowId xmlns:a16="http://schemas.microsoft.com/office/drawing/2014/main" val="1157192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Необходимо раскрыть последовательность действий для конкретного прецедента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деятельности (</a:t>
                      </a:r>
                      <a:r>
                        <a:rPr lang="en-US" sz="2000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Activity Diagram)</a:t>
                      </a:r>
                    </a:p>
                  </a:txBody>
                  <a:tcPr marL="152400" marR="152400" marT="152400" marB="152400"/>
                </a:tc>
                <a:extLst>
                  <a:ext uri="{0D108BD9-81ED-4DB2-BD59-A6C34878D82A}">
                    <a16:rowId xmlns:a16="http://schemas.microsoft.com/office/drawing/2014/main" val="207390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Необходимо разделить объекты на классы, описать их свойства, интерфейсы и способы взаимодействия между собой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классов (</a:t>
                      </a:r>
                      <a:r>
                        <a:rPr lang="en-US" sz="2000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Class Diagram)</a:t>
                      </a:r>
                    </a:p>
                  </a:txBody>
                  <a:tcPr marL="152400" marR="152400" marT="152400" marB="152400"/>
                </a:tc>
                <a:extLst>
                  <a:ext uri="{0D108BD9-81ED-4DB2-BD59-A6C34878D82A}">
                    <a16:rowId xmlns:a16="http://schemas.microsoft.com/office/drawing/2014/main" val="2264967136"/>
                  </a:ext>
                </a:extLst>
              </a:tr>
            </a:tbl>
          </a:graphicData>
        </a:graphic>
      </p:graphicFrame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27CC25-EB7E-6477-E26D-C41D10D51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172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C02181D7-924C-324F-5BEB-1D2DEA96AF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0601403"/>
              </p:ext>
            </p:extLst>
          </p:nvPr>
        </p:nvGraphicFramePr>
        <p:xfrm>
          <a:off x="1295400" y="1447800"/>
          <a:ext cx="9601200" cy="4815840"/>
        </p:xfrm>
        <a:graphic>
          <a:graphicData uri="http://schemas.openxmlformats.org/drawingml/2006/table">
            <a:tbl>
              <a:tblPr firstRow="1">
                <a:tableStyleId>{D27102A9-8310-4765-A935-A1911B00CA55}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36067397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35648216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Задача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b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Диаграммы</a:t>
                      </a:r>
                    </a:p>
                  </a:txBody>
                  <a:tcPr marL="152400" marR="152400" marT="152400" marB="152400"/>
                </a:tc>
                <a:extLst>
                  <a:ext uri="{0D108BD9-81ED-4DB2-BD59-A6C34878D82A}">
                    <a16:rowId xmlns:a16="http://schemas.microsoft.com/office/drawing/2014/main" val="2556936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Необходимо описать жизненный цикл конкретного класса, условия перехода в каждое из состояний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состояний (</a:t>
                      </a:r>
                      <a:r>
                        <a:rPr lang="en-US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State Machine Diagram)</a:t>
                      </a:r>
                    </a:p>
                  </a:txBody>
                  <a:tcPr marL="152400" marR="152400" marT="152400" marB="152400"/>
                </a:tc>
                <a:extLst>
                  <a:ext uri="{0D108BD9-81ED-4DB2-BD59-A6C34878D82A}">
                    <a16:rowId xmlns:a16="http://schemas.microsoft.com/office/drawing/2014/main" val="1157192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Необходимо описать как объекты взаимодействуют друг с другом, как обмениваются данными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последовательности (</a:t>
                      </a:r>
                      <a:r>
                        <a:rPr lang="en-US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Sequence Diagram)</a:t>
                      </a:r>
                    </a:p>
                  </a:txBody>
                  <a:tcPr marL="152400" marR="152400" marT="152400" marB="152400"/>
                </a:tc>
                <a:extLst>
                  <a:ext uri="{0D108BD9-81ED-4DB2-BD59-A6C34878D82A}">
                    <a16:rowId xmlns:a16="http://schemas.microsoft.com/office/drawing/2014/main" val="207390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Необходимо описать архитектуру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pPr marL="285750" indent="-285750" algn="l" fontAlgn="t">
                        <a:buFont typeface="Wingdings" panose="05000000000000000000" pitchFamily="2" charset="2"/>
                        <a:buChar char="v"/>
                      </a:pPr>
                      <a:r>
                        <a:rPr lang="ru-RU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пакетов (</a:t>
                      </a:r>
                      <a:r>
                        <a:rPr lang="en-US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Package Diagram)</a:t>
                      </a:r>
                      <a:endParaRPr lang="ru-RU" b="0" dirty="0">
                        <a:solidFill>
                          <a:srgbClr val="4D4C4C"/>
                        </a:solidFill>
                        <a:effectLst/>
                        <a:latin typeface="Georgia" panose="02040502050405020303" pitchFamily="18" charset="0"/>
                      </a:endParaRPr>
                    </a:p>
                    <a:p>
                      <a:pPr marL="285750" indent="-285750" algn="l" fontAlgn="t">
                        <a:buFont typeface="Wingdings" panose="05000000000000000000" pitchFamily="2" charset="2"/>
                        <a:buChar char="v"/>
                      </a:pPr>
                      <a:r>
                        <a:rPr lang="ru-RU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компонентов (</a:t>
                      </a:r>
                      <a:r>
                        <a:rPr lang="en-US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Component Diagram)</a:t>
                      </a:r>
                      <a:endParaRPr lang="ru-RU" b="0" dirty="0">
                        <a:solidFill>
                          <a:srgbClr val="4D4C4C"/>
                        </a:solidFill>
                        <a:effectLst/>
                        <a:latin typeface="Georgia" panose="02040502050405020303" pitchFamily="18" charset="0"/>
                      </a:endParaRPr>
                    </a:p>
                    <a:p>
                      <a:pPr marL="285750" indent="-285750" algn="l" fontAlgn="t">
                        <a:buFont typeface="Wingdings" panose="05000000000000000000" pitchFamily="2" charset="2"/>
                        <a:buChar char="v"/>
                      </a:pPr>
                      <a:r>
                        <a:rPr lang="ru-RU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Диаграмма развертывания (</a:t>
                      </a:r>
                      <a:r>
                        <a:rPr lang="en-US" b="0" dirty="0">
                          <a:solidFill>
                            <a:srgbClr val="4D4C4C"/>
                          </a:solidFill>
                          <a:effectLst/>
                          <a:latin typeface="Georgia" panose="02040502050405020303" pitchFamily="18" charset="0"/>
                        </a:rPr>
                        <a:t>Deployment Diagram)</a:t>
                      </a:r>
                    </a:p>
                  </a:txBody>
                  <a:tcPr marL="152400" marR="152400" marT="152400" marB="152400"/>
                </a:tc>
                <a:extLst>
                  <a:ext uri="{0D108BD9-81ED-4DB2-BD59-A6C34878D82A}">
                    <a16:rowId xmlns:a16="http://schemas.microsoft.com/office/drawing/2014/main" val="2264967136"/>
                  </a:ext>
                </a:extLst>
              </a:tr>
            </a:tbl>
          </a:graphicData>
        </a:graphic>
      </p:graphicFrame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C7E8EB57-C58D-2CCF-8DB6-E24F07571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9219AE-C825-B3DD-47E9-A8ED7D34E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1802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0F411E-07CC-010D-512E-36B3AF8B5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</p:spPr>
        <p:txBody>
          <a:bodyPr/>
          <a:lstStyle/>
          <a:p>
            <a:r>
              <a:rPr lang="ru-RU" dirty="0"/>
              <a:t>Инструменты моделирования </a:t>
            </a:r>
            <a:r>
              <a:rPr lang="en-US" dirty="0"/>
              <a:t>UML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78C520-8FA7-168F-DD9D-C9D01CE1B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4754879"/>
          </a:xfrm>
        </p:spPr>
        <p:txBody>
          <a:bodyPr/>
          <a:lstStyle/>
          <a:p>
            <a:r>
              <a:rPr lang="ru-RU" dirty="0"/>
              <a:t>Инструменты для визуального моделирования с помощью графических элементов.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hlinkClick r:id="rId2"/>
              </a:rPr>
              <a:t>Visual Paradigm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hlinkClick r:id="rId3"/>
              </a:rPr>
              <a:t>draw.io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hlinkClick r:id="rId4"/>
              </a:rPr>
              <a:t>Microsoft Visio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hlinkClick r:id="rId5"/>
              </a:rPr>
              <a:t>PlantUML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hlinkClick r:id="rId6"/>
              </a:rPr>
              <a:t>Web Sequence Diagrams (</a:t>
            </a:r>
            <a:r>
              <a:rPr lang="ru-RU" dirty="0">
                <a:hlinkClick r:id="rId6"/>
              </a:rPr>
              <a:t>только </a:t>
            </a:r>
            <a:r>
              <a:rPr lang="en-US" dirty="0">
                <a:hlinkClick r:id="rId6"/>
              </a:rPr>
              <a:t>sequence </a:t>
            </a:r>
            <a:r>
              <a:rPr lang="ru-RU" dirty="0">
                <a:hlinkClick r:id="rId6"/>
              </a:rPr>
              <a:t>диаграммы)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и др.</a:t>
            </a:r>
          </a:p>
          <a:p>
            <a:r>
              <a:rPr lang="ru-RU" dirty="0"/>
              <a:t>Позволяют создавать визуальную модель с помощью графических элементов.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6746EA6C-9463-25A3-9C07-B3737ED17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694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B544281-0B8E-E583-6E49-F41150A68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A5D7B9-8E25-F3FC-2726-72C025614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4754879"/>
          </a:xfrm>
        </p:spPr>
        <p:txBody>
          <a:bodyPr/>
          <a:lstStyle/>
          <a:p>
            <a:r>
              <a:rPr lang="ru-RU" dirty="0"/>
              <a:t>Инструменты, для создания полноценной модели проекта, включая элементы UML.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hlinkClick r:id="rId2"/>
              </a:rPr>
              <a:t>Enterprise </a:t>
            </a:r>
            <a:r>
              <a:rPr lang="ru-RU" dirty="0" err="1">
                <a:hlinkClick r:id="rId2"/>
              </a:rPr>
              <a:t>Architect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 err="1">
                <a:hlinkClick r:id="rId3"/>
              </a:rPr>
              <a:t>StarUML</a:t>
            </a:r>
            <a:endParaRPr lang="ru-RU" dirty="0"/>
          </a:p>
          <a:p>
            <a:r>
              <a:rPr lang="ru-RU" dirty="0"/>
              <a:t>Позволяют создавать связанные комплексные модели проектов. В таких моделях все объекты и классы будут общими, а диаграммы связаны между собой. Все созданные модели и включенные в них объекты, </a:t>
            </a:r>
            <a:r>
              <a:rPr lang="ru-RU" dirty="0" err="1"/>
              <a:t>акторы</a:t>
            </a:r>
            <a:r>
              <a:rPr lang="ru-RU" dirty="0"/>
              <a:t>, методы могут быть повторно использованы в других диаграммах.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1DD7C6F1-BC19-80F7-A28F-F9D9BBEE6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8267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CA0E52-3CDF-4B41-9D74-76F6C3C61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Действия пользователей: User Story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18BE0F-897E-443E-BA83-93265665B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User Story – это </a:t>
            </a:r>
            <a:r>
              <a:rPr lang="ru-RU" dirty="0" err="1"/>
              <a:t>пользовательско</a:t>
            </a:r>
            <a:r>
              <a:rPr lang="ru-RU" dirty="0"/>
              <a:t>-ориентированное описание целей, которые люди смогут достичь, используя ваш продукт, написанное повседневным языком.</a:t>
            </a:r>
          </a:p>
          <a:p>
            <a:endParaRPr lang="ru-RU" dirty="0"/>
          </a:p>
          <a:p>
            <a:r>
              <a:rPr lang="ru-RU" dirty="0"/>
              <a:t>User Story формализуется до одного или нескольких </a:t>
            </a:r>
            <a:r>
              <a:rPr lang="en-US" dirty="0"/>
              <a:t>Use Case</a:t>
            </a:r>
            <a:r>
              <a:rPr lang="ru-RU" dirty="0"/>
              <a:t>.</a:t>
            </a:r>
            <a:r>
              <a:rPr lang="en-US" dirty="0"/>
              <a:t> Use Case</a:t>
            </a:r>
            <a:r>
              <a:rPr lang="ru-RU" dirty="0"/>
              <a:t> может включать в себя несколько User Story.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E22ECF-2E17-4788-8EC0-025DAF01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8080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5CA80-93AA-48CE-82F7-12E3076CA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Действия пользователей: </a:t>
            </a:r>
            <a:r>
              <a:rPr lang="en-US" dirty="0"/>
              <a:t>Use Case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60B733-2121-4F2F-B12A-7EC085444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Use</a:t>
            </a:r>
            <a:r>
              <a:rPr lang="ru-RU" b="1" dirty="0"/>
              <a:t> Case </a:t>
            </a:r>
            <a:r>
              <a:rPr lang="ru-RU" dirty="0"/>
              <a:t>(вариант использования, ВИ, Прецедент, </a:t>
            </a:r>
            <a:r>
              <a:rPr lang="ru-RU" dirty="0" err="1"/>
              <a:t>юскейс</a:t>
            </a:r>
            <a:r>
              <a:rPr lang="ru-RU" dirty="0"/>
              <a:t>) — это сценарная техника описания взаимодействия. С помощью </a:t>
            </a:r>
            <a:r>
              <a:rPr lang="ru-RU" dirty="0" err="1"/>
              <a:t>Use</a:t>
            </a:r>
            <a:r>
              <a:rPr lang="ru-RU" dirty="0"/>
              <a:t> Case может быть описано и пользовательское требование, и требование к взаимодействию систем, и описание взаимодействия людей и компаний в реальной жизни.</a:t>
            </a:r>
            <a:endParaRPr lang="en-US" dirty="0"/>
          </a:p>
          <a:p>
            <a:endParaRPr lang="en-US" dirty="0"/>
          </a:p>
          <a:p>
            <a:r>
              <a:rPr lang="ru-RU" dirty="0"/>
              <a:t>Т.е. вариант использования описывает, кто и что может сделать с системой или что система может сделать с кем и чем.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2AE9A7-DB30-4CBE-8041-204AB316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398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46E06C-56DD-4053-AA71-51B3F25C5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</a:t>
            </a:r>
            <a:r>
              <a:rPr lang="ru-RU" dirty="0"/>
              <a:t>отвечает на вопросы: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83A1EE-8EB6-4530-8AB9-5EF480183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/>
              <a:t>кто использует приложение или сайт;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/>
              <a:t>что хочет сделать пользователь, то есть каково конкретное действие;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/>
              <a:t>цель пользователя, которую он хочет достичь за счет выполнения задачи;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/>
              <a:t>шаги, которые необходимы, чтобы совершить нужное действие;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/>
              <a:t>описание того, как программный продукт должен отреагировать на действия пользователя.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C9FCC59-5C5F-4473-8652-1E756F110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4726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C980FF-9AA4-4A16-89C1-CCAE0C09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Полное содержание </a:t>
            </a:r>
            <a:r>
              <a:rPr lang="en-US" dirty="0"/>
              <a:t>Use Case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8D16D0-10F0-430E-859E-157EDBEEB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Идентификатор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Название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Цель, краткое описание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Действующие лица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Предусловие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Постусловие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Потоки событий:</a:t>
            </a:r>
          </a:p>
          <a:p>
            <a:pPr marL="873252" lvl="1" indent="-342900">
              <a:buFont typeface="Wingdings" panose="05000000000000000000" pitchFamily="2" charset="2"/>
              <a:buChar char="§"/>
            </a:pPr>
            <a:r>
              <a:rPr lang="ru-RU" i="0" dirty="0"/>
              <a:t>Основной поток событий {</a:t>
            </a:r>
            <a:r>
              <a:rPr lang="ru-RU" i="0" dirty="0" err="1"/>
              <a:t>basic</a:t>
            </a:r>
            <a:r>
              <a:rPr lang="ru-RU" i="0" dirty="0"/>
              <a:t>}</a:t>
            </a:r>
          </a:p>
          <a:p>
            <a:pPr marL="873252" lvl="1" indent="-342900">
              <a:buFont typeface="Wingdings" panose="05000000000000000000" pitchFamily="2" charset="2"/>
              <a:buChar char="§"/>
            </a:pPr>
            <a:r>
              <a:rPr lang="ru-RU" i="0" dirty="0"/>
              <a:t>Альтернативные потоки событий {</a:t>
            </a:r>
            <a:r>
              <a:rPr lang="ru-RU" i="0" dirty="0" err="1"/>
              <a:t>alt</a:t>
            </a:r>
            <a:r>
              <a:rPr lang="ru-RU" i="0" dirty="0"/>
              <a:t>}</a:t>
            </a:r>
          </a:p>
          <a:p>
            <a:pPr marL="873252" lvl="1" indent="-342900">
              <a:buFont typeface="Wingdings" panose="05000000000000000000" pitchFamily="2" charset="2"/>
              <a:buChar char="§"/>
            </a:pPr>
            <a:r>
              <a:rPr lang="ru-RU" i="0" dirty="0"/>
              <a:t>Ошибки и исключения {</a:t>
            </a:r>
            <a:r>
              <a:rPr lang="ru-RU" i="0" dirty="0" err="1"/>
              <a:t>err</a:t>
            </a:r>
            <a:r>
              <a:rPr lang="ru-RU" i="0" dirty="0"/>
              <a:t>}</a:t>
            </a:r>
          </a:p>
          <a:p>
            <a:pPr marL="873252" lvl="1" indent="-342900">
              <a:buFont typeface="Wingdings" panose="05000000000000000000" pitchFamily="2" charset="2"/>
              <a:buChar char="§"/>
            </a:pPr>
            <a:r>
              <a:rPr lang="ru-RU" i="0" dirty="0" err="1"/>
              <a:t>Подпотоки</a:t>
            </a:r>
            <a:r>
              <a:rPr lang="ru-RU" i="0" dirty="0"/>
              <a:t> {</a:t>
            </a:r>
            <a:r>
              <a:rPr lang="ru-RU" i="0" dirty="0" err="1"/>
              <a:t>sub</a:t>
            </a:r>
            <a:r>
              <a:rPr lang="ru-RU" i="0" dirty="0"/>
              <a:t>}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Точки расширения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Примечания и допущения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Правила и дополнительные требования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2B8D14-558D-465B-9413-EEF1668E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0179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36694B33-F396-4878-B9EC-AB5F900CAF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596538"/>
            <a:ext cx="9601200" cy="733697"/>
          </a:xfrm>
        </p:spPr>
        <p:txBody>
          <a:bodyPr>
            <a:normAutofit fontScale="90000"/>
          </a:bodyPr>
          <a:lstStyle/>
          <a:p>
            <a:r>
              <a:rPr lang="ru-RU" altLang="ru-RU" dirty="0"/>
              <a:t>Пример </a:t>
            </a:r>
            <a:r>
              <a:rPr lang="en-US" altLang="ru-RU" dirty="0"/>
              <a:t>Use Case</a:t>
            </a:r>
            <a:r>
              <a:rPr lang="ru-RU" altLang="ru-RU" dirty="0"/>
              <a:t>: Зарегистрироваться на сайте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6E5FB264-D684-4B28-8D53-5A10666E69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71600" y="1506583"/>
            <a:ext cx="9601200" cy="4754879"/>
          </a:xfrm>
        </p:spPr>
        <p:txBody>
          <a:bodyPr>
            <a:normAutofit/>
          </a:bodyPr>
          <a:lstStyle/>
          <a:p>
            <a:r>
              <a:rPr lang="ru-RU" altLang="ru-RU" dirty="0"/>
              <a:t>UC. Зарегистрироваться на сайте </a:t>
            </a:r>
          </a:p>
          <a:p>
            <a:r>
              <a:rPr lang="ru-RU" altLang="ru-RU" dirty="0"/>
              <a:t>Действующее лицо: пользователь сайта</a:t>
            </a:r>
          </a:p>
          <a:p>
            <a:r>
              <a:rPr lang="ru-RU" altLang="ru-RU" dirty="0"/>
              <a:t>Предусловия: пользователь находится на главной странице сайта</a:t>
            </a:r>
          </a:p>
          <a:p>
            <a:r>
              <a:rPr lang="ru-RU" altLang="ru-RU" dirty="0"/>
              <a:t>Основной сценарий:</a:t>
            </a:r>
          </a:p>
          <a:p>
            <a:pPr marL="987552" lvl="1" indent="-457200">
              <a:buFont typeface="+mj-lt"/>
              <a:buAutoNum type="arabicPeriod"/>
            </a:pPr>
            <a:r>
              <a:rPr lang="ru-RU" altLang="ru-RU" i="0" dirty="0"/>
              <a:t>Пользователь нажимает кнопку «Зарегистрироваться»</a:t>
            </a:r>
          </a:p>
          <a:p>
            <a:pPr marL="987552" lvl="1" indent="-457200">
              <a:buFont typeface="+mj-lt"/>
              <a:buAutoNum type="arabicPeriod"/>
            </a:pPr>
            <a:r>
              <a:rPr lang="ru-RU" altLang="ru-RU" i="0" dirty="0"/>
              <a:t>Сайт отображает форму регистрации</a:t>
            </a:r>
          </a:p>
          <a:p>
            <a:pPr marL="987552" lvl="1" indent="-457200">
              <a:buFont typeface="+mj-lt"/>
              <a:buAutoNum type="arabicPeriod"/>
            </a:pPr>
            <a:r>
              <a:rPr lang="ru-RU" altLang="ru-RU" i="0" dirty="0"/>
              <a:t>Пользователь заполняет поля формы и подтверждает регистрацию</a:t>
            </a:r>
          </a:p>
          <a:p>
            <a:pPr marL="987552" lvl="1" indent="-457200">
              <a:buFont typeface="+mj-lt"/>
              <a:buAutoNum type="arabicPeriod"/>
            </a:pPr>
            <a:r>
              <a:rPr lang="ru-RU" altLang="ru-RU" i="0" dirty="0"/>
              <a:t>Сайт подтверждает правильность заполнения формы</a:t>
            </a:r>
          </a:p>
          <a:p>
            <a:pPr marL="987552" lvl="1" indent="-457200">
              <a:buFont typeface="+mj-lt"/>
              <a:buAutoNum type="arabicPeriod"/>
            </a:pPr>
            <a:r>
              <a:rPr lang="ru-RU" altLang="ru-RU" i="0" dirty="0"/>
              <a:t>Сайт регистрирует пользователя и отправляет на его </a:t>
            </a:r>
            <a:r>
              <a:rPr lang="ru-RU" altLang="ru-RU" i="0" dirty="0" err="1"/>
              <a:t>e-mail</a:t>
            </a:r>
            <a:r>
              <a:rPr lang="ru-RU" altLang="ru-RU" i="0" dirty="0"/>
              <a:t> письмо с подтверждением регистрации</a:t>
            </a:r>
          </a:p>
          <a:p>
            <a:r>
              <a:rPr lang="ru-RU" altLang="ru-RU" dirty="0"/>
              <a:t>Альтернативные сценарии:</a:t>
            </a:r>
          </a:p>
          <a:p>
            <a:pPr lvl="1"/>
            <a:r>
              <a:rPr lang="ru-RU" altLang="ru-RU" dirty="0"/>
              <a:t>	…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4ABADE-F860-4079-A59C-8FA3E654E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18</a:t>
            </a:fld>
            <a:endParaRPr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C36D0D20-2F82-4146-A053-61054050DC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Use Case и User Story </a:t>
            </a:r>
          </a:p>
        </p:txBody>
      </p:sp>
      <p:pic>
        <p:nvPicPr>
          <p:cNvPr id="113668" name="Picture 4">
            <a:extLst>
              <a:ext uri="{FF2B5EF4-FFF2-40B4-BE49-F238E27FC236}">
                <a16:creationId xmlns:a16="http://schemas.microsoft.com/office/drawing/2014/main" id="{DE3458FD-6538-47A2-B796-8235BF42AC8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4" t="30591" r="40864" b="25318"/>
          <a:stretch/>
        </p:blipFill>
        <p:spPr>
          <a:xfrm>
            <a:off x="1469823" y="1730189"/>
            <a:ext cx="5131266" cy="3263152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6430A550-EECE-4690-80BC-EEE9BE52C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83602" y="2221198"/>
            <a:ext cx="4447786" cy="4273731"/>
          </a:xfrm>
        </p:spPr>
        <p:txBody>
          <a:bodyPr/>
          <a:lstStyle/>
          <a:p>
            <a:r>
              <a:rPr lang="ru-RU" dirty="0"/>
              <a:t>User Story это один из сценариев, тогда как </a:t>
            </a:r>
            <a:r>
              <a:rPr lang="ru-RU" dirty="0" err="1"/>
              <a:t>Use</a:t>
            </a:r>
            <a:r>
              <a:rPr lang="ru-RU" dirty="0"/>
              <a:t> Case это набор сценариев</a:t>
            </a:r>
          </a:p>
          <a:p>
            <a:r>
              <a:rPr lang="ru-RU" dirty="0" err="1"/>
              <a:t>Use</a:t>
            </a:r>
            <a:r>
              <a:rPr lang="ru-RU" dirty="0"/>
              <a:t> Case объединяет несколько сценариев и показывает отношения между ними</a:t>
            </a: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5E52E51-E163-4E52-A5D3-AF11106B3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19</a:t>
            </a:fld>
            <a:endParaRPr lang="ru-R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3DA647-A911-42A9-A32B-7CF4C0237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вариантов использования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6C0D90-AA09-4C1E-9245-2719DB080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Диаграмма вариантов использования </a:t>
            </a:r>
            <a:r>
              <a:rPr lang="ru-RU" altLang="ru-RU" sz="2400" dirty="0"/>
              <a:t>(</a:t>
            </a:r>
            <a:r>
              <a:rPr lang="en-US" altLang="ru-RU" sz="2400" dirty="0"/>
              <a:t>Use Case Diagram)</a:t>
            </a:r>
            <a:r>
              <a:rPr lang="ru-RU" altLang="ru-RU" sz="2400" dirty="0"/>
              <a:t> </a:t>
            </a:r>
            <a:r>
              <a:rPr lang="en-US" sz="2400" dirty="0"/>
              <a:t>–</a:t>
            </a:r>
            <a:r>
              <a:rPr lang="ru-RU" sz="2400" dirty="0"/>
              <a:t> модель системы со стороны ее функциональных возможностей. Включает в себя только названия вариантов использования без подробного их описания.</a:t>
            </a:r>
          </a:p>
          <a:p>
            <a:endParaRPr lang="ru-RU" sz="2400" dirty="0"/>
          </a:p>
          <a:p>
            <a:r>
              <a:rPr lang="ru-RU" sz="2400" dirty="0"/>
              <a:t>Варианты использования сгруппированы по деятелям, выполняющим то или иное действие в системе, и связаны с ними различными типами связей.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0B09A1-FDAA-4FB5-8588-F7990DA1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872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92695704-4E4D-42ED-BA0C-0E9DF56B6F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Что такое действующее лицо?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EA6AD455-3AD9-4723-8939-838B53C30D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altLang="ru-RU" sz="2400" b="1" dirty="0"/>
              <a:t>Действующее лицо</a:t>
            </a:r>
            <a:r>
              <a:rPr lang="ru-RU" altLang="ru-RU" sz="2400" dirty="0"/>
              <a:t> – некто или нечто внешнее по отношению к системе и взаимодействующее с системой для достижения определенной цели.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altLang="ru-RU" sz="2400" dirty="0"/>
              <a:t>«Представитель» внешней среды, который взаимодействует с системой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altLang="ru-RU" sz="2400" dirty="0"/>
              <a:t>Роль, исполняемая сущностью из внешней среды </a:t>
            </a:r>
          </a:p>
          <a:p>
            <a:r>
              <a:rPr lang="ru-RU" altLang="ru-RU" sz="2400" b="1" dirty="0"/>
              <a:t>Виды действующих лиц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altLang="ru-RU" sz="2400" dirty="0"/>
              <a:t>Пользователь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altLang="ru-RU" sz="2400" dirty="0"/>
              <a:t>Внешняя система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altLang="ru-RU" sz="2400" dirty="0"/>
              <a:t>Внешнее устройство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altLang="ru-RU" sz="2400" dirty="0"/>
              <a:t>Время 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3EAC9AA-9B81-45E0-9F11-00D5AB0A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21</a:t>
            </a:fld>
            <a:endParaRPr 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C1F99B-E020-4FDB-B61F-B0FC52C2F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517" y="2622261"/>
            <a:ext cx="6048940" cy="2343477"/>
          </a:xfrm>
          <a:prstGeom prst="rect">
            <a:avLst/>
          </a:prstGeom>
        </p:spPr>
      </p:pic>
      <p:sp>
        <p:nvSpPr>
          <p:cNvPr id="157698" name="Rectangle 2">
            <a:extLst>
              <a:ext uri="{FF2B5EF4-FFF2-40B4-BE49-F238E27FC236}">
                <a16:creationId xmlns:a16="http://schemas.microsoft.com/office/drawing/2014/main" id="{4C3046F1-FE45-4799-97A0-6609B8DE3A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4875" y="596538"/>
            <a:ext cx="10067925" cy="733697"/>
          </a:xfrm>
        </p:spPr>
        <p:txBody>
          <a:bodyPr>
            <a:normAutofit/>
          </a:bodyPr>
          <a:lstStyle/>
          <a:p>
            <a:r>
              <a:rPr lang="ru-RU" altLang="ru-RU" sz="3200" dirty="0"/>
              <a:t>Диаграмма вариантов использования </a:t>
            </a:r>
            <a:endParaRPr lang="ru-RU" altLang="ru-RU" dirty="0"/>
          </a:p>
        </p:txBody>
      </p:sp>
      <p:sp>
        <p:nvSpPr>
          <p:cNvPr id="17" name="Text Box 5">
            <a:extLst>
              <a:ext uri="{FF2B5EF4-FFF2-40B4-BE49-F238E27FC236}">
                <a16:creationId xmlns:a16="http://schemas.microsoft.com/office/drawing/2014/main" id="{4CFC9A3E-5C8D-4567-80E9-DEE08CDB3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766" y="1708132"/>
            <a:ext cx="233108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800" dirty="0">
                <a:solidFill>
                  <a:schemeClr val="tx2"/>
                </a:solidFill>
              </a:rPr>
              <a:t>Действующее</a:t>
            </a:r>
          </a:p>
          <a:p>
            <a:r>
              <a:rPr lang="ru-RU" altLang="ru-RU" sz="2800" dirty="0">
                <a:solidFill>
                  <a:schemeClr val="tx2"/>
                </a:solidFill>
              </a:rPr>
              <a:t>лицо</a:t>
            </a:r>
            <a:endParaRPr lang="en-US" altLang="ru-RU" sz="2800" dirty="0">
              <a:solidFill>
                <a:schemeClr val="tx2"/>
              </a:solidFill>
            </a:endParaRPr>
          </a:p>
          <a:p>
            <a:r>
              <a:rPr lang="en-US" altLang="ru-RU" sz="2800" dirty="0">
                <a:solidFill>
                  <a:schemeClr val="tx2"/>
                </a:solidFill>
              </a:rPr>
              <a:t>Actor</a:t>
            </a:r>
            <a:endParaRPr lang="ru-RU" altLang="ru-RU" sz="2800" dirty="0">
              <a:solidFill>
                <a:schemeClr val="tx2"/>
              </a:solidFill>
            </a:endParaRPr>
          </a:p>
        </p:txBody>
      </p:sp>
      <p:sp>
        <p:nvSpPr>
          <p:cNvPr id="18" name="Text Box 7">
            <a:extLst>
              <a:ext uri="{FF2B5EF4-FFF2-40B4-BE49-F238E27FC236}">
                <a16:creationId xmlns:a16="http://schemas.microsoft.com/office/drawing/2014/main" id="{DBA6DF2B-0DC0-4D0F-90B8-0931BB757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12265" y="1605411"/>
            <a:ext cx="252171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800" dirty="0">
                <a:solidFill>
                  <a:schemeClr val="tx2"/>
                </a:solidFill>
              </a:rPr>
              <a:t>Вариант </a:t>
            </a:r>
          </a:p>
          <a:p>
            <a:r>
              <a:rPr lang="ru-RU" altLang="ru-RU" sz="2800" dirty="0">
                <a:solidFill>
                  <a:schemeClr val="tx2"/>
                </a:solidFill>
              </a:rPr>
              <a:t>использования</a:t>
            </a:r>
          </a:p>
          <a:p>
            <a:r>
              <a:rPr lang="en-US" altLang="ru-RU" sz="2800" dirty="0">
                <a:solidFill>
                  <a:schemeClr val="tx2"/>
                </a:solidFill>
              </a:rPr>
              <a:t>Use Case</a:t>
            </a:r>
            <a:endParaRPr lang="ru-RU" altLang="ru-RU" sz="2800" dirty="0">
              <a:solidFill>
                <a:schemeClr val="tx2"/>
              </a:solidFill>
            </a:endParaRPr>
          </a:p>
        </p:txBody>
      </p:sp>
      <p:sp>
        <p:nvSpPr>
          <p:cNvPr id="19" name="Text Box 9">
            <a:extLst>
              <a:ext uri="{FF2B5EF4-FFF2-40B4-BE49-F238E27FC236}">
                <a16:creationId xmlns:a16="http://schemas.microsoft.com/office/drawing/2014/main" id="{130808C2-7CCA-4838-8FAD-BC9FC75B1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766" y="5321703"/>
            <a:ext cx="202972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800" dirty="0">
                <a:solidFill>
                  <a:schemeClr val="tx2"/>
                </a:solidFill>
              </a:rPr>
              <a:t>Ассоциации</a:t>
            </a:r>
          </a:p>
        </p:txBody>
      </p:sp>
      <p:sp>
        <p:nvSpPr>
          <p:cNvPr id="21" name="Text Box 13">
            <a:extLst>
              <a:ext uri="{FF2B5EF4-FFF2-40B4-BE49-F238E27FC236}">
                <a16:creationId xmlns:a16="http://schemas.microsoft.com/office/drawing/2014/main" id="{31705ECC-5B15-4118-B01F-EDAF5C271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12265" y="4011585"/>
            <a:ext cx="237966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ru-RU" altLang="ru-RU" sz="2800" dirty="0">
                <a:solidFill>
                  <a:schemeClr val="tx2"/>
                </a:solidFill>
              </a:rPr>
              <a:t>Зависимости (</a:t>
            </a:r>
            <a:r>
              <a:rPr lang="en-US" altLang="ru-RU" sz="2800" dirty="0" err="1">
                <a:solidFill>
                  <a:schemeClr val="tx2"/>
                </a:solidFill>
              </a:rPr>
              <a:t>extented</a:t>
            </a:r>
            <a:r>
              <a:rPr lang="ru-RU" altLang="ru-RU" sz="2800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22" name="Text Box 15">
            <a:extLst>
              <a:ext uri="{FF2B5EF4-FFF2-40B4-BE49-F238E27FC236}">
                <a16:creationId xmlns:a16="http://schemas.microsoft.com/office/drawing/2014/main" id="{05AD07BD-E0DE-4BFF-9A59-54C4110F4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7112" y="1762664"/>
            <a:ext cx="29153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800" dirty="0">
                <a:solidFill>
                  <a:schemeClr val="tx2"/>
                </a:solidFill>
              </a:rPr>
              <a:t>Границы системы</a:t>
            </a:r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08B7A2CB-102F-466F-875F-ABA0509BD379}"/>
              </a:ext>
            </a:extLst>
          </p:cNvPr>
          <p:cNvCxnSpPr>
            <a:cxnSpLocks/>
          </p:cNvCxnSpPr>
          <p:nvPr/>
        </p:nvCxnSpPr>
        <p:spPr>
          <a:xfrm>
            <a:off x="2181225" y="2381250"/>
            <a:ext cx="1304924" cy="18686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1678745A-DCF8-4573-91D4-52AD0584C3C0}"/>
              </a:ext>
            </a:extLst>
          </p:cNvPr>
          <p:cNvCxnSpPr>
            <a:cxnSpLocks/>
          </p:cNvCxnSpPr>
          <p:nvPr/>
        </p:nvCxnSpPr>
        <p:spPr>
          <a:xfrm flipV="1">
            <a:off x="2628109" y="4484660"/>
            <a:ext cx="2301424" cy="11827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8F923DAB-AB0B-4488-BD47-E0AD289F14AA}"/>
              </a:ext>
            </a:extLst>
          </p:cNvPr>
          <p:cNvCxnSpPr>
            <a:cxnSpLocks/>
          </p:cNvCxnSpPr>
          <p:nvPr/>
        </p:nvCxnSpPr>
        <p:spPr>
          <a:xfrm flipH="1">
            <a:off x="6600825" y="2581275"/>
            <a:ext cx="2664412" cy="6386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B1B4774D-2B18-4271-869F-7D3B776AD3C2}"/>
              </a:ext>
            </a:extLst>
          </p:cNvPr>
          <p:cNvCxnSpPr>
            <a:cxnSpLocks/>
          </p:cNvCxnSpPr>
          <p:nvPr/>
        </p:nvCxnSpPr>
        <p:spPr>
          <a:xfrm flipH="1">
            <a:off x="8705853" y="2809875"/>
            <a:ext cx="559385" cy="98412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303E3BD5-F042-4841-9FC3-C326456A945A}"/>
              </a:ext>
            </a:extLst>
          </p:cNvPr>
          <p:cNvCxnSpPr>
            <a:cxnSpLocks/>
          </p:cNvCxnSpPr>
          <p:nvPr/>
        </p:nvCxnSpPr>
        <p:spPr>
          <a:xfrm flipH="1" flipV="1">
            <a:off x="7858125" y="4107142"/>
            <a:ext cx="1323184" cy="6172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3D846128-25DC-4D2E-8E39-3DAFDC60E5DA}"/>
              </a:ext>
            </a:extLst>
          </p:cNvPr>
          <p:cNvCxnSpPr>
            <a:cxnSpLocks/>
          </p:cNvCxnSpPr>
          <p:nvPr/>
        </p:nvCxnSpPr>
        <p:spPr>
          <a:xfrm flipH="1">
            <a:off x="5680293" y="2180845"/>
            <a:ext cx="507945" cy="5528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Номер слайда 24">
            <a:extLst>
              <a:ext uri="{FF2B5EF4-FFF2-40B4-BE49-F238E27FC236}">
                <a16:creationId xmlns:a16="http://schemas.microsoft.com/office/drawing/2014/main" id="{05640A1D-90B5-4B0B-906F-3BE96ED76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22</a:t>
            </a:fld>
            <a:endParaRPr lang="ru-R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1BD6042B-459B-43ED-8E66-7D48D0B493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/>
              <a:t>Вариант использования и действующее лицо</a:t>
            </a:r>
          </a:p>
        </p:txBody>
      </p:sp>
      <p:pic>
        <p:nvPicPr>
          <p:cNvPr id="158725" name="Picture 5">
            <a:extLst>
              <a:ext uri="{FF2B5EF4-FFF2-40B4-BE49-F238E27FC236}">
                <a16:creationId xmlns:a16="http://schemas.microsoft.com/office/drawing/2014/main" id="{51163D3E-AB97-4698-A1A1-ADBA24441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3" t="15149" r="45995" b="46297"/>
          <a:stretch>
            <a:fillRect/>
          </a:stretch>
        </p:blipFill>
        <p:spPr bwMode="auto">
          <a:xfrm>
            <a:off x="1524001" y="2060575"/>
            <a:ext cx="5148263" cy="3754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8723" name="Rectangle 3">
            <a:extLst>
              <a:ext uri="{FF2B5EF4-FFF2-40B4-BE49-F238E27FC236}">
                <a16:creationId xmlns:a16="http://schemas.microsoft.com/office/drawing/2014/main" id="{0AC0DA0F-C74E-4ADC-A05B-C45D71A17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3575" y="1609726"/>
            <a:ext cx="3959225" cy="5040313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ru-RU" altLang="ru-RU" sz="2400" b="1" dirty="0"/>
              <a:t>Действующие лица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2400" b="1" dirty="0"/>
              <a:t>Основные</a:t>
            </a:r>
            <a:r>
              <a:rPr lang="ru-RU" altLang="ru-RU" sz="2400" dirty="0"/>
              <a:t> – инициируют вариант использования 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2400" b="1" dirty="0"/>
              <a:t>Вспомогательные</a:t>
            </a:r>
            <a:r>
              <a:rPr lang="ru-RU" altLang="ru-RU" sz="2400" dirty="0"/>
              <a:t> - участвуют в варианте использования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2400" dirty="0"/>
              <a:t>Всегда ВНЕ границ системы</a:t>
            </a:r>
          </a:p>
          <a:p>
            <a:pPr>
              <a:lnSpc>
                <a:spcPct val="80000"/>
              </a:lnSpc>
            </a:pPr>
            <a:r>
              <a:rPr lang="ru-RU" altLang="ru-RU" sz="2400" b="1" dirty="0"/>
              <a:t>Вариант использования 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2400" dirty="0"/>
              <a:t>связан с действующим лицом ассоциацией 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2400" dirty="0"/>
              <a:t>всегда ВНУТРИ границ системы 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25B3911-E452-4598-A9FB-D29E3016C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23</a:t>
            </a:fld>
            <a:endParaRPr lang="ru-R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28784D6E-F9F9-4E8E-B14F-B4BED45180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473605"/>
            <a:ext cx="9601200" cy="733697"/>
          </a:xfrm>
        </p:spPr>
        <p:txBody>
          <a:bodyPr>
            <a:normAutofit fontScale="90000"/>
          </a:bodyPr>
          <a:lstStyle/>
          <a:p>
            <a:r>
              <a:rPr lang="ru-RU" altLang="ru-RU" sz="4000" dirty="0"/>
              <a:t>Обобщение вариантов использования и действующих лиц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7B1B5FDB-6F2D-4F87-A35D-BAFBDED983E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altLang="ru-RU" sz="2400" dirty="0"/>
              <a:t>Абстрактный вариант использования описывает общее поведение системы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altLang="ru-RU" sz="2400" dirty="0"/>
              <a:t>Абстрактное действующее лицо описывает общую роль в системе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altLang="ru-RU" sz="2400" dirty="0"/>
              <a:t>Абстрактный вариант использования и абстрактное действующее лицо не могут иметь экземпляров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4CE060-79EA-4183-A548-30AD1FE34B5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7" t="13828" r="47391" b="5861"/>
          <a:stretch>
            <a:fillRect/>
          </a:stretch>
        </p:blipFill>
        <p:spPr bwMode="auto">
          <a:xfrm>
            <a:off x="6715125" y="1207302"/>
            <a:ext cx="4362450" cy="5269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679FB37-4F43-49BE-9E7E-C9FA40F7B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24</a:t>
            </a:fld>
            <a:endParaRPr lang="ru-R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>
            <a:extLst>
              <a:ext uri="{FF2B5EF4-FFF2-40B4-BE49-F238E27FC236}">
                <a16:creationId xmlns:a16="http://schemas.microsoft.com/office/drawing/2014/main" id="{A8A1AF95-A452-4888-A977-08C1A86BAE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Зависимость «include»</a:t>
            </a:r>
          </a:p>
        </p:txBody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CDD0B85C-44A9-4692-B621-27FA17EFE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13538" y="1344612"/>
            <a:ext cx="4032250" cy="5040313"/>
          </a:xfrm>
        </p:spPr>
        <p:txBody>
          <a:bodyPr>
            <a:normAutofit fontScale="92500"/>
          </a:bodyPr>
          <a:lstStyle/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2400" dirty="0"/>
              <a:t>Общее поведение выносится во включаемый вариант использования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2400" dirty="0"/>
              <a:t>Экземпляр базового варианта использования </a:t>
            </a:r>
            <a:r>
              <a:rPr lang="ru-RU" altLang="ru-RU" sz="2400" b="1" dirty="0"/>
              <a:t>не может существовать без шагов включаемого варианта использования 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2400" dirty="0"/>
              <a:t>Включаемый вариант использования, который не инициируется самостоятельно не может иметь экземпляров </a:t>
            </a:r>
          </a:p>
        </p:txBody>
      </p:sp>
      <p:pic>
        <p:nvPicPr>
          <p:cNvPr id="163845" name="Picture 5">
            <a:extLst>
              <a:ext uri="{FF2B5EF4-FFF2-40B4-BE49-F238E27FC236}">
                <a16:creationId xmlns:a16="http://schemas.microsoft.com/office/drawing/2014/main" id="{C41A4D3A-66CD-4197-B429-5D37B5766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4" t="24939" r="48077" b="30739"/>
          <a:stretch>
            <a:fillRect/>
          </a:stretch>
        </p:blipFill>
        <p:spPr bwMode="auto">
          <a:xfrm>
            <a:off x="1560513" y="1995488"/>
            <a:ext cx="5040312" cy="3738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A1E210EC-969D-4F63-ADA0-9CF729C5F095}"/>
              </a:ext>
            </a:extLst>
          </p:cNvPr>
          <p:cNvCxnSpPr/>
          <p:nvPr/>
        </p:nvCxnSpPr>
        <p:spPr>
          <a:xfrm>
            <a:off x="2400300" y="4076700"/>
            <a:ext cx="981075" cy="6286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E4B642-2C7F-49A0-9B58-6E8D7910F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25</a:t>
            </a:fld>
            <a:endParaRPr lang="ru-R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F708C1A6-448A-4585-BA39-63E53826D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Зависимость «extend»</a:t>
            </a:r>
          </a:p>
        </p:txBody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A2FBB23F-7E0D-49F1-AE83-F59312D681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83438" y="1609726"/>
            <a:ext cx="3600450" cy="504031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altLang="ru-RU" sz="2400" dirty="0"/>
              <a:t>Вводит новое поведение в базовый вариант использования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altLang="ru-RU" sz="2400" dirty="0"/>
              <a:t>Базовый вариант использования «не знает» про расширяющий вариант использования </a:t>
            </a:r>
          </a:p>
        </p:txBody>
      </p:sp>
      <p:pic>
        <p:nvPicPr>
          <p:cNvPr id="166917" name="Picture 5">
            <a:extLst>
              <a:ext uri="{FF2B5EF4-FFF2-40B4-BE49-F238E27FC236}">
                <a16:creationId xmlns:a16="http://schemas.microsoft.com/office/drawing/2014/main" id="{954ACCCE-3456-4FC3-9284-3FFC79CA3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6" t="22162" r="42880" b="19688"/>
          <a:stretch>
            <a:fillRect/>
          </a:stretch>
        </p:blipFill>
        <p:spPr bwMode="auto">
          <a:xfrm>
            <a:off x="1558925" y="1814514"/>
            <a:ext cx="5473700" cy="442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95604CCE-EFD1-4D9C-8260-D6DBCFB105E9}"/>
              </a:ext>
            </a:extLst>
          </p:cNvPr>
          <p:cNvCxnSpPr>
            <a:cxnSpLocks/>
          </p:cNvCxnSpPr>
          <p:nvPr/>
        </p:nvCxnSpPr>
        <p:spPr>
          <a:xfrm>
            <a:off x="2371725" y="4295775"/>
            <a:ext cx="1123950" cy="84772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A3221D-F00D-4E90-978F-B31A0CBF1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26</a:t>
            </a:fld>
            <a:endParaRPr lang="ru-R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88337A-CAE2-4250-93EB-49FA225B1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27</a:t>
            </a:fld>
            <a:endParaRPr lang="ru-RU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355ED7D-85CA-4A97-AFAC-5F195A350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506" y="235973"/>
            <a:ext cx="1338375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323C7A2F-4FFB-4622-BF84-3B4591ACC9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8506" y="235974"/>
          <a:ext cx="6115050" cy="6751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Visio" r:id="rId3" imgW="8477373" imgH="9344141" progId="Visio.Drawing.15">
                  <p:embed/>
                </p:oleObj>
              </mc:Choice>
              <mc:Fallback>
                <p:oleObj name="Visio" r:id="rId3" imgW="8477373" imgH="9344141" progId="Visio.Drawing.15">
                  <p:embed/>
                  <p:pic>
                    <p:nvPicPr>
                      <p:cNvPr id="8" name="Объект 7">
                        <a:extLst>
                          <a:ext uri="{FF2B5EF4-FFF2-40B4-BE49-F238E27FC236}">
                            <a16:creationId xmlns:a16="http://schemas.microsoft.com/office/drawing/2014/main" id="{323C7A2F-4FFB-4622-BF84-3B4591ACC9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506" y="235974"/>
                        <a:ext cx="6115050" cy="67511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829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A67734-E3B1-42DB-948A-D5260C768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Практическое 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17FC69-D93A-40ED-9700-74507465A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Ваша заказчица, некая М., продает домашнюю еду на заказ тем, кто не хочет готовить сам каждый день. Она работает следующим образом: принимает заявки от клиентов до начала недели на любое количество недель вперед, но так, чтобы было не больше 5 клиентов в один день. Клиенты могут выбрать одно из нескольких меню, предложенных им на выбор и составленных заранее. Каждый вечер заказчица готовит все блюда на следующий день, а рано утром рассылает их с курьерами.</a:t>
            </a:r>
          </a:p>
          <a:p>
            <a:r>
              <a:rPr lang="ru-RU" dirty="0"/>
              <a:t>Ей надоело принимать заказы через личные сообщения и она хочет сайт. Такой, чтобы она могла выкладывать рецепты, варианты меню из этих рецептов и отдельные статьи о питании. А ее клиенты могли бы оставить заявку на доставку еды через удобную форму и сразу оплатить ее, а также в личном кабинете видеть историю своих заказов.</a:t>
            </a:r>
          </a:p>
          <a:p>
            <a:endParaRPr lang="ru-RU" dirty="0"/>
          </a:p>
          <a:p>
            <a:r>
              <a:rPr lang="ru-RU" dirty="0"/>
              <a:t>Составьте диаграмму вариантов использования для данной предметной области. Распишите подробно </a:t>
            </a:r>
            <a:r>
              <a:rPr lang="en-US" dirty="0"/>
              <a:t>use case </a:t>
            </a:r>
            <a:r>
              <a:rPr lang="ru-RU" dirty="0"/>
              <a:t>«Заказать доставку еды». Альтернативные сценарии расписывать не нужно.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00C5B5-4E22-49E7-8D77-9C633B767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7024444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488</TotalTime>
  <Words>1597</Words>
  <Application>Microsoft Office PowerPoint</Application>
  <PresentationFormat>Широкоэкранный</PresentationFormat>
  <Paragraphs>216</Paragraphs>
  <Slides>28</Slides>
  <Notes>4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5" baseType="lpstr">
      <vt:lpstr>Arial</vt:lpstr>
      <vt:lpstr>Calibri</vt:lpstr>
      <vt:lpstr>Franklin Gothic Book</vt:lpstr>
      <vt:lpstr>Georgia</vt:lpstr>
      <vt:lpstr>Wingdings</vt:lpstr>
      <vt:lpstr>Уголки</vt:lpstr>
      <vt:lpstr>Visio</vt:lpstr>
      <vt:lpstr>Лекция 5   UML. Моделирование использования</vt:lpstr>
      <vt:lpstr>UML</vt:lpstr>
      <vt:lpstr>Цели создания UML</vt:lpstr>
      <vt:lpstr>Проблемы, которые решает UML</vt:lpstr>
      <vt:lpstr>Диаграммы языка UML</vt:lpstr>
      <vt:lpstr>Диаграммы языка UML. Структурные</vt:lpstr>
      <vt:lpstr>Презентация PowerPoint</vt:lpstr>
      <vt:lpstr>Диаграммы языка UML. Поведенческие</vt:lpstr>
      <vt:lpstr>Презентация PowerPoint</vt:lpstr>
      <vt:lpstr>Сферы применения диаграмм</vt:lpstr>
      <vt:lpstr>Презентация PowerPoint</vt:lpstr>
      <vt:lpstr>Инструменты моделирования UML</vt:lpstr>
      <vt:lpstr>Презентация PowerPoint</vt:lpstr>
      <vt:lpstr>Действия пользователей: User Story </vt:lpstr>
      <vt:lpstr>Действия пользователей: Use Case</vt:lpstr>
      <vt:lpstr>Use Case отвечает на вопросы:</vt:lpstr>
      <vt:lpstr>Полное содержание Use Case</vt:lpstr>
      <vt:lpstr>Пример Use Case: Зарегистрироваться на сайте</vt:lpstr>
      <vt:lpstr>Use Case и User Story </vt:lpstr>
      <vt:lpstr>Диаграмма вариантов использования</vt:lpstr>
      <vt:lpstr>Что такое действующее лицо?</vt:lpstr>
      <vt:lpstr>Диаграмма вариантов использования </vt:lpstr>
      <vt:lpstr>Вариант использования и действующее лицо</vt:lpstr>
      <vt:lpstr>Обобщение вариантов использования и действующих лиц</vt:lpstr>
      <vt:lpstr>Зависимость «include»</vt:lpstr>
      <vt:lpstr>Зависимость «extend»</vt:lpstr>
      <vt:lpstr>Презентация PowerPoint</vt:lpstr>
      <vt:lpstr>Практическое 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…    Заголовок</dc:title>
  <dc:creator>Лилия Челищева</dc:creator>
  <cp:lastModifiedBy>Лилия Челищева</cp:lastModifiedBy>
  <cp:revision>8</cp:revision>
  <dcterms:created xsi:type="dcterms:W3CDTF">2023-09-01T22:02:12Z</dcterms:created>
  <dcterms:modified xsi:type="dcterms:W3CDTF">2025-09-21T23:34:54Z</dcterms:modified>
</cp:coreProperties>
</file>