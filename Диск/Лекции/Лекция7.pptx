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095" r:id="rId1"/>
  </p:sldMasterIdLst>
  <p:notesMasterIdLst>
    <p:notesMasterId r:id="rId14"/>
  </p:notesMasterIdLst>
  <p:sldIdLst>
    <p:sldId id="256" r:id="rId2"/>
    <p:sldId id="333" r:id="rId3"/>
    <p:sldId id="337" r:id="rId4"/>
    <p:sldId id="338" r:id="rId5"/>
    <p:sldId id="339" r:id="rId6"/>
    <p:sldId id="343" r:id="rId7"/>
    <p:sldId id="344" r:id="rId8"/>
    <p:sldId id="340" r:id="rId9"/>
    <p:sldId id="341" r:id="rId10"/>
    <p:sldId id="345" r:id="rId11"/>
    <p:sldId id="342" r:id="rId12"/>
    <p:sldId id="25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-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B9F18C-B0EF-4C3B-831E-15C3CF792C09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D3E470-2E3C-4AB4-A461-A838E60D5F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5914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none" baseline="0">
                <a:solidFill>
                  <a:schemeClr val="tx2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sz="1400" baseline="0">
                <a:solidFill>
                  <a:schemeClr val="tx2"/>
                </a:solidFill>
              </a:defRPr>
            </a:lvl1pPr>
          </a:lstStyle>
          <a:p>
            <a:fld id="{15D38347-702E-498B-B08C-DEF354D6629E}" type="datetime1">
              <a:rPr lang="ru-RU" smtClean="0"/>
              <a:t>13.10.2025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sz="1400" baseline="0">
                <a:solidFill>
                  <a:schemeClr val="tx2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sz="2800" baseline="0">
                <a:solidFill>
                  <a:schemeClr val="tx2"/>
                </a:solidFill>
              </a:defRPr>
            </a:lvl1pPr>
          </a:lstStyle>
          <a:p>
            <a:fld id="{25A42088-C730-408A-A823-60BED1AFCEA0}" type="slidenum">
              <a:rPr lang="ru-RU" smtClean="0"/>
              <a:pPr/>
              <a:t>‹#›</a:t>
            </a:fld>
            <a:endParaRPr lang="ru-RU" dirty="0"/>
          </a:p>
        </p:txBody>
      </p:sp>
      <p:grpSp>
        <p:nvGrpSpPr>
          <p:cNvPr id="9" name="Group 8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606201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D0696-10F3-4B5A-B71C-22707C2001B8}" type="datetime1">
              <a:rPr lang="ru-RU" smtClean="0"/>
              <a:t>13.10.2025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3332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88F0F0C-D99A-410F-9911-63A47C4FE68F}" type="datetime1">
              <a:rPr lang="ru-RU" smtClean="0"/>
              <a:t>13.10.2025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8485155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1593669"/>
            <a:ext cx="4447786" cy="427373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1593669"/>
            <a:ext cx="4447786" cy="427373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0A0CF-EE6C-47A3-85BE-0F26FBE60222}" type="datetime1">
              <a:rPr lang="ru-RU" smtClean="0"/>
              <a:t>13.10.2025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75879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63790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3524" y="1516952"/>
            <a:ext cx="4443984" cy="637903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2348104"/>
            <a:ext cx="4443984" cy="3824095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1516952"/>
            <a:ext cx="4443984" cy="637903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2348105"/>
            <a:ext cx="4443984" cy="382409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526E4-1211-434F-B87B-977DA01F1840}" type="datetime1">
              <a:rPr lang="ru-RU" smtClean="0"/>
              <a:t>13.10.2025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9819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6CEF9-D33A-4081-AB8F-855DF995F0BB}" type="datetime1">
              <a:rPr lang="ru-RU" smtClean="0"/>
              <a:t>13.10.2025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145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6D69E-1695-4575-8EC2-2D08D3507A7E}" type="datetime1">
              <a:rPr lang="ru-RU" smtClean="0"/>
              <a:t>13.10.2025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6761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10B2DC-3A84-42CE-BFEC-A52F2FA5ABE8}" type="datetime1">
              <a:rPr lang="ru-RU" smtClean="0"/>
              <a:t>13.10.2025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633441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3C280E5-A025-45B5-92AB-31FBC1254ED0}" type="datetime1">
              <a:rPr lang="ru-RU" smtClean="0"/>
              <a:t>13.10.2025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45939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1637211"/>
            <a:ext cx="9601200" cy="423018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27454-E3F2-4967-91D0-7E58FC732875}" type="datetime1">
              <a:rPr lang="ru-RU" smtClean="0"/>
              <a:t>13.10.2025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763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0532A-A3E8-4F11-B367-EDFC1ADEDC15}" type="datetime1">
              <a:rPr lang="ru-RU" smtClean="0"/>
              <a:t>13.10.2025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3815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596538"/>
            <a:ext cx="9601200" cy="7336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1506583"/>
            <a:ext cx="9601200" cy="47548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71600" y="6374670"/>
            <a:ext cx="1146333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aseline="0">
                <a:solidFill>
                  <a:schemeClr val="tx2"/>
                </a:solidFill>
                <a:latin typeface="Georgia" panose="02040502050405020303" pitchFamily="18" charset="0"/>
              </a:defRPr>
            </a:lvl1pPr>
          </a:lstStyle>
          <a:p>
            <a:fld id="{6CE7A49A-459E-499C-837E-09F78318E92A}" type="datetime1">
              <a:rPr lang="ru-RU" smtClean="0"/>
              <a:pPr/>
              <a:t>13.10.2025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74514" y="6374670"/>
            <a:ext cx="6461075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aseline="0">
                <a:solidFill>
                  <a:schemeClr val="tx2"/>
                </a:solidFill>
                <a:latin typeface="Georgia" panose="02040502050405020303" pitchFamily="18" charset="0"/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92170" y="6374670"/>
            <a:ext cx="12806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 baseline="0">
                <a:solidFill>
                  <a:schemeClr val="tx2"/>
                </a:solidFill>
                <a:latin typeface="Georgia" panose="02040502050405020303" pitchFamily="18" charset="0"/>
              </a:defRPr>
            </a:lvl1pPr>
          </a:lstStyle>
          <a:p>
            <a:fld id="{25A42088-C730-408A-A823-60BED1AFCEA0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44367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6" r:id="rId1"/>
    <p:sldLayoutId id="2147484097" r:id="rId2"/>
    <p:sldLayoutId id="2147484098" r:id="rId3"/>
    <p:sldLayoutId id="2147484099" r:id="rId4"/>
    <p:sldLayoutId id="2147484100" r:id="rId5"/>
    <p:sldLayoutId id="2147484101" r:id="rId6"/>
    <p:sldLayoutId id="2147484102" r:id="rId7"/>
    <p:sldLayoutId id="2147484103" r:id="rId8"/>
    <p:sldLayoutId id="2147484104" r:id="rId9"/>
    <p:sldLayoutId id="2147484105" r:id="rId10"/>
    <p:sldLayoutId id="2147484106" r:id="rId11"/>
  </p:sldLayoutIdLst>
  <p:hf hdr="0" ftr="0" dt="0"/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3600" kern="1200" baseline="0">
          <a:solidFill>
            <a:schemeClr val="tx2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Tx/>
        <a:buNone/>
        <a:defRPr sz="2000" kern="1200" baseline="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1pPr>
      <a:lvl2pPr marL="530352" indent="0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Tx/>
        <a:buNone/>
        <a:defRPr sz="2000" i="1" kern="1200" baseline="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2pPr>
      <a:lvl3pPr marL="987552" indent="0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Tx/>
        <a:buNone/>
        <a:defRPr sz="1800" kern="1200" baseline="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3pPr>
      <a:lvl4pPr marL="1444752" indent="0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Tx/>
        <a:buNone/>
        <a:defRPr sz="1800" i="1" kern="1200" baseline="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4pPr>
      <a:lvl5pPr marL="1901952" indent="0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Tx/>
        <a:buNone/>
        <a:defRPr sz="1600" kern="1200" baseline="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F56258-0E67-7C7B-2850-681FD0BB75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6000" dirty="0"/>
              <a:t>Лекция 7  </a:t>
            </a:r>
            <a:br>
              <a:rPr lang="ru-RU" sz="6000" dirty="0"/>
            </a:br>
            <a:r>
              <a:rPr lang="en-US" sz="6000" dirty="0"/>
              <a:t>UML. </a:t>
            </a:r>
            <a:r>
              <a:rPr lang="ru-RU" sz="6000"/>
              <a:t>Диаграммы активности</a:t>
            </a:r>
            <a:endParaRPr lang="ru-RU" sz="60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9DB230C-D752-D32B-FD0D-4169200468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Технология разработки программного обеспечения</a:t>
            </a:r>
          </a:p>
          <a:p>
            <a:r>
              <a:rPr lang="ru-RU" dirty="0"/>
              <a:t>Преподаватель: Челищева Лилия Дмитриевна</a:t>
            </a:r>
          </a:p>
        </p:txBody>
      </p:sp>
    </p:spTree>
    <p:extLst>
      <p:ext uri="{BB962C8B-B14F-4D97-AF65-F5344CB8AC3E}">
        <p14:creationId xmlns:p14="http://schemas.microsoft.com/office/powerpoint/2010/main" val="1586075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AA3476-0885-43E7-B81F-0D4B850E4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Диаграмма активности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C968DA7-B855-4E13-A26F-AB6CD374F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Диаграмма активности UML позволяет более детально визуализировать конкретный случай использования. Это поведенческая диаграмма, которая иллюстрирует поток деятельности через систему.</a:t>
            </a:r>
          </a:p>
          <a:p>
            <a:endParaRPr lang="ru-RU" dirty="0"/>
          </a:p>
          <a:p>
            <a:r>
              <a:rPr lang="ru-RU" dirty="0"/>
              <a:t>Диаграммы активности UML также могут быть использованы для отображения потока событий в бизнес-процессе. Они могут быть использованы для изучения бизнес-процессов с целью определения их потока и требований.</a:t>
            </a:r>
          </a:p>
          <a:p>
            <a:endParaRPr lang="ru-RU" dirty="0"/>
          </a:p>
          <a:p>
            <a:r>
              <a:rPr lang="ru-RU" dirty="0"/>
              <a:t>Аналогично диаграмме последовательности, иллюстрирует один значимый </a:t>
            </a:r>
            <a:r>
              <a:rPr lang="en-US" dirty="0"/>
              <a:t>Use Case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Диаграмма активности = Диаграмма деятельности = </a:t>
            </a:r>
            <a:r>
              <a:rPr lang="en-US" dirty="0"/>
              <a:t>Activity diagram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A42F106-AA4E-419A-A8F8-728640E87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1293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731A9D-ADE3-46CE-9D12-991990F51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Элементы диаграммы</a:t>
            </a: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E0CB7F18-46D2-42DB-9962-4524F045408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304925" y="1434529"/>
          <a:ext cx="10515600" cy="3495702"/>
        </p:xfrm>
        <a:graphic>
          <a:graphicData uri="http://schemas.openxmlformats.org/drawingml/2006/table">
            <a:tbl>
              <a:tblPr firstRow="1" firstCol="1">
                <a:tableStyleId>{ED083AE6-46FA-4A59-8FB0-9F97EB10719F}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127439742"/>
                    </a:ext>
                  </a:extLst>
                </a:gridCol>
                <a:gridCol w="2389752">
                  <a:extLst>
                    <a:ext uri="{9D8B030D-6E8A-4147-A177-3AD203B41FA5}">
                      <a16:colId xmlns:a16="http://schemas.microsoft.com/office/drawing/2014/main" val="1790710423"/>
                    </a:ext>
                  </a:extLst>
                </a:gridCol>
                <a:gridCol w="4620648">
                  <a:extLst>
                    <a:ext uri="{9D8B030D-6E8A-4147-A177-3AD203B41FA5}">
                      <a16:colId xmlns:a16="http://schemas.microsoft.com/office/drawing/2014/main" val="3339439884"/>
                    </a:ext>
                  </a:extLst>
                </a:gridCol>
              </a:tblGrid>
              <a:tr h="182820">
                <a:tc>
                  <a:txBody>
                    <a:bodyPr/>
                    <a:lstStyle/>
                    <a:p>
                      <a:pPr algn="l" fontAlgn="t"/>
                      <a:r>
                        <a:rPr lang="ru-RU" sz="1800">
                          <a:solidFill>
                            <a:schemeClr val="tx2"/>
                          </a:solidFill>
                          <a:effectLst/>
                          <a:latin typeface="Georgia" panose="02040502050405020303" pitchFamily="18" charset="0"/>
                        </a:rPr>
                        <a:t>Символ</a:t>
                      </a:r>
                    </a:p>
                  </a:txBody>
                  <a:tcPr marL="29259" marR="29259" marT="29259" marB="29259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800">
                          <a:solidFill>
                            <a:schemeClr val="tx2"/>
                          </a:solidFill>
                          <a:effectLst/>
                          <a:latin typeface="Georgia" panose="02040502050405020303" pitchFamily="18" charset="0"/>
                        </a:rPr>
                        <a:t>Имя</a:t>
                      </a:r>
                    </a:p>
                  </a:txBody>
                  <a:tcPr marL="29259" marR="29259" marT="29259" marB="29259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800" dirty="0">
                          <a:solidFill>
                            <a:schemeClr val="tx2"/>
                          </a:solidFill>
                          <a:effectLst/>
                          <a:latin typeface="Georgia" panose="02040502050405020303" pitchFamily="18" charset="0"/>
                        </a:rPr>
                        <a:t>Назначение</a:t>
                      </a:r>
                    </a:p>
                  </a:txBody>
                  <a:tcPr marL="29259" marR="29259" marT="29259" marB="29259"/>
                </a:tc>
                <a:extLst>
                  <a:ext uri="{0D108BD9-81ED-4DB2-BD59-A6C34878D82A}">
                    <a16:rowId xmlns:a16="http://schemas.microsoft.com/office/drawing/2014/main" val="3127518928"/>
                  </a:ext>
                </a:extLst>
              </a:tr>
              <a:tr h="792750">
                <a:tc>
                  <a:txBody>
                    <a:bodyPr/>
                    <a:lstStyle/>
                    <a:p>
                      <a:pPr fontAlgn="t"/>
                      <a:endParaRPr lang="ru-RU" sz="1800" dirty="0">
                        <a:solidFill>
                          <a:schemeClr val="tx2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9259" marR="29259" marT="29259" marB="29259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800">
                          <a:solidFill>
                            <a:schemeClr val="tx2"/>
                          </a:solidFill>
                          <a:effectLst/>
                          <a:latin typeface="Georgia" panose="02040502050405020303" pitchFamily="18" charset="0"/>
                        </a:rPr>
                        <a:t>Пуск/ начальный узел</a:t>
                      </a:r>
                    </a:p>
                  </a:txBody>
                  <a:tcPr marL="29259" marR="29259" marT="29259" marB="29259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800" dirty="0">
                          <a:solidFill>
                            <a:schemeClr val="tx2"/>
                          </a:solidFill>
                          <a:effectLst/>
                          <a:latin typeface="Georgia" panose="02040502050405020303" pitchFamily="18" charset="0"/>
                        </a:rPr>
                        <a:t>Используется для представления отправной точки или начального состояния деятельности</a:t>
                      </a:r>
                    </a:p>
                  </a:txBody>
                  <a:tcPr marL="29259" marR="29259" marT="29259" marB="29259"/>
                </a:tc>
                <a:extLst>
                  <a:ext uri="{0D108BD9-81ED-4DB2-BD59-A6C34878D82A}">
                    <a16:rowId xmlns:a16="http://schemas.microsoft.com/office/drawing/2014/main" val="4023172933"/>
                  </a:ext>
                </a:extLst>
              </a:tr>
              <a:tr h="546725">
                <a:tc>
                  <a:txBody>
                    <a:bodyPr/>
                    <a:lstStyle/>
                    <a:p>
                      <a:pPr fontAlgn="t"/>
                      <a:endParaRPr lang="ru-RU" sz="1800" dirty="0">
                        <a:solidFill>
                          <a:schemeClr val="tx2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9259" marR="29259" marT="29259" marB="29259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800" dirty="0">
                          <a:solidFill>
                            <a:schemeClr val="tx2"/>
                          </a:solidFill>
                          <a:effectLst/>
                          <a:latin typeface="Georgia" panose="02040502050405020303" pitchFamily="18" charset="0"/>
                        </a:rPr>
                        <a:t>Действие</a:t>
                      </a:r>
                    </a:p>
                  </a:txBody>
                  <a:tcPr marL="29259" marR="29259" marT="29259" marB="29259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800" dirty="0">
                          <a:solidFill>
                            <a:schemeClr val="tx2"/>
                          </a:solidFill>
                          <a:effectLst/>
                          <a:latin typeface="Georgia" panose="02040502050405020303" pitchFamily="18" charset="0"/>
                        </a:rPr>
                        <a:t>Используется для представления деятельности процесса</a:t>
                      </a:r>
                    </a:p>
                  </a:txBody>
                  <a:tcPr marL="29259" marR="29259" marT="29259" marB="29259"/>
                </a:tc>
                <a:extLst>
                  <a:ext uri="{0D108BD9-81ED-4DB2-BD59-A6C34878D82A}">
                    <a16:rowId xmlns:a16="http://schemas.microsoft.com/office/drawing/2014/main" val="205676377"/>
                  </a:ext>
                </a:extLst>
              </a:tr>
              <a:tr h="792750">
                <a:tc>
                  <a:txBody>
                    <a:bodyPr/>
                    <a:lstStyle/>
                    <a:p>
                      <a:pPr fontAlgn="t"/>
                      <a:endParaRPr lang="ru-RU" sz="1800">
                        <a:solidFill>
                          <a:schemeClr val="tx2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9259" marR="29259" marT="29259" marB="29259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800" dirty="0">
                          <a:solidFill>
                            <a:schemeClr val="tx2"/>
                          </a:solidFill>
                          <a:effectLst/>
                          <a:latin typeface="Georgia" panose="02040502050405020303" pitchFamily="18" charset="0"/>
                        </a:rPr>
                        <a:t>Поток управления</a:t>
                      </a:r>
                    </a:p>
                  </a:txBody>
                  <a:tcPr marL="29259" marR="29259" marT="29259" marB="29259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800" dirty="0">
                          <a:solidFill>
                            <a:schemeClr val="tx2"/>
                          </a:solidFill>
                          <a:effectLst/>
                          <a:latin typeface="Georgia" panose="02040502050405020303" pitchFamily="18" charset="0"/>
                        </a:rPr>
                        <a:t>Используется для представления потока управления от одного действия к другому</a:t>
                      </a:r>
                    </a:p>
                  </a:txBody>
                  <a:tcPr marL="29259" marR="29259" marT="29259" marB="29259"/>
                </a:tc>
                <a:extLst>
                  <a:ext uri="{0D108BD9-81ED-4DB2-BD59-A6C34878D82A}">
                    <a16:rowId xmlns:a16="http://schemas.microsoft.com/office/drawing/2014/main" val="3799540870"/>
                  </a:ext>
                </a:extLst>
              </a:tr>
              <a:tr h="792750">
                <a:tc>
                  <a:txBody>
                    <a:bodyPr/>
                    <a:lstStyle/>
                    <a:p>
                      <a:pPr fontAlgn="t"/>
                      <a:endParaRPr lang="ru-RU" sz="1800" dirty="0">
                        <a:solidFill>
                          <a:schemeClr val="tx2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9259" marR="29259" marT="29259" marB="29259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800" dirty="0">
                          <a:solidFill>
                            <a:schemeClr val="tx2"/>
                          </a:solidFill>
                          <a:effectLst/>
                          <a:latin typeface="Georgia" panose="02040502050405020303" pitchFamily="18" charset="0"/>
                        </a:rPr>
                        <a:t>Конечный узел активности</a:t>
                      </a:r>
                    </a:p>
                  </a:txBody>
                  <a:tcPr marL="29259" marR="29259" marT="29259" marB="29259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800" dirty="0">
                          <a:solidFill>
                            <a:schemeClr val="tx2"/>
                          </a:solidFill>
                          <a:effectLst/>
                          <a:latin typeface="Georgia" panose="02040502050405020303" pitchFamily="18" charset="0"/>
                        </a:rPr>
                        <a:t>Используется для обозначения конца всех контрольных потоков в рамках деятельности</a:t>
                      </a:r>
                    </a:p>
                  </a:txBody>
                  <a:tcPr marL="29259" marR="29259" marT="29259" marB="29259"/>
                </a:tc>
                <a:extLst>
                  <a:ext uri="{0D108BD9-81ED-4DB2-BD59-A6C34878D82A}">
                    <a16:rowId xmlns:a16="http://schemas.microsoft.com/office/drawing/2014/main" val="3418729242"/>
                  </a:ext>
                </a:extLst>
              </a:tr>
            </a:tbl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2624B6C-F14D-4183-B25D-9D19A2B7E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3</a:t>
            </a:fld>
            <a:endParaRPr lang="ru-RU"/>
          </a:p>
        </p:txBody>
      </p:sp>
      <p:pic>
        <p:nvPicPr>
          <p:cNvPr id="1046" name="Picture 22" descr="Начать">
            <a:extLst>
              <a:ext uri="{FF2B5EF4-FFF2-40B4-BE49-F238E27FC236}">
                <a16:creationId xmlns:a16="http://schemas.microsoft.com/office/drawing/2014/main" id="{59425311-3DC7-4182-A199-CB942BBD21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550" y="1926773"/>
            <a:ext cx="623887" cy="588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Деятельность">
            <a:extLst>
              <a:ext uri="{FF2B5EF4-FFF2-40B4-BE49-F238E27FC236}">
                <a16:creationId xmlns:a16="http://schemas.microsoft.com/office/drawing/2014/main" id="{C589C05A-1646-43D2-9705-01EACE0AA1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6298" y="2646534"/>
            <a:ext cx="1571625" cy="626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Поток управления">
            <a:extLst>
              <a:ext uri="{FF2B5EF4-FFF2-40B4-BE49-F238E27FC236}">
                <a16:creationId xmlns:a16="http://schemas.microsoft.com/office/drawing/2014/main" id="{E0457736-50D5-4561-9E34-EF22F28270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305" y="3506274"/>
            <a:ext cx="2659610" cy="390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2" name="Picture 28" descr="Конечный узел активности ">
            <a:extLst>
              <a:ext uri="{FF2B5EF4-FFF2-40B4-BE49-F238E27FC236}">
                <a16:creationId xmlns:a16="http://schemas.microsoft.com/office/drawing/2014/main" id="{B7296B42-E492-4E6F-9807-27DF2EF1D7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550" y="4263964"/>
            <a:ext cx="653123" cy="660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4128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92E350-CDF4-41DF-89AE-C46AD048B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CB3321-9424-409A-85BF-8551A6D2A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4</a:t>
            </a:fld>
            <a:endParaRPr lang="ru-RU"/>
          </a:p>
        </p:txBody>
      </p:sp>
      <p:graphicFrame>
        <p:nvGraphicFramePr>
          <p:cNvPr id="8" name="Объект 5">
            <a:extLst>
              <a:ext uri="{FF2B5EF4-FFF2-40B4-BE49-F238E27FC236}">
                <a16:creationId xmlns:a16="http://schemas.microsoft.com/office/drawing/2014/main" id="{CC7B0612-34FB-4350-A267-3699E5288C1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371600" y="1506538"/>
          <a:ext cx="10515600" cy="4112358"/>
        </p:xfrm>
        <a:graphic>
          <a:graphicData uri="http://schemas.openxmlformats.org/drawingml/2006/table">
            <a:tbl>
              <a:tblPr firstRow="1" firstCol="1">
                <a:tableStyleId>{ED083AE6-46FA-4A59-8FB0-9F97EB10719F}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127439742"/>
                    </a:ext>
                  </a:extLst>
                </a:gridCol>
                <a:gridCol w="2389752">
                  <a:extLst>
                    <a:ext uri="{9D8B030D-6E8A-4147-A177-3AD203B41FA5}">
                      <a16:colId xmlns:a16="http://schemas.microsoft.com/office/drawing/2014/main" val="1790710423"/>
                    </a:ext>
                  </a:extLst>
                </a:gridCol>
                <a:gridCol w="4620648">
                  <a:extLst>
                    <a:ext uri="{9D8B030D-6E8A-4147-A177-3AD203B41FA5}">
                      <a16:colId xmlns:a16="http://schemas.microsoft.com/office/drawing/2014/main" val="3339439884"/>
                    </a:ext>
                  </a:extLst>
                </a:gridCol>
              </a:tblGrid>
              <a:tr h="182820">
                <a:tc>
                  <a:txBody>
                    <a:bodyPr/>
                    <a:lstStyle/>
                    <a:p>
                      <a:pPr algn="l" fontAlgn="t"/>
                      <a:r>
                        <a:rPr lang="ru-RU" sz="1800">
                          <a:solidFill>
                            <a:schemeClr val="tx2"/>
                          </a:solidFill>
                          <a:effectLst/>
                          <a:latin typeface="Georgia" panose="02040502050405020303" pitchFamily="18" charset="0"/>
                        </a:rPr>
                        <a:t>Символ</a:t>
                      </a:r>
                    </a:p>
                  </a:txBody>
                  <a:tcPr marL="29259" marR="29259" marT="29259" marB="29259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800">
                          <a:solidFill>
                            <a:schemeClr val="tx2"/>
                          </a:solidFill>
                          <a:effectLst/>
                          <a:latin typeface="Georgia" panose="02040502050405020303" pitchFamily="18" charset="0"/>
                        </a:rPr>
                        <a:t>Имя</a:t>
                      </a:r>
                    </a:p>
                  </a:txBody>
                  <a:tcPr marL="29259" marR="29259" marT="29259" marB="29259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800" dirty="0">
                          <a:solidFill>
                            <a:schemeClr val="tx2"/>
                          </a:solidFill>
                          <a:effectLst/>
                          <a:latin typeface="Georgia" panose="02040502050405020303" pitchFamily="18" charset="0"/>
                        </a:rPr>
                        <a:t>Назначение</a:t>
                      </a:r>
                    </a:p>
                  </a:txBody>
                  <a:tcPr marL="29259" marR="29259" marT="29259" marB="29259"/>
                </a:tc>
                <a:extLst>
                  <a:ext uri="{0D108BD9-81ED-4DB2-BD59-A6C34878D82A}">
                    <a16:rowId xmlns:a16="http://schemas.microsoft.com/office/drawing/2014/main" val="3127518928"/>
                  </a:ext>
                </a:extLst>
              </a:tr>
              <a:tr h="792750">
                <a:tc>
                  <a:txBody>
                    <a:bodyPr/>
                    <a:lstStyle/>
                    <a:p>
                      <a:pPr fontAlgn="t"/>
                      <a:endParaRPr lang="ru-RU" sz="1800" dirty="0">
                        <a:solidFill>
                          <a:schemeClr val="tx2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9259" marR="29259" marT="29259" marB="29259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>
                          <a:solidFill>
                            <a:schemeClr val="tx2"/>
                          </a:solidFill>
                          <a:effectLst/>
                          <a:latin typeface="Georgia" panose="02040502050405020303" pitchFamily="18" charset="0"/>
                        </a:rPr>
                        <a:t>Узел принятия решений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dirty="0">
                          <a:solidFill>
                            <a:schemeClr val="tx2"/>
                          </a:solidFill>
                          <a:effectLst/>
                          <a:latin typeface="Georgia" panose="02040502050405020303" pitchFamily="18" charset="0"/>
                        </a:rPr>
                        <a:t>Используется для представления условной точки ответвления с одним входом и несколькими выходами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4023172933"/>
                  </a:ext>
                </a:extLst>
              </a:tr>
              <a:tr h="546725">
                <a:tc>
                  <a:txBody>
                    <a:bodyPr/>
                    <a:lstStyle/>
                    <a:p>
                      <a:pPr fontAlgn="t"/>
                      <a:endParaRPr lang="ru-RU" sz="1800" dirty="0">
                        <a:solidFill>
                          <a:schemeClr val="tx2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9259" marR="29259" marT="29259" marB="29259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>
                          <a:solidFill>
                            <a:schemeClr val="tx2"/>
                          </a:solidFill>
                          <a:effectLst/>
                          <a:latin typeface="Georgia" panose="02040502050405020303" pitchFamily="18" charset="0"/>
                        </a:rPr>
                        <a:t>Узел слияния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dirty="0">
                          <a:solidFill>
                            <a:schemeClr val="tx2"/>
                          </a:solidFill>
                          <a:effectLst/>
                          <a:latin typeface="Georgia" panose="02040502050405020303" pitchFamily="18" charset="0"/>
                        </a:rPr>
                        <a:t>Используется для представления слияния потоков. Он имеет несколько входов, но один выход.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205676377"/>
                  </a:ext>
                </a:extLst>
              </a:tr>
              <a:tr h="792750">
                <a:tc>
                  <a:txBody>
                    <a:bodyPr/>
                    <a:lstStyle/>
                    <a:p>
                      <a:pPr fontAlgn="t"/>
                      <a:endParaRPr lang="ru-RU" sz="1800">
                        <a:solidFill>
                          <a:schemeClr val="tx2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9259" marR="29259" marT="29259" marB="29259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>
                          <a:solidFill>
                            <a:schemeClr val="tx2"/>
                          </a:solidFill>
                          <a:effectLst/>
                          <a:latin typeface="Georgia" panose="02040502050405020303" pitchFamily="18" charset="0"/>
                        </a:rPr>
                        <a:t>Вилка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dirty="0">
                          <a:solidFill>
                            <a:schemeClr val="tx2"/>
                          </a:solidFill>
                          <a:effectLst/>
                          <a:latin typeface="Georgia" panose="02040502050405020303" pitchFamily="18" charset="0"/>
                        </a:rPr>
                        <a:t>Используется для представления потока, который может разветвляться на два и более </a:t>
                      </a:r>
                      <a:r>
                        <a:rPr lang="ru-RU" b="1" dirty="0">
                          <a:solidFill>
                            <a:schemeClr val="tx2"/>
                          </a:solidFill>
                          <a:effectLst/>
                          <a:latin typeface="Georgia" panose="02040502050405020303" pitchFamily="18" charset="0"/>
                        </a:rPr>
                        <a:t>параллельных</a:t>
                      </a:r>
                      <a:r>
                        <a:rPr lang="ru-RU" dirty="0">
                          <a:solidFill>
                            <a:schemeClr val="tx2"/>
                          </a:solidFill>
                          <a:effectLst/>
                          <a:latin typeface="Georgia" panose="02040502050405020303" pitchFamily="18" charset="0"/>
                        </a:rPr>
                        <a:t> потока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3799540870"/>
                  </a:ext>
                </a:extLst>
              </a:tr>
              <a:tr h="792750">
                <a:tc>
                  <a:txBody>
                    <a:bodyPr/>
                    <a:lstStyle/>
                    <a:p>
                      <a:pPr fontAlgn="t"/>
                      <a:endParaRPr lang="ru-RU" sz="1800" dirty="0">
                        <a:solidFill>
                          <a:schemeClr val="tx2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29259" marR="29259" marT="29259" marB="29259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dirty="0">
                          <a:solidFill>
                            <a:schemeClr val="tx2"/>
                          </a:solidFill>
                          <a:effectLst/>
                          <a:latin typeface="Georgia" panose="02040502050405020303" pitchFamily="18" charset="0"/>
                        </a:rPr>
                        <a:t>Слияние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dirty="0">
                          <a:solidFill>
                            <a:schemeClr val="tx2"/>
                          </a:solidFill>
                          <a:effectLst/>
                          <a:latin typeface="Georgia" panose="02040502050405020303" pitchFamily="18" charset="0"/>
                        </a:rPr>
                        <a:t>Используется для представления двух входов, которые объединяются в один выход (для параллельных потоков)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3418729242"/>
                  </a:ext>
                </a:extLst>
              </a:tr>
            </a:tbl>
          </a:graphicData>
        </a:graphic>
      </p:graphicFrame>
      <p:pic>
        <p:nvPicPr>
          <p:cNvPr id="10" name="Picture 30" descr="Узел Слияния ">
            <a:extLst>
              <a:ext uri="{FF2B5EF4-FFF2-40B4-BE49-F238E27FC236}">
                <a16:creationId xmlns:a16="http://schemas.microsoft.com/office/drawing/2014/main" id="{AA2EE52F-B651-49EC-90CA-0D94C3348E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7962" y="1961669"/>
            <a:ext cx="811559" cy="772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30" descr="Узел Слияния ">
            <a:extLst>
              <a:ext uri="{FF2B5EF4-FFF2-40B4-BE49-F238E27FC236}">
                <a16:creationId xmlns:a16="http://schemas.microsoft.com/office/drawing/2014/main" id="{8FC52089-6374-4A98-851F-ADDDD22D30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2249" y="2857305"/>
            <a:ext cx="811559" cy="772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E053112-6AFA-4099-BEA3-C56AEDF81F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0775" y="3806150"/>
            <a:ext cx="1368043" cy="772542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F38B27A6-E7E6-451A-9552-C3F70EB2E5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4006" y="4754995"/>
            <a:ext cx="1368043" cy="777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091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4C1937-650E-4661-BFE6-5D23D6EC6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Разделы/Дорожки диаграммы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CFDF7AA0-1962-4A4B-BEDB-9FCD12607CB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Применяются для разграничения деятелей (</a:t>
            </a:r>
            <a:r>
              <a:rPr lang="ru-RU" dirty="0" err="1"/>
              <a:t>акторов</a:t>
            </a:r>
            <a:r>
              <a:rPr lang="ru-RU" dirty="0"/>
              <a:t>), выполняющих действия. Также разделом может служить сама система или ее компоненты.</a:t>
            </a:r>
          </a:p>
          <a:p>
            <a:endParaRPr lang="ru-RU" dirty="0"/>
          </a:p>
          <a:p>
            <a:r>
              <a:rPr lang="ru-RU" dirty="0"/>
              <a:t>В большинстве вариантов Л/Р будут 3 дорожки: некоторый пользователь системы, клиентская часть и БД.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2AD1964-7D00-4492-82B5-7C263683F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5</a:t>
            </a:fld>
            <a:endParaRPr lang="ru-RU"/>
          </a:p>
        </p:txBody>
      </p:sp>
      <p:pic>
        <p:nvPicPr>
          <p:cNvPr id="14338" name="Picture 2" descr="Диаграммы действий с плавательными бассейнами">
            <a:extLst>
              <a:ext uri="{FF2B5EF4-FFF2-40B4-BE49-F238E27FC236}">
                <a16:creationId xmlns:a16="http://schemas.microsoft.com/office/drawing/2014/main" id="{A54E32CA-0B88-4484-8F6D-2B8D310FC03E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616" y="1774253"/>
            <a:ext cx="4448175" cy="3646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8964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113BC277-1655-4402-A4AA-FA431F81D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Ветвления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633D727C-464B-46C3-903C-5BA72898E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06583"/>
            <a:ext cx="4095750" cy="4256042"/>
          </a:xfrm>
        </p:spPr>
        <p:txBody>
          <a:bodyPr>
            <a:normAutofit/>
          </a:bodyPr>
          <a:lstStyle/>
          <a:p>
            <a:r>
              <a:rPr lang="ru-RU" dirty="0"/>
              <a:t>Обратите внимание, что в ромбе ничего не пишется. Любое условие должно исходить из действия до ветвления.</a:t>
            </a:r>
          </a:p>
          <a:p>
            <a:endParaRPr lang="ru-RU" dirty="0"/>
          </a:p>
          <a:p>
            <a:r>
              <a:rPr lang="ru-RU" dirty="0"/>
              <a:t>В один блок действия может входить только одна стрелка. Поэтому разделенные стрелки нужно объединить через ромб.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794C4C4-D19A-41CD-B122-FAA327F6F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6</a:t>
            </a:fld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BCD26AD-89D0-4DDA-AADB-9B5ABFF75E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993957"/>
            <a:ext cx="4724793" cy="5267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636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71FBEC-6B1D-4110-9266-05B3FA2E0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Многопоточность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FC45C8-D7A7-44EE-90EE-AFC9184C6F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06583"/>
            <a:ext cx="4819650" cy="4754879"/>
          </a:xfrm>
        </p:spPr>
        <p:txBody>
          <a:bodyPr/>
          <a:lstStyle/>
          <a:p>
            <a:r>
              <a:rPr lang="ru-RU" dirty="0"/>
              <a:t>Позволяет выполнять работу в параллельных процессах. Внимательно следите за сферой применения – точно ли элементы могут выполняться одновременно, например, разными людьми.</a:t>
            </a:r>
          </a:p>
          <a:p>
            <a:endParaRPr lang="ru-RU" dirty="0"/>
          </a:p>
          <a:p>
            <a:r>
              <a:rPr lang="ru-RU" dirty="0"/>
              <a:t>Каждая открывающая линия, разделяющая потоки, требует ниже закрывающей линии, соединяющей потоки, до финала.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EA38377-CC9F-413B-8675-676168661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7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599994E-99B6-46A3-BB1D-8F0BB0834E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1506583"/>
            <a:ext cx="5665387" cy="475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935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81B394E0-F337-466A-B4A5-9DECF59EA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</a:t>
            </a: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825E97BD-614D-4B78-A110-449082920D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53058" y="1506538"/>
            <a:ext cx="5838283" cy="4754562"/>
          </a:xfrm>
          <a:prstGeom prst="rect">
            <a:avLst/>
          </a:prstGeom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1436B2E-68FC-47FC-BB7B-A8DD636AE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5531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72753A4-DBBF-47EB-BAD3-6B1E50404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9</a:t>
            </a:fld>
            <a:endParaRPr lang="ru-RU"/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A8B8BB6C-C630-46B1-8E39-0ADFD697535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0028" y="-1"/>
            <a:ext cx="4293821" cy="6878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6587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775CFB-860F-4DFC-9024-92120A97F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EFFAA92-D43C-425A-8FD1-12E43C54F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10</a:t>
            </a:fld>
            <a:endParaRPr lang="ru-RU"/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7763C218-7E01-4428-83D4-948364F1464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3175" y="263273"/>
            <a:ext cx="6531272" cy="6516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98251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611266E-67D4-468D-B8DE-FF537992A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11</a:t>
            </a:fld>
            <a:endParaRPr lang="ru-RU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F1E947ED-FFB2-499E-8BF9-47C4ACB8F4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4335" y="247650"/>
            <a:ext cx="8463330" cy="5670072"/>
          </a:xfrm>
        </p:spPr>
      </p:pic>
    </p:spTree>
    <p:extLst>
      <p:ext uri="{BB962C8B-B14F-4D97-AF65-F5344CB8AC3E}">
        <p14:creationId xmlns:p14="http://schemas.microsoft.com/office/powerpoint/2010/main" val="18769975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9282F9-4D3C-BC75-AAA6-3F765CAB3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Практическое задание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EFC71DD-32F2-11BD-C730-C9C91CC714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Создайте диаграммы активности для следующих процессов: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Выдача кредита клиенту банка менеджером (дорожки: Клиент, Менеджер, Клиентская часть, БД)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Внесение ежемесячной оплаты за кредит клиентом (дорожки: Клиент, Банкомат/Мобильное приложение, ИС кредитования; БД </a:t>
            </a:r>
            <a:r>
              <a:rPr lang="ru-RU"/>
              <a:t>не потребуется)</a:t>
            </a:r>
            <a:endParaRPr lang="ru-RU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ru-RU" dirty="0"/>
          </a:p>
          <a:p>
            <a:r>
              <a:rPr lang="ru-RU" dirty="0"/>
              <a:t>В л/р используйте дорожки, как минимум одна из которых должна быть «ИС» или «Сайт» или «Клиентская часть» и т.п. Две другие обязательные дорожки – взаимодействующий с системой пользователь и БД.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71D505D-A966-076C-A1FB-EA145D9B0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6434071"/>
      </p:ext>
    </p:extLst>
  </p:cSld>
  <p:clrMapOvr>
    <a:masterClrMapping/>
  </p:clrMapOvr>
</p:sld>
</file>

<file path=ppt/theme/theme1.xml><?xml version="1.0" encoding="utf-8"?>
<a:theme xmlns:a="http://schemas.openxmlformats.org/drawingml/2006/main" name="Уголки">
  <a:themeElements>
    <a:clrScheme name="Уголки">
      <a:dk1>
        <a:sysClr val="windowText" lastClr="000000"/>
      </a:dk1>
      <a:lt1>
        <a:sysClr val="window" lastClr="FFFFFF"/>
      </a:lt1>
      <a:dk2>
        <a:srgbClr val="1A2E40"/>
      </a:dk2>
      <a:lt2>
        <a:srgbClr val="EBE7DD"/>
      </a:lt2>
      <a:accent1>
        <a:srgbClr val="69A1AB"/>
      </a:accent1>
      <a:accent2>
        <a:srgbClr val="F2C418"/>
      </a:accent2>
      <a:accent3>
        <a:srgbClr val="87492C"/>
      </a:accent3>
      <a:accent4>
        <a:srgbClr val="4A845E"/>
      </a:accent4>
      <a:accent5>
        <a:srgbClr val="DC9528"/>
      </a:accent5>
      <a:accent6>
        <a:srgbClr val="9A5D78"/>
      </a:accent6>
      <a:hlink>
        <a:srgbClr val="66C8E3"/>
      </a:hlink>
      <a:folHlink>
        <a:srgbClr val="B162A1"/>
      </a:folHlink>
    </a:clrScheme>
    <a:fontScheme name="Уголки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17F9D331-421E-442F-B033-AF5B21A4485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TM10001105[[fn=Уголки]]</Template>
  <TotalTime>1083</TotalTime>
  <Words>432</Words>
  <Application>Microsoft Office PowerPoint</Application>
  <PresentationFormat>Широкоэкранный</PresentationFormat>
  <Paragraphs>64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Calibri</vt:lpstr>
      <vt:lpstr>Franklin Gothic Book</vt:lpstr>
      <vt:lpstr>Georgia</vt:lpstr>
      <vt:lpstr>Wingdings</vt:lpstr>
      <vt:lpstr>Уголки</vt:lpstr>
      <vt:lpstr>Лекция 7   UML. Диаграммы активности</vt:lpstr>
      <vt:lpstr>Диаграмма активности</vt:lpstr>
      <vt:lpstr>Элементы диаграммы</vt:lpstr>
      <vt:lpstr>Презентация PowerPoint</vt:lpstr>
      <vt:lpstr>Разделы/Дорожки диаграммы</vt:lpstr>
      <vt:lpstr>Ветвления</vt:lpstr>
      <vt:lpstr>Многопоточность</vt:lpstr>
      <vt:lpstr>Примеры</vt:lpstr>
      <vt:lpstr>Презентация PowerPoint</vt:lpstr>
      <vt:lpstr>Презентация PowerPoint</vt:lpstr>
      <vt:lpstr>Презентация PowerPoint</vt:lpstr>
      <vt:lpstr>Практическое задание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…    Заголовок</dc:title>
  <dc:creator>Лилия Челищева</dc:creator>
  <cp:lastModifiedBy>Лилия Челищева</cp:lastModifiedBy>
  <cp:revision>9</cp:revision>
  <dcterms:created xsi:type="dcterms:W3CDTF">2023-09-01T22:02:12Z</dcterms:created>
  <dcterms:modified xsi:type="dcterms:W3CDTF">2025-10-13T13:48:39Z</dcterms:modified>
</cp:coreProperties>
</file>