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95" r:id="rId1"/>
  </p:sldMasterIdLst>
  <p:notesMasterIdLst>
    <p:notesMasterId r:id="rId51"/>
  </p:notesMasterIdLst>
  <p:sldIdLst>
    <p:sldId id="256" r:id="rId2"/>
    <p:sldId id="261" r:id="rId3"/>
    <p:sldId id="262" r:id="rId4"/>
    <p:sldId id="306" r:id="rId5"/>
    <p:sldId id="270" r:id="rId6"/>
    <p:sldId id="272" r:id="rId7"/>
    <p:sldId id="307" r:id="rId8"/>
    <p:sldId id="312" r:id="rId9"/>
    <p:sldId id="316" r:id="rId10"/>
    <p:sldId id="320" r:id="rId11"/>
    <p:sldId id="358" r:id="rId12"/>
    <p:sldId id="361" r:id="rId13"/>
    <p:sldId id="362" r:id="rId14"/>
    <p:sldId id="364" r:id="rId15"/>
    <p:sldId id="366" r:id="rId16"/>
    <p:sldId id="369" r:id="rId17"/>
    <p:sldId id="375" r:id="rId18"/>
    <p:sldId id="374" r:id="rId19"/>
    <p:sldId id="376" r:id="rId20"/>
    <p:sldId id="386" r:id="rId21"/>
    <p:sldId id="382" r:id="rId22"/>
    <p:sldId id="392" r:id="rId23"/>
    <p:sldId id="264" r:id="rId24"/>
    <p:sldId id="387" r:id="rId25"/>
    <p:sldId id="393" r:id="rId26"/>
    <p:sldId id="267" r:id="rId27"/>
    <p:sldId id="390" r:id="rId28"/>
    <p:sldId id="394" r:id="rId29"/>
    <p:sldId id="391" r:id="rId30"/>
    <p:sldId id="269" r:id="rId31"/>
    <p:sldId id="396" r:id="rId32"/>
    <p:sldId id="258" r:id="rId33"/>
    <p:sldId id="257" r:id="rId34"/>
    <p:sldId id="263" r:id="rId35"/>
    <p:sldId id="266" r:id="rId36"/>
    <p:sldId id="395" r:id="rId37"/>
    <p:sldId id="271" r:id="rId38"/>
    <p:sldId id="281" r:id="rId39"/>
    <p:sldId id="287" r:id="rId40"/>
    <p:sldId id="323" r:id="rId41"/>
    <p:sldId id="330" r:id="rId42"/>
    <p:sldId id="331" r:id="rId43"/>
    <p:sldId id="342" r:id="rId44"/>
    <p:sldId id="343" r:id="rId45"/>
    <p:sldId id="344" r:id="rId46"/>
    <p:sldId id="345" r:id="rId47"/>
    <p:sldId id="346" r:id="rId48"/>
    <p:sldId id="347" r:id="rId49"/>
    <p:sldId id="397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9F18C-B0EF-4C3B-831E-15C3CF792C09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3E470-2E3C-4AB4-A461-A838E60D5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91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16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671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51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none" baseline="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sz="1400" baseline="0">
                <a:solidFill>
                  <a:schemeClr val="tx2"/>
                </a:solidFill>
              </a:defRPr>
            </a:lvl1pPr>
          </a:lstStyle>
          <a:p>
            <a:fld id="{15D38347-702E-498B-B08C-DEF354D6629E}" type="datetime1">
              <a:rPr lang="ru-RU" smtClean="0"/>
              <a:t>20.10.2025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sz="1400" baseline="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0620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0696-10F3-4B5A-B71C-22707C2001B8}" type="datetime1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33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88F0F0C-D99A-410F-9911-63A47C4FE68F}" type="datetime1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48515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593669"/>
            <a:ext cx="4447786" cy="427373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1593669"/>
            <a:ext cx="4447786" cy="427373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A0CF-EE6C-47A3-85BE-0F26FBE60222}" type="datetime1">
              <a:rPr lang="ru-RU" smtClean="0"/>
              <a:t>20.10.2025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587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790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52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2348104"/>
            <a:ext cx="4443984" cy="382409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2348105"/>
            <a:ext cx="4443984" cy="382409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526E4-1211-434F-B87B-977DA01F1840}" type="datetime1">
              <a:rPr lang="ru-RU" smtClean="0"/>
              <a:t>20.10.2025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981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CEF9-D33A-4081-AB8F-855DF995F0BB}" type="datetime1">
              <a:rPr lang="ru-RU" smtClean="0"/>
              <a:t>20.10.2025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4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D69E-1695-4575-8EC2-2D08D3507A7E}" type="datetime1">
              <a:rPr lang="ru-RU" smtClean="0"/>
              <a:t>20.10.2025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6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10B2DC-3A84-42CE-BFEC-A52F2FA5ABE8}" type="datetime1">
              <a:rPr lang="ru-RU" smtClean="0"/>
              <a:t>20.10.2025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3344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C280E5-A025-45B5-92AB-31FBC1254ED0}" type="datetime1">
              <a:rPr lang="ru-RU" smtClean="0"/>
              <a:t>20.10.2025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593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1637211"/>
            <a:ext cx="9601200" cy="42301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7454-E3F2-4967-91D0-7E58FC732875}" type="datetime1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6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0532A-A3E8-4F11-B367-EDFC1ADEDC15}" type="datetime1">
              <a:rPr lang="ru-RU" smtClean="0"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81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506583"/>
            <a:ext cx="9601200" cy="475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0" y="6374670"/>
            <a:ext cx="114633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6CE7A49A-459E-499C-837E-09F78318E92A}" type="datetime1">
              <a:rPr lang="ru-RU" smtClean="0"/>
              <a:pPr/>
              <a:t>20.10.2025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4514" y="6374670"/>
            <a:ext cx="6461075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92170" y="6374670"/>
            <a:ext cx="12806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436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3600" kern="1200" baseline="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Tx/>
        <a:buNone/>
        <a:defRPr sz="20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1pPr>
      <a:lvl2pPr marL="5303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20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2pPr>
      <a:lvl3pPr marL="9875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3pPr>
      <a:lvl4pPr marL="14447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4pPr>
      <a:lvl5pPr marL="19019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6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56258-0E67-7C7B-2850-681FD0BB7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000" dirty="0"/>
              <a:t>Лекция 10  </a:t>
            </a:r>
            <a:br>
              <a:rPr lang="ru-RU" sz="6000" dirty="0"/>
            </a:br>
            <a:r>
              <a:rPr lang="ru-RU" sz="6000" dirty="0"/>
              <a:t>Проектирование БД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DB230C-D752-D32B-FD0D-416920046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Технология разработки программного обеспечения</a:t>
            </a:r>
          </a:p>
          <a:p>
            <a:r>
              <a:rPr lang="ru-RU" dirty="0"/>
              <a:t>Преподаватель: Челищева Лилия Дмитриевна</a:t>
            </a:r>
          </a:p>
        </p:txBody>
      </p:sp>
    </p:spTree>
    <p:extLst>
      <p:ext uri="{BB962C8B-B14F-4D97-AF65-F5344CB8AC3E}">
        <p14:creationId xmlns:p14="http://schemas.microsoft.com/office/powerpoint/2010/main" val="158607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800" b="1" dirty="0"/>
              <a:t>База данных (БД) </a:t>
            </a:r>
            <a:r>
              <a:rPr lang="ru-RU" sz="2800" dirty="0"/>
              <a:t>– поименованная совокупность структурированных данных, относящихся к определённой предметной области и хранящихся в памяти компьютера.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/>
              <a:t>База данных (БД) </a:t>
            </a:r>
            <a:r>
              <a:rPr lang="ru-RU" sz="2800" dirty="0"/>
              <a:t>– это информационная модель, позволяющая в упорядоченном виде хранить данные о группе объектов, обладающих одинаковым набором свойств.</a:t>
            </a:r>
          </a:p>
          <a:p>
            <a:endParaRPr lang="ru-RU" sz="28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D0086B-B682-41F4-56C1-50952F7A5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2513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altLang="ru-RU" sz="2800" dirty="0"/>
              <a:t> Для взаимодействия пользователя с базами данных используют </a:t>
            </a:r>
            <a:r>
              <a:rPr lang="ru-RU" altLang="ru-RU" sz="2800" i="1" dirty="0"/>
              <a:t>системы управления данными (СУБД). </a:t>
            </a:r>
            <a:endParaRPr lang="ru-RU" sz="2800" i="1" dirty="0"/>
          </a:p>
          <a:p>
            <a:r>
              <a:rPr lang="ru-RU" sz="2800" b="1" dirty="0"/>
              <a:t>Система управления базами данных (СУБД)</a:t>
            </a:r>
            <a:r>
              <a:rPr lang="ru-RU" sz="2800" dirty="0"/>
              <a:t> – это совокупность языковых и программных средств, предназначенных для создания, ведения и совместного использования БД многими пользователями.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36D7FD-0A0F-2E38-AF7F-BC78C17C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568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24F3DA-BFAD-7BFA-7AC5-87F316CB5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функции СУБД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454A4C-933E-5770-F61D-D8CB3E3FE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управление данными во внешней памяти (на дисках);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управление данными в оперативной памяти;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журнализация изменений и восстановление базы данных после сбоев;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поддержание языков БД (язык определения данных, язык манипулирования данными).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86B292-48BE-F585-EFEF-AB9BA056B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070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Реляционная модель данных</a:t>
            </a:r>
          </a:p>
        </p:txBody>
      </p:sp>
      <p:sp>
        <p:nvSpPr>
          <p:cNvPr id="12" name="Объект 11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400" b="1" dirty="0"/>
              <a:t>Реляционная модель</a:t>
            </a:r>
            <a:r>
              <a:rPr lang="ru-RU" sz="2400" dirty="0"/>
              <a:t>  основана на математическом понятии «отношение» (</a:t>
            </a:r>
            <a:r>
              <a:rPr lang="ru-RU" sz="2400" dirty="0" err="1"/>
              <a:t>relation</a:t>
            </a:r>
            <a:r>
              <a:rPr lang="ru-RU" sz="2400" dirty="0"/>
              <a:t>). В качестве неформального синонима термину «отношение» часто встречается слово «таблица», но «отношение» правильнее.</a:t>
            </a:r>
          </a:p>
          <a:p>
            <a:endParaRPr lang="ru-RU" sz="2400" dirty="0"/>
          </a:p>
          <a:p>
            <a:r>
              <a:rPr lang="ru-RU" sz="2400" dirty="0"/>
              <a:t>Разработана Эдгаром Франком Коддом в 1970 г.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794CC45-F690-108F-29C9-3DF31F841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</a:t>
            </a:fld>
            <a:endParaRPr lang="ru-RU"/>
          </a:p>
        </p:txBody>
      </p:sp>
      <p:pic>
        <p:nvPicPr>
          <p:cNvPr id="3074" name="Picture 2" descr="описание картинки">
            <a:extLst>
              <a:ext uri="{FF2B5EF4-FFF2-40B4-BE49-F238E27FC236}">
                <a16:creationId xmlns:a16="http://schemas.microsoft.com/office/drawing/2014/main" id="{1705114C-8639-BC7A-38F8-4D0CC459E83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7" r="8560"/>
          <a:stretch/>
        </p:blipFill>
        <p:spPr bwMode="auto">
          <a:xfrm>
            <a:off x="6096000" y="1436622"/>
            <a:ext cx="5624469" cy="4882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3361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Свойства реляционных БД</a:t>
            </a:r>
          </a:p>
        </p:txBody>
      </p:sp>
      <p:sp>
        <p:nvSpPr>
          <p:cNvPr id="8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altLang="ru-RU" sz="2800" dirty="0"/>
              <a:t>Все значения </a:t>
            </a:r>
            <a:r>
              <a:rPr lang="ru-RU" altLang="ru-RU" sz="2800" dirty="0" err="1"/>
              <a:t>атомарны</a:t>
            </a:r>
            <a:r>
              <a:rPr lang="ru-RU" altLang="ru-RU" sz="2800" dirty="0"/>
              <a:t>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altLang="ru-RU" sz="2800" dirty="0"/>
              <a:t>Каждый ряд уникален.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altLang="ru-RU" sz="2800" dirty="0"/>
              <a:t>Порядок столбцов не важен.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altLang="ru-RU" sz="2800" dirty="0"/>
              <a:t>Порядок рядов не важен.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altLang="ru-RU" sz="2800" dirty="0"/>
              <a:t>У каждого столбца есть своё уникальное имя в рамках таблицы.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altLang="ru-RU" sz="2800" dirty="0"/>
              <a:t>У каждой таблицы есть свое уникальное имя.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D71C26F-AB5E-ED4E-B996-7FD2073F8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153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</p:spPr>
        <p:txBody>
          <a:bodyPr>
            <a:normAutofit/>
          </a:bodyPr>
          <a:lstStyle/>
          <a:p>
            <a:r>
              <a:rPr lang="ru-RU" dirty="0"/>
              <a:t>Основные понятия реляционной модели</a:t>
            </a:r>
          </a:p>
        </p:txBody>
      </p:sp>
      <p:graphicFrame>
        <p:nvGraphicFramePr>
          <p:cNvPr id="11" name="Таблица 6">
            <a:extLst>
              <a:ext uri="{FF2B5EF4-FFF2-40B4-BE49-F238E27FC236}">
                <a16:creationId xmlns:a16="http://schemas.microsoft.com/office/drawing/2014/main" id="{62475A85-A740-3587-6DF7-A66C622CE1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5440108"/>
              </p:ext>
            </p:extLst>
          </p:nvPr>
        </p:nvGraphicFramePr>
        <p:xfrm>
          <a:off x="2108200" y="2300866"/>
          <a:ext cx="81280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6289437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34495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формальный термин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неформальный термин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113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отношение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Таблица/сущность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970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атрибут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столбец/поле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15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кортеж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строка/запись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713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степень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столбцов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281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кардинальное число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строк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25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первичный 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уникальный идентификатор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135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домен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общая совокупность допустимых значений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576614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7C1E6AE-46EA-AA84-A2E0-6A1340B2B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88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D73CDBF-613B-C7C8-DE66-EC4BA97A3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Первичный ключ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4754879"/>
          </a:xfrm>
        </p:spPr>
        <p:txBody>
          <a:bodyPr>
            <a:normAutofit fontScale="92500" lnSpcReduction="10000"/>
          </a:bodyPr>
          <a:lstStyle/>
          <a:p>
            <a:r>
              <a:rPr lang="ru-RU" altLang="ru-RU" sz="2800" dirty="0"/>
              <a:t>Для однозначного определения записи. Каждая таблица должна иметь столбец-</a:t>
            </a:r>
            <a:r>
              <a:rPr lang="ru-RU" altLang="ru-RU" sz="2800" b="1" dirty="0"/>
              <a:t>первичный ключ</a:t>
            </a:r>
            <a:r>
              <a:rPr lang="ru-RU" altLang="ru-RU" sz="2800" dirty="0"/>
              <a:t>. Он должен быть уникальным в рамках таблицы. </a:t>
            </a:r>
          </a:p>
          <a:p>
            <a:r>
              <a:rPr lang="ru-RU" altLang="ru-RU" sz="2800" dirty="0"/>
              <a:t>Ключ может состоять из одного или нескольких полей. Если для однозначного определения записи достаточно одного поля, ключ называется </a:t>
            </a:r>
            <a:r>
              <a:rPr lang="ru-RU" altLang="ru-RU" sz="2800" b="1" dirty="0"/>
              <a:t>простым ключом</a:t>
            </a:r>
            <a:r>
              <a:rPr lang="ru-RU" altLang="ru-RU" sz="2800" dirty="0"/>
              <a:t>, если несколько полей – </a:t>
            </a:r>
            <a:r>
              <a:rPr lang="ru-RU" altLang="ru-RU" sz="2800" b="1" dirty="0"/>
              <a:t>составным ключом</a:t>
            </a:r>
            <a:r>
              <a:rPr lang="ru-RU" altLang="ru-RU" sz="2800" dirty="0"/>
              <a:t>.</a:t>
            </a:r>
          </a:p>
          <a:p>
            <a:r>
              <a:rPr lang="ru-RU" altLang="ru-RU" sz="2800" dirty="0"/>
              <a:t>Ключ должен обладать следующими свойствами</a:t>
            </a:r>
            <a:r>
              <a:rPr lang="en-US" altLang="ru-RU" sz="2800" dirty="0"/>
              <a:t>:</a:t>
            </a:r>
            <a:endParaRPr lang="ru-RU" altLang="ru-RU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altLang="ru-RU" sz="2800" dirty="0"/>
              <a:t>однозначностью определения записи,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altLang="ru-RU" sz="2800" dirty="0"/>
              <a:t>отсутствием избыточности, то есть никакой атрибут нельзя удалить из ключа, не нарушая при этом свойства однозначной идентификации.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79518B2-3571-7105-BE84-55710389F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327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FE2B288-4F34-B866-0C12-75BAD6666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Возможные ключи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4754879"/>
          </a:xfrm>
        </p:spPr>
        <p:txBody>
          <a:bodyPr>
            <a:normAutofit/>
          </a:bodyPr>
          <a:lstStyle/>
          <a:p>
            <a:r>
              <a:rPr lang="ru-RU" altLang="ru-RU" sz="2400" dirty="0"/>
              <a:t>Для записей одной таблицы может существовать несколько наборов атрибутов, удовлетворяющих приведённым выше свойствам. </a:t>
            </a:r>
          </a:p>
          <a:p>
            <a:r>
              <a:rPr lang="ru-RU" altLang="ru-RU" sz="2400" dirty="0"/>
              <a:t>Такие наборы называются </a:t>
            </a:r>
            <a:r>
              <a:rPr lang="ru-RU" altLang="ru-RU" sz="2400" b="1" dirty="0"/>
              <a:t>возможными ключами</a:t>
            </a:r>
            <a:r>
              <a:rPr lang="ru-RU" altLang="ru-RU" sz="2400" dirty="0"/>
              <a:t>.</a:t>
            </a:r>
          </a:p>
          <a:p>
            <a:r>
              <a:rPr lang="ru-RU" altLang="ru-RU" sz="2400" dirty="0"/>
              <a:t>Тот ключ, который фактически будет использоваться для идентификации записей, называется </a:t>
            </a:r>
            <a:r>
              <a:rPr lang="ru-RU" altLang="ru-RU" sz="2400" b="1" dirty="0"/>
              <a:t>первичным ключом</a:t>
            </a:r>
            <a:r>
              <a:rPr lang="ru-RU" altLang="ru-RU" sz="2400" dirty="0"/>
              <a:t>.</a:t>
            </a:r>
            <a:endParaRPr lang="en-US" altLang="ru-RU" sz="2400" dirty="0"/>
          </a:p>
          <a:p>
            <a:r>
              <a:rPr lang="ru-RU" altLang="ru-RU" sz="2400" dirty="0"/>
              <a:t>Не ставшие первичным возможные ключи называются </a:t>
            </a:r>
            <a:r>
              <a:rPr lang="ru-RU" altLang="ru-RU" sz="2400" b="1" dirty="0"/>
              <a:t>альтернативными ключами</a:t>
            </a:r>
            <a:r>
              <a:rPr lang="ru-RU" altLang="ru-RU" sz="2400" dirty="0"/>
              <a:t>.</a:t>
            </a:r>
          </a:p>
          <a:p>
            <a:r>
              <a:rPr lang="ru-RU" altLang="ru-RU" sz="2400" dirty="0"/>
              <a:t>Первичный ключ в таблице может быть </a:t>
            </a:r>
            <a:r>
              <a:rPr lang="ru-RU" altLang="ru-RU" sz="2400" b="1" dirty="0"/>
              <a:t>только один</a:t>
            </a:r>
            <a:r>
              <a:rPr lang="ru-RU" altLang="ru-RU" sz="2400" dirty="0"/>
              <a:t> (состоящий из 2 и более полей ключ все еще один).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7124C14-25AC-40DC-C03C-6C0040D8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1275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</p:spPr>
        <p:txBody>
          <a:bodyPr/>
          <a:lstStyle/>
          <a:p>
            <a:r>
              <a:rPr lang="ru-RU" dirty="0"/>
              <a:t>Суррогатный ключ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4754879"/>
          </a:xfrm>
        </p:spPr>
        <p:txBody>
          <a:bodyPr>
            <a:normAutofit/>
          </a:bodyPr>
          <a:lstStyle/>
          <a:p>
            <a:r>
              <a:rPr lang="ru-RU" altLang="ru-RU" sz="2400" b="1" dirty="0"/>
              <a:t>Суррогатный ключ </a:t>
            </a:r>
            <a:r>
              <a:rPr lang="ru-RU" altLang="ru-RU" sz="2400" dirty="0"/>
              <a:t>- это генерируемое системой (может быть GUID, последовательность, уникальный идентификатор и т.д.) значение, не имеющее смысла в терминах предметной области и которое используется для однозначной идентификации записи в таблице.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9347FA-4A38-0C4B-B78F-58F8A526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65515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</p:spPr>
        <p:txBody>
          <a:bodyPr/>
          <a:lstStyle/>
          <a:p>
            <a:r>
              <a:rPr lang="ru-RU" dirty="0"/>
              <a:t>Внешний ключ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4754879"/>
          </a:xfrm>
        </p:spPr>
        <p:txBody>
          <a:bodyPr>
            <a:normAutofit fontScale="92500" lnSpcReduction="10000"/>
          </a:bodyPr>
          <a:lstStyle/>
          <a:p>
            <a:r>
              <a:rPr lang="ru-RU" sz="2400" dirty="0"/>
              <a:t>Базы данных могут содержать таблицы, которые связаны между собой различными связями. </a:t>
            </a:r>
            <a:r>
              <a:rPr lang="ru-RU" sz="2400" b="1" dirty="0"/>
              <a:t>Связь</a:t>
            </a:r>
            <a:r>
              <a:rPr lang="ru-RU" sz="2400" dirty="0"/>
              <a:t> (</a:t>
            </a:r>
            <a:r>
              <a:rPr lang="ru-RU" sz="2400" dirty="0" err="1"/>
              <a:t>relationship</a:t>
            </a:r>
            <a:r>
              <a:rPr lang="ru-RU" sz="2400" dirty="0"/>
              <a:t>) представляет ассоциацию между сущностями разных типов.</a:t>
            </a:r>
          </a:p>
          <a:p>
            <a:r>
              <a:rPr lang="ru-RU" sz="2400" dirty="0"/>
              <a:t>При выделении связи выделяют главную или </a:t>
            </a:r>
            <a:r>
              <a:rPr lang="ru-RU" sz="2400" b="1" dirty="0"/>
              <a:t>родительскую таблицу </a:t>
            </a:r>
            <a:r>
              <a:rPr lang="ru-RU" sz="2400" dirty="0"/>
              <a:t>(</a:t>
            </a:r>
            <a:r>
              <a:rPr lang="ru-RU" sz="2400" dirty="0" err="1"/>
              <a:t>primary</a:t>
            </a:r>
            <a:r>
              <a:rPr lang="ru-RU" sz="2400" dirty="0"/>
              <a:t> </a:t>
            </a:r>
            <a:r>
              <a:rPr lang="ru-RU" sz="2400" dirty="0" err="1"/>
              <a:t>key</a:t>
            </a:r>
            <a:r>
              <a:rPr lang="ru-RU" sz="2400" dirty="0"/>
              <a:t> </a:t>
            </a:r>
            <a:r>
              <a:rPr lang="ru-RU" sz="2400" dirty="0" err="1"/>
              <a:t>table</a:t>
            </a:r>
            <a:r>
              <a:rPr lang="ru-RU" sz="2400" dirty="0"/>
              <a:t> / </a:t>
            </a:r>
            <a:r>
              <a:rPr lang="ru-RU" sz="2400" dirty="0" err="1"/>
              <a:t>master</a:t>
            </a:r>
            <a:r>
              <a:rPr lang="ru-RU" sz="2400" dirty="0"/>
              <a:t> </a:t>
            </a:r>
            <a:r>
              <a:rPr lang="ru-RU" sz="2400" dirty="0" err="1"/>
              <a:t>table</a:t>
            </a:r>
            <a:r>
              <a:rPr lang="ru-RU" sz="2400" dirty="0"/>
              <a:t>) и зависимую, </a:t>
            </a:r>
            <a:r>
              <a:rPr lang="ru-RU" sz="2400" b="1" dirty="0"/>
              <a:t>дочернюю таблицу </a:t>
            </a:r>
            <a:r>
              <a:rPr lang="ru-RU" sz="2400" dirty="0"/>
              <a:t>(</a:t>
            </a:r>
            <a:r>
              <a:rPr lang="ru-RU" sz="2400" dirty="0" err="1"/>
              <a:t>foreign</a:t>
            </a:r>
            <a:r>
              <a:rPr lang="ru-RU" sz="2400" dirty="0"/>
              <a:t> </a:t>
            </a:r>
            <a:r>
              <a:rPr lang="ru-RU" sz="2400" dirty="0" err="1"/>
              <a:t>key</a:t>
            </a:r>
            <a:r>
              <a:rPr lang="ru-RU" sz="2400" dirty="0"/>
              <a:t> </a:t>
            </a:r>
            <a:r>
              <a:rPr lang="ru-RU" sz="2400" dirty="0" err="1"/>
              <a:t>table</a:t>
            </a:r>
            <a:r>
              <a:rPr lang="ru-RU" sz="2400" dirty="0"/>
              <a:t> / </a:t>
            </a:r>
            <a:r>
              <a:rPr lang="ru-RU" sz="2400" dirty="0" err="1"/>
              <a:t>child</a:t>
            </a:r>
            <a:r>
              <a:rPr lang="ru-RU" sz="2400" dirty="0"/>
              <a:t> </a:t>
            </a:r>
            <a:r>
              <a:rPr lang="ru-RU" sz="2400" dirty="0" err="1"/>
              <a:t>table</a:t>
            </a:r>
            <a:r>
              <a:rPr lang="ru-RU" sz="2400" dirty="0"/>
              <a:t>). </a:t>
            </a:r>
            <a:r>
              <a:rPr lang="ru-RU" sz="2400" b="1" dirty="0"/>
              <a:t>Дочерняя таблица зависит от родительской.</a:t>
            </a:r>
          </a:p>
          <a:p>
            <a:r>
              <a:rPr lang="ru-RU" sz="2400" dirty="0"/>
              <a:t>Для организации связи используются внешние ключи. </a:t>
            </a:r>
            <a:r>
              <a:rPr lang="ru-RU" sz="2400" b="1" dirty="0"/>
              <a:t>Внешний ключ </a:t>
            </a:r>
            <a:r>
              <a:rPr lang="ru-RU" sz="2400" dirty="0"/>
              <a:t>представляет один или несколько столбцов из одной таблицы, который одновременно является возможным (потенциальным) ключом из другой таблицы. </a:t>
            </a:r>
            <a:r>
              <a:rPr lang="ru-RU" sz="2400" b="1" dirty="0"/>
              <a:t>Внешний ключ необязательно должен соответствовать первичному ключу из главной таблицы</a:t>
            </a:r>
            <a:r>
              <a:rPr lang="ru-RU" sz="2400" dirty="0"/>
              <a:t>. Хотя, как правило, внешний ключ из зависимой таблицы указывает на первичный ключ из главной таблицы.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D65EA25-220C-E57F-D437-8415E67C8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785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</p:spPr>
        <p:txBody>
          <a:bodyPr/>
          <a:lstStyle/>
          <a:p>
            <a:r>
              <a:rPr lang="ru-RU" dirty="0"/>
              <a:t>Связи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4754879"/>
          </a:xfrm>
        </p:spPr>
        <p:txBody>
          <a:bodyPr>
            <a:normAutofit/>
          </a:bodyPr>
          <a:lstStyle/>
          <a:p>
            <a:r>
              <a:rPr lang="ru-RU" sz="2400" dirty="0"/>
              <a:t>Будем говорить, что некоторая </a:t>
            </a:r>
            <a:r>
              <a:rPr lang="ru-RU" sz="2400" b="1" dirty="0"/>
              <a:t>запись</a:t>
            </a:r>
            <a:r>
              <a:rPr lang="ru-RU" sz="2400" dirty="0"/>
              <a:t> таблицы А </a:t>
            </a:r>
            <a:r>
              <a:rPr lang="ru-RU" sz="2400" b="1" dirty="0"/>
              <a:t>связана</a:t>
            </a:r>
            <a:r>
              <a:rPr lang="ru-RU" sz="2400" dirty="0"/>
              <a:t> с некоторой </a:t>
            </a:r>
            <a:r>
              <a:rPr lang="ru-RU" sz="2400" b="1" dirty="0"/>
              <a:t>записью</a:t>
            </a:r>
            <a:r>
              <a:rPr lang="ru-RU" sz="2400" dirty="0"/>
              <a:t> таблицы В, если в обеих таблицах эти записи содержат одно и то же значение в поле, по которому установлена связь между таблицами.</a:t>
            </a:r>
          </a:p>
          <a:p>
            <a:r>
              <a:rPr lang="ru-RU" sz="2400" dirty="0"/>
              <a:t>Связи бывают: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dirty="0"/>
              <a:t>отношение «один-к-одному» </a:t>
            </a:r>
            <a:r>
              <a:rPr lang="ru-RU" sz="2400" dirty="0"/>
              <a:t>(1 — 1)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dirty="0"/>
              <a:t>отношение «один-ко-многим» </a:t>
            </a:r>
            <a:r>
              <a:rPr lang="ru-RU" sz="2400" dirty="0"/>
              <a:t>(1 — М)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dirty="0"/>
              <a:t>отношение «многие-ко-многим» </a:t>
            </a:r>
            <a:r>
              <a:rPr lang="ru-RU" sz="2400" dirty="0"/>
              <a:t>(М — М)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ACD6D8-0E04-BC7D-32F3-BE5E9F01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925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</p:spPr>
        <p:txBody>
          <a:bodyPr/>
          <a:lstStyle/>
          <a:p>
            <a:r>
              <a:rPr lang="ru-RU" dirty="0"/>
              <a:t>Связь один к одному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260353"/>
            <a:ext cx="9601200" cy="4754562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Данный тип связей встречает не часто. В этом случае объекту одной сущности можно сопоставить только один объект другой сущности. Например, на некоторых сайтах пользователь может иметь только один блог. То есть возникает отношение один пользователь - один блог.</a:t>
            </a:r>
          </a:p>
          <a:p>
            <a:r>
              <a:rPr lang="ru-RU" sz="2400" i="1" dirty="0"/>
              <a:t>Нередко этот тип связей предполагает разбиение одной большой таблицы на несколько маленьких. Основная родительская таблица в этом случае продолжает содержать часто используемые данные, а дочерняя зависимая таблица обычно хранит данные, которые используются реже.</a:t>
            </a:r>
          </a:p>
          <a:p>
            <a:r>
              <a:rPr lang="ru-RU" sz="2400" i="1" dirty="0"/>
              <a:t>В этом отношении первичный ключ зависимой таблицы в то же время является внешним ключом, который ссылается на первичный ключ из главной таблицы.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FC52EB-89F8-5CCC-2A63-17604CFAD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79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</p:spPr>
        <p:txBody>
          <a:bodyPr/>
          <a:lstStyle/>
          <a:p>
            <a:r>
              <a:rPr lang="ru-RU" dirty="0"/>
              <a:t>Связь один ко многим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4754879"/>
          </a:xfrm>
        </p:spPr>
        <p:txBody>
          <a:bodyPr>
            <a:normAutofit/>
          </a:bodyPr>
          <a:lstStyle/>
          <a:p>
            <a:r>
              <a:rPr lang="ru-RU" sz="2400" dirty="0"/>
              <a:t>Это наиболее часто встречаемый тип связей. В этом типе связей несколько строк из дочерней таблицы зависят от одной строки в родительской таблице.</a:t>
            </a:r>
          </a:p>
          <a:p>
            <a:r>
              <a:rPr lang="ru-RU" sz="2400" i="1" dirty="0"/>
              <a:t>Например, в одном блоге может быть несколько статей. В этом случае таблица блогов является родительской, а таблица статей - дочерней. То есть один блог - много статей. Или другой пример, в футбольной команде может играть несколько футболистов. И в то же время один футболист одновременно может играть только в одной команде. То есть одна команда - много футболистов.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75B806-C955-B9C0-23E3-36A67225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2732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</p:spPr>
        <p:txBody>
          <a:bodyPr/>
          <a:lstStyle/>
          <a:p>
            <a:r>
              <a:rPr lang="ru-RU" dirty="0"/>
              <a:t>Связь многие ко многим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371600" y="1204546"/>
            <a:ext cx="9601200" cy="5056554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При этом типе связей одна строка из первой таблицы может быть связана с множеством строк из второй таблицы. В свою очередь одна строка из второй таблицы может быть связана с множеством строк из первой таблицы.</a:t>
            </a:r>
          </a:p>
          <a:p>
            <a:r>
              <a:rPr lang="ru-RU" sz="2400" dirty="0"/>
              <a:t>Типичный пример - студенты и курсы: один студент может посещать несколько курсов, и соответственно на один курс могут записаться несколько студентов.</a:t>
            </a:r>
          </a:p>
          <a:p>
            <a:r>
              <a:rPr lang="ru-RU" sz="2400" dirty="0"/>
              <a:t>Другой пример - статьи и теги: для одной статьи можно определить несколько тегов, а один тег может быть определен для нескольких статей.</a:t>
            </a:r>
          </a:p>
          <a:p>
            <a:r>
              <a:rPr lang="ru-RU" sz="2400" dirty="0"/>
              <a:t>В большинстве СУБД на уровне базы данных </a:t>
            </a:r>
            <a:r>
              <a:rPr lang="ru-RU" sz="2400" b="1" dirty="0"/>
              <a:t>мы не можем установить прямую связь многие ко многим </a:t>
            </a:r>
            <a:r>
              <a:rPr lang="ru-RU" sz="2400" dirty="0"/>
              <a:t>между двумя таблицами. Это делается посредством </a:t>
            </a:r>
            <a:r>
              <a:rPr lang="ru-RU" sz="2400" b="1" dirty="0"/>
              <a:t>вспомогательной промежуточной таблицы</a:t>
            </a:r>
            <a:r>
              <a:rPr lang="ru-RU" sz="2400" dirty="0"/>
              <a:t>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D3BB4A7-02EB-1287-9860-A88AC9A15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4266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</p:spPr>
        <p:txBody>
          <a:bodyPr>
            <a:normAutofit fontScale="90000"/>
          </a:bodyPr>
          <a:lstStyle/>
          <a:p>
            <a:r>
              <a:rPr lang="ru-RU" dirty="0"/>
              <a:t>Обязательные и необязательные отношения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4754879"/>
          </a:xfrm>
        </p:spPr>
        <p:txBody>
          <a:bodyPr>
            <a:normAutofit/>
          </a:bodyPr>
          <a:lstStyle/>
          <a:p>
            <a:r>
              <a:rPr lang="ru-RU" dirty="0"/>
              <a:t>Обязательность отношений означает, что для любой из сторон отношений в БД должны храниться связанные конкретно с ним представители второй стороны. В обратном случае такие отношения называются необязательными.</a:t>
            </a:r>
          </a:p>
          <a:p>
            <a:r>
              <a:rPr lang="ru-RU" dirty="0"/>
              <a:t>На практике это означает, что в связях между сущностями:</a:t>
            </a:r>
          </a:p>
          <a:p>
            <a:r>
              <a:rPr lang="ru-RU" dirty="0"/>
              <a:t>При обязательных:</a:t>
            </a:r>
          </a:p>
          <a:p>
            <a:pPr marL="873252" lvl="1" indent="-342900">
              <a:buFont typeface="Wingdings" panose="05000000000000000000" pitchFamily="2" charset="2"/>
              <a:buChar char="v"/>
            </a:pPr>
            <a:r>
              <a:rPr lang="ru-RU" i="0" dirty="0"/>
              <a:t>1 это точно 1.</a:t>
            </a:r>
          </a:p>
          <a:p>
            <a:pPr marL="873252" lvl="1" indent="-342900">
              <a:buFont typeface="Wingdings" panose="05000000000000000000" pitchFamily="2" charset="2"/>
              <a:buChar char="v"/>
            </a:pPr>
            <a:r>
              <a:rPr lang="ru-RU" i="0" dirty="0"/>
              <a:t>М это от 1 и до бесконечности.</a:t>
            </a:r>
          </a:p>
          <a:p>
            <a:r>
              <a:rPr lang="ru-RU" dirty="0"/>
              <a:t>При необязательных:</a:t>
            </a:r>
          </a:p>
          <a:p>
            <a:pPr marL="873252" lvl="1" indent="-342900">
              <a:buFont typeface="Wingdings" panose="05000000000000000000" pitchFamily="2" charset="2"/>
              <a:buChar char="v"/>
            </a:pPr>
            <a:r>
              <a:rPr lang="ru-RU" i="0" dirty="0"/>
              <a:t>1 это 0 либо 1.</a:t>
            </a:r>
          </a:p>
          <a:p>
            <a:pPr marL="873252" lvl="1" indent="-342900">
              <a:buFont typeface="Wingdings" panose="05000000000000000000" pitchFamily="2" charset="2"/>
              <a:buChar char="v"/>
            </a:pPr>
            <a:r>
              <a:rPr lang="ru-RU" i="0" dirty="0"/>
              <a:t>М это от 0 и до бесконечности (0, 1 и М).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FAACED-94E1-F267-CD55-EBB49D53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6304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 БД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Проектом</a:t>
            </a:r>
            <a:r>
              <a:rPr lang="ru-RU" sz="2800" dirty="0"/>
              <a:t> принято считать эскиз некоторого устройства, который в дальнейшем будет воплощен в реальность.</a:t>
            </a:r>
          </a:p>
          <a:p>
            <a:r>
              <a:rPr lang="ru-RU" sz="2800" b="1" dirty="0"/>
              <a:t>Процесс проектирования БД </a:t>
            </a:r>
            <a:r>
              <a:rPr lang="ru-RU" sz="2800" dirty="0"/>
              <a:t>представляет собой процесс переходов от неформального словесного описания информационной структуры предметной области к формализованному описанию объектов предметной области в терминах некоторой модели. 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173E2D5-4399-D9C0-0341-585FA5CE9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461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проектирования баз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222131"/>
            <a:ext cx="10058400" cy="516952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b="1" i="1" dirty="0"/>
              <a:t>Концептуальное проектирование</a:t>
            </a:r>
            <a:r>
              <a:rPr lang="ru-RU" sz="2400" b="1" dirty="0"/>
              <a:t> </a:t>
            </a:r>
            <a:r>
              <a:rPr lang="ru-RU" sz="2400" dirty="0"/>
              <a:t>- сбор, анализ и редактирование требований к данным. По окончании данного этапа получаем концептуальную модель, независимую от структуры базы данных. Часто она представляется в виде модели "сущность-связь". 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i="1" dirty="0"/>
              <a:t>Логическое проектирование</a:t>
            </a:r>
            <a:r>
              <a:rPr lang="ru-RU" sz="2400" b="1" dirty="0"/>
              <a:t> </a:t>
            </a:r>
            <a:r>
              <a:rPr lang="ru-RU" sz="2400" dirty="0"/>
              <a:t>- преобразование требований к данным в структуры данных. На выходе получаем СУБД-ориентированную структуру базы данных и спецификации прикладных программ. На этом этапе часто моделируют базы данных применительно к различным СУБД и проводят сравнительный анализ моделей. 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i="1" dirty="0"/>
              <a:t>Физическое проектирование</a:t>
            </a:r>
            <a:r>
              <a:rPr lang="ru-RU" sz="2400" b="1" dirty="0"/>
              <a:t> </a:t>
            </a:r>
            <a:r>
              <a:rPr lang="ru-RU" sz="2400" dirty="0"/>
              <a:t>- определение особенностей хранения данных, методов доступа и т.д. 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CA605B-1D2C-45CD-6C80-6BC1CAB80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4521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F2E39-72C3-CDC5-B92C-E74685B23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Полный список этапов создания 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1D5C22-B7FC-DADB-DCAE-E58DD22D53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457200" indent="-457200" fontAlgn="base">
              <a:buFont typeface="+mj-lt"/>
              <a:buAutoNum type="arabicPeriod"/>
            </a:pPr>
            <a:r>
              <a:rPr lang="ru-RU" sz="2400" dirty="0"/>
              <a:t>Сбор сведений и системный анализ предметной области.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ru-RU" sz="2400" dirty="0"/>
              <a:t>Концептуальное (инфологическое) проектирование.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ru-RU" sz="2400" dirty="0"/>
              <a:t>Выбор СУБД.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ru-RU" sz="2400" dirty="0"/>
              <a:t>Логическое (</a:t>
            </a:r>
            <a:r>
              <a:rPr lang="ru-RU" sz="2400" dirty="0" err="1"/>
              <a:t>даталогическое</a:t>
            </a:r>
            <a:r>
              <a:rPr lang="ru-RU" sz="2400" dirty="0"/>
              <a:t>) проектирование.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Физическое проектирование.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7DE847B-205E-7615-C63E-BC9991D820A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08661"/>
            <a:ext cx="5470411" cy="3758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B5BD8E-FA09-4B58-A6ED-5C7CF3F3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246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</p:spPr>
        <p:txBody>
          <a:bodyPr/>
          <a:lstStyle/>
          <a:p>
            <a:r>
              <a:rPr lang="ru-RU" dirty="0"/>
              <a:t>Подходы к созданию схемы БД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475487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Восходящий подход</a:t>
            </a:r>
            <a:r>
              <a:rPr lang="ru-RU" dirty="0"/>
              <a:t>, когда работа идёт с нижних уровней определения атрибутов, сгруппированных в отношения, представляющие объекты, на основе существующих между атрибутами связей;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Нисходящий подход</a:t>
            </a:r>
            <a:r>
              <a:rPr lang="ru-RU" dirty="0"/>
              <a:t>, применяемый при значительном (до сотен и тысяч) увеличении числа атрибутов. Второй подход предполагает определение ряда высокоуровневых сущностей и их взаимосвязей с последующей детализацией до нужного уровня, что и отражает, например, модель, созданная на основе метода «сущность-связь».</a:t>
            </a:r>
          </a:p>
          <a:p>
            <a:endParaRPr lang="ru-RU" dirty="0"/>
          </a:p>
          <a:p>
            <a:r>
              <a:rPr lang="ru-RU" dirty="0"/>
              <a:t>На практике оба подхода, как правило, комбинируются.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B1D1409-AF04-F429-2B57-2EF2A1327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4452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F1B29-FDE0-97F9-7703-F6ABA93E8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«Сущность – связь»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D49C11-C11B-28F2-DDA2-01EB3F1A2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28725"/>
            <a:ext cx="9601200" cy="5343525"/>
          </a:xfrm>
        </p:spPr>
        <p:txBody>
          <a:bodyPr>
            <a:normAutofit/>
          </a:bodyPr>
          <a:lstStyle/>
          <a:p>
            <a:r>
              <a:rPr lang="ru-RU" dirty="0"/>
              <a:t>Одной из распространенных моделей концептуальной схемы является модель </a:t>
            </a:r>
            <a:r>
              <a:rPr lang="ru-RU" b="1" dirty="0"/>
              <a:t>«сущность-связь».</a:t>
            </a:r>
          </a:p>
          <a:p>
            <a:r>
              <a:rPr lang="ru-RU" dirty="0"/>
              <a:t>Под </a:t>
            </a:r>
            <a:r>
              <a:rPr lang="ru-RU" b="1" dirty="0"/>
              <a:t>сущностью</a:t>
            </a:r>
            <a:r>
              <a:rPr lang="ru-RU" dirty="0"/>
              <a:t> понимают основное содержание объекта предметной области , о котором собирают информацию. В качестве сущности могут выступать место, вещь, личность, явление.</a:t>
            </a:r>
          </a:p>
          <a:p>
            <a:r>
              <a:rPr lang="ru-RU" b="1" dirty="0"/>
              <a:t>Экземпляр сущности </a:t>
            </a:r>
            <a:r>
              <a:rPr lang="ru-RU" dirty="0"/>
              <a:t>- конкретный объект.</a:t>
            </a:r>
          </a:p>
          <a:p>
            <a:r>
              <a:rPr lang="ru-RU" dirty="0"/>
              <a:t>Например: сущность (объект) - студент, экземпляр сущности - Иванов А. В.; сущность (объект) - колледж, экземпляр сущности - </a:t>
            </a:r>
            <a:r>
              <a:rPr lang="ru-RU" dirty="0" err="1"/>
              <a:t>КемПК</a:t>
            </a:r>
            <a:r>
              <a:rPr lang="ru-RU" dirty="0"/>
              <a:t>.</a:t>
            </a:r>
          </a:p>
          <a:p>
            <a:r>
              <a:rPr lang="ru-RU" dirty="0"/>
              <a:t>Сущность принято определять </a:t>
            </a:r>
            <a:r>
              <a:rPr lang="ru-RU" b="1" dirty="0"/>
              <a:t>атрибутами</a:t>
            </a:r>
            <a:r>
              <a:rPr lang="ru-RU" dirty="0"/>
              <a:t> - поименованными характеристиками.</a:t>
            </a:r>
          </a:p>
          <a:p>
            <a:r>
              <a:rPr lang="ru-RU" dirty="0"/>
              <a:t>Например: сущность - студент, атрибуты - ФИО, год рождения, адрес, номер группы и т.д. </a:t>
            </a:r>
          </a:p>
          <a:p>
            <a:endParaRPr lang="ru-RU" dirty="0"/>
          </a:p>
          <a:p>
            <a:r>
              <a:rPr lang="ru-RU" u="sng" dirty="0"/>
              <a:t>Другие названия диаграммы:</a:t>
            </a:r>
            <a:r>
              <a:rPr lang="en-US" u="sng" dirty="0"/>
              <a:t> Entity-Relationship, ER-</a:t>
            </a:r>
            <a:r>
              <a:rPr lang="ru-RU" u="sng" dirty="0"/>
              <a:t>диаграмма, </a:t>
            </a:r>
            <a:r>
              <a:rPr lang="en-US" u="sng" dirty="0"/>
              <a:t>ERD</a:t>
            </a:r>
            <a:endParaRPr lang="ru-RU" u="sng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63CE737-4D62-934E-FE56-A6D11A52E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0277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7B2043-F574-5925-8658-DE4775D9C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Концептуальная модель. Нотация Чена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DFA781-3FEC-0D1F-F922-265670951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22</a:t>
            </a:fld>
            <a:endParaRPr lang="ru-RU"/>
          </a:p>
        </p:txBody>
      </p:sp>
      <p:pic>
        <p:nvPicPr>
          <p:cNvPr id="5" name="Picture 2" descr="Фигуры атрибутов ER-диаграммы">
            <a:extLst>
              <a:ext uri="{FF2B5EF4-FFF2-40B4-BE49-F238E27FC236}">
                <a16:creationId xmlns:a16="http://schemas.microsoft.com/office/drawing/2014/main" id="{65616485-7F52-C76E-A769-913A49236D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5400" y="1505509"/>
            <a:ext cx="9601200" cy="2125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Стрелка: вверх 6">
            <a:extLst>
              <a:ext uri="{FF2B5EF4-FFF2-40B4-BE49-F238E27FC236}">
                <a16:creationId xmlns:a16="http://schemas.microsoft.com/office/drawing/2014/main" id="{C7B8840F-F16D-7B4E-F6BB-EC6CFEE08F69}"/>
              </a:ext>
            </a:extLst>
          </p:cNvPr>
          <p:cNvSpPr/>
          <p:nvPr/>
        </p:nvSpPr>
        <p:spPr>
          <a:xfrm rot="1410414">
            <a:off x="886771" y="2554859"/>
            <a:ext cx="1166327" cy="196133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/>
              <a:t>Сущность</a:t>
            </a:r>
          </a:p>
        </p:txBody>
      </p:sp>
      <p:sp>
        <p:nvSpPr>
          <p:cNvPr id="8" name="Стрелка: вверх 7">
            <a:extLst>
              <a:ext uri="{FF2B5EF4-FFF2-40B4-BE49-F238E27FC236}">
                <a16:creationId xmlns:a16="http://schemas.microsoft.com/office/drawing/2014/main" id="{9440DDF7-439A-B133-7179-EDBC72E4D4B9}"/>
              </a:ext>
            </a:extLst>
          </p:cNvPr>
          <p:cNvSpPr/>
          <p:nvPr/>
        </p:nvSpPr>
        <p:spPr>
          <a:xfrm rot="1410414">
            <a:off x="3318050" y="2551435"/>
            <a:ext cx="1166327" cy="204383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/>
              <a:t>Связь</a:t>
            </a:r>
          </a:p>
        </p:txBody>
      </p:sp>
      <p:sp>
        <p:nvSpPr>
          <p:cNvPr id="9" name="Стрелка: вверх 8">
            <a:extLst>
              <a:ext uri="{FF2B5EF4-FFF2-40B4-BE49-F238E27FC236}">
                <a16:creationId xmlns:a16="http://schemas.microsoft.com/office/drawing/2014/main" id="{21289598-20BE-090B-7763-0BCB1838C7E6}"/>
              </a:ext>
            </a:extLst>
          </p:cNvPr>
          <p:cNvSpPr/>
          <p:nvPr/>
        </p:nvSpPr>
        <p:spPr>
          <a:xfrm rot="1410414">
            <a:off x="4506783" y="3436316"/>
            <a:ext cx="1166327" cy="236316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/>
              <a:t>Атрибут</a:t>
            </a:r>
          </a:p>
        </p:txBody>
      </p:sp>
    </p:spTree>
    <p:extLst>
      <p:ext uri="{BB962C8B-B14F-4D97-AF65-F5344CB8AC3E}">
        <p14:creationId xmlns:p14="http://schemas.microsoft.com/office/powerpoint/2010/main" val="1222842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7E0B8-00AF-2C29-642E-F7975B16D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Элементы диаграммы. Нотация Чена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D608404-71D0-B8B9-50CC-94F8F39AB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4484" y="1898469"/>
            <a:ext cx="5459080" cy="427373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800" dirty="0"/>
              <a:t>Сущность (называть существительным)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ru-RU" sz="28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800" dirty="0"/>
              <a:t>Связь между сущностями (называть глаголом – связывающим 2 существительных)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ru-RU" sz="28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800" dirty="0"/>
              <a:t>Атрибут (столбец)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1B5EF8-6AF2-5315-6996-D111B7BA9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23</a:t>
            </a:fld>
            <a:endParaRPr lang="ru-RU"/>
          </a:p>
        </p:txBody>
      </p:sp>
      <p:pic>
        <p:nvPicPr>
          <p:cNvPr id="7" name="Picture 12" descr="Символ">
            <a:extLst>
              <a:ext uri="{FF2B5EF4-FFF2-40B4-BE49-F238E27FC236}">
                <a16:creationId xmlns:a16="http://schemas.microsoft.com/office/drawing/2014/main" id="{FBC5C158-EA28-DF2D-664F-F87CA5EE75D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287" y="3147349"/>
            <a:ext cx="1867046" cy="177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84A0CF-4996-2B24-1415-2E1A72A37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287" y="4923319"/>
            <a:ext cx="1865242" cy="1409776"/>
          </a:xfrm>
          <a:prstGeom prst="rect">
            <a:avLst/>
          </a:prstGeom>
        </p:spPr>
      </p:pic>
      <p:pic>
        <p:nvPicPr>
          <p:cNvPr id="9" name="Рисунок 8" descr="Изображение выглядит как Прямоугольник, текст, белый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31C63E4B-613D-4DB9-B74A-F6CCC016D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2287" y="1675381"/>
            <a:ext cx="1865242" cy="147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134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7">
            <a:extLst>
              <a:ext uri="{FF2B5EF4-FFF2-40B4-BE49-F238E27FC236}">
                <a16:creationId xmlns:a16="http://schemas.microsoft.com/office/drawing/2014/main" id="{19440264-5FF2-4E55-9A7F-5FA4944EA0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5145" y="1696308"/>
            <a:ext cx="5247509" cy="4754562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599" y="596538"/>
            <a:ext cx="10067925" cy="733697"/>
          </a:xfrm>
        </p:spPr>
        <p:txBody>
          <a:bodyPr>
            <a:normAutofit fontScale="90000"/>
          </a:bodyPr>
          <a:lstStyle/>
          <a:p>
            <a:r>
              <a:rPr lang="ru-RU" dirty="0"/>
              <a:t>Логическая модель: Нотация Мартина (</a:t>
            </a:r>
            <a:r>
              <a:rPr lang="en-US" dirty="0"/>
              <a:t>Crow Foot)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4D0E82-FEE4-36F7-BD0A-D62F227B9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24</a:t>
            </a:fld>
            <a:endParaRPr lang="ru-RU"/>
          </a:p>
        </p:txBody>
      </p:sp>
      <p:sp>
        <p:nvSpPr>
          <p:cNvPr id="3" name="Стрелка: вверх 2">
            <a:extLst>
              <a:ext uri="{FF2B5EF4-FFF2-40B4-BE49-F238E27FC236}">
                <a16:creationId xmlns:a16="http://schemas.microsoft.com/office/drawing/2014/main" id="{71A52F92-AC2E-D1B5-D4D3-18DDC56E2CEC}"/>
              </a:ext>
            </a:extLst>
          </p:cNvPr>
          <p:cNvSpPr/>
          <p:nvPr/>
        </p:nvSpPr>
        <p:spPr>
          <a:xfrm rot="3632632">
            <a:off x="2507143" y="4326186"/>
            <a:ext cx="1166327" cy="196133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/>
              <a:t>Сущность</a:t>
            </a:r>
          </a:p>
        </p:txBody>
      </p:sp>
      <p:sp>
        <p:nvSpPr>
          <p:cNvPr id="5" name="Стрелка: вверх 4">
            <a:extLst>
              <a:ext uri="{FF2B5EF4-FFF2-40B4-BE49-F238E27FC236}">
                <a16:creationId xmlns:a16="http://schemas.microsoft.com/office/drawing/2014/main" id="{42CEE661-AFE5-D672-1B0C-6ECB796694F3}"/>
              </a:ext>
            </a:extLst>
          </p:cNvPr>
          <p:cNvSpPr/>
          <p:nvPr/>
        </p:nvSpPr>
        <p:spPr>
          <a:xfrm rot="10605238">
            <a:off x="6882344" y="1232253"/>
            <a:ext cx="1166327" cy="204383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/>
              <a:t>Связь</a:t>
            </a:r>
          </a:p>
        </p:txBody>
      </p:sp>
      <p:sp>
        <p:nvSpPr>
          <p:cNvPr id="6" name="Стрелка: вверх 5">
            <a:extLst>
              <a:ext uri="{FF2B5EF4-FFF2-40B4-BE49-F238E27FC236}">
                <a16:creationId xmlns:a16="http://schemas.microsoft.com/office/drawing/2014/main" id="{456E482C-CF46-4F27-0F8C-8BFFDF43EC9B}"/>
              </a:ext>
            </a:extLst>
          </p:cNvPr>
          <p:cNvSpPr/>
          <p:nvPr/>
        </p:nvSpPr>
        <p:spPr>
          <a:xfrm rot="4954563">
            <a:off x="2341720" y="2387505"/>
            <a:ext cx="1166327" cy="181501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/>
              <a:t>Атрибут</a:t>
            </a:r>
          </a:p>
        </p:txBody>
      </p:sp>
      <p:sp>
        <p:nvSpPr>
          <p:cNvPr id="10" name="Объект 4">
            <a:extLst>
              <a:ext uri="{FF2B5EF4-FFF2-40B4-BE49-F238E27FC236}">
                <a16:creationId xmlns:a16="http://schemas.microsoft.com/office/drawing/2014/main" id="{24B0E53D-BB29-4310-A02F-A2D02992B547}"/>
              </a:ext>
            </a:extLst>
          </p:cNvPr>
          <p:cNvSpPr txBox="1">
            <a:spLocks/>
          </p:cNvSpPr>
          <p:nvPr/>
        </p:nvSpPr>
        <p:spPr>
          <a:xfrm>
            <a:off x="8058928" y="2298632"/>
            <a:ext cx="3885422" cy="32314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Tx/>
              <a:buNone/>
              <a:defRPr sz="2000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530352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Tx/>
              <a:buNone/>
              <a:defRPr sz="2000" i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987552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Tx/>
              <a:buNone/>
              <a:defRPr sz="1800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444752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Tx/>
              <a:buNone/>
              <a:defRPr sz="1800" i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1901952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Tx/>
              <a:buNone/>
              <a:defRPr sz="1600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0706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1163E-2D7B-4E7B-B9F3-3CC591A43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Нотация Мартина. Сущности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05722F03-97D7-48FA-BC14-4B1BF382C5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52422" y="2758939"/>
            <a:ext cx="3086531" cy="1943371"/>
          </a:xfr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21B2772A-2D20-4E8B-BAD1-B185A010D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5014" y="2758938"/>
            <a:ext cx="4447786" cy="194337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Концептуальную и логическую модели стоит оформлять на русском и с пробелами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Обязательно отметить первичные и внешние ключи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52494B-B429-4A89-99CB-170FB82C4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394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33E9C-B40F-0448-4F70-B903D5E18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Нотация Мартина. Связи</a:t>
            </a:r>
          </a:p>
        </p:txBody>
      </p:sp>
      <p:pic>
        <p:nvPicPr>
          <p:cNvPr id="5122" name="Picture 2" descr="Нотация ER-диаграмм">
            <a:extLst>
              <a:ext uri="{FF2B5EF4-FFF2-40B4-BE49-F238E27FC236}">
                <a16:creationId xmlns:a16="http://schemas.microsoft.com/office/drawing/2014/main" id="{C0AF5F6E-A517-4473-21E4-0865221DF9E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981"/>
          <a:stretch/>
        </p:blipFill>
        <p:spPr bwMode="auto">
          <a:xfrm>
            <a:off x="1371600" y="1593669"/>
            <a:ext cx="4935224" cy="1121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07ABC6DA-9DF8-AA8E-D248-8105E9AB04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Простой вариант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ru-RU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ru-RU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ru-RU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ru-RU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Полный вариант (с обязательными/необязательными стрелками)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60CBFB-0A42-F805-7B54-006E5EE5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26</a:t>
            </a:fld>
            <a:endParaRPr lang="ru-RU"/>
          </a:p>
        </p:txBody>
      </p:sp>
      <p:pic>
        <p:nvPicPr>
          <p:cNvPr id="5" name="Picture 2" descr="Нотация ER-диаграмм">
            <a:extLst>
              <a:ext uri="{FF2B5EF4-FFF2-40B4-BE49-F238E27FC236}">
                <a16:creationId xmlns:a16="http://schemas.microsoft.com/office/drawing/2014/main" id="{BFAF3192-B6E9-2407-B52F-C53C813E87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50"/>
          <a:stretch/>
        </p:blipFill>
        <p:spPr bwMode="auto">
          <a:xfrm>
            <a:off x="1371600" y="3553130"/>
            <a:ext cx="4941520" cy="2314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2D0773D-9F4B-88AB-EC31-6195C47431EB}"/>
              </a:ext>
            </a:extLst>
          </p:cNvPr>
          <p:cNvSpPr/>
          <p:nvPr/>
        </p:nvSpPr>
        <p:spPr>
          <a:xfrm>
            <a:off x="4239491" y="3429000"/>
            <a:ext cx="683491" cy="23142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ru-RU" dirty="0"/>
              <a:t>1..1</a:t>
            </a:r>
          </a:p>
          <a:p>
            <a:pPr algn="ctr">
              <a:lnSpc>
                <a:spcPct val="250000"/>
              </a:lnSpc>
            </a:pPr>
            <a:r>
              <a:rPr lang="ru-RU" dirty="0"/>
              <a:t>0..1</a:t>
            </a:r>
          </a:p>
          <a:p>
            <a:pPr algn="ctr">
              <a:lnSpc>
                <a:spcPct val="250000"/>
              </a:lnSpc>
            </a:pPr>
            <a:r>
              <a:rPr lang="ru-RU" dirty="0"/>
              <a:t>1..М</a:t>
            </a:r>
          </a:p>
          <a:p>
            <a:pPr algn="ctr">
              <a:lnSpc>
                <a:spcPct val="250000"/>
              </a:lnSpc>
            </a:pPr>
            <a:r>
              <a:rPr lang="ru-RU" dirty="0"/>
              <a:t>0..М</a:t>
            </a:r>
          </a:p>
        </p:txBody>
      </p:sp>
    </p:spTree>
    <p:extLst>
      <p:ext uri="{BB962C8B-B14F-4D97-AF65-F5344CB8AC3E}">
        <p14:creationId xmlns:p14="http://schemas.microsoft.com/office/powerpoint/2010/main" val="125718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Физическая модель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Физическая модель</a:t>
            </a:r>
            <a:r>
              <a:rPr lang="ru-RU" sz="2400" dirty="0"/>
              <a:t> данных полностью зависит от конкретной СУБД, фактически являясь отображением системного каталога. В физической модели содержится информация о всех объектах БД.</a:t>
            </a:r>
          </a:p>
          <a:p>
            <a:r>
              <a:rPr lang="ru-RU" sz="2400" dirty="0"/>
              <a:t>Следовательно, одной и той же логической модели могут соответствовать несколько разных физических моделей. Если в логической модели не имеет значения, какой конкретно тип данных имеет атрибут, то в физической модели важно описать всю информацию о конкретных физических объектах - таблицах, колонках, индексах, процедурах и т. д.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90320B4-076A-D909-9AEE-8D08B57C0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2650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C93C0-EED0-41DD-9A15-0157F7A46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Физическая модель. Сущности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196D668B-1045-4224-B5B4-FE2A853CBA5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85707" y="2596789"/>
            <a:ext cx="3477110" cy="1933845"/>
          </a:xfr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E75458D7-32AB-4BFD-B059-70B40BAAD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5014" y="2393769"/>
            <a:ext cx="4447786" cy="427373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Обязательно отметить первичные и внешние ключи. Необязательно – другие ограничения (</a:t>
            </a:r>
            <a:r>
              <a:rPr lang="en-US" dirty="0"/>
              <a:t>NULL, UNIQUE </a:t>
            </a:r>
            <a:r>
              <a:rPr lang="ru-RU" dirty="0"/>
              <a:t>и т.п.)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Оформлять как будет в БД – на английском и без пробелов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E65610-B474-436A-A41F-F40D010D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7562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Физическая модель: пример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1263896-3C26-4934-9963-059A697A05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1330235"/>
            <a:ext cx="6296025" cy="4633504"/>
          </a:xfrm>
          <a:prstGeom prst="rect">
            <a:avLst/>
          </a:prstGeo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A935A9FE-675E-42E2-BAA0-D02BC4052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68428" y="2236738"/>
            <a:ext cx="4133072" cy="323142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Можно использовать обычные стрелки вместо </a:t>
            </a:r>
            <a:r>
              <a:rPr lang="en-US" dirty="0"/>
              <a:t>Crow Foot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B5F1B5-30C1-94D1-1F5B-56073ED6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6430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FE4635-CA82-1EB1-1B4D-918184624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Переходы от модели к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101545-A943-7640-869A-0F0C0B3FB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b="1" dirty="0"/>
              <a:t>Концептуальная модель </a:t>
            </a:r>
            <a:r>
              <a:rPr lang="ru-RU" sz="2400" dirty="0"/>
              <a:t>включает в себя сущности и связи между ними.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/>
              <a:t>При переходе к </a:t>
            </a:r>
            <a:r>
              <a:rPr lang="ru-RU" sz="2400" b="1" dirty="0"/>
              <a:t>логической модели</a:t>
            </a:r>
            <a:r>
              <a:rPr lang="ru-RU" sz="2400" dirty="0"/>
              <a:t> в схему добавляются атрибуты, указываются ключи и типы связей (один-ко-многим и т.п.). БД приводится к реляционному виду, нормализуется (по меньшей мере до НФБК)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/>
              <a:t>При переходе к </a:t>
            </a:r>
            <a:r>
              <a:rPr lang="ru-RU" sz="2400" b="1" dirty="0"/>
              <a:t>физической модели </a:t>
            </a:r>
            <a:r>
              <a:rPr lang="ru-RU" sz="2400" dirty="0"/>
              <a:t>добавляются типы данных и ограничения полей, указываются внешние ключи (если не были указаны в логической), раскрываются связи многие-ко-многим (если не были раскрыты в логической)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664038-A96D-99A0-C893-C8AE04057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30</a:t>
            </a:fld>
            <a:endParaRPr lang="ru-RU"/>
          </a:p>
        </p:txBody>
      </p:sp>
      <p:sp>
        <p:nvSpPr>
          <p:cNvPr id="5" name="Стрелка: вниз 4">
            <a:extLst>
              <a:ext uri="{FF2B5EF4-FFF2-40B4-BE49-F238E27FC236}">
                <a16:creationId xmlns:a16="http://schemas.microsoft.com/office/drawing/2014/main" id="{9529CF38-A426-40C0-8559-DC39D142C9D2}"/>
              </a:ext>
            </a:extLst>
          </p:cNvPr>
          <p:cNvSpPr/>
          <p:nvPr/>
        </p:nvSpPr>
        <p:spPr>
          <a:xfrm>
            <a:off x="723900" y="704850"/>
            <a:ext cx="723900" cy="44862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661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05FFA-B2D8-4B7F-BBD8-4A8B3951B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Словарь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23B84C-2B5B-4ECE-BB43-4EA21F75A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1438275"/>
            <a:ext cx="10325100" cy="2486597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Заменой или дополнением физической модели может служить словарь данных.</a:t>
            </a:r>
          </a:p>
          <a:p>
            <a:r>
              <a:rPr lang="ru-RU" dirty="0"/>
              <a:t>Словарь данных БД — это технический документ, который содержит подробное описание всех объектов базы данных, включая таблицы, поля, их типы данных, размеры, допустимые значения, ограничения, а также связи между данными и их назначения. 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Пример описания таблицы: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6253A5CF-EB4D-413D-9ACA-F0E4CF1B6FE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58628419"/>
              </p:ext>
            </p:extLst>
          </p:nvPr>
        </p:nvGraphicFramePr>
        <p:xfrm>
          <a:off x="1438275" y="3924871"/>
          <a:ext cx="9534525" cy="1920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6905">
                  <a:extLst>
                    <a:ext uri="{9D8B030D-6E8A-4147-A177-3AD203B41FA5}">
                      <a16:colId xmlns:a16="http://schemas.microsoft.com/office/drawing/2014/main" val="4069489354"/>
                    </a:ext>
                  </a:extLst>
                </a:gridCol>
                <a:gridCol w="1906905">
                  <a:extLst>
                    <a:ext uri="{9D8B030D-6E8A-4147-A177-3AD203B41FA5}">
                      <a16:colId xmlns:a16="http://schemas.microsoft.com/office/drawing/2014/main" val="2299168142"/>
                    </a:ext>
                  </a:extLst>
                </a:gridCol>
                <a:gridCol w="1906905">
                  <a:extLst>
                    <a:ext uri="{9D8B030D-6E8A-4147-A177-3AD203B41FA5}">
                      <a16:colId xmlns:a16="http://schemas.microsoft.com/office/drawing/2014/main" val="3295058994"/>
                    </a:ext>
                  </a:extLst>
                </a:gridCol>
                <a:gridCol w="1906905">
                  <a:extLst>
                    <a:ext uri="{9D8B030D-6E8A-4147-A177-3AD203B41FA5}">
                      <a16:colId xmlns:a16="http://schemas.microsoft.com/office/drawing/2014/main" val="1919403062"/>
                    </a:ext>
                  </a:extLst>
                </a:gridCol>
                <a:gridCol w="1906905">
                  <a:extLst>
                    <a:ext uri="{9D8B030D-6E8A-4147-A177-3AD203B41FA5}">
                      <a16:colId xmlns:a16="http://schemas.microsoft.com/office/drawing/2014/main" val="3893592574"/>
                    </a:ext>
                  </a:extLst>
                </a:gridCol>
              </a:tblGrid>
              <a:tr h="23975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Название</a:t>
                      </a:r>
                      <a:endParaRPr lang="ru-RU" sz="18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Тип</a:t>
                      </a:r>
                      <a:endParaRPr lang="ru-RU" sz="18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NULL</a:t>
                      </a:r>
                      <a:endParaRPr lang="ru-RU" sz="18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Ключ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Примечание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extLst>
                  <a:ext uri="{0D108BD9-81ED-4DB2-BD59-A6C34878D82A}">
                    <a16:rowId xmlns:a16="http://schemas.microsoft.com/office/drawing/2014/main" val="3492534971"/>
                  </a:ext>
                </a:extLst>
              </a:tr>
              <a:tr h="23975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Id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INT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Нет</a:t>
                      </a:r>
                      <a:endParaRPr lang="ru-RU" sz="18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Первичный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endParaRPr lang="ru-RU" sz="1800"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extLst>
                  <a:ext uri="{0D108BD9-81ED-4DB2-BD59-A6C34878D82A}">
                    <a16:rowId xmlns:a16="http://schemas.microsoft.com/office/drawing/2014/main" val="4231189513"/>
                  </a:ext>
                </a:extLst>
              </a:tr>
              <a:tr h="23975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Name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NVARCHAR(50)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Нет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Нет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endParaRPr lang="ru-RU" sz="1800"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extLst>
                  <a:ext uri="{0D108BD9-81ED-4DB2-BD59-A6C34878D82A}">
                    <a16:rowId xmlns:a16="http://schemas.microsoft.com/office/drawing/2014/main" val="339372830"/>
                  </a:ext>
                </a:extLst>
              </a:tr>
              <a:tr h="23975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Surname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NVARCHAR(50)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Нет</a:t>
                      </a:r>
                      <a:endParaRPr lang="ru-RU" sz="18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Нет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endParaRPr lang="ru-RU" sz="1800"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extLst>
                  <a:ext uri="{0D108BD9-81ED-4DB2-BD59-A6C34878D82A}">
                    <a16:rowId xmlns:a16="http://schemas.microsoft.com/office/drawing/2014/main" val="708780277"/>
                  </a:ext>
                </a:extLst>
              </a:tr>
              <a:tr h="23975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Patronymic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NVARCHAR(50)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Да</a:t>
                      </a:r>
                      <a:endParaRPr lang="ru-RU" sz="18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Нет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endParaRPr lang="ru-RU" sz="1800">
                        <a:effectLst/>
                        <a:latin typeface="Georgia" panose="020405020504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extLst>
                  <a:ext uri="{0D108BD9-81ED-4DB2-BD59-A6C34878D82A}">
                    <a16:rowId xmlns:a16="http://schemas.microsoft.com/office/drawing/2014/main" val="3744157996"/>
                  </a:ext>
                </a:extLst>
              </a:tr>
              <a:tr h="51216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WorkerRoleId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INT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>
                          <a:effectLst/>
                        </a:rPr>
                        <a:t>Нет</a:t>
                      </a:r>
                      <a:endParaRPr lang="ru-RU" sz="18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Внешний</a:t>
                      </a:r>
                      <a:endParaRPr lang="ru-RU" sz="18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Ссылается на </a:t>
                      </a:r>
                      <a:r>
                        <a:rPr lang="ru-RU" sz="1800" dirty="0" err="1">
                          <a:effectLst/>
                        </a:rPr>
                        <a:t>WorkerRoles</a:t>
                      </a:r>
                      <a:r>
                        <a:rPr lang="ru-RU" sz="1800" dirty="0">
                          <a:effectLst/>
                        </a:rPr>
                        <a:t>(</a:t>
                      </a:r>
                      <a:r>
                        <a:rPr lang="ru-RU" sz="1800" dirty="0" err="1">
                          <a:effectLst/>
                        </a:rPr>
                        <a:t>Id</a:t>
                      </a:r>
                      <a:r>
                        <a:rPr lang="ru-RU" sz="1800" dirty="0">
                          <a:effectLst/>
                        </a:rPr>
                        <a:t>)</a:t>
                      </a:r>
                      <a:endParaRPr lang="ru-RU" sz="18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104" marR="68104" marT="0" marB="0"/>
                </a:tc>
                <a:extLst>
                  <a:ext uri="{0D108BD9-81ED-4DB2-BD59-A6C34878D82A}">
                    <a16:rowId xmlns:a16="http://schemas.microsoft.com/office/drawing/2014/main" val="3032629833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72AED2-D9A7-44DC-8FE0-19478DDA0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5926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Избыточность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Избыточность данных</a:t>
            </a:r>
            <a:r>
              <a:rPr lang="ru-RU" dirty="0"/>
              <a:t> – это когда одни и те же данные хранятся в базе в нескольких местах, именно это и приводит к аномалиям.</a:t>
            </a:r>
          </a:p>
          <a:p>
            <a:r>
              <a:rPr lang="ru-RU" dirty="0"/>
              <a:t>Избыточность данных создает предпосылки для появления различных аномалий, снижает производительность, и делает управление данными не гибким и не очень удобным.</a:t>
            </a:r>
          </a:p>
          <a:p>
            <a:r>
              <a:rPr lang="ru-RU" dirty="0"/>
              <a:t>Т.е., </a:t>
            </a:r>
            <a:r>
              <a:rPr lang="ru-RU" i="1" dirty="0"/>
              <a:t>нормализация нужна для: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Устранения аномалий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Повышения производительности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Повышения удобства управления данными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96A2FF-5E6C-B98D-615B-5438BE1DA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0767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dirty="0"/>
              <a:t>Нормализация реляционных баз данных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371600" y="2013527"/>
            <a:ext cx="9601200" cy="4247935"/>
          </a:xfrm>
        </p:spPr>
        <p:txBody>
          <a:bodyPr/>
          <a:lstStyle/>
          <a:p>
            <a:r>
              <a:rPr lang="ru-RU" b="1" dirty="0"/>
              <a:t>Реляционная база данных</a:t>
            </a:r>
            <a:r>
              <a:rPr lang="ru-RU" dirty="0"/>
              <a:t> – это упорядоченная информация, связанная между собой определёнными отношениями.</a:t>
            </a:r>
          </a:p>
          <a:p>
            <a:r>
              <a:rPr lang="ru-RU" dirty="0"/>
              <a:t>Логически такая база данных представлена в виде таблиц, в которых и лежит вся эта информация.</a:t>
            </a:r>
          </a:p>
          <a:p>
            <a:r>
              <a:rPr lang="ru-RU" b="1" dirty="0"/>
              <a:t>Нормализация</a:t>
            </a:r>
            <a:r>
              <a:rPr lang="ru-RU" dirty="0"/>
              <a:t> – это процесс удаления избыточных данных.</a:t>
            </a:r>
          </a:p>
          <a:p>
            <a:r>
              <a:rPr lang="ru-RU" b="1" dirty="0"/>
              <a:t>Нормализация</a:t>
            </a:r>
            <a:r>
              <a:rPr lang="ru-RU" dirty="0"/>
              <a:t> – это метод проектирования базы данных, который позволяет привести базу данных к минимальной избыточности.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AB4BB91-9E60-A617-7A7C-01F9832B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0333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Нормальные формы базы данных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Нормальная форма базы данных</a:t>
            </a:r>
            <a:r>
              <a:rPr lang="ru-RU" dirty="0"/>
              <a:t> – это набор правил и критериев, которым должна отвечать база данных.</a:t>
            </a:r>
            <a:endParaRPr lang="en-US" dirty="0"/>
          </a:p>
          <a:p>
            <a:r>
              <a:rPr lang="ru-RU" i="1" dirty="0"/>
              <a:t>Каждая следующая нормальная форма содержит более строгие правила и критерии, тем самым приводя базу данных к определённой нормальной форме мы устраняем определённый набор аномалий.</a:t>
            </a:r>
          </a:p>
          <a:p>
            <a:r>
              <a:rPr lang="ru-RU" i="1" dirty="0"/>
              <a:t>Чем выше нормальная форма, тем меньше аномалий в базе будет.</a:t>
            </a:r>
          </a:p>
          <a:p>
            <a:endParaRPr lang="ru-RU" dirty="0"/>
          </a:p>
          <a:p>
            <a:r>
              <a:rPr lang="ru-RU" b="1" dirty="0"/>
              <a:t>Процесс нормализации</a:t>
            </a:r>
            <a:r>
              <a:rPr lang="ru-RU" dirty="0"/>
              <a:t> – это последовательный процесс приведения базы данных к эталонному виду, т.е. переход от одной нормальной формы к следующей.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163FCC6-5E89-CD8A-1D02-3BC33B02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3026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нормальных форм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330235"/>
            <a:ext cx="10058400" cy="523682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/>
              <a:t>Ненормализованная форма или нулевая нормальная форма (UNF)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Первая нормальная форма (1NF)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Вторая нормальная форма (2NF)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Третья нормальная форма (3NF)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Нормальная форма </a:t>
            </a:r>
            <a:r>
              <a:rPr lang="ru-RU" sz="2400" dirty="0" err="1"/>
              <a:t>Бойса</a:t>
            </a:r>
            <a:r>
              <a:rPr lang="ru-RU" sz="2400" dirty="0"/>
              <a:t>-Кодда (BCNF)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Четвертая нормальная форма (4NF)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Пятая нормальная форма (5NF)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Доменно-ключевая нормальная форма (DKNF)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Шестая нормальная форма (6NF)</a:t>
            </a:r>
          </a:p>
          <a:p>
            <a:r>
              <a:rPr lang="ru-RU" sz="2400" i="1" dirty="0"/>
              <a:t>Если БД находится в какой-либо НФ, она находится и во всех предыдущих!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D66775-0139-CB55-7CAE-840B167E8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872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Первая нормальная форма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330235"/>
            <a:ext cx="9784080" cy="5125429"/>
          </a:xfrm>
        </p:spPr>
        <p:txBody>
          <a:bodyPr>
            <a:normAutofit/>
          </a:bodyPr>
          <a:lstStyle/>
          <a:p>
            <a:r>
              <a:rPr lang="ru-RU" sz="2400" dirty="0"/>
              <a:t>Требование первой нормальной формы (1NF) заключается в том, чтобы таблицы соответствовали реляционной модели данных и соблюдали определённые реляционные принципы.</a:t>
            </a:r>
          </a:p>
          <a:p>
            <a:r>
              <a:rPr lang="ru-RU" sz="2400" dirty="0"/>
              <a:t>Таким образом, чтобы база данных находилась в 1 нормальной форме, необходимо чтобы ее таблицы соблюдали следующие реляционные принципы: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В таблице не должно быть дублирующих строк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В каждой ячейке таблицы хранится атомарное значение (одно не составное значение)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В столбце хранятся данные одного типа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Отсутствуют массивы и списки в любом виде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DDBBA0-42B8-017D-48D7-09C62301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6387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Вторая нормальная форма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40872" y="1330235"/>
            <a:ext cx="9714807" cy="5125429"/>
          </a:xfrm>
        </p:spPr>
        <p:txBody>
          <a:bodyPr>
            <a:normAutofit fontScale="92500" lnSpcReduction="10000"/>
          </a:bodyPr>
          <a:lstStyle/>
          <a:p>
            <a:r>
              <a:rPr lang="ru-RU" sz="2400" dirty="0"/>
              <a:t>Чтобы база данных находилась во второй нормальной форме (2NF), необходимо чтобы ее таблицы удовлетворяли следующим требованиям: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Таблица должна находиться в первой нормальной форме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Таблица должна иметь ключ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Все </a:t>
            </a:r>
            <a:r>
              <a:rPr lang="ru-RU" sz="2400" dirty="0" err="1"/>
              <a:t>неключевые</a:t>
            </a:r>
            <a:r>
              <a:rPr lang="ru-RU" sz="2400" dirty="0"/>
              <a:t> столбцы таблицы должны зависеть от полного ключа (</a:t>
            </a:r>
            <a:r>
              <a:rPr lang="ru-RU" sz="2400" i="1" dirty="0"/>
              <a:t>в случае если он составной</a:t>
            </a:r>
            <a:r>
              <a:rPr lang="ru-RU" sz="2400" dirty="0"/>
              <a:t>)</a:t>
            </a:r>
          </a:p>
          <a:p>
            <a:r>
              <a:rPr lang="ru-RU" sz="2400" dirty="0"/>
              <a:t>Если ключ составной, т.е. состоит из нескольких столбцов, то все остальные </a:t>
            </a:r>
            <a:r>
              <a:rPr lang="ru-RU" sz="2400" dirty="0" err="1"/>
              <a:t>неключевые</a:t>
            </a:r>
            <a:r>
              <a:rPr lang="ru-RU" sz="2400" dirty="0"/>
              <a:t> столбцы должны зависеть от всего ключа, т.е. от всех столбцов в этом ключе. Если какой-то атрибут (столбец) зависит только от одного столбца в ключе, значит, база данных не находится во второй нормальной форме.</a:t>
            </a:r>
          </a:p>
          <a:p>
            <a:r>
              <a:rPr lang="ru-RU" sz="2400" dirty="0"/>
              <a:t>Иными словами, в таблице не должно быть данных, которые можно получить, зная только половину ключа, т.е. только один столбец из составного ключа.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A540D5-4168-6A55-C70B-BF2546A3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9478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Третья нормальная форма</a:t>
            </a: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Требование третьей нормальной формы (3NF) заключается в том, чтобы в таблицах отсутствовала транзитивная зависимость.</a:t>
            </a:r>
          </a:p>
          <a:p>
            <a:r>
              <a:rPr lang="ru-RU" sz="2800" b="1" dirty="0"/>
              <a:t>Транзитивная зависимость </a:t>
            </a:r>
            <a:r>
              <a:rPr lang="ru-RU" sz="2800" dirty="0"/>
              <a:t>– это когда </a:t>
            </a:r>
            <a:r>
              <a:rPr lang="ru-RU" sz="2800" dirty="0" err="1"/>
              <a:t>неключевые</a:t>
            </a:r>
            <a:r>
              <a:rPr lang="ru-RU" sz="2800" dirty="0"/>
              <a:t> столбцы зависят от значений других </a:t>
            </a:r>
            <a:r>
              <a:rPr lang="ru-RU" sz="2800" dirty="0" err="1"/>
              <a:t>неключевых</a:t>
            </a:r>
            <a:r>
              <a:rPr lang="ru-RU" sz="2800" dirty="0"/>
              <a:t> столбцов.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C929B3A-9A81-47FD-F3B1-285AEFBA4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3143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Нормальная форма </a:t>
            </a:r>
            <a:r>
              <a:rPr lang="ru-RU" dirty="0" err="1"/>
              <a:t>Бойса</a:t>
            </a:r>
            <a:r>
              <a:rPr lang="ru-RU" dirty="0"/>
              <a:t>-Кодда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330235"/>
            <a:ext cx="9601200" cy="4931227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Требования нормальной формы </a:t>
            </a:r>
            <a:r>
              <a:rPr lang="ru-RU" sz="2400" dirty="0" err="1"/>
              <a:t>Бойса</a:t>
            </a:r>
            <a:r>
              <a:rPr lang="ru-RU" sz="2400" dirty="0"/>
              <a:t>-Кодда следующие: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Таблица должна находиться в третьей нормальной форме. Здесь все как обычно, т.е. как и у всех остальных нормальных форм, первое требование заключается в том, чтобы таблица находилась в предыдущей нормальной форме, в данном случае в третьей нормальной форме;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Ключевые атрибуты составного ключа не должны зависеть от </a:t>
            </a:r>
            <a:r>
              <a:rPr lang="ru-RU" sz="2400" dirty="0" err="1"/>
              <a:t>неключевых</a:t>
            </a:r>
            <a:r>
              <a:rPr lang="ru-RU" sz="2400" dirty="0"/>
              <a:t> атрибутов.</a:t>
            </a:r>
          </a:p>
          <a:p>
            <a:pPr marL="0" indent="0">
              <a:buNone/>
            </a:pPr>
            <a:r>
              <a:rPr lang="ru-RU" sz="2400" dirty="0"/>
              <a:t>Отсюда следует, что </a:t>
            </a:r>
            <a:r>
              <a:rPr lang="ru-RU" sz="2400" u="sng" dirty="0"/>
              <a:t>требования нормальной формы </a:t>
            </a:r>
            <a:r>
              <a:rPr lang="ru-RU" sz="2400" u="sng" dirty="0" err="1"/>
              <a:t>Бойса</a:t>
            </a:r>
            <a:r>
              <a:rPr lang="ru-RU" sz="2400" u="sng" dirty="0"/>
              <a:t>-Кодда предъявляются только к таблицам, у которых первичный ключ составной</a:t>
            </a:r>
            <a:r>
              <a:rPr lang="ru-RU" sz="2400" dirty="0"/>
              <a:t>. Таблицы, у которых первичный ключ простой, и они находятся в третьей нормальной форме, автоматически находятся и в нормальной форме </a:t>
            </a:r>
            <a:r>
              <a:rPr lang="ru-RU" sz="2400" dirty="0" err="1"/>
              <a:t>Бойса</a:t>
            </a:r>
            <a:r>
              <a:rPr lang="ru-RU" sz="2400" dirty="0"/>
              <a:t>-Кодда.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B72AB4-24A6-85D3-1828-5A2A67812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4142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Целостность данных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i="1" dirty="0"/>
              <a:t>Любая реальная база данных содержит в себе огромное количество семантических и синтаксических связей. Нарушение хотя бы одной из них может привести к получению неверных результатов запросов пользователей. Базу данных без принятия очень трудоёмких мер легко "разбить", привести в негодность.</a:t>
            </a:r>
          </a:p>
          <a:p>
            <a:r>
              <a:rPr lang="ru-RU" sz="2400" b="1" dirty="0"/>
              <a:t>Целостность</a:t>
            </a:r>
            <a:r>
              <a:rPr lang="ru-RU" sz="2400" dirty="0"/>
              <a:t> – величина, обратная лёгкости, с которой база данных может быть приведена в негодное для эксплуатации состояние. </a:t>
            </a:r>
          </a:p>
          <a:p>
            <a:r>
              <a:rPr lang="ru-RU" sz="2400" dirty="0"/>
              <a:t>Под</a:t>
            </a:r>
            <a:r>
              <a:rPr lang="ru-RU" sz="2400" b="1" dirty="0"/>
              <a:t> целостностью данных </a:t>
            </a:r>
            <a:r>
              <a:rPr lang="ru-RU" sz="2400" dirty="0"/>
              <a:t>понимают точность, корректность, непротиворечивость, логическую согласованность данных хранящихся в базе.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DA157F-4E52-192E-5184-6CC688BD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95409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Ссылочная целостность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При изменении первичных и внешних ключей следует соблюдать </a:t>
            </a:r>
            <a:r>
              <a:rPr lang="ru-RU" sz="2800" b="1" dirty="0"/>
              <a:t>ссылочную целостность данных</a:t>
            </a:r>
            <a:r>
              <a:rPr lang="ru-RU" sz="2800" dirty="0"/>
              <a:t> (</a:t>
            </a:r>
            <a:r>
              <a:rPr lang="ru-RU" sz="2800" dirty="0" err="1"/>
              <a:t>referential</a:t>
            </a:r>
            <a:r>
              <a:rPr lang="ru-RU" sz="2800" dirty="0"/>
              <a:t> </a:t>
            </a:r>
            <a:r>
              <a:rPr lang="ru-RU" sz="2800" dirty="0" err="1"/>
              <a:t>integrity</a:t>
            </a:r>
            <a:r>
              <a:rPr lang="ru-RU" sz="2800" dirty="0"/>
              <a:t>). Ее основная идея состоит в том, чтобы две таблице в базе данных, которые хранят одни и те же данные, поддерживали их согласованность. Целостность данных представляет правильно выстроенные отношения между таблицами с корректной установкой ссылок между ними. 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EBDB9A-50E1-705F-6536-5B6E8CE4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3220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нарушений ссылочной целостности: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b="1" dirty="0"/>
              <a:t>Аномалия удаления</a:t>
            </a:r>
            <a:r>
              <a:rPr lang="ru-RU" sz="2400" dirty="0"/>
              <a:t> (</a:t>
            </a:r>
            <a:r>
              <a:rPr lang="ru-RU" sz="2400" dirty="0" err="1"/>
              <a:t>deletion</a:t>
            </a:r>
            <a:r>
              <a:rPr lang="ru-RU" sz="2400" dirty="0"/>
              <a:t> </a:t>
            </a:r>
            <a:r>
              <a:rPr lang="ru-RU" sz="2400" dirty="0" err="1"/>
              <a:t>anomaly</a:t>
            </a:r>
            <a:r>
              <a:rPr lang="ru-RU" sz="2400" dirty="0"/>
              <a:t>). Возникает при удалении строки из главной таблицы (то же происходит, если в главной таблице изменить текст первичного ключа). В этом случае внешний ключ из зависимой таблицы продолжает ссылаться на удаленную строку из главной таблицы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b="1" dirty="0"/>
              <a:t>Аномалия вставки</a:t>
            </a:r>
            <a:r>
              <a:rPr lang="ru-RU" sz="2400" dirty="0"/>
              <a:t> (</a:t>
            </a:r>
            <a:r>
              <a:rPr lang="ru-RU" sz="2400" dirty="0" err="1"/>
              <a:t>insertion</a:t>
            </a:r>
            <a:r>
              <a:rPr lang="ru-RU" sz="2400" dirty="0"/>
              <a:t> </a:t>
            </a:r>
            <a:r>
              <a:rPr lang="ru-RU" sz="2400" dirty="0" err="1"/>
              <a:t>anomaly</a:t>
            </a:r>
            <a:r>
              <a:rPr lang="ru-RU" sz="2400" dirty="0"/>
              <a:t>). Возникает при вставке строки в зависимую таблицу. В этом случае внешний ключ из зависимой таблицы не соответствует первичному ключу ни одной из строк из главной таблицы.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b="1" dirty="0"/>
              <a:t>Аномалии обновления</a:t>
            </a:r>
            <a:r>
              <a:rPr lang="ru-RU" sz="2400" dirty="0"/>
              <a:t> (</a:t>
            </a:r>
            <a:r>
              <a:rPr lang="ru-RU" sz="2400" dirty="0" err="1"/>
              <a:t>update</a:t>
            </a:r>
            <a:r>
              <a:rPr lang="ru-RU" sz="2400" dirty="0"/>
              <a:t> </a:t>
            </a:r>
            <a:r>
              <a:rPr lang="ru-RU" sz="2400" dirty="0" err="1"/>
              <a:t>anomaly</a:t>
            </a:r>
            <a:r>
              <a:rPr lang="ru-RU" sz="2400" dirty="0"/>
              <a:t>). При подобной аномалии несколько строк одной таблицы могут содержать данные, которые принадлежат одному и тому же объекту. При изменении данных в одной строке они могу прийти в противоречие с данными из другой строки.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E33427-ABA7-EB49-12BE-09F9986F6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3655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F355C-EC09-4CCE-9558-EAEACA89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Аномалия вставки: 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2CB830-53C9-49A2-A649-86F1795F0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Аномалия вставки решается двумя способами: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Не позволять вставлять в подчиненную таблицу строки, пока не заполнена связанная строка в  главной таблице (</a:t>
            </a:r>
            <a:r>
              <a:rPr lang="en-US" dirty="0"/>
              <a:t>not null </a:t>
            </a:r>
            <a:r>
              <a:rPr lang="ru-RU" dirty="0"/>
              <a:t>столбец внешнего ключа).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Позволить не заполнять ссылку на главную таблицу при заполнении подчиненной (</a:t>
            </a:r>
            <a:r>
              <a:rPr lang="en-US" dirty="0"/>
              <a:t>null</a:t>
            </a:r>
            <a:r>
              <a:rPr lang="ru-RU" dirty="0"/>
              <a:t> столбец внешнего ключа)</a:t>
            </a:r>
            <a:r>
              <a:rPr lang="en-US" dirty="0"/>
              <a:t>.</a:t>
            </a:r>
            <a:r>
              <a:rPr lang="ru-RU" dirty="0"/>
              <a:t> Но тогда очень важно в программе, связанной с БД как-то заставлять пользователя в дальнейшем заполнить ссылку.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66A3E8-51C9-406E-89C6-AA372AAA9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1495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027CA1-1698-4900-AD7E-0FCF51721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96538"/>
            <a:ext cx="9896475" cy="733697"/>
          </a:xfrm>
        </p:spPr>
        <p:txBody>
          <a:bodyPr>
            <a:normAutofit/>
          </a:bodyPr>
          <a:lstStyle/>
          <a:p>
            <a:r>
              <a:rPr lang="ru-RU" dirty="0"/>
              <a:t>Аномалия обновления и удаления: 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DC6D01-3AA9-4BA9-88E6-C4EA03A29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5189492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Аномалии обновления и удаления решаются через ограничения на внешний ключ.</a:t>
            </a:r>
          </a:p>
          <a:p>
            <a:r>
              <a:rPr lang="ru-RU" dirty="0"/>
              <a:t>Виды ограничений: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CASCADE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RESTRICT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SET NULL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NO ACTION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ru-RU" dirty="0"/>
              <a:t>Точный список ограничений зависит от СУБД.</a:t>
            </a:r>
          </a:p>
          <a:p>
            <a:r>
              <a:rPr lang="ru-RU" dirty="0"/>
              <a:t>Ограничения внешнего ключа прописываются для дочерней таблицы.</a:t>
            </a:r>
          </a:p>
          <a:p>
            <a:r>
              <a:rPr lang="ru-RU" dirty="0"/>
              <a:t>Однако помните, что удаление/изменение строк в дочерней таблице на родительскую не повлияют. Только наоборот. Исключение – попытка удалить значение ячейки с внешним ключом, но это уже аналогично аномалии вставки.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24DD38-05E8-404C-BE6B-FD66D0FA2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4597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744EBD-4B4B-4744-AD39-BB87FD686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CC7B82-CF6C-4BD6-BE44-81E7C73D1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CASCADE – </a:t>
            </a:r>
            <a:r>
              <a:rPr lang="ru-RU" dirty="0"/>
              <a:t>каскадное обновление/удаление.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(самый распространенный вариант для обновления) При каскадном обновлении: если изменить текст первичного ключа в родительской таблице, все ссылки на него в дочерней таблице обновятся.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При каскадном удалении: если удалить строку из родительской таблицы, все связанные с ней строки из дочерней удалятся. Следует использовать крайне осторожно.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0AB0E8-21B2-4EC5-A770-0D815FD6D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1839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CF8603-B22F-49A9-8BBD-4884371E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C2A2BD-362D-4BA8-B1A4-D005D6882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RESTRICT</a:t>
            </a:r>
            <a:r>
              <a:rPr lang="ru-RU" dirty="0"/>
              <a:t> – запрет обновления/удаления.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При запрете обновления: нельзя изменить первичный ключ в строке главной таблицы, если у нее есть подчиненные строки.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(самый распространенный вариант для удаления, часто выставлен по умолчанию) При запрете удаления: нельзя удалить строку из главной таблицы, у которой есть подчиненные строки.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BCCA81-579A-485E-B456-E5AA81643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2790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7C9A4-1E93-4E70-AD92-5F11ECBE5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NULL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EAE563-38F8-46BA-B029-DEDA06880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Нарушает целостность, но иногда необходимо.</a:t>
            </a:r>
          </a:p>
          <a:p>
            <a:endParaRPr lang="ru-RU" dirty="0"/>
          </a:p>
          <a:p>
            <a:r>
              <a:rPr lang="en-US" dirty="0"/>
              <a:t>SET NULL</a:t>
            </a:r>
            <a:r>
              <a:rPr lang="ru-RU" dirty="0"/>
              <a:t> – оставлять пустоту (</a:t>
            </a:r>
            <a:r>
              <a:rPr lang="en-US" dirty="0"/>
              <a:t>null) </a:t>
            </a:r>
            <a:r>
              <a:rPr lang="ru-RU" dirty="0"/>
              <a:t>на месте ссылки в подчиненной таблице.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(очень редко) При обновлении: при изменении первичного ключа в строке главной таблице, для всех связанных с ней строк в подчиненной таблице внешние ключи заменяются на </a:t>
            </a:r>
            <a:r>
              <a:rPr lang="en-US" dirty="0"/>
              <a:t>null</a:t>
            </a:r>
            <a:r>
              <a:rPr lang="ru-RU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При удалении: при удалении строки из главной таблицы, для всех связанных с ней строк в подчиненной таблице внешние ключи заменяются на </a:t>
            </a:r>
            <a:r>
              <a:rPr lang="en-US" dirty="0"/>
              <a:t>null</a:t>
            </a:r>
            <a:r>
              <a:rPr lang="ru-RU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12226C-FE6A-41A6-8FC5-C1B5DCE0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7368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9C2B7-BC79-45F6-8161-04B743F59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 ACTION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127EFF-0D07-4A3D-9CD5-09546C325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Очень сильно нарушает целостность, использовать не рекомендуется. Фактически отменяет часть ограничений внешнего ключа.</a:t>
            </a:r>
          </a:p>
          <a:p>
            <a:endParaRPr lang="ru-RU" dirty="0"/>
          </a:p>
          <a:p>
            <a:r>
              <a:rPr lang="en-US" dirty="0"/>
              <a:t>NO ACTION</a:t>
            </a:r>
            <a:r>
              <a:rPr lang="ru-RU" dirty="0"/>
              <a:t> – не делать ничего.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При обновлении: при изменении первичного ключа в строке главной таблице, для всех связанных с ней строк в подчиненной таблице оставить старый ключ.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При удалении: при удалении строки из главной таблицы, для всех связанных с ней строк в подчиненной таблице оставить старый ключ и ничего не удалять.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E409B9-66C6-47BB-B7CF-4F1D6549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4480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2C31B-C19D-48A5-97AD-B25461DE0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75" y="263163"/>
            <a:ext cx="9601200" cy="733697"/>
          </a:xfrm>
        </p:spPr>
        <p:txBody>
          <a:bodyPr/>
          <a:lstStyle/>
          <a:p>
            <a:r>
              <a:rPr lang="ru-RU" dirty="0"/>
              <a:t>Практическое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270E5C-D5A0-457C-9292-B60B2015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888282"/>
            <a:ext cx="9601200" cy="1389017"/>
          </a:xfrm>
        </p:spPr>
        <p:txBody>
          <a:bodyPr/>
          <a:lstStyle/>
          <a:p>
            <a:r>
              <a:rPr lang="ru-RU" dirty="0"/>
              <a:t>БД магазина фермерских продуктов описывается следующей концептуальной моделью.</a:t>
            </a:r>
          </a:p>
          <a:p>
            <a:r>
              <a:rPr lang="ru-RU" dirty="0"/>
              <a:t>Преобразуйте модель к логической, а затем физической схеме БД.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3A189B-04DC-4417-9802-E46FB238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49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2BE3BF9-F48D-4E4D-8D84-8FCCF9544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675" y="2130879"/>
            <a:ext cx="10350156" cy="439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16130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40</TotalTime>
  <Words>3227</Words>
  <Application>Microsoft Office PowerPoint</Application>
  <PresentationFormat>Широкоэкранный</PresentationFormat>
  <Paragraphs>330</Paragraphs>
  <Slides>49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6" baseType="lpstr">
      <vt:lpstr>Arial</vt:lpstr>
      <vt:lpstr>Calibri</vt:lpstr>
      <vt:lpstr>Franklin Gothic Book</vt:lpstr>
      <vt:lpstr>Georgia</vt:lpstr>
      <vt:lpstr>Times New Roman</vt:lpstr>
      <vt:lpstr>Wingdings</vt:lpstr>
      <vt:lpstr>Уголки</vt:lpstr>
      <vt:lpstr>Лекция 10   Проектирование БД</vt:lpstr>
      <vt:lpstr>Презентация PowerPoint</vt:lpstr>
      <vt:lpstr>Презентация PowerPoint</vt:lpstr>
      <vt:lpstr>Основные функции СУБД</vt:lpstr>
      <vt:lpstr>Реляционная модель данных</vt:lpstr>
      <vt:lpstr>Свойства реляционных БД</vt:lpstr>
      <vt:lpstr>Основные понятия реляционной модели</vt:lpstr>
      <vt:lpstr>Первичный ключ</vt:lpstr>
      <vt:lpstr>Возможные ключи</vt:lpstr>
      <vt:lpstr>Суррогатный ключ</vt:lpstr>
      <vt:lpstr>Внешний ключ</vt:lpstr>
      <vt:lpstr>Связи</vt:lpstr>
      <vt:lpstr>Связь один к одному</vt:lpstr>
      <vt:lpstr>Связь один ко многим</vt:lpstr>
      <vt:lpstr>Связь многие ко многим</vt:lpstr>
      <vt:lpstr>Обязательные и необязательные отношения</vt:lpstr>
      <vt:lpstr>Проектирование БД</vt:lpstr>
      <vt:lpstr>Этапы проектирования баз данных</vt:lpstr>
      <vt:lpstr>Полный список этапов создания БД</vt:lpstr>
      <vt:lpstr>Подходы к созданию схемы БД</vt:lpstr>
      <vt:lpstr>Модель «Сущность – связь»</vt:lpstr>
      <vt:lpstr>Концептуальная модель. Нотация Чена</vt:lpstr>
      <vt:lpstr>Элементы диаграммы. Нотация Чена</vt:lpstr>
      <vt:lpstr>Логическая модель: Нотация Мартина (Crow Foot) </vt:lpstr>
      <vt:lpstr>Нотация Мартина. Сущности</vt:lpstr>
      <vt:lpstr>Нотация Мартина. Связи</vt:lpstr>
      <vt:lpstr>Физическая модель</vt:lpstr>
      <vt:lpstr>Физическая модель. Сущности</vt:lpstr>
      <vt:lpstr>Физическая модель: пример</vt:lpstr>
      <vt:lpstr>Переходы от модели к модели</vt:lpstr>
      <vt:lpstr>Словарь данных</vt:lpstr>
      <vt:lpstr>Избыточность данных</vt:lpstr>
      <vt:lpstr>Нормализация реляционных баз данных</vt:lpstr>
      <vt:lpstr>Нормальные формы базы данных</vt:lpstr>
      <vt:lpstr>Порядок нормальных форм</vt:lpstr>
      <vt:lpstr>Первая нормальная форма</vt:lpstr>
      <vt:lpstr>Вторая нормальная форма</vt:lpstr>
      <vt:lpstr>Третья нормальная форма</vt:lpstr>
      <vt:lpstr>Нормальная форма Бойса-Кодда</vt:lpstr>
      <vt:lpstr>Целостность данных</vt:lpstr>
      <vt:lpstr>Ссылочная целостность данных</vt:lpstr>
      <vt:lpstr>Виды нарушений ссылочной целостности:</vt:lpstr>
      <vt:lpstr>Аномалия вставки: решение</vt:lpstr>
      <vt:lpstr>Аномалия обновления и удаления: решение</vt:lpstr>
      <vt:lpstr>CASCADE</vt:lpstr>
      <vt:lpstr>RESTRICT</vt:lpstr>
      <vt:lpstr>SET NULL</vt:lpstr>
      <vt:lpstr>NO ACTION</vt:lpstr>
      <vt:lpstr>Практическое 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…    Заголовок</dc:title>
  <dc:creator>Лилия Челищева</dc:creator>
  <cp:lastModifiedBy>Лилия Челищева</cp:lastModifiedBy>
  <cp:revision>10</cp:revision>
  <dcterms:created xsi:type="dcterms:W3CDTF">2023-09-01T22:02:12Z</dcterms:created>
  <dcterms:modified xsi:type="dcterms:W3CDTF">2025-10-20T08:27:09Z</dcterms:modified>
</cp:coreProperties>
</file>