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83" r:id="rId11"/>
    <p:sldId id="284" r:id="rId12"/>
    <p:sldId id="285" r:id="rId13"/>
    <p:sldId id="278" r:id="rId14"/>
    <p:sldId id="280" r:id="rId15"/>
    <p:sldId id="281" r:id="rId16"/>
    <p:sldId id="277" r:id="rId17"/>
    <p:sldId id="264" r:id="rId18"/>
    <p:sldId id="274" r:id="rId19"/>
    <p:sldId id="276" r:id="rId20"/>
    <p:sldId id="275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6" autoAdjust="0"/>
  </p:normalViewPr>
  <p:slideViewPr>
    <p:cSldViewPr snapToGrid="0">
      <p:cViewPr varScale="1">
        <p:scale>
          <a:sx n="80" d="100"/>
          <a:sy n="80" d="100"/>
        </p:scale>
        <p:origin x="754" y="-10"/>
      </p:cViewPr>
      <p:guideLst/>
    </p:cSldViewPr>
  </p:slideViewPr>
  <p:outlineViewPr>
    <p:cViewPr>
      <p:scale>
        <a:sx n="33" d="100"/>
        <a:sy n="33" d="100"/>
      </p:scale>
      <p:origin x="0" y="-3073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47FB5F-A80B-4A01-8AC3-070F30C2F811}" type="doc">
      <dgm:prSet loTypeId="urn:microsoft.com/office/officeart/2005/8/layout/vList6" loCatId="list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ru-RU"/>
        </a:p>
      </dgm:t>
    </dgm:pt>
    <dgm:pt modelId="{0708D9DB-F904-4DAA-8FA1-7B946FE2B40F}">
      <dgm:prSet phldrT="[Текст]"/>
      <dgm:spPr/>
      <dgm:t>
        <a:bodyPr/>
        <a:lstStyle/>
        <a:p>
          <a:r>
            <a:rPr lang="ru-RU" dirty="0"/>
            <a:t>Ограниченность во времени</a:t>
          </a:r>
        </a:p>
      </dgm:t>
    </dgm:pt>
    <dgm:pt modelId="{42C07633-CC2A-45AD-A4E9-5CD5AB485228}" type="parTrans" cxnId="{E927DF52-3A94-479A-ACD8-A8CE9E35ED1A}">
      <dgm:prSet/>
      <dgm:spPr/>
      <dgm:t>
        <a:bodyPr/>
        <a:lstStyle/>
        <a:p>
          <a:endParaRPr lang="ru-RU"/>
        </a:p>
      </dgm:t>
    </dgm:pt>
    <dgm:pt modelId="{35B3C24F-CC3C-4217-9620-6711DE2790A5}" type="sibTrans" cxnId="{E927DF52-3A94-479A-ACD8-A8CE9E35ED1A}">
      <dgm:prSet/>
      <dgm:spPr/>
      <dgm:t>
        <a:bodyPr/>
        <a:lstStyle/>
        <a:p>
          <a:endParaRPr lang="ru-RU"/>
        </a:p>
      </dgm:t>
    </dgm:pt>
    <dgm:pt modelId="{1E43BCB9-9691-4363-B7E2-B8916843A645}">
      <dgm:prSet/>
      <dgm:spPr/>
      <dgm:t>
        <a:bodyPr/>
        <a:lstStyle/>
        <a:p>
          <a:r>
            <a:rPr lang="ru-RU"/>
            <a:t>Уникальность</a:t>
          </a:r>
          <a:endParaRPr lang="ru-RU" dirty="0"/>
        </a:p>
      </dgm:t>
    </dgm:pt>
    <dgm:pt modelId="{6B53B107-40A1-4BBD-ABA4-E1D20E4F38AF}" type="parTrans" cxnId="{CEAC9A85-B5BF-4956-B4AA-7315641C6A1C}">
      <dgm:prSet/>
      <dgm:spPr/>
      <dgm:t>
        <a:bodyPr/>
        <a:lstStyle/>
        <a:p>
          <a:endParaRPr lang="ru-RU"/>
        </a:p>
      </dgm:t>
    </dgm:pt>
    <dgm:pt modelId="{512225FD-EC01-4CC2-9C57-775A7060EB1F}" type="sibTrans" cxnId="{CEAC9A85-B5BF-4956-B4AA-7315641C6A1C}">
      <dgm:prSet/>
      <dgm:spPr/>
      <dgm:t>
        <a:bodyPr/>
        <a:lstStyle/>
        <a:p>
          <a:endParaRPr lang="ru-RU"/>
        </a:p>
      </dgm:t>
    </dgm:pt>
    <dgm:pt modelId="{73625E6C-0F51-4764-ACDF-9F3E139675FD}">
      <dgm:prSet/>
      <dgm:spPr/>
      <dgm:t>
        <a:bodyPr/>
        <a:lstStyle/>
        <a:p>
          <a:r>
            <a:rPr lang="ru-RU"/>
            <a:t>Нацеленность на результат</a:t>
          </a:r>
          <a:endParaRPr lang="ru-RU" dirty="0"/>
        </a:p>
      </dgm:t>
    </dgm:pt>
    <dgm:pt modelId="{FB40220F-E759-4826-99D1-179FECE5859E}" type="parTrans" cxnId="{B3064539-7431-4B89-BC93-350A37499D0D}">
      <dgm:prSet/>
      <dgm:spPr/>
      <dgm:t>
        <a:bodyPr/>
        <a:lstStyle/>
        <a:p>
          <a:endParaRPr lang="ru-RU"/>
        </a:p>
      </dgm:t>
    </dgm:pt>
    <dgm:pt modelId="{ED80E592-50D3-422A-9217-F0C3D61A6647}" type="sibTrans" cxnId="{B3064539-7431-4B89-BC93-350A37499D0D}">
      <dgm:prSet/>
      <dgm:spPr/>
      <dgm:t>
        <a:bodyPr/>
        <a:lstStyle/>
        <a:p>
          <a:endParaRPr lang="ru-RU"/>
        </a:p>
      </dgm:t>
    </dgm:pt>
    <dgm:pt modelId="{9918015C-C4B6-490F-92CC-0B5CF7660CD1}" type="pres">
      <dgm:prSet presAssocID="{6B47FB5F-A80B-4A01-8AC3-070F30C2F811}" presName="Name0" presStyleCnt="0">
        <dgm:presLayoutVars>
          <dgm:dir/>
          <dgm:animLvl val="lvl"/>
          <dgm:resizeHandles/>
        </dgm:presLayoutVars>
      </dgm:prSet>
      <dgm:spPr/>
    </dgm:pt>
    <dgm:pt modelId="{7E596AFF-89D4-454F-B5A6-AD8D4732BB9A}" type="pres">
      <dgm:prSet presAssocID="{0708D9DB-F904-4DAA-8FA1-7B946FE2B40F}" presName="linNode" presStyleCnt="0"/>
      <dgm:spPr/>
    </dgm:pt>
    <dgm:pt modelId="{D97F8B53-E23E-41BF-8A2D-06F7F15A435F}" type="pres">
      <dgm:prSet presAssocID="{0708D9DB-F904-4DAA-8FA1-7B946FE2B40F}" presName="parentShp" presStyleLbl="node1" presStyleIdx="0" presStyleCnt="3">
        <dgm:presLayoutVars>
          <dgm:bulletEnabled val="1"/>
        </dgm:presLayoutVars>
      </dgm:prSet>
      <dgm:spPr/>
    </dgm:pt>
    <dgm:pt modelId="{C0A5FF6E-385A-49D5-AF43-9ADB9F79F06A}" type="pres">
      <dgm:prSet presAssocID="{0708D9DB-F904-4DAA-8FA1-7B946FE2B40F}" presName="childShp" presStyleLbl="bgAccFollowNode1" presStyleIdx="0" presStyleCnt="3">
        <dgm:presLayoutVars>
          <dgm:bulletEnabled val="1"/>
        </dgm:presLayoutVars>
      </dgm:prSet>
      <dgm:spPr/>
    </dgm:pt>
    <dgm:pt modelId="{BEA5C64E-06C6-4330-B7BF-6F308734926D}" type="pres">
      <dgm:prSet presAssocID="{35B3C24F-CC3C-4217-9620-6711DE2790A5}" presName="spacing" presStyleCnt="0"/>
      <dgm:spPr/>
    </dgm:pt>
    <dgm:pt modelId="{CDC41616-7A8B-423E-8ABD-41234E41B16B}" type="pres">
      <dgm:prSet presAssocID="{1E43BCB9-9691-4363-B7E2-B8916843A645}" presName="linNode" presStyleCnt="0"/>
      <dgm:spPr/>
    </dgm:pt>
    <dgm:pt modelId="{D62F8356-869B-458E-8156-BEC50418D596}" type="pres">
      <dgm:prSet presAssocID="{1E43BCB9-9691-4363-B7E2-B8916843A645}" presName="parentShp" presStyleLbl="node1" presStyleIdx="1" presStyleCnt="3">
        <dgm:presLayoutVars>
          <dgm:bulletEnabled val="1"/>
        </dgm:presLayoutVars>
      </dgm:prSet>
      <dgm:spPr/>
    </dgm:pt>
    <dgm:pt modelId="{8D4E2339-6F58-4964-AF47-0E057FACE6A8}" type="pres">
      <dgm:prSet presAssocID="{1E43BCB9-9691-4363-B7E2-B8916843A645}" presName="childShp" presStyleLbl="bgAccFollowNode1" presStyleIdx="1" presStyleCnt="3">
        <dgm:presLayoutVars>
          <dgm:bulletEnabled val="1"/>
        </dgm:presLayoutVars>
      </dgm:prSet>
      <dgm:spPr/>
    </dgm:pt>
    <dgm:pt modelId="{BF5F0CFF-A765-4466-A11E-11BAB220BCD5}" type="pres">
      <dgm:prSet presAssocID="{512225FD-EC01-4CC2-9C57-775A7060EB1F}" presName="spacing" presStyleCnt="0"/>
      <dgm:spPr/>
    </dgm:pt>
    <dgm:pt modelId="{17AE953D-90F5-464F-A51D-0A4FA7F4254C}" type="pres">
      <dgm:prSet presAssocID="{73625E6C-0F51-4764-ACDF-9F3E139675FD}" presName="linNode" presStyleCnt="0"/>
      <dgm:spPr/>
    </dgm:pt>
    <dgm:pt modelId="{9068FB15-C8DE-4852-BF05-6BE27FC2F79E}" type="pres">
      <dgm:prSet presAssocID="{73625E6C-0F51-4764-ACDF-9F3E139675FD}" presName="parentShp" presStyleLbl="node1" presStyleIdx="2" presStyleCnt="3">
        <dgm:presLayoutVars>
          <dgm:bulletEnabled val="1"/>
        </dgm:presLayoutVars>
      </dgm:prSet>
      <dgm:spPr/>
    </dgm:pt>
    <dgm:pt modelId="{5FFDF025-9201-4EE6-BCCA-3584F5A6EB8D}" type="pres">
      <dgm:prSet presAssocID="{73625E6C-0F51-4764-ACDF-9F3E139675FD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B3064539-7431-4B89-BC93-350A37499D0D}" srcId="{6B47FB5F-A80B-4A01-8AC3-070F30C2F811}" destId="{73625E6C-0F51-4764-ACDF-9F3E139675FD}" srcOrd="2" destOrd="0" parTransId="{FB40220F-E759-4826-99D1-179FECE5859E}" sibTransId="{ED80E592-50D3-422A-9217-F0C3D61A6647}"/>
    <dgm:cxn modelId="{E927DF52-3A94-479A-ACD8-A8CE9E35ED1A}" srcId="{6B47FB5F-A80B-4A01-8AC3-070F30C2F811}" destId="{0708D9DB-F904-4DAA-8FA1-7B946FE2B40F}" srcOrd="0" destOrd="0" parTransId="{42C07633-CC2A-45AD-A4E9-5CD5AB485228}" sibTransId="{35B3C24F-CC3C-4217-9620-6711DE2790A5}"/>
    <dgm:cxn modelId="{B657867D-AE58-4A8E-981B-968BD8CBDEDD}" type="presOf" srcId="{1E43BCB9-9691-4363-B7E2-B8916843A645}" destId="{D62F8356-869B-458E-8156-BEC50418D596}" srcOrd="0" destOrd="0" presId="urn:microsoft.com/office/officeart/2005/8/layout/vList6"/>
    <dgm:cxn modelId="{CEAC9A85-B5BF-4956-B4AA-7315641C6A1C}" srcId="{6B47FB5F-A80B-4A01-8AC3-070F30C2F811}" destId="{1E43BCB9-9691-4363-B7E2-B8916843A645}" srcOrd="1" destOrd="0" parTransId="{6B53B107-40A1-4BBD-ABA4-E1D20E4F38AF}" sibTransId="{512225FD-EC01-4CC2-9C57-775A7060EB1F}"/>
    <dgm:cxn modelId="{F11902BD-7ADE-4FBD-B4C0-7DEEF855F1B5}" type="presOf" srcId="{0708D9DB-F904-4DAA-8FA1-7B946FE2B40F}" destId="{D97F8B53-E23E-41BF-8A2D-06F7F15A435F}" srcOrd="0" destOrd="0" presId="urn:microsoft.com/office/officeart/2005/8/layout/vList6"/>
    <dgm:cxn modelId="{DC9AADF2-28E5-48E4-B8CD-9199E0BA21E1}" type="presOf" srcId="{73625E6C-0F51-4764-ACDF-9F3E139675FD}" destId="{9068FB15-C8DE-4852-BF05-6BE27FC2F79E}" srcOrd="0" destOrd="0" presId="urn:microsoft.com/office/officeart/2005/8/layout/vList6"/>
    <dgm:cxn modelId="{420174F3-69A5-4F22-B48B-616634E302A5}" type="presOf" srcId="{6B47FB5F-A80B-4A01-8AC3-070F30C2F811}" destId="{9918015C-C4B6-490F-92CC-0B5CF7660CD1}" srcOrd="0" destOrd="0" presId="urn:microsoft.com/office/officeart/2005/8/layout/vList6"/>
    <dgm:cxn modelId="{73D440F3-A80E-445D-BAD7-429E21C940BB}" type="presParOf" srcId="{9918015C-C4B6-490F-92CC-0B5CF7660CD1}" destId="{7E596AFF-89D4-454F-B5A6-AD8D4732BB9A}" srcOrd="0" destOrd="0" presId="urn:microsoft.com/office/officeart/2005/8/layout/vList6"/>
    <dgm:cxn modelId="{5F4F1C80-27D0-451F-9A79-A29F3F6A928E}" type="presParOf" srcId="{7E596AFF-89D4-454F-B5A6-AD8D4732BB9A}" destId="{D97F8B53-E23E-41BF-8A2D-06F7F15A435F}" srcOrd="0" destOrd="0" presId="urn:microsoft.com/office/officeart/2005/8/layout/vList6"/>
    <dgm:cxn modelId="{49FC9A1A-DC79-4AF8-95CE-613247CF33C8}" type="presParOf" srcId="{7E596AFF-89D4-454F-B5A6-AD8D4732BB9A}" destId="{C0A5FF6E-385A-49D5-AF43-9ADB9F79F06A}" srcOrd="1" destOrd="0" presId="urn:microsoft.com/office/officeart/2005/8/layout/vList6"/>
    <dgm:cxn modelId="{BB90A434-D93D-4E89-8434-1698ACAB1944}" type="presParOf" srcId="{9918015C-C4B6-490F-92CC-0B5CF7660CD1}" destId="{BEA5C64E-06C6-4330-B7BF-6F308734926D}" srcOrd="1" destOrd="0" presId="urn:microsoft.com/office/officeart/2005/8/layout/vList6"/>
    <dgm:cxn modelId="{81CAC499-8F99-4612-8172-D1BADFFD86D8}" type="presParOf" srcId="{9918015C-C4B6-490F-92CC-0B5CF7660CD1}" destId="{CDC41616-7A8B-423E-8ABD-41234E41B16B}" srcOrd="2" destOrd="0" presId="urn:microsoft.com/office/officeart/2005/8/layout/vList6"/>
    <dgm:cxn modelId="{11FA5502-49C4-48E9-BA86-E1A90889DC11}" type="presParOf" srcId="{CDC41616-7A8B-423E-8ABD-41234E41B16B}" destId="{D62F8356-869B-458E-8156-BEC50418D596}" srcOrd="0" destOrd="0" presId="urn:microsoft.com/office/officeart/2005/8/layout/vList6"/>
    <dgm:cxn modelId="{0C343D97-F34D-482A-87A1-0B2995C61DCB}" type="presParOf" srcId="{CDC41616-7A8B-423E-8ABD-41234E41B16B}" destId="{8D4E2339-6F58-4964-AF47-0E057FACE6A8}" srcOrd="1" destOrd="0" presId="urn:microsoft.com/office/officeart/2005/8/layout/vList6"/>
    <dgm:cxn modelId="{668EE6F9-C2E5-4C49-A416-0576E83B1463}" type="presParOf" srcId="{9918015C-C4B6-490F-92CC-0B5CF7660CD1}" destId="{BF5F0CFF-A765-4466-A11E-11BAB220BCD5}" srcOrd="3" destOrd="0" presId="urn:microsoft.com/office/officeart/2005/8/layout/vList6"/>
    <dgm:cxn modelId="{AB39F9BE-96C1-4E57-9E81-30380EEFB874}" type="presParOf" srcId="{9918015C-C4B6-490F-92CC-0B5CF7660CD1}" destId="{17AE953D-90F5-464F-A51D-0A4FA7F4254C}" srcOrd="4" destOrd="0" presId="urn:microsoft.com/office/officeart/2005/8/layout/vList6"/>
    <dgm:cxn modelId="{10AE60AD-E24E-4358-95F3-DB9ED4801293}" type="presParOf" srcId="{17AE953D-90F5-464F-A51D-0A4FA7F4254C}" destId="{9068FB15-C8DE-4852-BF05-6BE27FC2F79E}" srcOrd="0" destOrd="0" presId="urn:microsoft.com/office/officeart/2005/8/layout/vList6"/>
    <dgm:cxn modelId="{6455D64B-4AD3-461D-9608-BC94D1FDBC7B}" type="presParOf" srcId="{17AE953D-90F5-464F-A51D-0A4FA7F4254C}" destId="{5FFDF025-9201-4EE6-BCCA-3584F5A6EB8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5FF6E-385A-49D5-AF43-9ADB9F79F06A}">
      <dsp:nvSpPr>
        <dsp:cNvPr id="0" name=""/>
        <dsp:cNvSpPr/>
      </dsp:nvSpPr>
      <dsp:spPr>
        <a:xfrm>
          <a:off x="3840479" y="0"/>
          <a:ext cx="5760720" cy="1485800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F8B53-E23E-41BF-8A2D-06F7F15A435F}">
      <dsp:nvSpPr>
        <dsp:cNvPr id="0" name=""/>
        <dsp:cNvSpPr/>
      </dsp:nvSpPr>
      <dsp:spPr>
        <a:xfrm>
          <a:off x="0" y="0"/>
          <a:ext cx="3840480" cy="1485800"/>
        </a:xfrm>
        <a:prstGeom prst="round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Ограниченность во времени</a:t>
          </a:r>
        </a:p>
      </dsp:txBody>
      <dsp:txXfrm>
        <a:off x="72531" y="72531"/>
        <a:ext cx="3695418" cy="1340738"/>
      </dsp:txXfrm>
    </dsp:sp>
    <dsp:sp modelId="{8D4E2339-6F58-4964-AF47-0E057FACE6A8}">
      <dsp:nvSpPr>
        <dsp:cNvPr id="0" name=""/>
        <dsp:cNvSpPr/>
      </dsp:nvSpPr>
      <dsp:spPr>
        <a:xfrm>
          <a:off x="3840479" y="1634380"/>
          <a:ext cx="5760720" cy="1485800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F8356-869B-458E-8156-BEC50418D596}">
      <dsp:nvSpPr>
        <dsp:cNvPr id="0" name=""/>
        <dsp:cNvSpPr/>
      </dsp:nvSpPr>
      <dsp:spPr>
        <a:xfrm>
          <a:off x="0" y="1634380"/>
          <a:ext cx="3840480" cy="1485800"/>
        </a:xfrm>
        <a:prstGeom prst="roundRect">
          <a:avLst/>
        </a:prstGeom>
        <a:solidFill>
          <a:schemeClr val="accent4">
            <a:shade val="80000"/>
            <a:hueOff val="-108668"/>
            <a:satOff val="-7895"/>
            <a:lumOff val="1519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/>
            <a:t>Уникальность</a:t>
          </a:r>
          <a:endParaRPr lang="ru-RU" sz="3500" kern="1200" dirty="0"/>
        </a:p>
      </dsp:txBody>
      <dsp:txXfrm>
        <a:off x="72531" y="1706911"/>
        <a:ext cx="3695418" cy="1340738"/>
      </dsp:txXfrm>
    </dsp:sp>
    <dsp:sp modelId="{5FFDF025-9201-4EE6-BCCA-3584F5A6EB8D}">
      <dsp:nvSpPr>
        <dsp:cNvPr id="0" name=""/>
        <dsp:cNvSpPr/>
      </dsp:nvSpPr>
      <dsp:spPr>
        <a:xfrm>
          <a:off x="3840479" y="3268761"/>
          <a:ext cx="5760720" cy="1485800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8FB15-C8DE-4852-BF05-6BE27FC2F79E}">
      <dsp:nvSpPr>
        <dsp:cNvPr id="0" name=""/>
        <dsp:cNvSpPr/>
      </dsp:nvSpPr>
      <dsp:spPr>
        <a:xfrm>
          <a:off x="0" y="3268761"/>
          <a:ext cx="3840480" cy="1485800"/>
        </a:xfrm>
        <a:prstGeom prst="roundRect">
          <a:avLst/>
        </a:prstGeom>
        <a:solidFill>
          <a:schemeClr val="accent4">
            <a:shade val="80000"/>
            <a:hueOff val="-217336"/>
            <a:satOff val="-15791"/>
            <a:lumOff val="3038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/>
            <a:t>Нацеленность на результат</a:t>
          </a:r>
          <a:endParaRPr lang="ru-RU" sz="3500" kern="1200" dirty="0"/>
        </a:p>
      </dsp:txBody>
      <dsp:txXfrm>
        <a:off x="72531" y="3341292"/>
        <a:ext cx="3695418" cy="1340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24.11.2025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24.11.2025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24.11.2025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15  </a:t>
            </a:r>
            <a:br>
              <a:rPr lang="ru-RU" sz="6000" dirty="0"/>
            </a:br>
            <a:r>
              <a:rPr lang="ru-RU" sz="6000" dirty="0"/>
              <a:t> </a:t>
            </a:r>
            <a:r>
              <a:rPr lang="ru-RU" sz="4000" dirty="0"/>
              <a:t>Модели процессов разработки. Управление проектом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918CC2D-3616-5FDC-628D-2BDEB7D2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процессов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Модели (или методологии) процессов разработки ПО принято классифицировать по «весу» — количеству формализованных процессов (большинство процессов или только основные) и детальности их регламентации. Чем больше процессов документировано, чем более детально они описаны, тем больше «вес»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7D2C3FC-79DE-31D2-AAB1-149CDF0DDF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386" y="1515358"/>
            <a:ext cx="5401978" cy="3809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463089-34EB-0D33-4837-84809697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7C9D61D-6FA3-3763-C84B-93B0D52BE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ГОСТ 19 «Единая система программной документации»</a:t>
            </a:r>
          </a:p>
          <a:p>
            <a:r>
              <a:rPr lang="ru-RU" b="1" dirty="0"/>
              <a:t>ГОСТ 34 «Стандарты на разработку и сопровождение автоматизированных систем»</a:t>
            </a:r>
          </a:p>
          <a:p>
            <a:r>
              <a:rPr lang="ru-RU" dirty="0"/>
              <a:t>Они ориентированы на </a:t>
            </a:r>
            <a:r>
              <a:rPr lang="ru-RU" b="1" dirty="0"/>
              <a:t>последовательный подход к разработке </a:t>
            </a:r>
            <a:r>
              <a:rPr lang="ru-RU" dirty="0"/>
              <a:t>ПО. Разработка в соответствии с этими стандартами проводится по этапам, каждый из которых предполагает выполнение строго определенных работ, и завершается выпуском достаточно большого числа весьма формализованных и обширных документов.</a:t>
            </a:r>
          </a:p>
          <a:p>
            <a:r>
              <a:rPr lang="ru-RU" i="1" dirty="0"/>
              <a:t>Таким образом, строгое следование этим гостам не только приводит к водопадному подходу, но и требует очень высокой степени </a:t>
            </a:r>
            <a:r>
              <a:rPr lang="ru-RU" i="1" dirty="0" err="1"/>
              <a:t>формализованности</a:t>
            </a:r>
            <a:r>
              <a:rPr lang="ru-RU" i="1" dirty="0"/>
              <a:t> разработки. На основе этих стандартов разрабатываются программные системы по госзаказам в России.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440CD9-E8FB-5C2F-3DE0-726D74F6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97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DBF2D-230D-559B-4678-5EDF4843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3897"/>
            <a:ext cx="9601200" cy="733425"/>
          </a:xfrm>
        </p:spPr>
        <p:txBody>
          <a:bodyPr>
            <a:normAutofit/>
          </a:bodyPr>
          <a:lstStyle/>
          <a:p>
            <a:r>
              <a:rPr lang="en-US" dirty="0"/>
              <a:t>SW-CMM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F6E17-DF74-871F-3C61-DA40CFBD7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154545"/>
            <a:ext cx="10173855" cy="532014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Capability Maturity Model for Software</a:t>
            </a:r>
            <a:r>
              <a:rPr lang="ru-RU" dirty="0"/>
              <a:t> – модель, которая определяет пять уровней зрелости процесса разработки ПО.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b="1" dirty="0"/>
              <a:t>Начальный</a:t>
            </a:r>
            <a:r>
              <a:rPr lang="ru-RU" dirty="0"/>
              <a:t> — процесс разработки носит хаотический характер. Определены лишь немногие из процессов, и успех проектов зависит от конкретных исполнителей.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b="1" dirty="0"/>
              <a:t>Повторяемый</a:t>
            </a:r>
            <a:r>
              <a:rPr lang="ru-RU" dirty="0"/>
              <a:t> — установлены основные процессы управления проектами: отслеживание затрат, сроков и функциональности. Упорядочены некоторые процессы, необходимые для того, чтобы повторить предыдущие достижения на аналогичных проектах.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b="1" dirty="0"/>
              <a:t>Определенный</a:t>
            </a:r>
            <a:r>
              <a:rPr lang="ru-RU" dirty="0"/>
              <a:t> — процессы разработки ПО и управления проектами описаны и внедрены в единую систему процессов компании. Во всех проектах используется стандартный для организации процесс разработки и поддержки программного обеспечения, адаптированный под конкретный проект.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b="1" dirty="0"/>
              <a:t>Управляемый</a:t>
            </a:r>
            <a:r>
              <a:rPr lang="ru-RU" dirty="0"/>
              <a:t> — собираются детальные количественные данные по функционированию процессов разработки и качеству конечного продукта. Анализируется значение и динамика этих данных.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b="1" dirty="0"/>
              <a:t>Оптимизируемый</a:t>
            </a:r>
            <a:r>
              <a:rPr lang="ru-RU" dirty="0"/>
              <a:t> — постоянное улучшение процессов основывается на количественных данных по процессам и на пробном внедрении новых идей и технологий.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5A217F-E92C-5397-1AAE-077B95B3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2170" y="6374670"/>
            <a:ext cx="1280630" cy="404614"/>
          </a:xfrm>
        </p:spPr>
        <p:txBody>
          <a:bodyPr/>
          <a:lstStyle/>
          <a:p>
            <a:fld id="{25A42088-C730-408A-A823-60BED1AFCEA0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92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F3EC0-5083-851F-2E0C-ECBF80C6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>
            <a:normAutofit/>
          </a:bodyPr>
          <a:lstStyle/>
          <a:p>
            <a:r>
              <a:rPr lang="ru-RU" dirty="0"/>
              <a:t>RUP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67E6A3D-602A-D1B0-0EC5-75F3D8EA7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Унифицированный процесс (</a:t>
            </a:r>
            <a:r>
              <a:rPr lang="en-US" sz="2400" b="1" dirty="0"/>
              <a:t>Rational Unified Process)</a:t>
            </a:r>
            <a:r>
              <a:rPr lang="ru-RU" sz="2400" dirty="0"/>
              <a:t>. Модель RUP описывает </a:t>
            </a:r>
            <a:r>
              <a:rPr lang="ru-RU" sz="2400" b="1" dirty="0"/>
              <a:t>абстрактный общий процесс</a:t>
            </a:r>
            <a:r>
              <a:rPr lang="ru-RU" sz="2400" dirty="0"/>
              <a:t>, на основе которого организация или проектная команда должна создать конкретный специализированный процесс, ориентированный на ее потребности. В результате такого общего построения RUP можно использовать и как основу для самого что ни на есть традиционного водопадного стиля разработки, так и в качестве гибкого процесса.</a:t>
            </a:r>
          </a:p>
          <a:p>
            <a:r>
              <a:rPr lang="ru-RU" sz="2400" i="1" dirty="0"/>
              <a:t>Неконкретность RUP вызывает основную критику — поскольку он может быть чем угодно, его нельзя считать ничем определенным.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A5A4B2-6A44-90BA-D38D-5DB4A321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2170" y="6374670"/>
            <a:ext cx="1280630" cy="404614"/>
          </a:xfrm>
        </p:spPr>
        <p:txBody>
          <a:bodyPr/>
          <a:lstStyle/>
          <a:p>
            <a:fld id="{25A42088-C730-408A-A823-60BED1AFCEA0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64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39713-676D-0F3F-8963-C296A798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380EF-6E03-AE97-E4DB-D92F85E2B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0235"/>
            <a:ext cx="9601200" cy="4931227"/>
          </a:xfrm>
        </p:spPr>
        <p:txBody>
          <a:bodyPr>
            <a:normAutofit/>
          </a:bodyPr>
          <a:lstStyle/>
          <a:p>
            <a:r>
              <a:rPr lang="ru-RU" sz="2800" b="1" dirty="0"/>
              <a:t>Microsoft Solutions Framework </a:t>
            </a:r>
            <a:r>
              <a:rPr lang="ru-RU" sz="2800" dirty="0"/>
              <a:t>— это гибкая и достаточно легковесная модель, построенная на основе итеративной разработки. Привлекательной особенностью MSF является большое внимание к созданию эффективной и </a:t>
            </a:r>
            <a:r>
              <a:rPr lang="ru-RU" sz="2800" dirty="0" err="1"/>
              <a:t>небюрократизированной</a:t>
            </a:r>
            <a:r>
              <a:rPr lang="ru-RU" sz="2800" dirty="0"/>
              <a:t> проектной команды. Для достижения этой цели MSF предлагает достаточно нестандартные подходы к организационной структуре, распределению ответственности и принципам взаимодействия внутри команды.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364AC5-B17F-693E-BBDF-E45A376D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26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AC8CB-D3AC-8A2A-0DF0-519150BB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464912-E0F8-D78C-C193-1F9756087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0235"/>
            <a:ext cx="9601200" cy="5236820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Personal Software Process </a:t>
            </a:r>
            <a:r>
              <a:rPr lang="ru-RU" dirty="0"/>
              <a:t>определяет требования к компетенциям разработчика.</a:t>
            </a:r>
          </a:p>
          <a:p>
            <a:r>
              <a:rPr lang="ru-RU" dirty="0"/>
              <a:t>Согласно этой модели каждый программист должен уметь: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учитывать время, затраченное на работу над проектом;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учитывать найденные дефекты;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классифицировать типы дефектов;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оценивать размер задачи;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осуществлять систематический подход к описанию результатов тестирования;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планировать программные задачи;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распределять их по времени и составлять график работы.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выполнять индивидуальную проверку проекта и архитектуры;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осуществлять индивидуальную проверку кода;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выполнять регрессионное тестирование.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0213C6-E21B-0303-6195-0D216FA6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65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CC3F7-C8AD-2E4F-4D43-C00BC693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en-US" dirty="0"/>
              <a:t>TSP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FFB696-68AE-21EA-4DCE-47A60BF5B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sz="2400" b="1" dirty="0"/>
              <a:t>Team Software Process </a:t>
            </a:r>
            <a:r>
              <a:rPr lang="ru-RU" sz="2400" dirty="0"/>
              <a:t>делает ставку на самоуправляемые команды численностью 3-20 разработчиков.</a:t>
            </a:r>
          </a:p>
          <a:p>
            <a:r>
              <a:rPr lang="ru-RU" sz="2400" dirty="0"/>
              <a:t>Команды должны: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установить собственные цели;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составить свой процесс и планы;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отслеживать работу;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поддерживать мотивацию и максимальную производительность.</a:t>
            </a:r>
          </a:p>
          <a:p>
            <a:r>
              <a:rPr lang="ru-RU" sz="2400" dirty="0"/>
              <a:t>Последовательное применение модели PSP/TSP позволяет сделать нормой в организации пятый уровень CMM.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0D9FAF-9E02-F37B-B849-BAFD114E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2170" y="6374670"/>
            <a:ext cx="1280630" cy="404614"/>
          </a:xfrm>
        </p:spPr>
        <p:txBody>
          <a:bodyPr/>
          <a:lstStyle/>
          <a:p>
            <a:fld id="{25A42088-C730-408A-A823-60BED1AFCEA0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60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96AB7-3E89-D588-6EEA-013D8BA7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616475-43D8-DB0A-930D-2BBFD586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err="1"/>
              <a:t>PMBoK</a:t>
            </a:r>
            <a:r>
              <a:rPr lang="ru-RU" dirty="0"/>
              <a:t>: временное предприятие, направленное на создание уникального продукта, услуги или результата.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ISO 21500: уникальный набор процессов, состоящих из скоординированных и управляемых задач с начальной и конечной датами, предпринятых для достижения цели.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DIN 69901: предприятие (намерение), которое в значительной степени характеризуется неповторимостью условий в их совокупности, например: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i="0" dirty="0"/>
              <a:t>задание цели;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i="0" dirty="0"/>
              <a:t>временные, финансовые, людские и другие ограничения;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i="0" dirty="0"/>
              <a:t>разграничения от других намерений;</a:t>
            </a:r>
          </a:p>
          <a:p>
            <a:pPr marL="987552" lvl="1" indent="-457200">
              <a:buFont typeface="+mj-lt"/>
              <a:buAutoNum type="arabicPeriod"/>
            </a:pPr>
            <a:r>
              <a:rPr lang="ru-RU" i="0" dirty="0"/>
              <a:t>специфическая для проекта организация его осуществления.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6EDD65-FFE1-D02E-51D0-26F56ABF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730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4D189-912D-5DB1-F6A4-D21CB65D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Следовательно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569D9FA2-DED5-A3D5-5E04-4EEF5E664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222459"/>
              </p:ext>
            </p:extLst>
          </p:nvPr>
        </p:nvGraphicFramePr>
        <p:xfrm>
          <a:off x="1371600" y="1506538"/>
          <a:ext cx="9601200" cy="4754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79DC72-DE5B-9DF2-0DF4-7898444B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16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2227C-1E02-8B5B-7CC7-62342801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A3CCF2-A644-ED82-336B-DFB82787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Операционная</a:t>
            </a:r>
          </a:p>
          <a:p>
            <a:pPr marL="873252" lvl="1" indent="-342900">
              <a:buFont typeface="Wingdings" panose="05000000000000000000" pitchFamily="2" charset="2"/>
              <a:buChar char="Ø"/>
            </a:pPr>
            <a:r>
              <a:rPr lang="ru-RU" sz="2400" i="0" dirty="0"/>
              <a:t>внешние условия хорошо известны и стабильны,</a:t>
            </a:r>
          </a:p>
          <a:p>
            <a:pPr marL="873252" lvl="1" indent="-342900">
              <a:buFont typeface="Wingdings" panose="05000000000000000000" pitchFamily="2" charset="2"/>
              <a:buChar char="Ø"/>
            </a:pPr>
            <a:r>
              <a:rPr lang="ru-RU" sz="2400" i="0" dirty="0"/>
              <a:t>производственные операции хорошо изучены и неоднократно испытаны,</a:t>
            </a:r>
          </a:p>
          <a:p>
            <a:pPr marL="873252" lvl="1" indent="-342900">
              <a:buFont typeface="Wingdings" panose="05000000000000000000" pitchFamily="2" charset="2"/>
              <a:buChar char="Ø"/>
            </a:pPr>
            <a:r>
              <a:rPr lang="ru-RU" sz="2400" i="0" dirty="0"/>
              <a:t>функции исполнителей определены и постоянны.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Проектная</a:t>
            </a:r>
          </a:p>
          <a:p>
            <a:pPr marL="873252" lvl="1" indent="-342900">
              <a:buFont typeface="Wingdings" panose="05000000000000000000" pitchFamily="2" charset="2"/>
              <a:buChar char="Ø"/>
            </a:pPr>
            <a:r>
              <a:rPr lang="ru-RU" sz="2400" i="0" dirty="0"/>
              <a:t>разрабатывается новый продукт, внешние условия и требования к которому постоянно меняются,</a:t>
            </a:r>
          </a:p>
          <a:p>
            <a:pPr marL="873252" lvl="1" indent="-342900">
              <a:buFont typeface="Wingdings" panose="05000000000000000000" pitchFamily="2" charset="2"/>
              <a:buChar char="Ø"/>
            </a:pPr>
            <a:r>
              <a:rPr lang="ru-RU" sz="2400" i="0" dirty="0"/>
              <a:t>применяемые производственные технологии используются впервые,</a:t>
            </a:r>
          </a:p>
          <a:p>
            <a:pPr marL="873252" lvl="1" indent="-342900">
              <a:buFont typeface="Wingdings" panose="05000000000000000000" pitchFamily="2" charset="2"/>
              <a:buChar char="Ø"/>
            </a:pPr>
            <a:r>
              <a:rPr lang="ru-RU" sz="2400" i="0" dirty="0"/>
              <a:t>постоянно требуются поиск новых возможностей, интеллектуальные усилия и творчество.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AE1C0E-D769-4EC6-9211-2D9CDFF1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64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FD94C-EDE2-B04C-86B2-4E6C3132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проектом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5EEBBD-0588-B7E3-B6C3-3014AD534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Управление проектом </a:t>
            </a:r>
            <a:r>
              <a:rPr lang="ru-RU" sz="2400" dirty="0"/>
              <a:t>— это приложение знаний, навыков, инструментов и методов к работам проекта для удовлетворения требований, предъявляемых к проекту (</a:t>
            </a:r>
            <a:r>
              <a:rPr lang="ru-RU" sz="2400" dirty="0" err="1"/>
              <a:t>PMBoK</a:t>
            </a:r>
            <a:r>
              <a:rPr lang="ru-RU" sz="2400" dirty="0"/>
              <a:t>). </a:t>
            </a:r>
          </a:p>
          <a:p>
            <a:r>
              <a:rPr lang="ru-RU" sz="2400" b="1" dirty="0"/>
              <a:t>Управление проектом </a:t>
            </a:r>
            <a:r>
              <a:rPr lang="ru-RU" sz="2400" dirty="0"/>
              <a:t>— дисциплина планирования, организации и управления ресурсами с целью успешного достижения целей проекта.</a:t>
            </a:r>
          </a:p>
          <a:p>
            <a:r>
              <a:rPr lang="ru-RU" sz="2400" b="1" dirty="0"/>
              <a:t>Управление проектом </a:t>
            </a:r>
            <a:r>
              <a:rPr lang="ru-RU" sz="2400" dirty="0"/>
              <a:t>— применение знаний, навыков, инструментов и методов для планирования и реализации действий, направленных на достижение поставленной цели в рамках проектных требований.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731240-404B-1F88-5626-325DF157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0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DCDD0-1768-3C21-0AAB-BFD78E7C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01D179-D61E-5FC7-DDE4-B32E572F7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i="1" dirty="0"/>
              <a:t>Проектная деятельность относится к сферам деятельности с высокими рисками. Это означает, что в любой момент, на любом этапе, при выполнении любой работы может возникнуть ситуация, которая вынудит действовать не по ранее сформированному плану, а совсем иначе.</a:t>
            </a:r>
          </a:p>
          <a:p>
            <a:r>
              <a:rPr lang="ru-RU" sz="2400" b="1" dirty="0"/>
              <a:t>Риск</a:t>
            </a:r>
            <a:r>
              <a:rPr lang="ru-RU" sz="2400" dirty="0"/>
              <a:t> - неопределенное событие или условие, наступление которого может иметь как </a:t>
            </a:r>
            <a:r>
              <a:rPr lang="ru-RU" sz="2400" u="sng" dirty="0"/>
              <a:t>положительное</a:t>
            </a:r>
            <a:r>
              <a:rPr lang="ru-RU" sz="2400" dirty="0"/>
              <a:t>, так и </a:t>
            </a:r>
            <a:r>
              <a:rPr lang="ru-RU" sz="2400" u="sng" dirty="0"/>
              <a:t>отрицательное</a:t>
            </a:r>
            <a:r>
              <a:rPr lang="ru-RU" sz="2400" dirty="0"/>
              <a:t> влияние на проект 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A5D0AF-CE58-328D-D35F-883EBC74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80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30A25-88B2-A1A6-1379-8B51A081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и последствия риска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55C8E-6BAA-76DA-65C0-9BF09F8BF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Причины могут вызвать с некоторой вероятностью событие - в том и состоит риск, что это событие может как произойти, так и не произойти.</a:t>
            </a:r>
          </a:p>
          <a:p>
            <a:r>
              <a:rPr lang="ru-RU" sz="2400" dirty="0"/>
              <a:t>Если событие, связанное с риском, произошло, то могут наступить (а могут и не наступить) последствия - отклонение от запланированных целей проекта.</a:t>
            </a:r>
          </a:p>
          <a:p>
            <a:r>
              <a:rPr lang="ru-RU" sz="2400" dirty="0"/>
              <a:t>Всегда существует не просто риск, а цепочка:</a:t>
            </a:r>
          </a:p>
          <a:p>
            <a:pPr algn="ctr"/>
            <a:r>
              <a:rPr lang="ru-RU" sz="2800" b="1" dirty="0"/>
              <a:t>Причина риска -&gt; Риск -&gt; Последствие риска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B49AF4-E778-3318-0E38-CC2E7F94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929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5906B-3F7B-78B0-6CA6-9AF47A9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Стратегии реагирования на риск может быть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CA5EB-E5F9-2989-E8CC-BAD57B8B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Избежание</a:t>
            </a:r>
            <a:r>
              <a:rPr lang="ru-RU" sz="2400" dirty="0"/>
              <a:t>, исключение (</a:t>
            </a:r>
            <a:r>
              <a:rPr lang="ru-RU" sz="2400" dirty="0" err="1"/>
              <a:t>Avoid</a:t>
            </a:r>
            <a:r>
              <a:rPr lang="ru-RU" sz="2400" dirty="0"/>
              <a:t>) - устранение неопределенности, порождающей риск в проекте.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Снижение</a:t>
            </a:r>
            <a:r>
              <a:rPr lang="ru-RU" sz="2400" dirty="0"/>
              <a:t> (</a:t>
            </a:r>
            <a:r>
              <a:rPr lang="ru-RU" sz="2400" dirty="0" err="1"/>
              <a:t>Mitigate</a:t>
            </a:r>
            <a:r>
              <a:rPr lang="ru-RU" sz="2400" dirty="0"/>
              <a:t>) - проведение мероприятий по уменьшению вероятности возникновения или воздействия риска.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Принятие</a:t>
            </a:r>
            <a:r>
              <a:rPr lang="ru-RU" sz="2400" dirty="0"/>
              <a:t> (</a:t>
            </a:r>
            <a:r>
              <a:rPr lang="ru-RU" sz="2400" dirty="0" err="1"/>
              <a:t>Асcept</a:t>
            </a:r>
            <a:r>
              <a:rPr lang="ru-RU" sz="2400" dirty="0"/>
              <a:t>) - сохранение ответственности за риск, признание всех отрицательных последствий, никакие действия до наступления риска не предпринимаются.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Передача</a:t>
            </a:r>
            <a:r>
              <a:rPr lang="ru-RU" sz="2400" dirty="0"/>
              <a:t> (Transfer) - перевод последствий наступления угрозы вместе с ответственностью за реагирование на третью сторону, страхование рисков.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11A57-20C6-0DE7-F358-85375FEC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681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C99D5-D67C-A4C8-B254-2C615B22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2E62AC-5AF8-E925-C439-247A328D0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Основные виды ресурсов в проекте: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800" dirty="0"/>
              <a:t>Время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800" dirty="0"/>
              <a:t>Бюджет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800" dirty="0"/>
              <a:t>Персонал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800" dirty="0"/>
              <a:t>Используемое оборудование, инструменты, материалы, и т.п.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925376-5FC0-B02D-3F6A-FCBDAADB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168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526B4-A0A5-53EB-939E-2B2416AC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Проектная группа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987DAC-48FF-D49D-93F1-E68D884BE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Проектная группа </a:t>
            </a:r>
            <a:r>
              <a:rPr lang="ru-RU" sz="2400" dirty="0"/>
              <a:t>(</a:t>
            </a:r>
            <a:r>
              <a:rPr lang="ru-RU" sz="2400" dirty="0" err="1"/>
              <a:t>development</a:t>
            </a:r>
            <a:r>
              <a:rPr lang="ru-RU" sz="2400" dirty="0"/>
              <a:t> </a:t>
            </a:r>
            <a:r>
              <a:rPr lang="ru-RU" sz="2400" dirty="0" err="1"/>
              <a:t>team</a:t>
            </a:r>
            <a:r>
              <a:rPr lang="ru-RU" sz="2400" dirty="0"/>
              <a:t>) – сообщество работающих над проектом людей, объединённых с целью создания качественного программного продукта в ограниченные сроки в рамках отведённого бюджета. В такой группе у каждого сотрудника своя роль. Существует стандартный набор функций, выполняемых членами проектной группы.</a:t>
            </a:r>
          </a:p>
          <a:p>
            <a:r>
              <a:rPr lang="ru-RU" sz="2400" i="1" dirty="0"/>
              <a:t>Для простоты предполагается, что каждая роль принадлежит отдельному сотруднику. На практике в большинстве организаций сотрудники часто выполняют несколько функций.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0012EB-FDFB-6065-3469-57BBE74F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01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C8259-C4F3-80DE-95C1-A202128A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проектной группы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2B9A2-7469-A66F-CE8F-2B8C1817A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Модель проектной группы – структура, позволяющая контролировать постоянно меняющиеся требования в проекте, который ведёт группа проекта. </a:t>
            </a:r>
          </a:p>
          <a:p>
            <a:r>
              <a:rPr lang="ru-RU" dirty="0"/>
              <a:t>Модель группы проекта: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вводит понятие роли для всех участников группы;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даёт чёткое определение зон ответственности каждой роли;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определяет активность роли в течение всего жизненного цикла. </a:t>
            </a:r>
          </a:p>
          <a:p>
            <a:r>
              <a:rPr lang="ru-RU" dirty="0"/>
              <a:t>Модель построена вокруг идеи маленькой группы участников, работающих </a:t>
            </a:r>
            <a:r>
              <a:rPr lang="ru-RU"/>
              <a:t>в тесной </a:t>
            </a:r>
            <a:r>
              <a:rPr lang="ru-RU" dirty="0"/>
              <a:t>взаимосвязи, каждый из которых выполняет свои роли.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A044FF-B624-77A2-B8BF-BA7E8BAE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86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94398-41BD-9D91-C4A7-FDD74984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группы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58B76B-1938-9F39-34B2-1029EB473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800" dirty="0"/>
              <a:t>Общение каждого с каждым, причём каждый делает реальную работу.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Общие для всех членов группы цели и планы.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Каждый понимает как проблемы пользователя, так и проблемы разработчика.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Каждый несёт ответственность за свою работу перед группой. </a:t>
            </a:r>
          </a:p>
          <a:p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130ABB-70F6-A39C-4037-08E1EE7A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583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29055-A73F-D82A-67BF-B642B065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участники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2B5DA8-5314-1EDF-2F0F-931E5DD7FE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1. Менеджер по маркетингу – </a:t>
            </a:r>
            <a:r>
              <a:rPr lang="en-US" sz="2400" dirty="0"/>
              <a:t>Product manager. </a:t>
            </a:r>
          </a:p>
          <a:p>
            <a:r>
              <a:rPr lang="en-US" sz="2400" dirty="0"/>
              <a:t>2. </a:t>
            </a:r>
            <a:r>
              <a:rPr lang="ru-RU" sz="2400" dirty="0"/>
              <a:t>Руководитель проекта – </a:t>
            </a:r>
            <a:r>
              <a:rPr lang="en-US" sz="2400" dirty="0"/>
              <a:t>Program manager. </a:t>
            </a:r>
          </a:p>
          <a:p>
            <a:r>
              <a:rPr lang="en-US" sz="2400" dirty="0"/>
              <a:t>3. </a:t>
            </a:r>
            <a:r>
              <a:rPr lang="ru-RU" sz="2400" dirty="0"/>
              <a:t>Разработчик – </a:t>
            </a:r>
            <a:r>
              <a:rPr lang="en-US" sz="2400" dirty="0"/>
              <a:t>Developer. </a:t>
            </a:r>
          </a:p>
          <a:p>
            <a:r>
              <a:rPr lang="en-US" sz="2400" dirty="0"/>
              <a:t>4. </a:t>
            </a:r>
            <a:r>
              <a:rPr lang="ru-RU" sz="2400" dirty="0"/>
              <a:t>Тестер – </a:t>
            </a:r>
            <a:r>
              <a:rPr lang="en-US" sz="2400" dirty="0"/>
              <a:t>Tester. </a:t>
            </a:r>
          </a:p>
          <a:p>
            <a:r>
              <a:rPr lang="en-US" sz="2400" dirty="0"/>
              <a:t>5. </a:t>
            </a:r>
            <a:r>
              <a:rPr lang="ru-RU" sz="2400" dirty="0"/>
              <a:t>Технический писатель – </a:t>
            </a:r>
            <a:r>
              <a:rPr lang="en-US" sz="2400" dirty="0"/>
              <a:t>Writer. </a:t>
            </a:r>
          </a:p>
          <a:p>
            <a:r>
              <a:rPr lang="en-US" sz="2400" dirty="0"/>
              <a:t>6. </a:t>
            </a:r>
            <a:r>
              <a:rPr lang="ru-RU" sz="2400" dirty="0"/>
              <a:t>Логистик – </a:t>
            </a:r>
            <a:r>
              <a:rPr lang="en-US" sz="2400" dirty="0"/>
              <a:t>Logistic.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129F2E-2127-8D85-843A-3E5A46AD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BC5F560-B4DA-08AE-576E-18521550B3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616" y="1712970"/>
            <a:ext cx="4426602" cy="2905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9254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5F126-A38F-9D36-CD90-D3F23921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Руководитель проекта – </a:t>
            </a:r>
            <a:r>
              <a:rPr lang="en-US" dirty="0"/>
              <a:t>Program manager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43221-36A6-8182-A2F2-A0BE51584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/>
              <a:t>Software </a:t>
            </a:r>
            <a:r>
              <a:rPr lang="ru-RU" sz="2400" b="1" dirty="0" err="1"/>
              <a:t>development</a:t>
            </a:r>
            <a:r>
              <a:rPr lang="ru-RU" sz="2400" b="1" dirty="0"/>
              <a:t> </a:t>
            </a:r>
            <a:r>
              <a:rPr lang="ru-RU" sz="2400" b="1" dirty="0" err="1"/>
              <a:t>manager</a:t>
            </a:r>
            <a:r>
              <a:rPr lang="ru-RU" sz="2400" b="1" dirty="0"/>
              <a:t>, Project </a:t>
            </a:r>
            <a:r>
              <a:rPr lang="ru-RU" sz="2400" b="1" dirty="0" err="1"/>
              <a:t>manager</a:t>
            </a:r>
            <a:r>
              <a:rPr lang="ru-RU" sz="2400" b="1" dirty="0"/>
              <a:t>, </a:t>
            </a:r>
            <a:r>
              <a:rPr lang="ru-RU" sz="2400" b="1" dirty="0" err="1"/>
              <a:t>Producer</a:t>
            </a:r>
            <a:endParaRPr lang="ru-RU" sz="2400" b="1" dirty="0"/>
          </a:p>
          <a:p>
            <a:r>
              <a:rPr lang="ru-RU" sz="2400" dirty="0"/>
              <a:t>Руководитель проекта отвечает за разработку качественного продукта в срок и в рамках установленного бюджета. Основные виды деятельности: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планирование работы и составление бюджета;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принятие критичных для хода проекта решений;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ведение графика проекта и обеспечение соблюдения сроков;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координирование работ (управление взаимоотношениями) в группе;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управление функциональными спецификациями (техническими заданиями). 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73F18F-EEFF-D44A-10F1-65B767A6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155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4B65D-BB31-94B6-9B76-FAD42739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Менеджер по маркетингу – Product </a:t>
            </a:r>
            <a:r>
              <a:rPr lang="ru-RU" dirty="0" err="1"/>
              <a:t>manager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C5F844-F3FB-932C-CD67-EC5F17C2C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Product </a:t>
            </a:r>
            <a:r>
              <a:rPr lang="ru-RU" sz="2400" b="1" dirty="0" err="1"/>
              <a:t>marketing</a:t>
            </a:r>
            <a:r>
              <a:rPr lang="ru-RU" sz="2400" b="1" dirty="0"/>
              <a:t> </a:t>
            </a:r>
            <a:r>
              <a:rPr lang="ru-RU" sz="2400" b="1" dirty="0" err="1"/>
              <a:t>manager</a:t>
            </a:r>
            <a:endParaRPr lang="ru-RU" sz="2400" b="1" dirty="0"/>
          </a:p>
          <a:p>
            <a:r>
              <a:rPr lang="ru-RU" sz="2400" dirty="0"/>
              <a:t>Менеджер по маркетингу отвечает за соответствие продукта фирменному стилю своей компании и за маркетинговую деятельность после выпуска. </a:t>
            </a:r>
          </a:p>
          <a:p>
            <a:r>
              <a:rPr lang="ru-RU" sz="2400" dirty="0"/>
              <a:t>Это вопросы, связанные с рекламой, распространением новых версий, обучением продавцов и дилеров, расчётом рентабельности продукта, определением потребностей рынка программных продуктов и т.п.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B2DF11-B2BE-7312-4D83-F660EA67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830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FA44D-8409-673E-9600-55103960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Разработчик архитектуры – </a:t>
            </a:r>
            <a:r>
              <a:rPr lang="en-US" dirty="0"/>
              <a:t>Architect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BCCFDF-5ACD-4775-1A54-612B99351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Архитектор</a:t>
            </a:r>
            <a:r>
              <a:rPr lang="ru-RU" dirty="0"/>
              <a:t> отвечает за архитектуру продукта, которая понятна, проста, эффективна, надёжна и поддаётся модификации.</a:t>
            </a:r>
          </a:p>
          <a:p>
            <a:r>
              <a:rPr lang="ru-RU" dirty="0"/>
              <a:t>Архитектура – это описание структуры ПС. При проектировании архитектуры определяют подсистемы, а также управление подсистемами и их взаимодействие. Задачи архитектора: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определение общей архитектуры системы (кода и данных);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определение принципов обмена данными между связанными компонентами;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определение стратегии разработки повторно используемых компонент;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составление плана тестирования </a:t>
            </a:r>
            <a:r>
              <a:rPr lang="ru-RU" dirty="0" err="1"/>
              <a:t>чѐрного</a:t>
            </a:r>
            <a:r>
              <a:rPr lang="ru-RU" dirty="0"/>
              <a:t> ящика на самом верхнем уровне;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разработка тестов, проверяющих соответствие кода техническому заданию.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48F401-D667-957A-46FE-B3E311F7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18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6523C-3DDF-5C5F-1126-429B762F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Аналитик предметной области – Software </a:t>
            </a:r>
            <a:r>
              <a:rPr lang="ru-RU" dirty="0" err="1"/>
              <a:t>analyst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E46342-47C2-5DDA-FDA0-86C882E85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Subject</a:t>
            </a:r>
            <a:r>
              <a:rPr lang="ru-RU" b="1" dirty="0"/>
              <a:t> </a:t>
            </a:r>
            <a:r>
              <a:rPr lang="ru-RU" b="1" dirty="0" err="1"/>
              <a:t>matter</a:t>
            </a:r>
            <a:endParaRPr lang="ru-RU" b="1" dirty="0"/>
          </a:p>
          <a:p>
            <a:r>
              <a:rPr lang="ru-RU" dirty="0"/>
              <a:t>Аналитик отвечает за правильность понимания решаемых задач.</a:t>
            </a:r>
          </a:p>
          <a:p>
            <a:r>
              <a:rPr lang="ru-RU" dirty="0"/>
              <a:t>Задачи аналитика: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обеспечение связи между заказчиком и проектной группой;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понимание того, что хотят пользователи;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понимание того, как выразить желания пользователя в терминах, понятных участникам проектной группы;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разработка логики работы программного продукта;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составление рабочих спецификаций (детальных технических заданий).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551B83-16DF-0C48-5F31-B7039DEE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671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38E72C-05BF-8665-241D-6712B90F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6538"/>
            <a:ext cx="9998364" cy="733697"/>
          </a:xfrm>
        </p:spPr>
        <p:txBody>
          <a:bodyPr>
            <a:normAutofit fontScale="90000"/>
          </a:bodyPr>
          <a:lstStyle/>
          <a:p>
            <a:r>
              <a:rPr lang="ru-RU" dirty="0"/>
              <a:t>Специалист по интерфейсу – User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designer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49635-4A3A-88B9-0E0F-6E5166C2E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Разработчик интерфейса</a:t>
            </a:r>
            <a:r>
              <a:rPr lang="ru-RU" sz="2400" dirty="0"/>
              <a:t> отвечает за удобство и функциональное соответствие пользовательского интерфейса. Обычно интерфейс пользователя создаёт сбалансированная группа из специалистов по психологии, эргономике, компьютерной графике и программированию, но всю полноту ответственности несёт только один человек.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82793F-B7D0-7008-3D56-ED112C9F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004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6C66D-767C-0167-9307-7DADFEE3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Программист – </a:t>
            </a:r>
            <a:r>
              <a:rPr lang="en-US" dirty="0"/>
              <a:t>Programmer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B93B1D-55F9-4BBF-242C-4120238D3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Программист</a:t>
            </a:r>
            <a:r>
              <a:rPr lang="ru-RU" dirty="0"/>
              <a:t> отвечает за надёжный и полный продукт. Программисты занимаются разработкой определённой части продукта, которая от-носится к внутренней архитектуре.</a:t>
            </a:r>
          </a:p>
          <a:p>
            <a:r>
              <a:rPr lang="ru-RU" dirty="0"/>
              <a:t>Задачи программиста: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создание продукта, удовлетворяющего техническому заданию;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тестирование белого ящика (обеспечение качества кода);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обеспечение срока разработки кода;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обеспечение установки программного продукта.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6496D2-4E3B-9D83-D7A9-5AB0BB7B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815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97AC1-1DC9-3686-AA6D-1A0772BD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Тестер – </a:t>
            </a:r>
            <a:r>
              <a:rPr lang="en-US" dirty="0"/>
              <a:t>Tester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88C80-FD2D-B8D2-39DE-47DED30DD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Тестер</a:t>
            </a:r>
            <a:r>
              <a:rPr lang="ru-RU" dirty="0"/>
              <a:t> отвечает за согласованный и надёжный продукт. Тестер может относиться к группе разработчиков или нет. Тестер обеспечивает то, что все особенности продукта будут известны до выпуска завершающей версии</a:t>
            </a:r>
          </a:p>
          <a:p>
            <a:r>
              <a:rPr lang="ru-RU" dirty="0"/>
              <a:t>Задачи тестера: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разработка стратегии и плана тестирования каждого этапа жизненного цикла;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верификация на каждом этапе жизненного цикла (деталей продукта, используемой терминологии, функциональных спецификаций, кода, пользовательского интерфейса);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комплексное тестирование проекта;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документирование результатов тестирования.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93C1D1-54C0-2708-66BA-23FF4D33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5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6861E-8719-3B61-7E12-0E049CFB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Технический писатель – </a:t>
            </a:r>
            <a:r>
              <a:rPr lang="en-US" dirty="0"/>
              <a:t>Writer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2F15B-8DF4-E035-A290-4827897AB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Технический писатель </a:t>
            </a:r>
            <a:r>
              <a:rPr lang="ru-RU" dirty="0"/>
              <a:t>отвечает за продукт, который можно использовать и сопровождать.</a:t>
            </a:r>
          </a:p>
          <a:p>
            <a:r>
              <a:rPr lang="ru-RU" dirty="0"/>
              <a:t>Задачи представителей группы документирования: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разработка документации (всевозможные инструкции и руководства), кото-рая помогает сделать ПС понятным для пользователей и всех разработчиков;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ведение глоссария (определение единой терминологии);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обучение пользователей.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F9589F-ECB6-C22F-3DE4-A782DC52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038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6539B-2674-ACB2-1587-A4108C6C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Представитель группы технической поддержки – </a:t>
            </a:r>
            <a:r>
              <a:rPr lang="ru-RU" dirty="0" err="1"/>
              <a:t>Logistic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F8EB48-9566-B72B-A731-337EC486F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8727"/>
            <a:ext cx="9601200" cy="4552735"/>
          </a:xfrm>
        </p:spPr>
        <p:txBody>
          <a:bodyPr/>
          <a:lstStyle/>
          <a:p>
            <a:r>
              <a:rPr lang="ru-RU" dirty="0" err="1"/>
              <a:t>Technical</a:t>
            </a:r>
            <a:r>
              <a:rPr lang="ru-RU" dirty="0"/>
              <a:t> </a:t>
            </a:r>
            <a:r>
              <a:rPr lang="ru-RU" dirty="0" err="1"/>
              <a:t>support</a:t>
            </a:r>
            <a:endParaRPr lang="ru-RU" dirty="0"/>
          </a:p>
          <a:p>
            <a:r>
              <a:rPr lang="ru-RU" dirty="0"/>
              <a:t>Логистик отвечает за гладкое внедрение продукта. Это может быть один человек или руководитель целой группы сотрудников, который непосредственно контактирует с пользователями.</a:t>
            </a:r>
          </a:p>
          <a:p>
            <a:r>
              <a:rPr lang="ru-RU" dirty="0"/>
              <a:t>Задачи представителя группы технической поддержки: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обеспечение готовности заказчика к внедрению (контроль своевременности выполнения подготовительных работ, проверка наличия необходимой инфраструктуры);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администрирование локальной сети (если необходимо);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отслеживание запросов на расширение функциональных возможностей.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A8BA9C-CC96-16FE-5EAE-7AAA3BB0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979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6775" y="1506583"/>
            <a:ext cx="11191875" cy="4754879"/>
          </a:xfrm>
        </p:spPr>
        <p:txBody>
          <a:bodyPr numCol="2">
            <a:normAutofit lnSpcReduction="10000"/>
          </a:bodyPr>
          <a:lstStyle/>
          <a:p>
            <a:r>
              <a:rPr lang="ru-RU" dirty="0"/>
              <a:t>Вы проектная команда из 9 ролей (поделитесь поровну).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Руководитель проекта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Менеджер по маркетингу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Разработчик архитектуры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Аналитик предметной  области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Дизайнер/разработчик интерфейса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Программист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Тестировщик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Технический писатель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Тех. поддержка и внедрение (Логист)</a:t>
            </a:r>
          </a:p>
          <a:p>
            <a:endParaRPr lang="ru-RU" dirty="0"/>
          </a:p>
          <a:p>
            <a:r>
              <a:rPr lang="ru-RU" dirty="0"/>
              <a:t>Вам пришла в голову на очередной планерке гениальная идея нового проекта:</a:t>
            </a:r>
          </a:p>
          <a:p>
            <a:r>
              <a:rPr lang="ru-RU" dirty="0"/>
              <a:t>«Интернет-магазин зонтиков для аквариумных рыбок». Все с энтузиазмом согласились и приступили к проекту.</a:t>
            </a:r>
          </a:p>
          <a:p>
            <a:endParaRPr lang="ru-RU" dirty="0"/>
          </a:p>
          <a:p>
            <a:r>
              <a:rPr lang="ru-RU" dirty="0"/>
              <a:t> Однако по какой-то причине через 3 месяца команда распалась. Люди увольнялись от 9 номера к 1. Пусть в этом порядке каждая роль расскажет: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Почему они правы, </a:t>
            </a:r>
            <a:r>
              <a:rPr lang="ru-RU"/>
              <a:t>что уволились</a:t>
            </a: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Что остальные роли сделали не так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В чем в целом проект плох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674588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374</TotalTime>
  <Words>1975</Words>
  <Application>Microsoft Office PowerPoint</Application>
  <PresentationFormat>Широкоэкранный</PresentationFormat>
  <Paragraphs>215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Calibri</vt:lpstr>
      <vt:lpstr>Franklin Gothic Book</vt:lpstr>
      <vt:lpstr>Georgia</vt:lpstr>
      <vt:lpstr>Wingdings</vt:lpstr>
      <vt:lpstr>Уголки</vt:lpstr>
      <vt:lpstr>Лекция 15    Модели процессов разработки. Управление проектом</vt:lpstr>
      <vt:lpstr>Модели процессов разработки</vt:lpstr>
      <vt:lpstr>ГОСТы</vt:lpstr>
      <vt:lpstr>SW-CMM</vt:lpstr>
      <vt:lpstr>RUP</vt:lpstr>
      <vt:lpstr>MSF</vt:lpstr>
      <vt:lpstr>PSP</vt:lpstr>
      <vt:lpstr>TSP</vt:lpstr>
      <vt:lpstr>Проект</vt:lpstr>
      <vt:lpstr>Следовательно</vt:lpstr>
      <vt:lpstr>Виды деятельности</vt:lpstr>
      <vt:lpstr>Управление проектом</vt:lpstr>
      <vt:lpstr>Риски проекта</vt:lpstr>
      <vt:lpstr>Причины и последствия риска</vt:lpstr>
      <vt:lpstr>Стратегии реагирования на риск может быть</vt:lpstr>
      <vt:lpstr>Ресурсы проекта</vt:lpstr>
      <vt:lpstr>Проектная группа</vt:lpstr>
      <vt:lpstr>Модель проектной группы</vt:lpstr>
      <vt:lpstr>Характеристики группы проекта</vt:lpstr>
      <vt:lpstr>Основные участники проекта</vt:lpstr>
      <vt:lpstr>Руководитель проекта – Program manager</vt:lpstr>
      <vt:lpstr>Менеджер по маркетингу – Product manager</vt:lpstr>
      <vt:lpstr>Разработчик архитектуры – Architect</vt:lpstr>
      <vt:lpstr>Аналитик предметной области – Software analyst</vt:lpstr>
      <vt:lpstr>Специалист по интерфейсу – User interface designer</vt:lpstr>
      <vt:lpstr>Программист – Programmer</vt:lpstr>
      <vt:lpstr>Тестер – Tester</vt:lpstr>
      <vt:lpstr>Технический писатель – Writer</vt:lpstr>
      <vt:lpstr>Представитель группы технической поддержки – Logistic</vt:lpstr>
      <vt:lpstr>Практическое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10</cp:revision>
  <dcterms:created xsi:type="dcterms:W3CDTF">2023-09-01T22:02:12Z</dcterms:created>
  <dcterms:modified xsi:type="dcterms:W3CDTF">2025-11-24T11:05:02Z</dcterms:modified>
</cp:coreProperties>
</file>