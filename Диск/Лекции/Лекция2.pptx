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95" r:id="rId1"/>
  </p:sldMasterIdLst>
  <p:notesMasterIdLst>
    <p:notesMasterId r:id="rId41"/>
  </p:notesMasterIdLst>
  <p:sldIdLst>
    <p:sldId id="256" r:id="rId2"/>
    <p:sldId id="310" r:id="rId3"/>
    <p:sldId id="311" r:id="rId4"/>
    <p:sldId id="319" r:id="rId5"/>
    <p:sldId id="303" r:id="rId6"/>
    <p:sldId id="316" r:id="rId7"/>
    <p:sldId id="320" r:id="rId8"/>
    <p:sldId id="306" r:id="rId9"/>
    <p:sldId id="313" r:id="rId10"/>
    <p:sldId id="314" r:id="rId11"/>
    <p:sldId id="321" r:id="rId12"/>
    <p:sldId id="312" r:id="rId13"/>
    <p:sldId id="304" r:id="rId14"/>
    <p:sldId id="317" r:id="rId15"/>
    <p:sldId id="322" r:id="rId16"/>
    <p:sldId id="323"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7" r:id="rId34"/>
    <p:sldId id="324" r:id="rId35"/>
    <p:sldId id="325" r:id="rId36"/>
    <p:sldId id="326" r:id="rId37"/>
    <p:sldId id="327" r:id="rId38"/>
    <p:sldId id="278" r:id="rId39"/>
    <p:sldId id="282"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27102A9-8310-4765-A935-A1911B00CA55}" styleName="Светлый стиль 1 — акцент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40" autoAdjust="0"/>
    <p:restoredTop sz="94660"/>
  </p:normalViewPr>
  <p:slideViewPr>
    <p:cSldViewPr snapToGrid="0">
      <p:cViewPr varScale="1">
        <p:scale>
          <a:sx n="82" d="100"/>
          <a:sy n="82" d="100"/>
        </p:scale>
        <p:origin x="67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B9F18C-B0EF-4C3B-831E-15C3CF792C09}" type="datetimeFigureOut">
              <a:rPr lang="ru-RU" smtClean="0"/>
              <a:t>05.09.2025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D3E470-2E3C-4AB4-A461-A838E60D5F10}" type="slidenum">
              <a:rPr lang="ru-RU" smtClean="0"/>
              <a:t>‹#›</a:t>
            </a:fld>
            <a:endParaRPr lang="ru-RU"/>
          </a:p>
        </p:txBody>
      </p:sp>
    </p:spTree>
    <p:extLst>
      <p:ext uri="{BB962C8B-B14F-4D97-AF65-F5344CB8AC3E}">
        <p14:creationId xmlns:p14="http://schemas.microsoft.com/office/powerpoint/2010/main" val="725914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none" baseline="0">
                <a:solidFill>
                  <a:schemeClr val="tx2"/>
                </a:solidFill>
              </a:defRPr>
            </a:lvl1pPr>
          </a:lstStyle>
          <a:p>
            <a:r>
              <a:rPr lang="ru-RU" dirty="0"/>
              <a:t>Образец заголовка</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sz="1400" baseline="0">
                <a:solidFill>
                  <a:schemeClr val="tx2"/>
                </a:solidFill>
              </a:defRPr>
            </a:lvl1pPr>
          </a:lstStyle>
          <a:p>
            <a:fld id="{9B847151-7B89-4AA2-9004-303F36CA5A25}" type="datetime1">
              <a:rPr lang="ru-RU" smtClean="0"/>
              <a:t>05.09.2025</a:t>
            </a:fld>
            <a:endParaRPr lang="ru-RU" dirty="0"/>
          </a:p>
        </p:txBody>
      </p:sp>
      <p:sp>
        <p:nvSpPr>
          <p:cNvPr id="5" name="Footer Placeholder 4"/>
          <p:cNvSpPr>
            <a:spLocks noGrp="1"/>
          </p:cNvSpPr>
          <p:nvPr>
            <p:ph type="ftr" sz="quarter" idx="11"/>
          </p:nvPr>
        </p:nvSpPr>
        <p:spPr>
          <a:xfrm>
            <a:off x="2584054" y="6453386"/>
            <a:ext cx="7023377" cy="404614"/>
          </a:xfrm>
        </p:spPr>
        <p:txBody>
          <a:bodyPr/>
          <a:lstStyle>
            <a:lvl1pPr algn="ctr">
              <a:defRPr sz="1400" baseline="0">
                <a:solidFill>
                  <a:schemeClr val="tx2"/>
                </a:solidFill>
              </a:defRPr>
            </a:lvl1pPr>
          </a:lstStyle>
          <a:p>
            <a:endParaRPr lang="ru-RU" dirty="0"/>
          </a:p>
        </p:txBody>
      </p:sp>
      <p:sp>
        <p:nvSpPr>
          <p:cNvPr id="6" name="Slide Number Placeholder 5"/>
          <p:cNvSpPr>
            <a:spLocks noGrp="1"/>
          </p:cNvSpPr>
          <p:nvPr>
            <p:ph type="sldNum" sz="quarter" idx="12"/>
          </p:nvPr>
        </p:nvSpPr>
        <p:spPr>
          <a:xfrm>
            <a:off x="9830683" y="6453386"/>
            <a:ext cx="1596292" cy="404614"/>
          </a:xfrm>
        </p:spPr>
        <p:txBody>
          <a:bodyPr/>
          <a:lstStyle>
            <a:lvl1pPr>
              <a:defRPr sz="2800" baseline="0">
                <a:solidFill>
                  <a:schemeClr val="tx2"/>
                </a:solidFill>
              </a:defRPr>
            </a:lvl1pPr>
          </a:lstStyle>
          <a:p>
            <a:fld id="{25A42088-C730-408A-A823-60BED1AFCEA0}" type="slidenum">
              <a:rPr lang="ru-RU" smtClean="0"/>
              <a:pPr/>
              <a:t>‹#›</a:t>
            </a:fld>
            <a:endParaRPr lang="ru-RU" dirty="0"/>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60620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A4A5647E-4E0C-4C49-BC8C-FA8B61454E8C}" type="datetime1">
              <a:rPr lang="ru-RU" smtClean="0"/>
              <a:t>05.09.2025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723332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ru-RU"/>
              <a:t>Образец заголовка</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7E224D4C-5DC9-4B95-A302-28E7336E5312}" type="datetime1">
              <a:rPr lang="ru-RU" smtClean="0"/>
              <a:t>05.09.2025</a:t>
            </a:fld>
            <a:endParaRPr lang="ru-RU"/>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ru-RU"/>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38485155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ru-RU"/>
              <a:t>Образец заголовка</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424AF631-2003-4AF8-ADC7-B2B55F9B8AE9}" type="datetime1">
              <a:rPr lang="ru-RU" smtClean="0"/>
              <a:t>05.09.2025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86758793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637903"/>
          </a:xfrm>
        </p:spPr>
        <p:txBody>
          <a:bodyPr/>
          <a:lstStyle>
            <a:lvl1pPr>
              <a:defRPr>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343524" y="1516952"/>
            <a:ext cx="4443984" cy="637903"/>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371600" y="2348104"/>
            <a:ext cx="4443984" cy="3824095"/>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525014" y="1516952"/>
            <a:ext cx="4443984" cy="637903"/>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525014" y="2348105"/>
            <a:ext cx="4443984" cy="3824094"/>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52FEA745-B947-4DCE-978B-47BB25583151}" type="datetime1">
              <a:rPr lang="ru-RU" smtClean="0"/>
              <a:t>05.09.2025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13498195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32179BB2-52BF-4805-AF74-2318CF69FB97}" type="datetime1">
              <a:rPr lang="ru-RU" smtClean="0"/>
              <a:t>05.09.2025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63145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293006-A083-4BD1-B5F2-8E383951943B}" type="datetime1">
              <a:rPr lang="ru-RU" smtClean="0"/>
              <a:t>05.09.2025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966761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ru-RU"/>
              <a:t>Образец заголовка</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300167B5-8B06-446D-BBBE-903323CE0545}" type="datetime1">
              <a:rPr lang="ru-RU" smtClean="0"/>
              <a:t>05.09.2025</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6334413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D9B47398-9B8C-4601-B5E7-58B0741D15F8}" type="datetime1">
              <a:rPr lang="ru-RU" smtClean="0"/>
              <a:t>05.09.2025</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45939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1637211"/>
            <a:ext cx="9601200" cy="4230189"/>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129E25CC-FEF9-441F-8E72-B6B8BBE45071}" type="datetime1">
              <a:rPr lang="ru-RU" smtClean="0"/>
              <a:t>05.09.2025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59763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C1DCDC72-CB04-4D9D-A393-1849F9554B40}" type="datetime1">
              <a:rPr lang="ru-RU" smtClean="0"/>
              <a:t>05.09.2025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313815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733697"/>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1371600" y="1558833"/>
            <a:ext cx="9601200" cy="4702629"/>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Date Placeholder 3"/>
          <p:cNvSpPr>
            <a:spLocks noGrp="1"/>
          </p:cNvSpPr>
          <p:nvPr>
            <p:ph type="dt" sz="half" idx="2"/>
          </p:nvPr>
        </p:nvSpPr>
        <p:spPr>
          <a:xfrm>
            <a:off x="1371600" y="6374670"/>
            <a:ext cx="1146333" cy="404614"/>
          </a:xfrm>
          <a:prstGeom prst="rect">
            <a:avLst/>
          </a:prstGeom>
        </p:spPr>
        <p:txBody>
          <a:bodyPr vert="horz" lIns="91440" tIns="45720" rIns="91440" bIns="45720" rtlCol="0" anchor="ctr"/>
          <a:lstStyle>
            <a:lvl1pPr algn="l">
              <a:defRPr sz="1400" baseline="0">
                <a:solidFill>
                  <a:schemeClr val="tx2"/>
                </a:solidFill>
                <a:latin typeface="Georgia" panose="02040502050405020303" pitchFamily="18" charset="0"/>
              </a:defRPr>
            </a:lvl1pPr>
          </a:lstStyle>
          <a:p>
            <a:fld id="{66878C39-9146-432B-9910-90A0D86FE16D}" type="datetime1">
              <a:rPr lang="ru-RU" smtClean="0"/>
              <a:t>05.09.2025</a:t>
            </a:fld>
            <a:endParaRPr lang="ru-RU"/>
          </a:p>
        </p:txBody>
      </p:sp>
      <p:sp>
        <p:nvSpPr>
          <p:cNvPr id="5" name="Footer Placeholder 4"/>
          <p:cNvSpPr>
            <a:spLocks noGrp="1"/>
          </p:cNvSpPr>
          <p:nvPr>
            <p:ph type="ftr" sz="quarter" idx="3"/>
          </p:nvPr>
        </p:nvSpPr>
        <p:spPr>
          <a:xfrm>
            <a:off x="2874514" y="6374670"/>
            <a:ext cx="6461075" cy="404614"/>
          </a:xfrm>
          <a:prstGeom prst="rect">
            <a:avLst/>
          </a:prstGeom>
        </p:spPr>
        <p:txBody>
          <a:bodyPr vert="horz" lIns="91440" tIns="45720" rIns="91440" bIns="45720" rtlCol="0" anchor="ctr"/>
          <a:lstStyle>
            <a:lvl1pPr algn="l">
              <a:defRPr sz="1400" baseline="0">
                <a:solidFill>
                  <a:schemeClr val="tx2"/>
                </a:solidFill>
                <a:latin typeface="Georgia" panose="02040502050405020303" pitchFamily="18" charset="0"/>
              </a:defRPr>
            </a:lvl1pPr>
          </a:lstStyle>
          <a:p>
            <a:endParaRPr lang="ru-RU" dirty="0"/>
          </a:p>
        </p:txBody>
      </p:sp>
      <p:sp>
        <p:nvSpPr>
          <p:cNvPr id="6" name="Slide Number Placeholder 5"/>
          <p:cNvSpPr>
            <a:spLocks noGrp="1"/>
          </p:cNvSpPr>
          <p:nvPr>
            <p:ph type="sldNum" sz="quarter" idx="4"/>
          </p:nvPr>
        </p:nvSpPr>
        <p:spPr>
          <a:xfrm>
            <a:off x="9692170" y="6374670"/>
            <a:ext cx="1280630" cy="404614"/>
          </a:xfrm>
          <a:prstGeom prst="rect">
            <a:avLst/>
          </a:prstGeom>
        </p:spPr>
        <p:txBody>
          <a:bodyPr vert="horz" lIns="91440" tIns="45720" rIns="91440" bIns="45720" rtlCol="0" anchor="ctr"/>
          <a:lstStyle>
            <a:lvl1pPr algn="r">
              <a:defRPr sz="2800" baseline="0">
                <a:solidFill>
                  <a:schemeClr val="tx2"/>
                </a:solidFill>
                <a:latin typeface="Georgia" panose="02040502050405020303" pitchFamily="18" charset="0"/>
              </a:defRPr>
            </a:lvl1pPr>
          </a:lstStyle>
          <a:p>
            <a:fld id="{25A42088-C730-408A-A823-60BED1AFCEA0}" type="slidenum">
              <a:rPr lang="ru-RU" smtClean="0"/>
              <a:pPr/>
              <a:t>‹#›</a:t>
            </a:fld>
            <a:endParaRPr lang="ru-RU"/>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44367473"/>
      </p:ext>
    </p:extLst>
  </p:cSld>
  <p:clrMap bg1="lt1" tx1="dk1" bg2="lt2" tx2="dk2" accent1="accent1" accent2="accent2" accent3="accent3" accent4="accent4" accent5="accent5" accent6="accent6" hlink="hlink" folHlink="folHlink"/>
  <p:sldLayoutIdLst>
    <p:sldLayoutId id="2147484096"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hf hdr="0" ftr="0" dt="0"/>
  <p:txStyles>
    <p:titleStyle>
      <a:lvl1pPr algn="l" defTabSz="914400" rtl="0" eaLnBrk="1" latinLnBrk="0" hangingPunct="1">
        <a:lnSpc>
          <a:spcPct val="89000"/>
        </a:lnSpc>
        <a:spcBef>
          <a:spcPct val="0"/>
        </a:spcBef>
        <a:buNone/>
        <a:defRPr sz="4400" kern="1200" baseline="0">
          <a:solidFill>
            <a:schemeClr val="tx2"/>
          </a:solidFill>
          <a:latin typeface="Georgia" panose="02040502050405020303" pitchFamily="18" charset="0"/>
          <a:ea typeface="+mj-ea"/>
          <a:cs typeface="+mj-cs"/>
        </a:defRPr>
      </a:lvl1pPr>
    </p:titleStyle>
    <p:bodyStyle>
      <a:lvl1pPr marL="0" indent="0" algn="l" defTabSz="914400" rtl="0" eaLnBrk="1" latinLnBrk="0" hangingPunct="1">
        <a:lnSpc>
          <a:spcPct val="94000"/>
        </a:lnSpc>
        <a:spcBef>
          <a:spcPts val="1000"/>
        </a:spcBef>
        <a:spcAft>
          <a:spcPts val="200"/>
        </a:spcAft>
        <a:buFontTx/>
        <a:buNone/>
        <a:defRPr sz="2000" kern="1200" baseline="0">
          <a:solidFill>
            <a:schemeClr val="tx2"/>
          </a:solidFill>
          <a:latin typeface="Georgia" panose="02040502050405020303" pitchFamily="18" charset="0"/>
          <a:ea typeface="+mn-ea"/>
          <a:cs typeface="+mn-cs"/>
        </a:defRPr>
      </a:lvl1pPr>
      <a:lvl2pPr marL="530352" indent="0" algn="l" defTabSz="914400" rtl="0" eaLnBrk="1" latinLnBrk="0" hangingPunct="1">
        <a:lnSpc>
          <a:spcPct val="94000"/>
        </a:lnSpc>
        <a:spcBef>
          <a:spcPts val="500"/>
        </a:spcBef>
        <a:spcAft>
          <a:spcPts val="200"/>
        </a:spcAft>
        <a:buFontTx/>
        <a:buNone/>
        <a:defRPr sz="2000" i="1" kern="1200" baseline="0">
          <a:solidFill>
            <a:schemeClr val="tx2"/>
          </a:solidFill>
          <a:latin typeface="Georgia" panose="02040502050405020303" pitchFamily="18" charset="0"/>
          <a:ea typeface="+mn-ea"/>
          <a:cs typeface="+mn-cs"/>
        </a:defRPr>
      </a:lvl2pPr>
      <a:lvl3pPr marL="987552" indent="0" algn="l" defTabSz="914400" rtl="0" eaLnBrk="1" latinLnBrk="0" hangingPunct="1">
        <a:lnSpc>
          <a:spcPct val="94000"/>
        </a:lnSpc>
        <a:spcBef>
          <a:spcPts val="500"/>
        </a:spcBef>
        <a:spcAft>
          <a:spcPts val="200"/>
        </a:spcAft>
        <a:buFontTx/>
        <a:buNone/>
        <a:defRPr sz="1800" kern="1200" baseline="0">
          <a:solidFill>
            <a:schemeClr val="tx2"/>
          </a:solidFill>
          <a:latin typeface="Georgia" panose="02040502050405020303" pitchFamily="18" charset="0"/>
          <a:ea typeface="+mn-ea"/>
          <a:cs typeface="+mn-cs"/>
        </a:defRPr>
      </a:lvl3pPr>
      <a:lvl4pPr marL="1444752" indent="0" algn="l" defTabSz="914400" rtl="0" eaLnBrk="1" latinLnBrk="0" hangingPunct="1">
        <a:lnSpc>
          <a:spcPct val="94000"/>
        </a:lnSpc>
        <a:spcBef>
          <a:spcPts val="500"/>
        </a:spcBef>
        <a:spcAft>
          <a:spcPts val="200"/>
        </a:spcAft>
        <a:buFontTx/>
        <a:buNone/>
        <a:defRPr sz="1800" i="1" kern="1200" baseline="0">
          <a:solidFill>
            <a:schemeClr val="tx2"/>
          </a:solidFill>
          <a:latin typeface="Georgia" panose="02040502050405020303" pitchFamily="18" charset="0"/>
          <a:ea typeface="+mn-ea"/>
          <a:cs typeface="+mn-cs"/>
        </a:defRPr>
      </a:lvl4pPr>
      <a:lvl5pPr marL="1901952" indent="0" algn="l" defTabSz="914400" rtl="0" eaLnBrk="1" latinLnBrk="0" hangingPunct="1">
        <a:lnSpc>
          <a:spcPct val="94000"/>
        </a:lnSpc>
        <a:spcBef>
          <a:spcPts val="500"/>
        </a:spcBef>
        <a:spcAft>
          <a:spcPts val="200"/>
        </a:spcAft>
        <a:buFontTx/>
        <a:buNone/>
        <a:defRPr sz="1600" kern="1200" baseline="0">
          <a:solidFill>
            <a:schemeClr val="tx2"/>
          </a:solidFill>
          <a:latin typeface="Georgia" panose="02040502050405020303" pitchFamily="18" charset="0"/>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learn.microsoft.com/ru-ru/dotnet/csharp/fundamentals/coding-style/coding-convention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F56258-0E67-7C7B-2850-681FD0BB7579}"/>
              </a:ext>
            </a:extLst>
          </p:cNvPr>
          <p:cNvSpPr>
            <a:spLocks noGrp="1"/>
          </p:cNvSpPr>
          <p:nvPr>
            <p:ph type="ctrTitle"/>
          </p:nvPr>
        </p:nvSpPr>
        <p:spPr/>
        <p:txBody>
          <a:bodyPr/>
          <a:lstStyle/>
          <a:p>
            <a:r>
              <a:rPr lang="ru-RU" sz="6000" dirty="0"/>
              <a:t>Лекция 2  </a:t>
            </a:r>
            <a:br>
              <a:rPr lang="ru-RU" sz="6000" dirty="0"/>
            </a:br>
            <a:r>
              <a:rPr lang="ru-RU" sz="4000" dirty="0"/>
              <a:t> Жизненный цикл и модели разработки ПО - часть 2. Качество ПО. Метрики качества</a:t>
            </a:r>
          </a:p>
        </p:txBody>
      </p:sp>
      <p:sp>
        <p:nvSpPr>
          <p:cNvPr id="3" name="Подзаголовок 2">
            <a:extLst>
              <a:ext uri="{FF2B5EF4-FFF2-40B4-BE49-F238E27FC236}">
                <a16:creationId xmlns:a16="http://schemas.microsoft.com/office/drawing/2014/main" id="{29DB230C-D752-D32B-FD0D-416920046857}"/>
              </a:ext>
            </a:extLst>
          </p:cNvPr>
          <p:cNvSpPr>
            <a:spLocks noGrp="1"/>
          </p:cNvSpPr>
          <p:nvPr>
            <p:ph type="subTitle" idx="1"/>
          </p:nvPr>
        </p:nvSpPr>
        <p:spPr/>
        <p:txBody>
          <a:bodyPr>
            <a:normAutofit fontScale="92500"/>
          </a:bodyPr>
          <a:lstStyle/>
          <a:p>
            <a:r>
              <a:rPr lang="ru-RU" dirty="0"/>
              <a:t>Технология разработки программного обеспечения</a:t>
            </a:r>
          </a:p>
          <a:p>
            <a:r>
              <a:rPr lang="ru-RU" dirty="0"/>
              <a:t>Преподаватель: Челищева Лилия Дмитриевна</a:t>
            </a:r>
          </a:p>
        </p:txBody>
      </p:sp>
    </p:spTree>
    <p:extLst>
      <p:ext uri="{BB962C8B-B14F-4D97-AF65-F5344CB8AC3E}">
        <p14:creationId xmlns:p14="http://schemas.microsoft.com/office/powerpoint/2010/main" val="1586075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BF0041-659F-6010-19C5-1301CF43BB13}"/>
              </a:ext>
            </a:extLst>
          </p:cNvPr>
          <p:cNvSpPr>
            <a:spLocks noGrp="1"/>
          </p:cNvSpPr>
          <p:nvPr>
            <p:ph type="title"/>
          </p:nvPr>
        </p:nvSpPr>
        <p:spPr/>
        <p:txBody>
          <a:bodyPr>
            <a:noAutofit/>
          </a:bodyPr>
          <a:lstStyle/>
          <a:p>
            <a:r>
              <a:rPr lang="ru-RU" sz="3600" dirty="0"/>
              <a:t>V-образная модель</a:t>
            </a:r>
            <a:br>
              <a:rPr lang="ru-RU" sz="3600" dirty="0"/>
            </a:br>
            <a:r>
              <a:rPr lang="ru-RU" sz="3600" dirty="0"/>
              <a:t>(разработка через тестирование)</a:t>
            </a:r>
          </a:p>
        </p:txBody>
      </p:sp>
      <p:sp>
        <p:nvSpPr>
          <p:cNvPr id="5" name="Объект 4">
            <a:extLst>
              <a:ext uri="{FF2B5EF4-FFF2-40B4-BE49-F238E27FC236}">
                <a16:creationId xmlns:a16="http://schemas.microsoft.com/office/drawing/2014/main" id="{9A1FC488-9A6D-98D0-AB81-D3B240EF66B6}"/>
              </a:ext>
            </a:extLst>
          </p:cNvPr>
          <p:cNvSpPr>
            <a:spLocks noGrp="1"/>
          </p:cNvSpPr>
          <p:nvPr>
            <p:ph sz="half" idx="1"/>
          </p:nvPr>
        </p:nvSpPr>
        <p:spPr>
          <a:xfrm>
            <a:off x="1204546" y="1872763"/>
            <a:ext cx="4519246" cy="4721468"/>
          </a:xfrm>
        </p:spPr>
        <p:txBody>
          <a:bodyPr>
            <a:normAutofit fontScale="85000" lnSpcReduction="10000"/>
          </a:bodyPr>
          <a:lstStyle/>
          <a:p>
            <a:r>
              <a:rPr lang="ru-RU" b="1" dirty="0"/>
              <a:t>V-модель</a:t>
            </a:r>
            <a:r>
              <a:rPr lang="ru-RU" dirty="0"/>
              <a:t> – вариация каскадной модели, в которой задачи разработки идут сверху вниз по левой стороне буквы V, а задачи тестирования – вверх по правой стороне буквы V. Внутри V проводятся горизонтальные линии, показывающие, как результаты каждой из стадий разработки влияют на развитие системы тестирования на каждой из стадий тестирования.</a:t>
            </a:r>
          </a:p>
          <a:p>
            <a:r>
              <a:rPr lang="ru-RU" dirty="0"/>
              <a:t>Модель базируется на том, что приемо-сдаточные испытания основываются, прежде всего, на требованиях, системное тестирование – на требованиях и архитектуре, комплексное тестирование – на требованиях, архитектуре и интерфейсах, а компонентное тестирование – на требованиях, архитектуре, интерфейсах и алгоритмах.</a:t>
            </a:r>
          </a:p>
        </p:txBody>
      </p:sp>
      <p:pic>
        <p:nvPicPr>
          <p:cNvPr id="8" name="Объект 7">
            <a:extLst>
              <a:ext uri="{FF2B5EF4-FFF2-40B4-BE49-F238E27FC236}">
                <a16:creationId xmlns:a16="http://schemas.microsoft.com/office/drawing/2014/main" id="{7F9B99F0-891F-1198-CE57-9380EE1A5848}"/>
              </a:ext>
            </a:extLst>
          </p:cNvPr>
          <p:cNvPicPr>
            <a:picLocks noGrp="1" noChangeAspect="1"/>
          </p:cNvPicPr>
          <p:nvPr>
            <p:ph sz="half" idx="2"/>
          </p:nvPr>
        </p:nvPicPr>
        <p:blipFill rotWithShape="1">
          <a:blip r:embed="rId2"/>
          <a:srcRect t="2061"/>
          <a:stretch/>
        </p:blipFill>
        <p:spPr>
          <a:xfrm>
            <a:off x="6016870" y="2356338"/>
            <a:ext cx="5989154" cy="3342262"/>
          </a:xfrm>
        </p:spPr>
      </p:pic>
      <p:sp>
        <p:nvSpPr>
          <p:cNvPr id="4" name="Номер слайда 3">
            <a:extLst>
              <a:ext uri="{FF2B5EF4-FFF2-40B4-BE49-F238E27FC236}">
                <a16:creationId xmlns:a16="http://schemas.microsoft.com/office/drawing/2014/main" id="{6B60438B-8B92-0486-800B-E00C7D41E455}"/>
              </a:ext>
            </a:extLst>
          </p:cNvPr>
          <p:cNvSpPr>
            <a:spLocks noGrp="1"/>
          </p:cNvSpPr>
          <p:nvPr>
            <p:ph type="sldNum" sz="quarter" idx="12"/>
          </p:nvPr>
        </p:nvSpPr>
        <p:spPr/>
        <p:txBody>
          <a:bodyPr/>
          <a:lstStyle/>
          <a:p>
            <a:fld id="{25A42088-C730-408A-A823-60BED1AFCEA0}" type="slidenum">
              <a:rPr lang="ru-RU" smtClean="0"/>
              <a:t>2</a:t>
            </a:fld>
            <a:endParaRPr lang="ru-RU"/>
          </a:p>
        </p:txBody>
      </p:sp>
    </p:spTree>
    <p:extLst>
      <p:ext uri="{BB962C8B-B14F-4D97-AF65-F5344CB8AC3E}">
        <p14:creationId xmlns:p14="http://schemas.microsoft.com/office/powerpoint/2010/main" val="3748506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BE75AB6D-9DCD-1B64-AD91-D419804A2DD6}"/>
              </a:ext>
            </a:extLst>
          </p:cNvPr>
          <p:cNvSpPr>
            <a:spLocks noGrp="1"/>
          </p:cNvSpPr>
          <p:nvPr>
            <p:ph type="title"/>
          </p:nvPr>
        </p:nvSpPr>
        <p:spPr>
          <a:xfrm>
            <a:off x="1371600" y="685800"/>
            <a:ext cx="9601200" cy="637903"/>
          </a:xfrm>
        </p:spPr>
        <p:txBody>
          <a:bodyPr>
            <a:noAutofit/>
          </a:bodyPr>
          <a:lstStyle/>
          <a:p>
            <a:r>
              <a:rPr lang="ru-RU" sz="3200" dirty="0"/>
              <a:t>Преимущества и недостатки </a:t>
            </a:r>
            <a:r>
              <a:rPr lang="en-US" sz="3200" dirty="0"/>
              <a:t>V-</a:t>
            </a:r>
            <a:r>
              <a:rPr lang="ru-RU" sz="3200" dirty="0"/>
              <a:t>образной модели</a:t>
            </a:r>
          </a:p>
        </p:txBody>
      </p:sp>
      <p:sp>
        <p:nvSpPr>
          <p:cNvPr id="13" name="Текст 12">
            <a:extLst>
              <a:ext uri="{FF2B5EF4-FFF2-40B4-BE49-F238E27FC236}">
                <a16:creationId xmlns:a16="http://schemas.microsoft.com/office/drawing/2014/main" id="{88537769-A9D9-A05A-BF66-1CDCFE94041F}"/>
              </a:ext>
            </a:extLst>
          </p:cNvPr>
          <p:cNvSpPr>
            <a:spLocks noGrp="1"/>
          </p:cNvSpPr>
          <p:nvPr>
            <p:ph type="body" idx="1"/>
          </p:nvPr>
        </p:nvSpPr>
        <p:spPr>
          <a:xfrm>
            <a:off x="1371600" y="1355027"/>
            <a:ext cx="4443984" cy="637903"/>
          </a:xfrm>
        </p:spPr>
        <p:txBody>
          <a:bodyPr/>
          <a:lstStyle/>
          <a:p>
            <a:r>
              <a:rPr lang="ru-RU" sz="2800" dirty="0"/>
              <a:t>Преимущества</a:t>
            </a:r>
            <a:endParaRPr lang="ru-RU" dirty="0"/>
          </a:p>
        </p:txBody>
      </p:sp>
      <p:sp>
        <p:nvSpPr>
          <p:cNvPr id="14" name="Объект 13">
            <a:extLst>
              <a:ext uri="{FF2B5EF4-FFF2-40B4-BE49-F238E27FC236}">
                <a16:creationId xmlns:a16="http://schemas.microsoft.com/office/drawing/2014/main" id="{41BF65E9-AC99-BF02-848B-585140A6C909}"/>
              </a:ext>
            </a:extLst>
          </p:cNvPr>
          <p:cNvSpPr>
            <a:spLocks noGrp="1"/>
          </p:cNvSpPr>
          <p:nvPr>
            <p:ph sz="half" idx="2"/>
          </p:nvPr>
        </p:nvSpPr>
        <p:spPr>
          <a:xfrm>
            <a:off x="1371600" y="2162908"/>
            <a:ext cx="4443984" cy="4009291"/>
          </a:xfrm>
        </p:spPr>
        <p:txBody>
          <a:bodyPr>
            <a:normAutofit/>
          </a:bodyPr>
          <a:lstStyle/>
          <a:p>
            <a:r>
              <a:rPr lang="ru-RU" sz="2400" b="0" i="0" dirty="0">
                <a:solidFill>
                  <a:srgbClr val="2C2D30"/>
                </a:solidFill>
                <a:effectLst/>
              </a:rPr>
              <a:t>Количество ошибок в архитектуре ПО сводится к минимуму.</a:t>
            </a:r>
          </a:p>
        </p:txBody>
      </p:sp>
      <p:sp>
        <p:nvSpPr>
          <p:cNvPr id="15" name="Текст 14">
            <a:extLst>
              <a:ext uri="{FF2B5EF4-FFF2-40B4-BE49-F238E27FC236}">
                <a16:creationId xmlns:a16="http://schemas.microsoft.com/office/drawing/2014/main" id="{66226389-7518-3602-DBB0-FC35EB03E76E}"/>
              </a:ext>
            </a:extLst>
          </p:cNvPr>
          <p:cNvSpPr>
            <a:spLocks noGrp="1"/>
          </p:cNvSpPr>
          <p:nvPr>
            <p:ph type="body" sz="quarter" idx="3"/>
          </p:nvPr>
        </p:nvSpPr>
        <p:spPr>
          <a:xfrm>
            <a:off x="6525014" y="1355027"/>
            <a:ext cx="4443984" cy="637903"/>
          </a:xfrm>
        </p:spPr>
        <p:txBody>
          <a:bodyPr/>
          <a:lstStyle/>
          <a:p>
            <a:r>
              <a:rPr lang="ru-RU" sz="2800" dirty="0"/>
              <a:t>Недостатки</a:t>
            </a:r>
            <a:endParaRPr lang="ru-RU" dirty="0"/>
          </a:p>
        </p:txBody>
      </p:sp>
      <p:sp>
        <p:nvSpPr>
          <p:cNvPr id="16" name="Объект 15">
            <a:extLst>
              <a:ext uri="{FF2B5EF4-FFF2-40B4-BE49-F238E27FC236}">
                <a16:creationId xmlns:a16="http://schemas.microsoft.com/office/drawing/2014/main" id="{D8C6FD4E-46C6-6123-1E71-679D57EA265B}"/>
              </a:ext>
            </a:extLst>
          </p:cNvPr>
          <p:cNvSpPr>
            <a:spLocks noGrp="1"/>
          </p:cNvSpPr>
          <p:nvPr>
            <p:ph sz="quarter" idx="4"/>
          </p:nvPr>
        </p:nvSpPr>
        <p:spPr>
          <a:xfrm>
            <a:off x="6525014" y="2162908"/>
            <a:ext cx="4443984" cy="4009291"/>
          </a:xfrm>
        </p:spPr>
        <p:txBody>
          <a:bodyPr>
            <a:normAutofit/>
          </a:bodyPr>
          <a:lstStyle/>
          <a:p>
            <a:r>
              <a:rPr lang="ru-RU" sz="2400" b="0" i="0" dirty="0">
                <a:solidFill>
                  <a:srgbClr val="2C2D30"/>
                </a:solidFill>
                <a:effectLst/>
              </a:rPr>
              <a:t>Если при разработке архитектуры была допущена ошибка, то вернуться и исправить её будет стоить дорого, как и в «водопаде»</a:t>
            </a:r>
          </a:p>
        </p:txBody>
      </p:sp>
      <p:sp>
        <p:nvSpPr>
          <p:cNvPr id="5" name="Номер слайда 4">
            <a:extLst>
              <a:ext uri="{FF2B5EF4-FFF2-40B4-BE49-F238E27FC236}">
                <a16:creationId xmlns:a16="http://schemas.microsoft.com/office/drawing/2014/main" id="{EC7FF2B6-DB7B-CDEE-4872-BE0E673491F1}"/>
              </a:ext>
            </a:extLst>
          </p:cNvPr>
          <p:cNvSpPr>
            <a:spLocks noGrp="1"/>
          </p:cNvSpPr>
          <p:nvPr>
            <p:ph type="sldNum" sz="quarter" idx="12"/>
          </p:nvPr>
        </p:nvSpPr>
        <p:spPr>
          <a:xfrm>
            <a:off x="9692170" y="6374670"/>
            <a:ext cx="1280630" cy="404614"/>
          </a:xfrm>
        </p:spPr>
        <p:txBody>
          <a:bodyPr/>
          <a:lstStyle/>
          <a:p>
            <a:fld id="{25A42088-C730-408A-A823-60BED1AFCEA0}" type="slidenum">
              <a:rPr lang="ru-RU" smtClean="0"/>
              <a:pPr/>
              <a:t>3</a:t>
            </a:fld>
            <a:endParaRPr lang="ru-RU"/>
          </a:p>
        </p:txBody>
      </p:sp>
    </p:spTree>
    <p:extLst>
      <p:ext uri="{BB962C8B-B14F-4D97-AF65-F5344CB8AC3E}">
        <p14:creationId xmlns:p14="http://schemas.microsoft.com/office/powerpoint/2010/main" val="3403102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FB94F9-C7C0-FF36-75DE-75173792BCDA}"/>
              </a:ext>
            </a:extLst>
          </p:cNvPr>
          <p:cNvSpPr>
            <a:spLocks noGrp="1"/>
          </p:cNvSpPr>
          <p:nvPr>
            <p:ph type="title"/>
          </p:nvPr>
        </p:nvSpPr>
        <p:spPr>
          <a:xfrm>
            <a:off x="1371599" y="685800"/>
            <a:ext cx="9847385" cy="733697"/>
          </a:xfrm>
        </p:spPr>
        <p:txBody>
          <a:bodyPr>
            <a:noAutofit/>
          </a:bodyPr>
          <a:lstStyle/>
          <a:p>
            <a:r>
              <a:rPr lang="ru-RU" sz="3600" dirty="0"/>
              <a:t>Когда использовать </a:t>
            </a:r>
            <a:r>
              <a:rPr lang="en-US" sz="3600" dirty="0"/>
              <a:t>V-</a:t>
            </a:r>
            <a:r>
              <a:rPr lang="ru-RU" sz="3600" dirty="0"/>
              <a:t>модель?</a:t>
            </a:r>
          </a:p>
        </p:txBody>
      </p:sp>
      <p:sp>
        <p:nvSpPr>
          <p:cNvPr id="3" name="Объект 2">
            <a:extLst>
              <a:ext uri="{FF2B5EF4-FFF2-40B4-BE49-F238E27FC236}">
                <a16:creationId xmlns:a16="http://schemas.microsoft.com/office/drawing/2014/main" id="{A274BBFF-76EB-DD29-3827-7406652042EB}"/>
              </a:ext>
            </a:extLst>
          </p:cNvPr>
          <p:cNvSpPr>
            <a:spLocks noGrp="1"/>
          </p:cNvSpPr>
          <p:nvPr>
            <p:ph idx="1"/>
          </p:nvPr>
        </p:nvSpPr>
        <p:spPr>
          <a:xfrm>
            <a:off x="1371600" y="1820008"/>
            <a:ext cx="9601200" cy="4441454"/>
          </a:xfrm>
        </p:spPr>
        <p:txBody>
          <a:bodyPr>
            <a:normAutofit/>
          </a:bodyPr>
          <a:lstStyle/>
          <a:p>
            <a:pPr marL="342900" indent="-342900">
              <a:buFont typeface="Wingdings" panose="05000000000000000000" pitchFamily="2" charset="2"/>
              <a:buChar char="v"/>
            </a:pPr>
            <a:r>
              <a:rPr lang="ru-RU" sz="2400" dirty="0"/>
              <a:t>Если требуется тщательное тестирование продукта, то V-модель оправдает заложенную в себя идею: </a:t>
            </a:r>
            <a:r>
              <a:rPr lang="ru-RU" sz="2400" dirty="0" err="1"/>
              <a:t>validation</a:t>
            </a:r>
            <a:r>
              <a:rPr lang="ru-RU" sz="2400" dirty="0"/>
              <a:t> </a:t>
            </a:r>
            <a:r>
              <a:rPr lang="ru-RU" sz="2400" dirty="0" err="1"/>
              <a:t>and</a:t>
            </a:r>
            <a:r>
              <a:rPr lang="ru-RU" sz="2400" dirty="0"/>
              <a:t> </a:t>
            </a:r>
            <a:r>
              <a:rPr lang="ru-RU" sz="2400" dirty="0" err="1"/>
              <a:t>verification</a:t>
            </a:r>
            <a:r>
              <a:rPr lang="ru-RU" sz="2400" dirty="0"/>
              <a:t>.</a:t>
            </a:r>
          </a:p>
          <a:p>
            <a:pPr marL="342900" indent="-342900">
              <a:buFont typeface="Wingdings" panose="05000000000000000000" pitchFamily="2" charset="2"/>
              <a:buChar char="v"/>
            </a:pPr>
            <a:r>
              <a:rPr lang="ru-RU" sz="2400" dirty="0"/>
              <a:t>Для малых и средних проектов, где требования четко определены и фиксированы.</a:t>
            </a:r>
          </a:p>
          <a:p>
            <a:pPr marL="342900" indent="-342900">
              <a:buFont typeface="Wingdings" panose="05000000000000000000" pitchFamily="2" charset="2"/>
              <a:buChar char="v"/>
            </a:pPr>
            <a:r>
              <a:rPr lang="ru-RU" sz="2400" dirty="0"/>
              <a:t>В условиях доступности инженеров необходимой квалификации, особенно тестировщиков.</a:t>
            </a:r>
          </a:p>
        </p:txBody>
      </p:sp>
      <p:sp>
        <p:nvSpPr>
          <p:cNvPr id="4" name="Номер слайда 3">
            <a:extLst>
              <a:ext uri="{FF2B5EF4-FFF2-40B4-BE49-F238E27FC236}">
                <a16:creationId xmlns:a16="http://schemas.microsoft.com/office/drawing/2014/main" id="{70134C22-E6CD-1EFF-4500-2CCECD8CFBFB}"/>
              </a:ext>
            </a:extLst>
          </p:cNvPr>
          <p:cNvSpPr>
            <a:spLocks noGrp="1"/>
          </p:cNvSpPr>
          <p:nvPr>
            <p:ph type="sldNum" sz="quarter" idx="12"/>
          </p:nvPr>
        </p:nvSpPr>
        <p:spPr/>
        <p:txBody>
          <a:bodyPr/>
          <a:lstStyle/>
          <a:p>
            <a:fld id="{25A42088-C730-408A-A823-60BED1AFCEA0}" type="slidenum">
              <a:rPr lang="ru-RU" smtClean="0"/>
              <a:t>4</a:t>
            </a:fld>
            <a:endParaRPr lang="ru-RU"/>
          </a:p>
        </p:txBody>
      </p:sp>
    </p:spTree>
    <p:extLst>
      <p:ext uri="{BB962C8B-B14F-4D97-AF65-F5344CB8AC3E}">
        <p14:creationId xmlns:p14="http://schemas.microsoft.com/office/powerpoint/2010/main" val="2548390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p:txBody>
          <a:bodyPr>
            <a:normAutofit/>
          </a:bodyPr>
          <a:lstStyle/>
          <a:p>
            <a:r>
              <a:rPr lang="ru-RU" dirty="0"/>
              <a:t>Итерационная модель</a:t>
            </a:r>
          </a:p>
        </p:txBody>
      </p:sp>
      <p:sp>
        <p:nvSpPr>
          <p:cNvPr id="5" name="Объект 4"/>
          <p:cNvSpPr>
            <a:spLocks noGrp="1"/>
          </p:cNvSpPr>
          <p:nvPr>
            <p:ph sz="half" idx="1"/>
          </p:nvPr>
        </p:nvSpPr>
        <p:spPr>
          <a:xfrm>
            <a:off x="1371600" y="1556239"/>
            <a:ext cx="10155115" cy="3993696"/>
          </a:xfrm>
        </p:spPr>
        <p:txBody>
          <a:bodyPr>
            <a:normAutofit/>
          </a:bodyPr>
          <a:lstStyle/>
          <a:p>
            <a:r>
              <a:rPr lang="ru-RU" b="1" dirty="0"/>
              <a:t>Итеративная (итерационная) модель </a:t>
            </a:r>
            <a:r>
              <a:rPr lang="ru-RU" dirty="0"/>
              <a:t>предполагает разбиение жизненного цикла проекта на последовательность итераций, каждая из которых напоминает «мини-проект», включая все фазы жизненного цикла в применении к созданию меньших фрагментов функциональности, по сравнению с проектом, в целом.</a:t>
            </a:r>
          </a:p>
          <a:p>
            <a:r>
              <a:rPr lang="ru-RU" dirty="0"/>
              <a:t>Цель каждой итерации – получение работающей версии программной системы, включающей функциональность, определенную интегрированным содержанием всех предыдущих и текущей итерации. Результата финальной итерации содержит всю требуемую функциональность продукта.</a:t>
            </a:r>
          </a:p>
        </p:txBody>
      </p:sp>
      <p:pic>
        <p:nvPicPr>
          <p:cNvPr id="2050" name="Picture 2" descr="Поэтапная модель с промежуточным контролем"/>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r="3436" b="6732"/>
          <a:stretch/>
        </p:blipFill>
        <p:spPr bwMode="auto">
          <a:xfrm>
            <a:off x="2637265" y="4383483"/>
            <a:ext cx="6691373" cy="2414487"/>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3DEB2FE9-124B-5CA0-6874-FB7192DB3325}"/>
              </a:ext>
            </a:extLst>
          </p:cNvPr>
          <p:cNvSpPr>
            <a:spLocks noGrp="1"/>
          </p:cNvSpPr>
          <p:nvPr>
            <p:ph type="sldNum" sz="quarter" idx="12"/>
          </p:nvPr>
        </p:nvSpPr>
        <p:spPr/>
        <p:txBody>
          <a:bodyPr/>
          <a:lstStyle/>
          <a:p>
            <a:fld id="{25A42088-C730-408A-A823-60BED1AFCEA0}" type="slidenum">
              <a:rPr lang="ru-RU" smtClean="0"/>
              <a:t>5</a:t>
            </a:fld>
            <a:endParaRPr lang="ru-RU"/>
          </a:p>
        </p:txBody>
      </p:sp>
    </p:spTree>
    <p:extLst>
      <p:ext uri="{BB962C8B-B14F-4D97-AF65-F5344CB8AC3E}">
        <p14:creationId xmlns:p14="http://schemas.microsoft.com/office/powerpoint/2010/main" val="2109858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24546F-6900-0697-4BFF-AC7885E1EBBB}"/>
              </a:ext>
            </a:extLst>
          </p:cNvPr>
          <p:cNvSpPr>
            <a:spLocks noGrp="1"/>
          </p:cNvSpPr>
          <p:nvPr>
            <p:ph type="title"/>
          </p:nvPr>
        </p:nvSpPr>
        <p:spPr/>
        <p:txBody>
          <a:bodyPr>
            <a:normAutofit fontScale="90000"/>
          </a:bodyPr>
          <a:lstStyle/>
          <a:p>
            <a:r>
              <a:rPr lang="ru-RU" dirty="0"/>
              <a:t>Преимущества и недостатки</a:t>
            </a:r>
          </a:p>
        </p:txBody>
      </p:sp>
      <p:sp>
        <p:nvSpPr>
          <p:cNvPr id="5" name="Текст 4">
            <a:extLst>
              <a:ext uri="{FF2B5EF4-FFF2-40B4-BE49-F238E27FC236}">
                <a16:creationId xmlns:a16="http://schemas.microsoft.com/office/drawing/2014/main" id="{215FFE4E-113D-1074-83F0-EC47A57D7A85}"/>
              </a:ext>
            </a:extLst>
          </p:cNvPr>
          <p:cNvSpPr>
            <a:spLocks noGrp="1"/>
          </p:cNvSpPr>
          <p:nvPr>
            <p:ph type="body" idx="1"/>
          </p:nvPr>
        </p:nvSpPr>
        <p:spPr/>
        <p:txBody>
          <a:bodyPr/>
          <a:lstStyle/>
          <a:p>
            <a:r>
              <a:rPr lang="ru-RU" dirty="0"/>
              <a:t>Преимущества итеративной модели</a:t>
            </a:r>
          </a:p>
        </p:txBody>
      </p:sp>
      <p:sp>
        <p:nvSpPr>
          <p:cNvPr id="3" name="Объект 2">
            <a:extLst>
              <a:ext uri="{FF2B5EF4-FFF2-40B4-BE49-F238E27FC236}">
                <a16:creationId xmlns:a16="http://schemas.microsoft.com/office/drawing/2014/main" id="{A25A84CB-34BF-6BE9-F984-02E6F26BFC2F}"/>
              </a:ext>
            </a:extLst>
          </p:cNvPr>
          <p:cNvSpPr>
            <a:spLocks noGrp="1"/>
          </p:cNvSpPr>
          <p:nvPr>
            <p:ph sz="half" idx="2"/>
          </p:nvPr>
        </p:nvSpPr>
        <p:spPr>
          <a:xfrm>
            <a:off x="1371600" y="2348104"/>
            <a:ext cx="4991878" cy="4099349"/>
          </a:xfrm>
        </p:spPr>
        <p:txBody>
          <a:bodyPr>
            <a:normAutofit fontScale="92500" lnSpcReduction="10000"/>
          </a:bodyPr>
          <a:lstStyle/>
          <a:p>
            <a:pPr marL="342900" indent="-342900">
              <a:buFont typeface="Wingdings" panose="05000000000000000000" pitchFamily="2" charset="2"/>
              <a:buChar char="v"/>
            </a:pPr>
            <a:r>
              <a:rPr lang="ru-RU" sz="2400" dirty="0"/>
              <a:t>Быстрый выпуск минимального продукта даёт возможность оперативно получать обратную связь от заказчика и пользователей. А значит, фокусироваться на наиболее важных функциях ПО и улучшать их в соответствии с требованиями рынка и пожеланиями клиента.</a:t>
            </a:r>
          </a:p>
          <a:p>
            <a:pPr marL="342900" indent="-342900">
              <a:buFont typeface="Wingdings" panose="05000000000000000000" pitchFamily="2" charset="2"/>
              <a:buChar char="v"/>
            </a:pPr>
            <a:r>
              <a:rPr lang="ru-RU" sz="2400" dirty="0"/>
              <a:t>Постоянное тестирование пользователями позволяет быстро обнаруживать и устранять ошибки.</a:t>
            </a:r>
          </a:p>
        </p:txBody>
      </p:sp>
      <p:sp>
        <p:nvSpPr>
          <p:cNvPr id="6" name="Текст 5">
            <a:extLst>
              <a:ext uri="{FF2B5EF4-FFF2-40B4-BE49-F238E27FC236}">
                <a16:creationId xmlns:a16="http://schemas.microsoft.com/office/drawing/2014/main" id="{16EEE568-A584-DE4D-0148-861EABD856B6}"/>
              </a:ext>
            </a:extLst>
          </p:cNvPr>
          <p:cNvSpPr>
            <a:spLocks noGrp="1"/>
          </p:cNvSpPr>
          <p:nvPr>
            <p:ph type="body" sz="quarter" idx="3"/>
          </p:nvPr>
        </p:nvSpPr>
        <p:spPr>
          <a:xfrm>
            <a:off x="6528816" y="1516952"/>
            <a:ext cx="4443984" cy="637903"/>
          </a:xfrm>
        </p:spPr>
        <p:txBody>
          <a:bodyPr/>
          <a:lstStyle/>
          <a:p>
            <a:r>
              <a:rPr lang="ru-RU" dirty="0"/>
              <a:t>Недостатки итеративной модели</a:t>
            </a:r>
          </a:p>
        </p:txBody>
      </p:sp>
      <p:sp>
        <p:nvSpPr>
          <p:cNvPr id="7" name="Объект 6">
            <a:extLst>
              <a:ext uri="{FF2B5EF4-FFF2-40B4-BE49-F238E27FC236}">
                <a16:creationId xmlns:a16="http://schemas.microsoft.com/office/drawing/2014/main" id="{5840EC2D-B271-5EB3-0B75-9E0C7105ECD7}"/>
              </a:ext>
            </a:extLst>
          </p:cNvPr>
          <p:cNvSpPr>
            <a:spLocks noGrp="1"/>
          </p:cNvSpPr>
          <p:nvPr>
            <p:ph sz="quarter" idx="4"/>
          </p:nvPr>
        </p:nvSpPr>
        <p:spPr>
          <a:xfrm>
            <a:off x="6528816" y="2348104"/>
            <a:ext cx="4733731" cy="4026566"/>
          </a:xfrm>
        </p:spPr>
        <p:txBody>
          <a:bodyPr>
            <a:normAutofit fontScale="92500" lnSpcReduction="10000"/>
          </a:bodyPr>
          <a:lstStyle/>
          <a:p>
            <a:pPr marL="342900" indent="-342900">
              <a:buFont typeface="Wingdings" panose="05000000000000000000" pitchFamily="2" charset="2"/>
              <a:buChar char="v"/>
            </a:pPr>
            <a:r>
              <a:rPr lang="ru-RU" dirty="0"/>
              <a:t>Использование на начальном этапе баз данных или серверов — первые сложно масштабировать, а вторые не выдерживают нагрузку. Возможно, придётся переписывать большую часть приложения.</a:t>
            </a:r>
          </a:p>
          <a:p>
            <a:pPr marL="342900" indent="-342900">
              <a:buFont typeface="Wingdings" panose="05000000000000000000" pitchFamily="2" charset="2"/>
              <a:buChar char="v"/>
            </a:pPr>
            <a:r>
              <a:rPr lang="ru-RU" dirty="0"/>
              <a:t>Отсутствие фиксированного бюджета и сроков. Заказчик не знает, как выглядит конечная цель и когда закончится разработка.</a:t>
            </a:r>
          </a:p>
        </p:txBody>
      </p:sp>
      <p:sp>
        <p:nvSpPr>
          <p:cNvPr id="4" name="Номер слайда 3">
            <a:extLst>
              <a:ext uri="{FF2B5EF4-FFF2-40B4-BE49-F238E27FC236}">
                <a16:creationId xmlns:a16="http://schemas.microsoft.com/office/drawing/2014/main" id="{07310E56-0D19-77F4-E9FE-AA58809DCEBF}"/>
              </a:ext>
            </a:extLst>
          </p:cNvPr>
          <p:cNvSpPr>
            <a:spLocks noGrp="1"/>
          </p:cNvSpPr>
          <p:nvPr>
            <p:ph type="sldNum" sz="quarter" idx="12"/>
          </p:nvPr>
        </p:nvSpPr>
        <p:spPr/>
        <p:txBody>
          <a:bodyPr/>
          <a:lstStyle/>
          <a:p>
            <a:fld id="{25A42088-C730-408A-A823-60BED1AFCEA0}" type="slidenum">
              <a:rPr lang="ru-RU" smtClean="0"/>
              <a:t>6</a:t>
            </a:fld>
            <a:endParaRPr lang="ru-RU"/>
          </a:p>
        </p:txBody>
      </p:sp>
    </p:spTree>
    <p:extLst>
      <p:ext uri="{BB962C8B-B14F-4D97-AF65-F5344CB8AC3E}">
        <p14:creationId xmlns:p14="http://schemas.microsoft.com/office/powerpoint/2010/main" val="3501725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FB94F9-C7C0-FF36-75DE-75173792BCDA}"/>
              </a:ext>
            </a:extLst>
          </p:cNvPr>
          <p:cNvSpPr>
            <a:spLocks noGrp="1"/>
          </p:cNvSpPr>
          <p:nvPr>
            <p:ph type="title"/>
          </p:nvPr>
        </p:nvSpPr>
        <p:spPr>
          <a:xfrm>
            <a:off x="1371599" y="685800"/>
            <a:ext cx="9847385" cy="733697"/>
          </a:xfrm>
        </p:spPr>
        <p:txBody>
          <a:bodyPr>
            <a:noAutofit/>
          </a:bodyPr>
          <a:lstStyle/>
          <a:p>
            <a:r>
              <a:rPr lang="ru-RU" sz="3600" dirty="0"/>
              <a:t>Когда использовать итеративную модель?</a:t>
            </a:r>
          </a:p>
        </p:txBody>
      </p:sp>
      <p:sp>
        <p:nvSpPr>
          <p:cNvPr id="3" name="Объект 2">
            <a:extLst>
              <a:ext uri="{FF2B5EF4-FFF2-40B4-BE49-F238E27FC236}">
                <a16:creationId xmlns:a16="http://schemas.microsoft.com/office/drawing/2014/main" id="{A274BBFF-76EB-DD29-3827-7406652042EB}"/>
              </a:ext>
            </a:extLst>
          </p:cNvPr>
          <p:cNvSpPr>
            <a:spLocks noGrp="1"/>
          </p:cNvSpPr>
          <p:nvPr>
            <p:ph idx="1"/>
          </p:nvPr>
        </p:nvSpPr>
        <p:spPr>
          <a:xfrm>
            <a:off x="1371600" y="1820008"/>
            <a:ext cx="9601200" cy="4441454"/>
          </a:xfrm>
        </p:spPr>
        <p:txBody>
          <a:bodyPr>
            <a:normAutofit/>
          </a:bodyPr>
          <a:lstStyle/>
          <a:p>
            <a:pPr marL="342900" indent="-342900">
              <a:buFont typeface="Wingdings" panose="05000000000000000000" pitchFamily="2" charset="2"/>
              <a:buChar char="v"/>
            </a:pPr>
            <a:r>
              <a:rPr lang="ru-RU" sz="2400" dirty="0"/>
              <a:t>Требования к конечной системе заранее четко определены и понятны.</a:t>
            </a:r>
          </a:p>
          <a:p>
            <a:pPr marL="342900" indent="-342900">
              <a:buFont typeface="Wingdings" panose="05000000000000000000" pitchFamily="2" charset="2"/>
              <a:buChar char="v"/>
            </a:pPr>
            <a:r>
              <a:rPr lang="ru-RU" sz="2400" dirty="0"/>
              <a:t>Проект большой или очень большой.</a:t>
            </a:r>
          </a:p>
          <a:p>
            <a:pPr marL="342900" indent="-342900">
              <a:buFont typeface="Wingdings" panose="05000000000000000000" pitchFamily="2" charset="2"/>
              <a:buChar char="v"/>
            </a:pPr>
            <a:r>
              <a:rPr lang="ru-RU" sz="2400" dirty="0"/>
              <a:t>Основная задача должна быть определена, но детали реализации могут эволюционировать с течением времени.</a:t>
            </a:r>
          </a:p>
        </p:txBody>
      </p:sp>
      <p:sp>
        <p:nvSpPr>
          <p:cNvPr id="4" name="Номер слайда 3">
            <a:extLst>
              <a:ext uri="{FF2B5EF4-FFF2-40B4-BE49-F238E27FC236}">
                <a16:creationId xmlns:a16="http://schemas.microsoft.com/office/drawing/2014/main" id="{70134C22-E6CD-1EFF-4500-2CCECD8CFBFB}"/>
              </a:ext>
            </a:extLst>
          </p:cNvPr>
          <p:cNvSpPr>
            <a:spLocks noGrp="1"/>
          </p:cNvSpPr>
          <p:nvPr>
            <p:ph type="sldNum" sz="quarter" idx="12"/>
          </p:nvPr>
        </p:nvSpPr>
        <p:spPr/>
        <p:txBody>
          <a:bodyPr/>
          <a:lstStyle/>
          <a:p>
            <a:fld id="{25A42088-C730-408A-A823-60BED1AFCEA0}" type="slidenum">
              <a:rPr lang="ru-RU" smtClean="0"/>
              <a:t>7</a:t>
            </a:fld>
            <a:endParaRPr lang="ru-RU"/>
          </a:p>
        </p:txBody>
      </p:sp>
    </p:spTree>
    <p:extLst>
      <p:ext uri="{BB962C8B-B14F-4D97-AF65-F5344CB8AC3E}">
        <p14:creationId xmlns:p14="http://schemas.microsoft.com/office/powerpoint/2010/main" val="311569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Инкрементная модель</a:t>
            </a:r>
          </a:p>
        </p:txBody>
      </p:sp>
      <p:sp>
        <p:nvSpPr>
          <p:cNvPr id="3" name="Объект 2"/>
          <p:cNvSpPr>
            <a:spLocks noGrp="1"/>
          </p:cNvSpPr>
          <p:nvPr>
            <p:ph sz="half" idx="1"/>
          </p:nvPr>
        </p:nvSpPr>
        <p:spPr>
          <a:xfrm>
            <a:off x="1371600" y="1419497"/>
            <a:ext cx="10904222" cy="4192757"/>
          </a:xfrm>
        </p:spPr>
        <p:txBody>
          <a:bodyPr>
            <a:normAutofit/>
          </a:bodyPr>
          <a:lstStyle/>
          <a:p>
            <a:r>
              <a:rPr lang="ru-RU" dirty="0"/>
              <a:t>В </a:t>
            </a:r>
            <a:r>
              <a:rPr lang="ru-RU" b="1" dirty="0"/>
              <a:t>инкрементной модели </a:t>
            </a:r>
            <a:r>
              <a:rPr lang="ru-RU" dirty="0"/>
              <a:t>полные требования к системе делятся на различные сборки. Терминология часто используется для описания поэтапной сборки ПО. Цикл разделен на более мелкие легко создаваемые модули. Каждый модуль проходит через фазы определения требований, проектирования, кодирования, внедрения и тестирования. </a:t>
            </a:r>
            <a:endParaRPr lang="en-US" dirty="0"/>
          </a:p>
          <a:p>
            <a:r>
              <a:rPr lang="ru-RU" dirty="0"/>
              <a:t>Процедура разработки по инкрементной модели предполагает выпуск на первом большом этапе продукта в базовой функциональности, а затем уже последовательное добавление новых функций, так называемых «инкрементов». Процесс продолжается до тех пор, пока не будет создана полная система.</a:t>
            </a:r>
          </a:p>
        </p:txBody>
      </p:sp>
      <p:pic>
        <p:nvPicPr>
          <p:cNvPr id="4100" name="Picture 4" descr="Инкрементная модель., Спиральная модель. - Проектирование информационных  систем"/>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2983523" y="3976863"/>
            <a:ext cx="6625273" cy="2678914"/>
          </a:xfrm>
          <a:prstGeom prst="rect">
            <a:avLst/>
          </a:prstGeom>
          <a:noFill/>
          <a:extLst>
            <a:ext uri="{909E8E84-426E-40DD-AFC4-6F175D3DCCD1}">
              <a14:hiddenFill xmlns:a14="http://schemas.microsoft.com/office/drawing/2010/main">
                <a:solidFill>
                  <a:srgbClr val="FFFFFF"/>
                </a:solidFill>
              </a14:hiddenFill>
            </a:ext>
          </a:extLst>
        </p:spPr>
      </p:pic>
      <p:sp>
        <p:nvSpPr>
          <p:cNvPr id="4" name="Номер слайда 3">
            <a:extLst>
              <a:ext uri="{FF2B5EF4-FFF2-40B4-BE49-F238E27FC236}">
                <a16:creationId xmlns:a16="http://schemas.microsoft.com/office/drawing/2014/main" id="{E34A3ADF-47B4-B506-8054-1EF571BF564A}"/>
              </a:ext>
            </a:extLst>
          </p:cNvPr>
          <p:cNvSpPr>
            <a:spLocks noGrp="1"/>
          </p:cNvSpPr>
          <p:nvPr>
            <p:ph type="sldNum" sz="quarter" idx="12"/>
          </p:nvPr>
        </p:nvSpPr>
        <p:spPr/>
        <p:txBody>
          <a:bodyPr/>
          <a:lstStyle/>
          <a:p>
            <a:fld id="{25A42088-C730-408A-A823-60BED1AFCEA0}" type="slidenum">
              <a:rPr lang="ru-RU" smtClean="0"/>
              <a:t>8</a:t>
            </a:fld>
            <a:endParaRPr lang="ru-RU"/>
          </a:p>
        </p:txBody>
      </p:sp>
    </p:spTree>
    <p:extLst>
      <p:ext uri="{BB962C8B-B14F-4D97-AF65-F5344CB8AC3E}">
        <p14:creationId xmlns:p14="http://schemas.microsoft.com/office/powerpoint/2010/main" val="3020184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06F61235-47A2-AA17-C4F2-8ABFDBA26C1A}"/>
              </a:ext>
            </a:extLst>
          </p:cNvPr>
          <p:cNvSpPr>
            <a:spLocks noGrp="1"/>
          </p:cNvSpPr>
          <p:nvPr>
            <p:ph type="title"/>
          </p:nvPr>
        </p:nvSpPr>
        <p:spPr/>
        <p:txBody>
          <a:bodyPr>
            <a:normAutofit fontScale="90000"/>
          </a:bodyPr>
          <a:lstStyle/>
          <a:p>
            <a:r>
              <a:rPr lang="ru-RU" dirty="0"/>
              <a:t>Преимущества инкрементной модели</a:t>
            </a:r>
          </a:p>
        </p:txBody>
      </p:sp>
      <p:sp>
        <p:nvSpPr>
          <p:cNvPr id="7" name="Объект 6">
            <a:extLst>
              <a:ext uri="{FF2B5EF4-FFF2-40B4-BE49-F238E27FC236}">
                <a16:creationId xmlns:a16="http://schemas.microsoft.com/office/drawing/2014/main" id="{DEC12A8A-BB2B-2EB5-2645-C9102D919D64}"/>
              </a:ext>
            </a:extLst>
          </p:cNvPr>
          <p:cNvSpPr>
            <a:spLocks noGrp="1"/>
          </p:cNvSpPr>
          <p:nvPr>
            <p:ph idx="1"/>
          </p:nvPr>
        </p:nvSpPr>
        <p:spPr/>
        <p:txBody>
          <a:bodyPr/>
          <a:lstStyle/>
          <a:p>
            <a:pPr marL="342900" indent="-342900">
              <a:buFont typeface="Wingdings" panose="05000000000000000000" pitchFamily="2" charset="2"/>
              <a:buChar char="v"/>
            </a:pPr>
            <a:r>
              <a:rPr lang="ru-RU" dirty="0"/>
              <a:t>Не нужно вкладывать много денег на начальном этапе. Заказчик оплачивает создание основных функций, получает продукт, «выкатывает» его на рынок — и по итогам обратной связи решает, продолжать ли разработку.</a:t>
            </a:r>
          </a:p>
          <a:p>
            <a:pPr marL="342900" indent="-342900">
              <a:buFont typeface="Wingdings" panose="05000000000000000000" pitchFamily="2" charset="2"/>
              <a:buChar char="v"/>
            </a:pPr>
            <a:r>
              <a:rPr lang="ru-RU" dirty="0"/>
              <a:t>Можно быстро получить фидбэк от пользователей и оперативно обновить техническое задание. Так снижается риск создать продукт, который никому не нужен.</a:t>
            </a:r>
          </a:p>
          <a:p>
            <a:pPr marL="342900" indent="-342900">
              <a:buFont typeface="Wingdings" panose="05000000000000000000" pitchFamily="2" charset="2"/>
              <a:buChar char="v"/>
            </a:pPr>
            <a:r>
              <a:rPr lang="ru-RU" dirty="0"/>
              <a:t>Ошибка обходится дешевле. Если при разработке архитектуры была допущена ошибка, то исправить её будет стоить не так дорого, как в «водопаде» или V-образной модели.</a:t>
            </a:r>
          </a:p>
        </p:txBody>
      </p:sp>
      <p:sp>
        <p:nvSpPr>
          <p:cNvPr id="5" name="Номер слайда 4">
            <a:extLst>
              <a:ext uri="{FF2B5EF4-FFF2-40B4-BE49-F238E27FC236}">
                <a16:creationId xmlns:a16="http://schemas.microsoft.com/office/drawing/2014/main" id="{50B7F043-E114-BDFB-78CB-0DDAE9DC7292}"/>
              </a:ext>
            </a:extLst>
          </p:cNvPr>
          <p:cNvSpPr>
            <a:spLocks noGrp="1"/>
          </p:cNvSpPr>
          <p:nvPr>
            <p:ph type="sldNum" sz="quarter" idx="12"/>
          </p:nvPr>
        </p:nvSpPr>
        <p:spPr/>
        <p:txBody>
          <a:bodyPr/>
          <a:lstStyle/>
          <a:p>
            <a:fld id="{25A42088-C730-408A-A823-60BED1AFCEA0}" type="slidenum">
              <a:rPr lang="ru-RU" smtClean="0"/>
              <a:t>9</a:t>
            </a:fld>
            <a:endParaRPr lang="ru-RU"/>
          </a:p>
        </p:txBody>
      </p:sp>
    </p:spTree>
    <p:extLst>
      <p:ext uri="{BB962C8B-B14F-4D97-AF65-F5344CB8AC3E}">
        <p14:creationId xmlns:p14="http://schemas.microsoft.com/office/powerpoint/2010/main" val="4039709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C0CA7A2C-FAE3-A313-4584-481ADEC58849}"/>
              </a:ext>
            </a:extLst>
          </p:cNvPr>
          <p:cNvSpPr>
            <a:spLocks noGrp="1"/>
          </p:cNvSpPr>
          <p:nvPr>
            <p:ph type="title"/>
          </p:nvPr>
        </p:nvSpPr>
        <p:spPr/>
        <p:txBody>
          <a:bodyPr/>
          <a:lstStyle/>
          <a:p>
            <a:r>
              <a:rPr lang="ru-RU" dirty="0"/>
              <a:t>Недостатки инкрементной модели</a:t>
            </a:r>
          </a:p>
        </p:txBody>
      </p:sp>
      <p:sp>
        <p:nvSpPr>
          <p:cNvPr id="7" name="Объект 6">
            <a:extLst>
              <a:ext uri="{FF2B5EF4-FFF2-40B4-BE49-F238E27FC236}">
                <a16:creationId xmlns:a16="http://schemas.microsoft.com/office/drawing/2014/main" id="{A1134B53-3F63-64BC-588E-2520470DD5DC}"/>
              </a:ext>
            </a:extLst>
          </p:cNvPr>
          <p:cNvSpPr>
            <a:spLocks noGrp="1"/>
          </p:cNvSpPr>
          <p:nvPr>
            <p:ph idx="1"/>
          </p:nvPr>
        </p:nvSpPr>
        <p:spPr/>
        <p:txBody>
          <a:bodyPr/>
          <a:lstStyle/>
          <a:p>
            <a:pPr marL="342900" indent="-342900">
              <a:buFont typeface="Wingdings" panose="05000000000000000000" pitchFamily="2" charset="2"/>
              <a:buChar char="v"/>
            </a:pPr>
            <a:r>
              <a:rPr lang="ru-RU" dirty="0"/>
              <a:t>Каждая команда программистов разрабатывает свою функциональность и может реализовать интерфейс продукта по-своему. Чтобы этого не произошло, важно на этапе обсуждения техзадания объяснить, каким он будет, чтобы у всех участников проекта сложилось единое понимание. </a:t>
            </a:r>
          </a:p>
          <a:p>
            <a:pPr marL="342900" indent="-342900">
              <a:buFont typeface="Wingdings" panose="05000000000000000000" pitchFamily="2" charset="2"/>
              <a:buChar char="v"/>
            </a:pPr>
            <a:r>
              <a:rPr lang="ru-RU" dirty="0"/>
              <a:t>Разработчики могут оттягивать доработку основной функциональности и заниматься второстепенными задачами. Чтобы этого не случилось, менеджер проекта должен контролировать, чем занимается каждая команда.</a:t>
            </a:r>
          </a:p>
        </p:txBody>
      </p:sp>
      <p:sp>
        <p:nvSpPr>
          <p:cNvPr id="5" name="Номер слайда 4">
            <a:extLst>
              <a:ext uri="{FF2B5EF4-FFF2-40B4-BE49-F238E27FC236}">
                <a16:creationId xmlns:a16="http://schemas.microsoft.com/office/drawing/2014/main" id="{89295FD4-CD03-CFAE-EA4E-782342BB0631}"/>
              </a:ext>
            </a:extLst>
          </p:cNvPr>
          <p:cNvSpPr>
            <a:spLocks noGrp="1"/>
          </p:cNvSpPr>
          <p:nvPr>
            <p:ph type="sldNum" sz="quarter" idx="12"/>
          </p:nvPr>
        </p:nvSpPr>
        <p:spPr/>
        <p:txBody>
          <a:bodyPr/>
          <a:lstStyle/>
          <a:p>
            <a:fld id="{25A42088-C730-408A-A823-60BED1AFCEA0}" type="slidenum">
              <a:rPr lang="ru-RU" smtClean="0"/>
              <a:t>10</a:t>
            </a:fld>
            <a:endParaRPr lang="ru-RU"/>
          </a:p>
        </p:txBody>
      </p:sp>
    </p:spTree>
    <p:extLst>
      <p:ext uri="{BB962C8B-B14F-4D97-AF65-F5344CB8AC3E}">
        <p14:creationId xmlns:p14="http://schemas.microsoft.com/office/powerpoint/2010/main" val="89302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FB94F9-C7C0-FF36-75DE-75173792BCDA}"/>
              </a:ext>
            </a:extLst>
          </p:cNvPr>
          <p:cNvSpPr>
            <a:spLocks noGrp="1"/>
          </p:cNvSpPr>
          <p:nvPr>
            <p:ph type="title"/>
          </p:nvPr>
        </p:nvSpPr>
        <p:spPr>
          <a:xfrm>
            <a:off x="1371599" y="685800"/>
            <a:ext cx="9847385" cy="733697"/>
          </a:xfrm>
        </p:spPr>
        <p:txBody>
          <a:bodyPr>
            <a:noAutofit/>
          </a:bodyPr>
          <a:lstStyle/>
          <a:p>
            <a:r>
              <a:rPr lang="ru-RU" sz="3600" dirty="0"/>
              <a:t>Когда использовать инкрементную модель?</a:t>
            </a:r>
          </a:p>
        </p:txBody>
      </p:sp>
      <p:sp>
        <p:nvSpPr>
          <p:cNvPr id="3" name="Объект 2">
            <a:extLst>
              <a:ext uri="{FF2B5EF4-FFF2-40B4-BE49-F238E27FC236}">
                <a16:creationId xmlns:a16="http://schemas.microsoft.com/office/drawing/2014/main" id="{A274BBFF-76EB-DD29-3827-7406652042EB}"/>
              </a:ext>
            </a:extLst>
          </p:cNvPr>
          <p:cNvSpPr>
            <a:spLocks noGrp="1"/>
          </p:cNvSpPr>
          <p:nvPr>
            <p:ph idx="1"/>
          </p:nvPr>
        </p:nvSpPr>
        <p:spPr>
          <a:xfrm>
            <a:off x="1371600" y="1820008"/>
            <a:ext cx="9601200" cy="4441454"/>
          </a:xfrm>
        </p:spPr>
        <p:txBody>
          <a:bodyPr>
            <a:normAutofit/>
          </a:bodyPr>
          <a:lstStyle/>
          <a:p>
            <a:pPr marL="342900" indent="-342900">
              <a:buFont typeface="Wingdings" panose="05000000000000000000" pitchFamily="2" charset="2"/>
              <a:buChar char="v"/>
            </a:pPr>
            <a:r>
              <a:rPr lang="ru-RU" sz="2400" dirty="0"/>
              <a:t>Когда основные требования к системе четко определены и понятны. В то же время некоторые детали могут дорабатываться с течением времени.</a:t>
            </a:r>
          </a:p>
          <a:p>
            <a:pPr marL="342900" indent="-342900">
              <a:buFont typeface="Wingdings" panose="05000000000000000000" pitchFamily="2" charset="2"/>
              <a:buChar char="v"/>
            </a:pPr>
            <a:r>
              <a:rPr lang="ru-RU" sz="2400" dirty="0"/>
              <a:t>Требуется ранний вывод продукта на рынок.</a:t>
            </a:r>
          </a:p>
          <a:p>
            <a:pPr marL="342900" indent="-342900">
              <a:buFont typeface="Wingdings" panose="05000000000000000000" pitchFamily="2" charset="2"/>
              <a:buChar char="v"/>
            </a:pPr>
            <a:r>
              <a:rPr lang="ru-RU" sz="2400" dirty="0"/>
              <a:t>Есть несколько рисковых фич или целей.</a:t>
            </a:r>
          </a:p>
        </p:txBody>
      </p:sp>
      <p:sp>
        <p:nvSpPr>
          <p:cNvPr id="4" name="Номер слайда 3">
            <a:extLst>
              <a:ext uri="{FF2B5EF4-FFF2-40B4-BE49-F238E27FC236}">
                <a16:creationId xmlns:a16="http://schemas.microsoft.com/office/drawing/2014/main" id="{70134C22-E6CD-1EFF-4500-2CCECD8CFBFB}"/>
              </a:ext>
            </a:extLst>
          </p:cNvPr>
          <p:cNvSpPr>
            <a:spLocks noGrp="1"/>
          </p:cNvSpPr>
          <p:nvPr>
            <p:ph type="sldNum" sz="quarter" idx="12"/>
          </p:nvPr>
        </p:nvSpPr>
        <p:spPr/>
        <p:txBody>
          <a:bodyPr/>
          <a:lstStyle/>
          <a:p>
            <a:fld id="{25A42088-C730-408A-A823-60BED1AFCEA0}" type="slidenum">
              <a:rPr lang="ru-RU" smtClean="0"/>
              <a:t>11</a:t>
            </a:fld>
            <a:endParaRPr lang="ru-RU"/>
          </a:p>
        </p:txBody>
      </p:sp>
    </p:spTree>
    <p:extLst>
      <p:ext uri="{BB962C8B-B14F-4D97-AF65-F5344CB8AC3E}">
        <p14:creationId xmlns:p14="http://schemas.microsoft.com/office/powerpoint/2010/main" val="1046648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D4B0C961-0910-6305-F788-88A93D53FC63}"/>
              </a:ext>
            </a:extLst>
          </p:cNvPr>
          <p:cNvSpPr>
            <a:spLocks noGrp="1"/>
          </p:cNvSpPr>
          <p:nvPr>
            <p:ph type="title"/>
          </p:nvPr>
        </p:nvSpPr>
        <p:spPr/>
        <p:txBody>
          <a:bodyPr>
            <a:noAutofit/>
          </a:bodyPr>
          <a:lstStyle/>
          <a:p>
            <a:r>
              <a:rPr lang="ru-RU" sz="3600" dirty="0"/>
              <a:t>Разница между итерационной и инкрементной моделями  </a:t>
            </a:r>
          </a:p>
        </p:txBody>
      </p:sp>
      <p:sp>
        <p:nvSpPr>
          <p:cNvPr id="5" name="Номер слайда 4">
            <a:extLst>
              <a:ext uri="{FF2B5EF4-FFF2-40B4-BE49-F238E27FC236}">
                <a16:creationId xmlns:a16="http://schemas.microsoft.com/office/drawing/2014/main" id="{4A35B44E-D6B6-FFBD-6211-01071286A831}"/>
              </a:ext>
            </a:extLst>
          </p:cNvPr>
          <p:cNvSpPr>
            <a:spLocks noGrp="1"/>
          </p:cNvSpPr>
          <p:nvPr>
            <p:ph type="sldNum" sz="quarter" idx="12"/>
          </p:nvPr>
        </p:nvSpPr>
        <p:spPr/>
        <p:txBody>
          <a:bodyPr/>
          <a:lstStyle/>
          <a:p>
            <a:fld id="{25A42088-C730-408A-A823-60BED1AFCEA0}" type="slidenum">
              <a:rPr lang="ru-RU" smtClean="0"/>
              <a:t>12</a:t>
            </a:fld>
            <a:endParaRPr lang="ru-RU"/>
          </a:p>
        </p:txBody>
      </p:sp>
      <p:pic>
        <p:nvPicPr>
          <p:cNvPr id="1026" name="Picture 2">
            <a:extLst>
              <a:ext uri="{FF2B5EF4-FFF2-40B4-BE49-F238E27FC236}">
                <a16:creationId xmlns:a16="http://schemas.microsoft.com/office/drawing/2014/main" id="{233DBFBD-6B38-C214-5AF5-9CD6CF43211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85107" y="1962809"/>
            <a:ext cx="6421786" cy="4702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1941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p:txBody>
          <a:bodyPr/>
          <a:lstStyle/>
          <a:p>
            <a:r>
              <a:rPr lang="ru-RU" dirty="0"/>
              <a:t>Спиральная модель</a:t>
            </a:r>
          </a:p>
        </p:txBody>
      </p:sp>
      <p:sp>
        <p:nvSpPr>
          <p:cNvPr id="5" name="Объект 4"/>
          <p:cNvSpPr>
            <a:spLocks noGrp="1"/>
          </p:cNvSpPr>
          <p:nvPr>
            <p:ph sz="half" idx="1"/>
          </p:nvPr>
        </p:nvSpPr>
        <p:spPr>
          <a:xfrm>
            <a:off x="1371600" y="1638299"/>
            <a:ext cx="4528038" cy="4709747"/>
          </a:xfrm>
        </p:spPr>
        <p:txBody>
          <a:bodyPr>
            <a:normAutofit fontScale="92500" lnSpcReduction="20000"/>
          </a:bodyPr>
          <a:lstStyle/>
          <a:p>
            <a:r>
              <a:rPr lang="ru-RU" b="1" dirty="0"/>
              <a:t>Спиральная модель </a:t>
            </a:r>
            <a:r>
              <a:rPr lang="ru-RU" dirty="0"/>
              <a:t>– на каждом витке спирали:</a:t>
            </a:r>
          </a:p>
          <a:p>
            <a:pPr marL="457200" indent="-457200">
              <a:buFont typeface="+mj-lt"/>
              <a:buAutoNum type="arabicPeriod"/>
            </a:pPr>
            <a:r>
              <a:rPr lang="ru-RU" dirty="0"/>
              <a:t>выполняется создание очередной версии продукта,</a:t>
            </a:r>
          </a:p>
          <a:p>
            <a:pPr marL="457200" indent="-457200">
              <a:buFont typeface="+mj-lt"/>
              <a:buAutoNum type="arabicPeriod"/>
            </a:pPr>
            <a:r>
              <a:rPr lang="ru-RU" dirty="0"/>
              <a:t>уточняются требования проекта,</a:t>
            </a:r>
          </a:p>
          <a:p>
            <a:pPr marL="457200" indent="-457200">
              <a:buFont typeface="+mj-lt"/>
              <a:buAutoNum type="arabicPeriod"/>
            </a:pPr>
            <a:r>
              <a:rPr lang="ru-RU" dirty="0"/>
              <a:t>определяется его качество,</a:t>
            </a:r>
          </a:p>
          <a:p>
            <a:pPr marL="457200" indent="-457200">
              <a:buFont typeface="+mj-lt"/>
              <a:buAutoNum type="arabicPeriod"/>
            </a:pPr>
            <a:r>
              <a:rPr lang="ru-RU" dirty="0"/>
              <a:t>планируются работы следующего витка.</a:t>
            </a:r>
          </a:p>
          <a:p>
            <a:r>
              <a:rPr lang="ru-RU" i="1" dirty="0"/>
              <a:t>Особое внимание уделяется начальным этапам разработки – анализу и проектированию, где реализуемость тех или иных технических решений проверяется и обосновывается посредством создания прототипов (макетирования).</a:t>
            </a:r>
          </a:p>
        </p:txBody>
      </p:sp>
      <p:pic>
        <p:nvPicPr>
          <p:cNvPr id="3074" name="Picture 2" descr="Спиральная модель ЖЦ ИС"/>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l="5178" r="8485" b="4387"/>
          <a:stretch/>
        </p:blipFill>
        <p:spPr bwMode="auto">
          <a:xfrm>
            <a:off x="6283570" y="1709518"/>
            <a:ext cx="5484394" cy="3609827"/>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36A03E5D-F7FC-363F-7476-183AC1D8842B}"/>
              </a:ext>
            </a:extLst>
          </p:cNvPr>
          <p:cNvSpPr>
            <a:spLocks noGrp="1"/>
          </p:cNvSpPr>
          <p:nvPr>
            <p:ph type="sldNum" sz="quarter" idx="12"/>
          </p:nvPr>
        </p:nvSpPr>
        <p:spPr/>
        <p:txBody>
          <a:bodyPr/>
          <a:lstStyle/>
          <a:p>
            <a:fld id="{25A42088-C730-408A-A823-60BED1AFCEA0}" type="slidenum">
              <a:rPr lang="ru-RU" smtClean="0"/>
              <a:t>13</a:t>
            </a:fld>
            <a:endParaRPr lang="ru-RU"/>
          </a:p>
        </p:txBody>
      </p:sp>
    </p:spTree>
    <p:extLst>
      <p:ext uri="{BB962C8B-B14F-4D97-AF65-F5344CB8AC3E}">
        <p14:creationId xmlns:p14="http://schemas.microsoft.com/office/powerpoint/2010/main" val="3133126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BE75AB6D-9DCD-1B64-AD91-D419804A2DD6}"/>
              </a:ext>
            </a:extLst>
          </p:cNvPr>
          <p:cNvSpPr>
            <a:spLocks noGrp="1"/>
          </p:cNvSpPr>
          <p:nvPr>
            <p:ph type="title"/>
          </p:nvPr>
        </p:nvSpPr>
        <p:spPr>
          <a:xfrm>
            <a:off x="1371600" y="685800"/>
            <a:ext cx="9601200" cy="637903"/>
          </a:xfrm>
        </p:spPr>
        <p:txBody>
          <a:bodyPr>
            <a:noAutofit/>
          </a:bodyPr>
          <a:lstStyle/>
          <a:p>
            <a:r>
              <a:rPr lang="ru-RU" sz="3200" dirty="0"/>
              <a:t>Преимущества и недостатки спиральной модели</a:t>
            </a:r>
          </a:p>
        </p:txBody>
      </p:sp>
      <p:sp>
        <p:nvSpPr>
          <p:cNvPr id="13" name="Текст 12">
            <a:extLst>
              <a:ext uri="{FF2B5EF4-FFF2-40B4-BE49-F238E27FC236}">
                <a16:creationId xmlns:a16="http://schemas.microsoft.com/office/drawing/2014/main" id="{88537769-A9D9-A05A-BF66-1CDCFE94041F}"/>
              </a:ext>
            </a:extLst>
          </p:cNvPr>
          <p:cNvSpPr>
            <a:spLocks noGrp="1"/>
          </p:cNvSpPr>
          <p:nvPr>
            <p:ph type="body" idx="1"/>
          </p:nvPr>
        </p:nvSpPr>
        <p:spPr>
          <a:xfrm>
            <a:off x="1371600" y="1355027"/>
            <a:ext cx="4443984" cy="637903"/>
          </a:xfrm>
        </p:spPr>
        <p:txBody>
          <a:bodyPr/>
          <a:lstStyle/>
          <a:p>
            <a:r>
              <a:rPr lang="ru-RU" sz="2800" dirty="0"/>
              <a:t>Преимущества</a:t>
            </a:r>
            <a:endParaRPr lang="ru-RU" dirty="0"/>
          </a:p>
        </p:txBody>
      </p:sp>
      <p:sp>
        <p:nvSpPr>
          <p:cNvPr id="14" name="Объект 13">
            <a:extLst>
              <a:ext uri="{FF2B5EF4-FFF2-40B4-BE49-F238E27FC236}">
                <a16:creationId xmlns:a16="http://schemas.microsoft.com/office/drawing/2014/main" id="{41BF65E9-AC99-BF02-848B-585140A6C909}"/>
              </a:ext>
            </a:extLst>
          </p:cNvPr>
          <p:cNvSpPr>
            <a:spLocks noGrp="1"/>
          </p:cNvSpPr>
          <p:nvPr>
            <p:ph sz="half" idx="2"/>
          </p:nvPr>
        </p:nvSpPr>
        <p:spPr>
          <a:xfrm>
            <a:off x="1371600" y="2162908"/>
            <a:ext cx="4443984" cy="4009291"/>
          </a:xfrm>
        </p:spPr>
        <p:txBody>
          <a:bodyPr>
            <a:normAutofit/>
          </a:bodyPr>
          <a:lstStyle/>
          <a:p>
            <a:r>
              <a:rPr lang="ru-RU" sz="2400" b="0" dirty="0">
                <a:solidFill>
                  <a:srgbClr val="2C2D30"/>
                </a:solidFill>
                <a:effectLst/>
              </a:rPr>
              <a:t>Большое внимание уделяется проработке рисков.</a:t>
            </a:r>
          </a:p>
        </p:txBody>
      </p:sp>
      <p:sp>
        <p:nvSpPr>
          <p:cNvPr id="15" name="Текст 14">
            <a:extLst>
              <a:ext uri="{FF2B5EF4-FFF2-40B4-BE49-F238E27FC236}">
                <a16:creationId xmlns:a16="http://schemas.microsoft.com/office/drawing/2014/main" id="{66226389-7518-3602-DBB0-FC35EB03E76E}"/>
              </a:ext>
            </a:extLst>
          </p:cNvPr>
          <p:cNvSpPr>
            <a:spLocks noGrp="1"/>
          </p:cNvSpPr>
          <p:nvPr>
            <p:ph type="body" sz="quarter" idx="3"/>
          </p:nvPr>
        </p:nvSpPr>
        <p:spPr>
          <a:xfrm>
            <a:off x="6525014" y="1355027"/>
            <a:ext cx="4443984" cy="637903"/>
          </a:xfrm>
        </p:spPr>
        <p:txBody>
          <a:bodyPr/>
          <a:lstStyle/>
          <a:p>
            <a:r>
              <a:rPr lang="ru-RU" sz="2800" dirty="0"/>
              <a:t>Недостатки</a:t>
            </a:r>
            <a:endParaRPr lang="ru-RU" dirty="0"/>
          </a:p>
        </p:txBody>
      </p:sp>
      <p:sp>
        <p:nvSpPr>
          <p:cNvPr id="16" name="Объект 15">
            <a:extLst>
              <a:ext uri="{FF2B5EF4-FFF2-40B4-BE49-F238E27FC236}">
                <a16:creationId xmlns:a16="http://schemas.microsoft.com/office/drawing/2014/main" id="{D8C6FD4E-46C6-6123-1E71-679D57EA265B}"/>
              </a:ext>
            </a:extLst>
          </p:cNvPr>
          <p:cNvSpPr>
            <a:spLocks noGrp="1"/>
          </p:cNvSpPr>
          <p:nvPr>
            <p:ph sz="quarter" idx="4"/>
          </p:nvPr>
        </p:nvSpPr>
        <p:spPr>
          <a:xfrm>
            <a:off x="6525014" y="2162908"/>
            <a:ext cx="4443984" cy="4009291"/>
          </a:xfrm>
        </p:spPr>
        <p:txBody>
          <a:bodyPr>
            <a:normAutofit/>
          </a:bodyPr>
          <a:lstStyle/>
          <a:p>
            <a:pPr marL="342900" indent="-342900">
              <a:buFont typeface="Wingdings" panose="05000000000000000000" pitchFamily="2" charset="2"/>
              <a:buChar char="v"/>
            </a:pPr>
            <a:r>
              <a:rPr lang="ru-RU" sz="2400" b="0" i="0" dirty="0">
                <a:solidFill>
                  <a:srgbClr val="2C2D30"/>
                </a:solidFill>
                <a:effectLst/>
              </a:rPr>
              <a:t>Есть риск застрять на начальном этапе — бесконечно совершенствовать первую версию продукта и не продвинуться к следующим.</a:t>
            </a:r>
          </a:p>
          <a:p>
            <a:pPr marL="342900" indent="-342900">
              <a:buFont typeface="Wingdings" panose="05000000000000000000" pitchFamily="2" charset="2"/>
              <a:buChar char="v"/>
            </a:pPr>
            <a:r>
              <a:rPr lang="ru-RU" sz="2400" b="0" i="0" dirty="0">
                <a:solidFill>
                  <a:srgbClr val="2C2D30"/>
                </a:solidFill>
                <a:effectLst/>
              </a:rPr>
              <a:t>Разработка длится долго и стоит дорого.</a:t>
            </a:r>
          </a:p>
        </p:txBody>
      </p:sp>
      <p:sp>
        <p:nvSpPr>
          <p:cNvPr id="5" name="Номер слайда 4">
            <a:extLst>
              <a:ext uri="{FF2B5EF4-FFF2-40B4-BE49-F238E27FC236}">
                <a16:creationId xmlns:a16="http://schemas.microsoft.com/office/drawing/2014/main" id="{EC7FF2B6-DB7B-CDEE-4872-BE0E673491F1}"/>
              </a:ext>
            </a:extLst>
          </p:cNvPr>
          <p:cNvSpPr>
            <a:spLocks noGrp="1"/>
          </p:cNvSpPr>
          <p:nvPr>
            <p:ph type="sldNum" sz="quarter" idx="12"/>
          </p:nvPr>
        </p:nvSpPr>
        <p:spPr>
          <a:xfrm>
            <a:off x="9692170" y="6374670"/>
            <a:ext cx="1280630" cy="404614"/>
          </a:xfrm>
        </p:spPr>
        <p:txBody>
          <a:bodyPr/>
          <a:lstStyle/>
          <a:p>
            <a:fld id="{25A42088-C730-408A-A823-60BED1AFCEA0}" type="slidenum">
              <a:rPr lang="ru-RU" smtClean="0"/>
              <a:pPr/>
              <a:t>14</a:t>
            </a:fld>
            <a:endParaRPr lang="ru-RU"/>
          </a:p>
        </p:txBody>
      </p:sp>
    </p:spTree>
    <p:extLst>
      <p:ext uri="{BB962C8B-B14F-4D97-AF65-F5344CB8AC3E}">
        <p14:creationId xmlns:p14="http://schemas.microsoft.com/office/powerpoint/2010/main" val="1939886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FB94F9-C7C0-FF36-75DE-75173792BCDA}"/>
              </a:ext>
            </a:extLst>
          </p:cNvPr>
          <p:cNvSpPr>
            <a:spLocks noGrp="1"/>
          </p:cNvSpPr>
          <p:nvPr>
            <p:ph type="title"/>
          </p:nvPr>
        </p:nvSpPr>
        <p:spPr>
          <a:xfrm>
            <a:off x="1371599" y="685800"/>
            <a:ext cx="9847385" cy="733697"/>
          </a:xfrm>
        </p:spPr>
        <p:txBody>
          <a:bodyPr>
            <a:noAutofit/>
          </a:bodyPr>
          <a:lstStyle/>
          <a:p>
            <a:r>
              <a:rPr lang="ru-RU" sz="3600" dirty="0"/>
              <a:t>Когда использовать спиральную модель?</a:t>
            </a:r>
          </a:p>
        </p:txBody>
      </p:sp>
      <p:sp>
        <p:nvSpPr>
          <p:cNvPr id="3" name="Объект 2">
            <a:extLst>
              <a:ext uri="{FF2B5EF4-FFF2-40B4-BE49-F238E27FC236}">
                <a16:creationId xmlns:a16="http://schemas.microsoft.com/office/drawing/2014/main" id="{A274BBFF-76EB-DD29-3827-7406652042EB}"/>
              </a:ext>
            </a:extLst>
          </p:cNvPr>
          <p:cNvSpPr>
            <a:spLocks noGrp="1"/>
          </p:cNvSpPr>
          <p:nvPr>
            <p:ph idx="1"/>
          </p:nvPr>
        </p:nvSpPr>
        <p:spPr>
          <a:xfrm>
            <a:off x="1371600" y="1820008"/>
            <a:ext cx="9601200" cy="4441454"/>
          </a:xfrm>
        </p:spPr>
        <p:txBody>
          <a:bodyPr>
            <a:normAutofit/>
          </a:bodyPr>
          <a:lstStyle/>
          <a:p>
            <a:r>
              <a:rPr lang="ru-RU" sz="2800" dirty="0"/>
              <a:t>Эта модель не подойдет для малых проектов, она резонна для сложных и дорогих, например, таких, как разработка системы документооборота для банка, когда каждый следующий шаг требует большего анализа для оценки последствий, чем программирование.</a:t>
            </a:r>
          </a:p>
        </p:txBody>
      </p:sp>
      <p:sp>
        <p:nvSpPr>
          <p:cNvPr id="4" name="Номер слайда 3">
            <a:extLst>
              <a:ext uri="{FF2B5EF4-FFF2-40B4-BE49-F238E27FC236}">
                <a16:creationId xmlns:a16="http://schemas.microsoft.com/office/drawing/2014/main" id="{70134C22-E6CD-1EFF-4500-2CCECD8CFBFB}"/>
              </a:ext>
            </a:extLst>
          </p:cNvPr>
          <p:cNvSpPr>
            <a:spLocks noGrp="1"/>
          </p:cNvSpPr>
          <p:nvPr>
            <p:ph type="sldNum" sz="quarter" idx="12"/>
          </p:nvPr>
        </p:nvSpPr>
        <p:spPr/>
        <p:txBody>
          <a:bodyPr/>
          <a:lstStyle/>
          <a:p>
            <a:fld id="{25A42088-C730-408A-A823-60BED1AFCEA0}" type="slidenum">
              <a:rPr lang="ru-RU" smtClean="0"/>
              <a:t>15</a:t>
            </a:fld>
            <a:endParaRPr lang="ru-RU"/>
          </a:p>
        </p:txBody>
      </p:sp>
    </p:spTree>
    <p:extLst>
      <p:ext uri="{BB962C8B-B14F-4D97-AF65-F5344CB8AC3E}">
        <p14:creationId xmlns:p14="http://schemas.microsoft.com/office/powerpoint/2010/main" val="1420365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EA7FEE-8906-1EAE-33DA-211A1DE3E569}"/>
              </a:ext>
            </a:extLst>
          </p:cNvPr>
          <p:cNvSpPr>
            <a:spLocks noGrp="1"/>
          </p:cNvSpPr>
          <p:nvPr>
            <p:ph type="title"/>
          </p:nvPr>
        </p:nvSpPr>
        <p:spPr/>
        <p:txBody>
          <a:bodyPr/>
          <a:lstStyle/>
          <a:p>
            <a:r>
              <a:rPr lang="ru-RU" cap="none" dirty="0"/>
              <a:t>Качество ПО</a:t>
            </a:r>
          </a:p>
        </p:txBody>
      </p:sp>
      <p:sp>
        <p:nvSpPr>
          <p:cNvPr id="4" name="Номер слайда 3">
            <a:extLst>
              <a:ext uri="{FF2B5EF4-FFF2-40B4-BE49-F238E27FC236}">
                <a16:creationId xmlns:a16="http://schemas.microsoft.com/office/drawing/2014/main" id="{03BA3803-9132-EDAA-B0BE-4CD4C625F6ED}"/>
              </a:ext>
            </a:extLst>
          </p:cNvPr>
          <p:cNvSpPr>
            <a:spLocks noGrp="1"/>
          </p:cNvSpPr>
          <p:nvPr>
            <p:ph type="sldNum" sz="quarter" idx="12"/>
          </p:nvPr>
        </p:nvSpPr>
        <p:spPr/>
        <p:txBody>
          <a:bodyPr/>
          <a:lstStyle/>
          <a:p>
            <a:fld id="{25A42088-C730-408A-A823-60BED1AFCEA0}" type="slidenum">
              <a:rPr lang="ru-RU" smtClean="0"/>
              <a:t>16</a:t>
            </a:fld>
            <a:endParaRPr lang="ru-RU"/>
          </a:p>
        </p:txBody>
      </p:sp>
    </p:spTree>
    <p:extLst>
      <p:ext uri="{BB962C8B-B14F-4D97-AF65-F5344CB8AC3E}">
        <p14:creationId xmlns:p14="http://schemas.microsoft.com/office/powerpoint/2010/main" val="3018008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9282F9-4D3C-BC75-AAA6-3F765CAB3012}"/>
              </a:ext>
            </a:extLst>
          </p:cNvPr>
          <p:cNvSpPr>
            <a:spLocks noGrp="1"/>
          </p:cNvSpPr>
          <p:nvPr>
            <p:ph type="title"/>
          </p:nvPr>
        </p:nvSpPr>
        <p:spPr/>
        <p:txBody>
          <a:bodyPr/>
          <a:lstStyle/>
          <a:p>
            <a:r>
              <a:rPr lang="ru-RU" dirty="0"/>
              <a:t>Качество ПО</a:t>
            </a:r>
          </a:p>
        </p:txBody>
      </p:sp>
      <p:sp>
        <p:nvSpPr>
          <p:cNvPr id="3" name="Объект 2">
            <a:extLst>
              <a:ext uri="{FF2B5EF4-FFF2-40B4-BE49-F238E27FC236}">
                <a16:creationId xmlns:a16="http://schemas.microsoft.com/office/drawing/2014/main" id="{FEFC71DD-32F2-11BD-C730-C9C91CC71465}"/>
              </a:ext>
            </a:extLst>
          </p:cNvPr>
          <p:cNvSpPr>
            <a:spLocks noGrp="1"/>
          </p:cNvSpPr>
          <p:nvPr>
            <p:ph idx="1"/>
          </p:nvPr>
        </p:nvSpPr>
        <p:spPr/>
        <p:txBody>
          <a:bodyPr>
            <a:normAutofit fontScale="92500"/>
          </a:bodyPr>
          <a:lstStyle/>
          <a:p>
            <a:r>
              <a:rPr lang="ru-RU" sz="2400" b="1" dirty="0"/>
              <a:t>Качество программного обеспечения </a:t>
            </a:r>
            <a:r>
              <a:rPr lang="ru-RU" sz="2400" dirty="0"/>
              <a:t>определяется в стандарте ISO 9126 как вся совокупность его характеристик, относящихся к возможности удовлетворять высказанные или подразумеваемые потребности всех заинтересованных лиц.</a:t>
            </a:r>
          </a:p>
          <a:p>
            <a:r>
              <a:rPr lang="ru-RU" sz="2400" dirty="0"/>
              <a:t>Тот же стандарт ISO 9126 дает следующее представление качества:</a:t>
            </a:r>
          </a:p>
          <a:p>
            <a:r>
              <a:rPr lang="ru-RU" sz="2400" dirty="0"/>
              <a:t>различаются понятия </a:t>
            </a:r>
            <a:r>
              <a:rPr lang="ru-RU" sz="2400" b="1" dirty="0"/>
              <a:t>внутреннего качества</a:t>
            </a:r>
            <a:r>
              <a:rPr lang="ru-RU" sz="2400" dirty="0"/>
              <a:t>, связанного с характеристиками ПО самого по себе, без учета его поведения; </a:t>
            </a:r>
            <a:r>
              <a:rPr lang="ru-RU" sz="2400" b="1" dirty="0"/>
              <a:t>внешнего качества</a:t>
            </a:r>
            <a:r>
              <a:rPr lang="ru-RU" sz="2400" dirty="0"/>
              <a:t>, характеризующего ПО с точки зрения его поведения; и </a:t>
            </a:r>
            <a:r>
              <a:rPr lang="ru-RU" sz="2400" b="1" dirty="0"/>
              <a:t>качества ПО при использовании в различных контекстах</a:t>
            </a:r>
            <a:r>
              <a:rPr lang="ru-RU" sz="2400" dirty="0"/>
              <a:t> — того качества, которое ощущается пользователями при конкретных сценариях работы ПО. </a:t>
            </a:r>
          </a:p>
          <a:p>
            <a:r>
              <a:rPr lang="ru-RU" sz="2400" dirty="0"/>
              <a:t>Для всех этих аспектов качества введены метрики, позволяющие оценить их. </a:t>
            </a:r>
          </a:p>
        </p:txBody>
      </p:sp>
      <p:sp>
        <p:nvSpPr>
          <p:cNvPr id="4" name="Номер слайда 3">
            <a:extLst>
              <a:ext uri="{FF2B5EF4-FFF2-40B4-BE49-F238E27FC236}">
                <a16:creationId xmlns:a16="http://schemas.microsoft.com/office/drawing/2014/main" id="{D71D505D-A966-076C-A1FB-EA145D9B0C05}"/>
              </a:ext>
            </a:extLst>
          </p:cNvPr>
          <p:cNvSpPr>
            <a:spLocks noGrp="1"/>
          </p:cNvSpPr>
          <p:nvPr>
            <p:ph type="sldNum" sz="quarter" idx="12"/>
          </p:nvPr>
        </p:nvSpPr>
        <p:spPr/>
        <p:txBody>
          <a:bodyPr/>
          <a:lstStyle/>
          <a:p>
            <a:fld id="{25A42088-C730-408A-A823-60BED1AFCEA0}" type="slidenum">
              <a:rPr lang="ru-RU" smtClean="0"/>
              <a:t>17</a:t>
            </a:fld>
            <a:endParaRPr lang="ru-RU"/>
          </a:p>
        </p:txBody>
      </p:sp>
    </p:spTree>
    <p:extLst>
      <p:ext uri="{BB962C8B-B14F-4D97-AF65-F5344CB8AC3E}">
        <p14:creationId xmlns:p14="http://schemas.microsoft.com/office/powerpoint/2010/main" val="4196434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7A84E0-86A8-D818-9C04-65D9CB5FB344}"/>
              </a:ext>
            </a:extLst>
          </p:cNvPr>
          <p:cNvSpPr>
            <a:spLocks noGrp="1"/>
          </p:cNvSpPr>
          <p:nvPr>
            <p:ph type="title"/>
          </p:nvPr>
        </p:nvSpPr>
        <p:spPr/>
        <p:txBody>
          <a:bodyPr/>
          <a:lstStyle/>
          <a:p>
            <a:endParaRPr lang="ru-RU" dirty="0"/>
          </a:p>
        </p:txBody>
      </p:sp>
      <p:sp>
        <p:nvSpPr>
          <p:cNvPr id="4" name="Номер слайда 3">
            <a:extLst>
              <a:ext uri="{FF2B5EF4-FFF2-40B4-BE49-F238E27FC236}">
                <a16:creationId xmlns:a16="http://schemas.microsoft.com/office/drawing/2014/main" id="{605393BB-A918-0BAE-A92E-1A3D020320C3}"/>
              </a:ext>
            </a:extLst>
          </p:cNvPr>
          <p:cNvSpPr>
            <a:spLocks noGrp="1"/>
          </p:cNvSpPr>
          <p:nvPr>
            <p:ph type="sldNum" sz="quarter" idx="12"/>
          </p:nvPr>
        </p:nvSpPr>
        <p:spPr/>
        <p:txBody>
          <a:bodyPr/>
          <a:lstStyle/>
          <a:p>
            <a:fld id="{25A42088-C730-408A-A823-60BED1AFCEA0}" type="slidenum">
              <a:rPr lang="ru-RU" smtClean="0"/>
              <a:t>18</a:t>
            </a:fld>
            <a:endParaRPr lang="ru-RU"/>
          </a:p>
        </p:txBody>
      </p:sp>
      <p:pic>
        <p:nvPicPr>
          <p:cNvPr id="5" name="Объект 4">
            <a:extLst>
              <a:ext uri="{FF2B5EF4-FFF2-40B4-BE49-F238E27FC236}">
                <a16:creationId xmlns:a16="http://schemas.microsoft.com/office/drawing/2014/main" id="{2E3E0F86-1C58-665D-286A-D24877F1C007}"/>
              </a:ext>
            </a:extLst>
          </p:cNvPr>
          <p:cNvPicPr>
            <a:picLocks noGrp="1" noChangeAspect="1"/>
          </p:cNvPicPr>
          <p:nvPr>
            <p:ph idx="1"/>
          </p:nvPr>
        </p:nvPicPr>
        <p:blipFill>
          <a:blip r:embed="rId2"/>
          <a:stretch>
            <a:fillRect/>
          </a:stretch>
        </p:blipFill>
        <p:spPr>
          <a:xfrm>
            <a:off x="1371600" y="1604208"/>
            <a:ext cx="9601200" cy="3838785"/>
          </a:xfrm>
          <a:prstGeom prst="rect">
            <a:avLst/>
          </a:prstGeom>
        </p:spPr>
      </p:pic>
    </p:spTree>
    <p:extLst>
      <p:ext uri="{BB962C8B-B14F-4D97-AF65-F5344CB8AC3E}">
        <p14:creationId xmlns:p14="http://schemas.microsoft.com/office/powerpoint/2010/main" val="4042860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5A98FE-475C-916E-7398-765306EAF7AA}"/>
              </a:ext>
            </a:extLst>
          </p:cNvPr>
          <p:cNvSpPr>
            <a:spLocks noGrp="1"/>
          </p:cNvSpPr>
          <p:nvPr>
            <p:ph type="title"/>
          </p:nvPr>
        </p:nvSpPr>
        <p:spPr/>
        <p:txBody>
          <a:bodyPr/>
          <a:lstStyle/>
          <a:p>
            <a:r>
              <a:rPr lang="ru-RU" dirty="0"/>
              <a:t>Стандарты </a:t>
            </a:r>
            <a:r>
              <a:rPr lang="en-US" dirty="0"/>
              <a:t>ISO 9000</a:t>
            </a:r>
            <a:endParaRPr lang="ru-RU" dirty="0"/>
          </a:p>
        </p:txBody>
      </p:sp>
      <p:sp>
        <p:nvSpPr>
          <p:cNvPr id="3" name="Объект 2">
            <a:extLst>
              <a:ext uri="{FF2B5EF4-FFF2-40B4-BE49-F238E27FC236}">
                <a16:creationId xmlns:a16="http://schemas.microsoft.com/office/drawing/2014/main" id="{A785A5C5-B86A-EF2C-3B53-7680817BE24C}"/>
              </a:ext>
            </a:extLst>
          </p:cNvPr>
          <p:cNvSpPr>
            <a:spLocks noGrp="1"/>
          </p:cNvSpPr>
          <p:nvPr>
            <p:ph idx="1"/>
          </p:nvPr>
        </p:nvSpPr>
        <p:spPr>
          <a:xfrm>
            <a:off x="1371600" y="1228437"/>
            <a:ext cx="10266218" cy="5458690"/>
          </a:xfrm>
        </p:spPr>
        <p:txBody>
          <a:bodyPr>
            <a:normAutofit lnSpcReduction="10000"/>
          </a:bodyPr>
          <a:lstStyle/>
          <a:p>
            <a:r>
              <a:rPr lang="ru-RU" sz="1800" dirty="0"/>
              <a:t>Общие принципы обеспечения качества процессов производства во всех отраслях экономики регулируются набором стандартов ISO 9000.</a:t>
            </a:r>
          </a:p>
          <a:p>
            <a:r>
              <a:rPr lang="ru-RU" sz="1800" dirty="0"/>
              <a:t>Наиболее важные для разработки ПО стандарты:</a:t>
            </a:r>
          </a:p>
          <a:p>
            <a:pPr marL="342900" indent="-342900">
              <a:buFont typeface="Wingdings" panose="05000000000000000000" pitchFamily="2" charset="2"/>
              <a:buChar char="v"/>
            </a:pPr>
            <a:r>
              <a:rPr lang="ru-RU" sz="1800" b="1" dirty="0"/>
              <a:t>ISO 9000:2000 Quality </a:t>
            </a:r>
            <a:r>
              <a:rPr lang="ru-RU" sz="1800" b="1" dirty="0" err="1"/>
              <a:t>management</a:t>
            </a:r>
            <a:r>
              <a:rPr lang="ru-RU" sz="1800" b="1" dirty="0"/>
              <a:t> </a:t>
            </a:r>
            <a:r>
              <a:rPr lang="ru-RU" sz="1800" b="1" dirty="0" err="1"/>
              <a:t>systems</a:t>
            </a:r>
            <a:r>
              <a:rPr lang="ru-RU" sz="1800" b="1" dirty="0"/>
              <a:t> — </a:t>
            </a:r>
            <a:r>
              <a:rPr lang="ru-RU" sz="1800" b="1" dirty="0" err="1"/>
              <a:t>Fundamentals</a:t>
            </a:r>
            <a:r>
              <a:rPr lang="ru-RU" sz="1800" b="1" dirty="0"/>
              <a:t> </a:t>
            </a:r>
            <a:r>
              <a:rPr lang="ru-RU" sz="1800" b="1" dirty="0" err="1"/>
              <a:t>and</a:t>
            </a:r>
            <a:r>
              <a:rPr lang="ru-RU" sz="1800" b="1" dirty="0"/>
              <a:t> </a:t>
            </a:r>
            <a:r>
              <a:rPr lang="ru-RU" sz="1800" b="1" dirty="0" err="1"/>
              <a:t>vocabulary</a:t>
            </a:r>
            <a:endParaRPr lang="ru-RU" sz="1800" b="1" dirty="0"/>
          </a:p>
          <a:p>
            <a:r>
              <a:rPr lang="ru-RU" sz="1800" dirty="0"/>
              <a:t>Системы управления качеством — Основы и словарь. (Аналог ГОСТ Р2001).</a:t>
            </a:r>
          </a:p>
          <a:p>
            <a:pPr marL="342900" indent="-342900">
              <a:buFont typeface="Wingdings" panose="05000000000000000000" pitchFamily="2" charset="2"/>
              <a:buChar char="v"/>
            </a:pPr>
            <a:r>
              <a:rPr lang="ru-RU" sz="1800" b="1" dirty="0"/>
              <a:t>ISO 9001:2000 Quality </a:t>
            </a:r>
            <a:r>
              <a:rPr lang="ru-RU" sz="1800" b="1" dirty="0" err="1"/>
              <a:t>management</a:t>
            </a:r>
            <a:r>
              <a:rPr lang="ru-RU" sz="1800" b="1" dirty="0"/>
              <a:t> </a:t>
            </a:r>
            <a:r>
              <a:rPr lang="ru-RU" sz="1800" b="1" dirty="0" err="1"/>
              <a:t>systems</a:t>
            </a:r>
            <a:r>
              <a:rPr lang="ru-RU" sz="1800" b="1" dirty="0"/>
              <a:t> — </a:t>
            </a:r>
            <a:r>
              <a:rPr lang="ru-RU" sz="1800" b="1" dirty="0" err="1"/>
              <a:t>Requirements</a:t>
            </a:r>
            <a:r>
              <a:rPr lang="ru-RU" sz="1800" b="1" dirty="0"/>
              <a:t>. </a:t>
            </a:r>
            <a:r>
              <a:rPr lang="ru-RU" sz="1800" b="1" dirty="0" err="1"/>
              <a:t>Models</a:t>
            </a:r>
            <a:r>
              <a:rPr lang="ru-RU" sz="1800" b="1" dirty="0"/>
              <a:t> </a:t>
            </a:r>
            <a:r>
              <a:rPr lang="ru-RU" sz="1800" b="1" dirty="0" err="1"/>
              <a:t>for</a:t>
            </a:r>
            <a:r>
              <a:rPr lang="ru-RU" sz="1800" b="1" dirty="0"/>
              <a:t> </a:t>
            </a:r>
            <a:r>
              <a:rPr lang="ru-RU" sz="1800" b="1" dirty="0" err="1"/>
              <a:t>quality</a:t>
            </a:r>
            <a:r>
              <a:rPr lang="ru-RU" sz="1800" b="1" dirty="0"/>
              <a:t> </a:t>
            </a:r>
            <a:r>
              <a:rPr lang="ru-RU" sz="1800" b="1" dirty="0" err="1"/>
              <a:t>assurance</a:t>
            </a:r>
            <a:r>
              <a:rPr lang="ru-RU" sz="1800" b="1" dirty="0"/>
              <a:t> </a:t>
            </a:r>
            <a:r>
              <a:rPr lang="ru-RU" sz="1800" b="1" dirty="0" err="1"/>
              <a:t>in</a:t>
            </a:r>
            <a:r>
              <a:rPr lang="ru-RU" sz="1800" b="1" dirty="0"/>
              <a:t> </a:t>
            </a:r>
            <a:r>
              <a:rPr lang="ru-RU" sz="1800" b="1" dirty="0" err="1"/>
              <a:t>design</a:t>
            </a:r>
            <a:r>
              <a:rPr lang="ru-RU" sz="1800" b="1" dirty="0"/>
              <a:t>, </a:t>
            </a:r>
            <a:r>
              <a:rPr lang="ru-RU" sz="1800" b="1" dirty="0" err="1"/>
              <a:t>development</a:t>
            </a:r>
            <a:r>
              <a:rPr lang="ru-RU" sz="1800" b="1" dirty="0"/>
              <a:t>, </a:t>
            </a:r>
            <a:r>
              <a:rPr lang="ru-RU" sz="1800" b="1" dirty="0" err="1"/>
              <a:t>production</a:t>
            </a:r>
            <a:r>
              <a:rPr lang="ru-RU" sz="1800" b="1" dirty="0"/>
              <a:t>, </a:t>
            </a:r>
            <a:r>
              <a:rPr lang="ru-RU" sz="1800" b="1" dirty="0" err="1"/>
              <a:t>installation</a:t>
            </a:r>
            <a:r>
              <a:rPr lang="ru-RU" sz="1800" b="1" dirty="0"/>
              <a:t>, </a:t>
            </a:r>
            <a:r>
              <a:rPr lang="ru-RU" sz="1800" b="1" dirty="0" err="1"/>
              <a:t>and</a:t>
            </a:r>
            <a:r>
              <a:rPr lang="ru-RU" sz="1800" b="1" dirty="0"/>
              <a:t> </a:t>
            </a:r>
            <a:r>
              <a:rPr lang="ru-RU" sz="1800" b="1" dirty="0" err="1"/>
              <a:t>servicing</a:t>
            </a:r>
            <a:endParaRPr lang="ru-RU" sz="1800" b="1" dirty="0"/>
          </a:p>
          <a:p>
            <a:r>
              <a:rPr lang="ru-RU" sz="1800" dirty="0"/>
              <a:t>Системы управления качеством — Требования. Модели для обеспечения качества при проектировании, разработке, коммерциализации, установке и обслуживании.</a:t>
            </a:r>
          </a:p>
          <a:p>
            <a:pPr marL="342900" indent="-342900">
              <a:buFont typeface="Wingdings" panose="05000000000000000000" pitchFamily="2" charset="2"/>
              <a:buChar char="v"/>
            </a:pPr>
            <a:r>
              <a:rPr lang="en-US" sz="1800" b="1" dirty="0"/>
              <a:t>ISO 9004:2000 Quality management systems — Guidelines for performance improvements</a:t>
            </a:r>
            <a:endParaRPr lang="en-US" sz="1800" dirty="0"/>
          </a:p>
          <a:p>
            <a:r>
              <a:rPr lang="ru-RU" sz="1800" dirty="0"/>
              <a:t>Системы управления качеством. Руководство по улучшению деятельности. (Аналог ГОСТ Р2001).</a:t>
            </a:r>
          </a:p>
          <a:p>
            <a:pPr marL="342900" indent="-342900">
              <a:buFont typeface="Wingdings" panose="05000000000000000000" pitchFamily="2" charset="2"/>
              <a:buChar char="v"/>
            </a:pPr>
            <a:r>
              <a:rPr lang="en-US" sz="1800" b="1" dirty="0"/>
              <a:t>ISO/IEC 9003:2004 Software engineering — Guidelines for the application of ISO 9001:2000 to computer software</a:t>
            </a:r>
            <a:endParaRPr lang="ru-RU" sz="1800" b="1" dirty="0"/>
          </a:p>
          <a:p>
            <a:r>
              <a:rPr lang="ru-RU" sz="1800" dirty="0"/>
              <a:t>Руководящие положения по применению стандарта ISO 9001 при разработке, поставке и обслуживании программного обеспечения.</a:t>
            </a:r>
          </a:p>
        </p:txBody>
      </p:sp>
      <p:sp>
        <p:nvSpPr>
          <p:cNvPr id="4" name="Номер слайда 3">
            <a:extLst>
              <a:ext uri="{FF2B5EF4-FFF2-40B4-BE49-F238E27FC236}">
                <a16:creationId xmlns:a16="http://schemas.microsoft.com/office/drawing/2014/main" id="{161D789B-1227-5BA1-C27C-111DDA604D27}"/>
              </a:ext>
            </a:extLst>
          </p:cNvPr>
          <p:cNvSpPr>
            <a:spLocks noGrp="1"/>
          </p:cNvSpPr>
          <p:nvPr>
            <p:ph type="sldNum" sz="quarter" idx="12"/>
          </p:nvPr>
        </p:nvSpPr>
        <p:spPr/>
        <p:txBody>
          <a:bodyPr/>
          <a:lstStyle/>
          <a:p>
            <a:fld id="{25A42088-C730-408A-A823-60BED1AFCEA0}" type="slidenum">
              <a:rPr lang="ru-RU" smtClean="0"/>
              <a:t>19</a:t>
            </a:fld>
            <a:endParaRPr lang="ru-RU"/>
          </a:p>
        </p:txBody>
      </p:sp>
    </p:spTree>
    <p:extLst>
      <p:ext uri="{BB962C8B-B14F-4D97-AF65-F5344CB8AC3E}">
        <p14:creationId xmlns:p14="http://schemas.microsoft.com/office/powerpoint/2010/main" val="3776098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440275-5F72-0E80-3DF4-8F416C35CA33}"/>
              </a:ext>
            </a:extLst>
          </p:cNvPr>
          <p:cNvSpPr>
            <a:spLocks noGrp="1"/>
          </p:cNvSpPr>
          <p:nvPr>
            <p:ph type="title"/>
          </p:nvPr>
        </p:nvSpPr>
        <p:spPr>
          <a:xfrm>
            <a:off x="1455576" y="78716"/>
            <a:ext cx="9601200" cy="733697"/>
          </a:xfrm>
        </p:spPr>
        <p:txBody>
          <a:bodyPr>
            <a:normAutofit fontScale="90000"/>
          </a:bodyPr>
          <a:lstStyle/>
          <a:p>
            <a:r>
              <a:rPr lang="ru-RU" dirty="0"/>
              <a:t>Модель качества программного обеспечения</a:t>
            </a:r>
          </a:p>
        </p:txBody>
      </p:sp>
      <p:sp>
        <p:nvSpPr>
          <p:cNvPr id="3" name="Объект 2">
            <a:extLst>
              <a:ext uri="{FF2B5EF4-FFF2-40B4-BE49-F238E27FC236}">
                <a16:creationId xmlns:a16="http://schemas.microsoft.com/office/drawing/2014/main" id="{4E743A71-32AC-8D00-D22C-932873D10455}"/>
              </a:ext>
            </a:extLst>
          </p:cNvPr>
          <p:cNvSpPr>
            <a:spLocks noGrp="1"/>
          </p:cNvSpPr>
          <p:nvPr>
            <p:ph sz="half" idx="1"/>
          </p:nvPr>
        </p:nvSpPr>
        <p:spPr>
          <a:xfrm>
            <a:off x="1371599" y="1330235"/>
            <a:ext cx="4648201" cy="5194662"/>
          </a:xfrm>
        </p:spPr>
        <p:txBody>
          <a:bodyPr>
            <a:normAutofit fontScale="92500"/>
          </a:bodyPr>
          <a:lstStyle/>
          <a:p>
            <a:r>
              <a:rPr lang="ru-RU" sz="2400" dirty="0"/>
              <a:t>На данный момент наиболее распространена и используется </a:t>
            </a:r>
            <a:r>
              <a:rPr lang="ru-RU" sz="2400" b="1" dirty="0"/>
              <a:t>многоуровневая модель качества программного обеспечения</a:t>
            </a:r>
            <a:r>
              <a:rPr lang="ru-RU" sz="2400" dirty="0"/>
              <a:t>, представленная в наборе стандартов ISO 9126. На верхнем уровне выделено 6 основных характеристик качества ПО, каждую из которых определяют набором атрибутов, имеющих соответствующие метрики для последующей оценки.</a:t>
            </a:r>
          </a:p>
          <a:p>
            <a:r>
              <a:rPr lang="ru-RU" sz="2400" b="1" dirty="0"/>
              <a:t>Применимо к внутреннему и внешнему качеству.</a:t>
            </a:r>
          </a:p>
        </p:txBody>
      </p:sp>
      <p:sp>
        <p:nvSpPr>
          <p:cNvPr id="4" name="Номер слайда 3">
            <a:extLst>
              <a:ext uri="{FF2B5EF4-FFF2-40B4-BE49-F238E27FC236}">
                <a16:creationId xmlns:a16="http://schemas.microsoft.com/office/drawing/2014/main" id="{D09EACCF-7226-27D6-CEEC-6B57CBCF79B5}"/>
              </a:ext>
            </a:extLst>
          </p:cNvPr>
          <p:cNvSpPr>
            <a:spLocks noGrp="1"/>
          </p:cNvSpPr>
          <p:nvPr>
            <p:ph type="sldNum" sz="quarter" idx="12"/>
          </p:nvPr>
        </p:nvSpPr>
        <p:spPr/>
        <p:txBody>
          <a:bodyPr/>
          <a:lstStyle/>
          <a:p>
            <a:fld id="{25A42088-C730-408A-A823-60BED1AFCEA0}" type="slidenum">
              <a:rPr lang="ru-RU" smtClean="0"/>
              <a:t>20</a:t>
            </a:fld>
            <a:endParaRPr lang="ru-RU"/>
          </a:p>
        </p:txBody>
      </p:sp>
      <p:pic>
        <p:nvPicPr>
          <p:cNvPr id="6" name="Объект 5">
            <a:extLst>
              <a:ext uri="{FF2B5EF4-FFF2-40B4-BE49-F238E27FC236}">
                <a16:creationId xmlns:a16="http://schemas.microsoft.com/office/drawing/2014/main" id="{210DF08C-5293-1045-DAE2-7DEFC426F03B}"/>
              </a:ext>
            </a:extLst>
          </p:cNvPr>
          <p:cNvPicPr>
            <a:picLocks noGrp="1" noChangeAspect="1"/>
          </p:cNvPicPr>
          <p:nvPr>
            <p:ph sz="half" idx="2"/>
          </p:nvPr>
        </p:nvPicPr>
        <p:blipFill rotWithShape="1">
          <a:blip r:embed="rId2"/>
          <a:srcRect l="7183" r="6230"/>
          <a:stretch/>
        </p:blipFill>
        <p:spPr>
          <a:xfrm>
            <a:off x="6172200" y="1330234"/>
            <a:ext cx="5733988" cy="4931227"/>
          </a:xfrm>
          <a:prstGeom prst="rect">
            <a:avLst/>
          </a:prstGeom>
        </p:spPr>
      </p:pic>
    </p:spTree>
    <p:extLst>
      <p:ext uri="{BB962C8B-B14F-4D97-AF65-F5344CB8AC3E}">
        <p14:creationId xmlns:p14="http://schemas.microsoft.com/office/powerpoint/2010/main" val="3916174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E3D960E6-6869-1781-BD9B-873EBA617BE3}"/>
              </a:ext>
            </a:extLst>
          </p:cNvPr>
          <p:cNvSpPr>
            <a:spLocks noGrp="1"/>
          </p:cNvSpPr>
          <p:nvPr>
            <p:ph type="title"/>
          </p:nvPr>
        </p:nvSpPr>
        <p:spPr>
          <a:xfrm>
            <a:off x="1371600" y="494740"/>
            <a:ext cx="9601200" cy="733697"/>
          </a:xfrm>
        </p:spPr>
        <p:txBody>
          <a:bodyPr/>
          <a:lstStyle/>
          <a:p>
            <a:r>
              <a:rPr lang="ru-RU" dirty="0"/>
              <a:t>1. Функциональность </a:t>
            </a:r>
            <a:r>
              <a:rPr lang="en-US" dirty="0"/>
              <a:t>(functionality)</a:t>
            </a:r>
            <a:endParaRPr lang="ru-RU" dirty="0"/>
          </a:p>
        </p:txBody>
      </p:sp>
      <p:sp>
        <p:nvSpPr>
          <p:cNvPr id="7" name="Объект 6">
            <a:extLst>
              <a:ext uri="{FF2B5EF4-FFF2-40B4-BE49-F238E27FC236}">
                <a16:creationId xmlns:a16="http://schemas.microsoft.com/office/drawing/2014/main" id="{78F91D43-A52B-DE3A-74A6-DD3D3E8CF069}"/>
              </a:ext>
            </a:extLst>
          </p:cNvPr>
          <p:cNvSpPr>
            <a:spLocks noGrp="1"/>
          </p:cNvSpPr>
          <p:nvPr>
            <p:ph idx="1"/>
          </p:nvPr>
        </p:nvSpPr>
        <p:spPr>
          <a:xfrm>
            <a:off x="1371600" y="1228437"/>
            <a:ext cx="9601200" cy="5347854"/>
          </a:xfrm>
        </p:spPr>
        <p:txBody>
          <a:bodyPr>
            <a:normAutofit/>
          </a:bodyPr>
          <a:lstStyle/>
          <a:p>
            <a:r>
              <a:rPr lang="ru-RU" dirty="0"/>
              <a:t>Способность ПО в определенных условиях решать задачи, нужные пользователям. Определяет, что именно делает ПО, какие задачи оно решает.</a:t>
            </a:r>
          </a:p>
          <a:p>
            <a:pPr marL="873252" lvl="1" indent="-342900">
              <a:buFont typeface="Wingdings" panose="05000000000000000000" pitchFamily="2" charset="2"/>
              <a:buChar char="v"/>
            </a:pPr>
            <a:r>
              <a:rPr lang="ru-RU" i="0" dirty="0"/>
              <a:t>Функциональная пригодность (</a:t>
            </a:r>
            <a:r>
              <a:rPr lang="ru-RU" i="0" dirty="0" err="1"/>
              <a:t>suitability</a:t>
            </a:r>
            <a:r>
              <a:rPr lang="ru-RU" i="0" dirty="0"/>
              <a:t>).</a:t>
            </a:r>
          </a:p>
          <a:p>
            <a:pPr lvl="1"/>
            <a:r>
              <a:rPr lang="ru-RU" i="0" dirty="0"/>
              <a:t>Способность решать нужный набор задач.</a:t>
            </a:r>
          </a:p>
          <a:p>
            <a:pPr marL="873252" lvl="1" indent="-342900">
              <a:buFont typeface="Wingdings" panose="05000000000000000000" pitchFamily="2" charset="2"/>
              <a:buChar char="v"/>
            </a:pPr>
            <a:r>
              <a:rPr lang="ru-RU" i="0" dirty="0"/>
              <a:t>Точность (</a:t>
            </a:r>
            <a:r>
              <a:rPr lang="ru-RU" i="0" dirty="0" err="1"/>
              <a:t>accuracy</a:t>
            </a:r>
            <a:r>
              <a:rPr lang="ru-RU" i="0" dirty="0"/>
              <a:t>).</a:t>
            </a:r>
          </a:p>
          <a:p>
            <a:pPr lvl="1"/>
            <a:r>
              <a:rPr lang="ru-RU" i="0" dirty="0"/>
              <a:t>Способность выдавать нужные результаты.</a:t>
            </a:r>
          </a:p>
          <a:p>
            <a:pPr marL="873252" lvl="1" indent="-342900">
              <a:buFont typeface="Wingdings" panose="05000000000000000000" pitchFamily="2" charset="2"/>
              <a:buChar char="v"/>
            </a:pPr>
            <a:r>
              <a:rPr lang="ru-RU" i="0" dirty="0"/>
              <a:t>Способность к взаимодействию (</a:t>
            </a:r>
            <a:r>
              <a:rPr lang="ru-RU" i="0" dirty="0" err="1"/>
              <a:t>interoperability</a:t>
            </a:r>
            <a:r>
              <a:rPr lang="ru-RU" i="0" dirty="0"/>
              <a:t>).</a:t>
            </a:r>
          </a:p>
          <a:p>
            <a:pPr lvl="1"/>
            <a:r>
              <a:rPr lang="ru-RU" i="0" dirty="0"/>
              <a:t>Способность взаимодействовать с нужным набором других систем.</a:t>
            </a:r>
          </a:p>
          <a:p>
            <a:pPr marL="873252" lvl="1" indent="-342900">
              <a:buFont typeface="Wingdings" panose="05000000000000000000" pitchFamily="2" charset="2"/>
              <a:buChar char="v"/>
            </a:pPr>
            <a:r>
              <a:rPr lang="ru-RU" i="0" dirty="0"/>
              <a:t>Соответствие стандартам и правилам (</a:t>
            </a:r>
            <a:r>
              <a:rPr lang="ru-RU" i="0" dirty="0" err="1"/>
              <a:t>compliance</a:t>
            </a:r>
            <a:r>
              <a:rPr lang="ru-RU" i="0" dirty="0"/>
              <a:t>).</a:t>
            </a:r>
          </a:p>
          <a:p>
            <a:pPr lvl="1"/>
            <a:r>
              <a:rPr lang="ru-RU" i="0" dirty="0"/>
              <a:t>Соответствие ПО имеющимся индустриальным стандартам, нормативным и законодательным актам, другим регулирующим нормам.</a:t>
            </a:r>
          </a:p>
          <a:p>
            <a:pPr marL="873252" lvl="1" indent="-342900">
              <a:buFont typeface="Wingdings" panose="05000000000000000000" pitchFamily="2" charset="2"/>
              <a:buChar char="v"/>
            </a:pPr>
            <a:r>
              <a:rPr lang="ru-RU" i="0" dirty="0"/>
              <a:t>Защищенность (</a:t>
            </a:r>
            <a:r>
              <a:rPr lang="ru-RU" i="0" dirty="0" err="1"/>
              <a:t>security</a:t>
            </a:r>
            <a:r>
              <a:rPr lang="ru-RU" i="0" dirty="0"/>
              <a:t>).</a:t>
            </a:r>
          </a:p>
          <a:p>
            <a:pPr lvl="1"/>
            <a:r>
              <a:rPr lang="ru-RU" i="0" dirty="0"/>
              <a:t>Способность предотвращать неавторизированный, т.е. без указания лица, пытающегося его осуществить, и не разрешенный доступ к данным и программам.</a:t>
            </a:r>
          </a:p>
          <a:p>
            <a:endParaRPr lang="ru-RU" dirty="0"/>
          </a:p>
        </p:txBody>
      </p:sp>
      <p:sp>
        <p:nvSpPr>
          <p:cNvPr id="5" name="Номер слайда 4">
            <a:extLst>
              <a:ext uri="{FF2B5EF4-FFF2-40B4-BE49-F238E27FC236}">
                <a16:creationId xmlns:a16="http://schemas.microsoft.com/office/drawing/2014/main" id="{FD7E3647-25B7-9069-FB45-6AE850F22F2C}"/>
              </a:ext>
            </a:extLst>
          </p:cNvPr>
          <p:cNvSpPr>
            <a:spLocks noGrp="1"/>
          </p:cNvSpPr>
          <p:nvPr>
            <p:ph type="sldNum" sz="quarter" idx="12"/>
          </p:nvPr>
        </p:nvSpPr>
        <p:spPr/>
        <p:txBody>
          <a:bodyPr/>
          <a:lstStyle/>
          <a:p>
            <a:fld id="{25A42088-C730-408A-A823-60BED1AFCEA0}" type="slidenum">
              <a:rPr lang="ru-RU" smtClean="0"/>
              <a:t>21</a:t>
            </a:fld>
            <a:endParaRPr lang="ru-RU"/>
          </a:p>
        </p:txBody>
      </p:sp>
    </p:spTree>
    <p:extLst>
      <p:ext uri="{BB962C8B-B14F-4D97-AF65-F5344CB8AC3E}">
        <p14:creationId xmlns:p14="http://schemas.microsoft.com/office/powerpoint/2010/main" val="268274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9333D2-92F4-170D-B972-3E7ED1D3923B}"/>
              </a:ext>
            </a:extLst>
          </p:cNvPr>
          <p:cNvSpPr>
            <a:spLocks noGrp="1"/>
          </p:cNvSpPr>
          <p:nvPr>
            <p:ph type="title"/>
          </p:nvPr>
        </p:nvSpPr>
        <p:spPr>
          <a:xfrm>
            <a:off x="1371600" y="522448"/>
            <a:ext cx="9601200" cy="733697"/>
          </a:xfrm>
        </p:spPr>
        <p:txBody>
          <a:bodyPr/>
          <a:lstStyle/>
          <a:p>
            <a:r>
              <a:rPr lang="ru-RU" dirty="0"/>
              <a:t>2. Надежность (</a:t>
            </a:r>
            <a:r>
              <a:rPr lang="en-US" dirty="0"/>
              <a:t>reliability)</a:t>
            </a:r>
            <a:endParaRPr lang="ru-RU" dirty="0"/>
          </a:p>
        </p:txBody>
      </p:sp>
      <p:sp>
        <p:nvSpPr>
          <p:cNvPr id="3" name="Объект 2">
            <a:extLst>
              <a:ext uri="{FF2B5EF4-FFF2-40B4-BE49-F238E27FC236}">
                <a16:creationId xmlns:a16="http://schemas.microsoft.com/office/drawing/2014/main" id="{84B39DE1-BB8D-8826-1E09-E05B90A71037}"/>
              </a:ext>
            </a:extLst>
          </p:cNvPr>
          <p:cNvSpPr>
            <a:spLocks noGrp="1"/>
          </p:cNvSpPr>
          <p:nvPr>
            <p:ph idx="1"/>
          </p:nvPr>
        </p:nvSpPr>
        <p:spPr>
          <a:xfrm>
            <a:off x="1371600" y="1256145"/>
            <a:ext cx="9601200" cy="5005317"/>
          </a:xfrm>
        </p:spPr>
        <p:txBody>
          <a:bodyPr>
            <a:normAutofit fontScale="92500" lnSpcReduction="10000"/>
          </a:bodyPr>
          <a:lstStyle/>
          <a:p>
            <a:r>
              <a:rPr lang="ru-RU" sz="2400" dirty="0"/>
              <a:t>Способность ПО поддерживать определенную работоспособность в заданных условиях.</a:t>
            </a:r>
          </a:p>
          <a:p>
            <a:pPr marL="873252" lvl="1" indent="-342900">
              <a:buFont typeface="Wingdings" panose="05000000000000000000" pitchFamily="2" charset="2"/>
              <a:buChar char="v"/>
            </a:pPr>
            <a:r>
              <a:rPr lang="ru-RU" sz="2400" i="0" dirty="0"/>
              <a:t>Зрелость, завершенность (</a:t>
            </a:r>
            <a:r>
              <a:rPr lang="ru-RU" sz="2400" i="0" dirty="0" err="1"/>
              <a:t>maturity</a:t>
            </a:r>
            <a:r>
              <a:rPr lang="ru-RU" sz="2400" i="0" dirty="0"/>
              <a:t>).</a:t>
            </a:r>
          </a:p>
          <a:p>
            <a:pPr lvl="1"/>
            <a:r>
              <a:rPr lang="ru-RU" sz="2400" i="0" dirty="0"/>
              <a:t>Величина, обратная частоте отказов ПО. Обычно измеряется средним временем работы без сбоев и величиной, обратной вероятности возникновения отказа за данный период времени.</a:t>
            </a:r>
          </a:p>
          <a:p>
            <a:pPr marL="873252" lvl="1" indent="-342900">
              <a:buFont typeface="Wingdings" panose="05000000000000000000" pitchFamily="2" charset="2"/>
              <a:buChar char="v"/>
            </a:pPr>
            <a:r>
              <a:rPr lang="ru-RU" sz="2400" i="0" dirty="0"/>
              <a:t>Устойчивость к отказам (</a:t>
            </a:r>
            <a:r>
              <a:rPr lang="ru-RU" sz="2400" i="0" dirty="0" err="1"/>
              <a:t>fault</a:t>
            </a:r>
            <a:r>
              <a:rPr lang="ru-RU" sz="2400" i="0" dirty="0"/>
              <a:t> </a:t>
            </a:r>
            <a:r>
              <a:rPr lang="ru-RU" sz="2400" i="0" dirty="0" err="1"/>
              <a:t>tolerance</a:t>
            </a:r>
            <a:r>
              <a:rPr lang="ru-RU" sz="2400" i="0" dirty="0"/>
              <a:t>)</a:t>
            </a:r>
          </a:p>
          <a:p>
            <a:pPr lvl="1"/>
            <a:r>
              <a:rPr lang="ru-RU" sz="2400" i="0" dirty="0"/>
              <a:t>Способность поддерживать заданный уровень работоспособности при отказах и нарушениях правил взаимодействия с окружением.</a:t>
            </a:r>
          </a:p>
          <a:p>
            <a:pPr marL="873252" lvl="1" indent="-342900">
              <a:buFont typeface="Wingdings" panose="05000000000000000000" pitchFamily="2" charset="2"/>
              <a:buChar char="v"/>
            </a:pPr>
            <a:r>
              <a:rPr lang="ru-RU" sz="2400" i="0" dirty="0"/>
              <a:t>Способность к восстановлению (</a:t>
            </a:r>
            <a:r>
              <a:rPr lang="ru-RU" sz="2400" i="0" dirty="0" err="1"/>
              <a:t>recoverability</a:t>
            </a:r>
            <a:r>
              <a:rPr lang="ru-RU" sz="2400" i="0" dirty="0"/>
              <a:t>).</a:t>
            </a:r>
          </a:p>
          <a:p>
            <a:pPr lvl="1"/>
            <a:r>
              <a:rPr lang="ru-RU" sz="2400" i="0" dirty="0"/>
              <a:t>Способность восстанавливать определенный уровень работоспособности и целостность данных после отказа, необходимые для этого время и ресурсы.</a:t>
            </a:r>
          </a:p>
          <a:p>
            <a:pPr marL="873252" lvl="1" indent="-342900">
              <a:buFont typeface="Wingdings" panose="05000000000000000000" pitchFamily="2" charset="2"/>
              <a:buChar char="v"/>
            </a:pPr>
            <a:r>
              <a:rPr lang="ru-RU" sz="2400" i="0" dirty="0"/>
              <a:t>Соответствие стандартам надежности (</a:t>
            </a:r>
            <a:r>
              <a:rPr lang="ru-RU" sz="2400" i="0" dirty="0" err="1"/>
              <a:t>reliability</a:t>
            </a:r>
            <a:r>
              <a:rPr lang="ru-RU" sz="2400" i="0" dirty="0"/>
              <a:t> </a:t>
            </a:r>
            <a:r>
              <a:rPr lang="ru-RU" sz="2400" i="0" dirty="0" err="1"/>
              <a:t>compliance</a:t>
            </a:r>
            <a:r>
              <a:rPr lang="ru-RU" sz="2400" i="0" dirty="0"/>
              <a:t>).</a:t>
            </a:r>
          </a:p>
        </p:txBody>
      </p:sp>
      <p:sp>
        <p:nvSpPr>
          <p:cNvPr id="4" name="Номер слайда 3">
            <a:extLst>
              <a:ext uri="{FF2B5EF4-FFF2-40B4-BE49-F238E27FC236}">
                <a16:creationId xmlns:a16="http://schemas.microsoft.com/office/drawing/2014/main" id="{AEF7413F-DA30-0933-E81F-E40E193BF541}"/>
              </a:ext>
            </a:extLst>
          </p:cNvPr>
          <p:cNvSpPr>
            <a:spLocks noGrp="1"/>
          </p:cNvSpPr>
          <p:nvPr>
            <p:ph type="sldNum" sz="quarter" idx="12"/>
          </p:nvPr>
        </p:nvSpPr>
        <p:spPr/>
        <p:txBody>
          <a:bodyPr/>
          <a:lstStyle/>
          <a:p>
            <a:fld id="{25A42088-C730-408A-A823-60BED1AFCEA0}" type="slidenum">
              <a:rPr lang="ru-RU" smtClean="0"/>
              <a:t>22</a:t>
            </a:fld>
            <a:endParaRPr lang="ru-RU"/>
          </a:p>
        </p:txBody>
      </p:sp>
    </p:spTree>
    <p:extLst>
      <p:ext uri="{BB962C8B-B14F-4D97-AF65-F5344CB8AC3E}">
        <p14:creationId xmlns:p14="http://schemas.microsoft.com/office/powerpoint/2010/main" val="238637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ED4320-9B0B-21B0-9FFE-BFAC409ED363}"/>
              </a:ext>
            </a:extLst>
          </p:cNvPr>
          <p:cNvSpPr>
            <a:spLocks noGrp="1"/>
          </p:cNvSpPr>
          <p:nvPr>
            <p:ph type="title"/>
          </p:nvPr>
        </p:nvSpPr>
        <p:spPr>
          <a:xfrm>
            <a:off x="1295400" y="374865"/>
            <a:ext cx="9901382" cy="733697"/>
          </a:xfrm>
        </p:spPr>
        <p:txBody>
          <a:bodyPr>
            <a:noAutofit/>
          </a:bodyPr>
          <a:lstStyle/>
          <a:p>
            <a:r>
              <a:rPr lang="ru-RU" sz="4000" dirty="0"/>
              <a:t>3. Удобство использования (</a:t>
            </a:r>
            <a:r>
              <a:rPr lang="ru-RU" sz="4000" dirty="0" err="1"/>
              <a:t>usability</a:t>
            </a:r>
            <a:r>
              <a:rPr lang="ru-RU" sz="4000" dirty="0"/>
              <a:t>) или практичность</a:t>
            </a:r>
          </a:p>
        </p:txBody>
      </p:sp>
      <p:sp>
        <p:nvSpPr>
          <p:cNvPr id="3" name="Объект 2">
            <a:extLst>
              <a:ext uri="{FF2B5EF4-FFF2-40B4-BE49-F238E27FC236}">
                <a16:creationId xmlns:a16="http://schemas.microsoft.com/office/drawing/2014/main" id="{26584ABB-9FC5-6B48-B59C-1BF0D82EDDA7}"/>
              </a:ext>
            </a:extLst>
          </p:cNvPr>
          <p:cNvSpPr>
            <a:spLocks noGrp="1"/>
          </p:cNvSpPr>
          <p:nvPr>
            <p:ph idx="1"/>
          </p:nvPr>
        </p:nvSpPr>
        <p:spPr>
          <a:xfrm>
            <a:off x="1295400" y="1728256"/>
            <a:ext cx="9601200" cy="4754879"/>
          </a:xfrm>
        </p:spPr>
        <p:txBody>
          <a:bodyPr>
            <a:normAutofit fontScale="92500" lnSpcReduction="10000"/>
          </a:bodyPr>
          <a:lstStyle/>
          <a:p>
            <a:r>
              <a:rPr lang="ru-RU" dirty="0"/>
              <a:t>Способность ПО быть удобным в обучении и использовании, а также привлекательным для пользователей.</a:t>
            </a:r>
          </a:p>
          <a:p>
            <a:pPr marL="873252" lvl="1" indent="-342900">
              <a:buFont typeface="Wingdings" panose="05000000000000000000" pitchFamily="2" charset="2"/>
              <a:buChar char="v"/>
            </a:pPr>
            <a:r>
              <a:rPr lang="ru-RU" i="0" dirty="0"/>
              <a:t>Понятность (</a:t>
            </a:r>
            <a:r>
              <a:rPr lang="ru-RU" i="0" dirty="0" err="1"/>
              <a:t>understandability</a:t>
            </a:r>
            <a:r>
              <a:rPr lang="ru-RU" i="0" dirty="0"/>
              <a:t>).</a:t>
            </a:r>
          </a:p>
          <a:p>
            <a:pPr lvl="1"/>
            <a:r>
              <a:rPr lang="ru-RU" i="0" dirty="0"/>
              <a:t>Показатель, обратный к усилиям, которые затрачиваются пользователями на восприятие основных понятий ПО и осознание их применимости для решения своих задач.</a:t>
            </a:r>
          </a:p>
          <a:p>
            <a:pPr marL="873252" lvl="1" indent="-342900">
              <a:buFont typeface="Wingdings" panose="05000000000000000000" pitchFamily="2" charset="2"/>
              <a:buChar char="v"/>
            </a:pPr>
            <a:r>
              <a:rPr lang="ru-RU" i="0" dirty="0"/>
              <a:t>Удобство обучения (</a:t>
            </a:r>
            <a:r>
              <a:rPr lang="ru-RU" i="0" dirty="0" err="1"/>
              <a:t>learnability</a:t>
            </a:r>
            <a:r>
              <a:rPr lang="ru-RU" i="0" dirty="0"/>
              <a:t>).</a:t>
            </a:r>
          </a:p>
          <a:p>
            <a:pPr lvl="1"/>
            <a:r>
              <a:rPr lang="ru-RU" i="0" dirty="0"/>
              <a:t>Показатель, обратный усилиям, затрачиваемым пользователями на обучение работе с ПО.</a:t>
            </a:r>
          </a:p>
          <a:p>
            <a:pPr marL="873252" lvl="1" indent="-342900">
              <a:buFont typeface="Wingdings" panose="05000000000000000000" pitchFamily="2" charset="2"/>
              <a:buChar char="v"/>
            </a:pPr>
            <a:r>
              <a:rPr lang="ru-RU" i="0" dirty="0"/>
              <a:t>Удобство работы (</a:t>
            </a:r>
            <a:r>
              <a:rPr lang="ru-RU" i="0" dirty="0" err="1"/>
              <a:t>operability</a:t>
            </a:r>
            <a:r>
              <a:rPr lang="ru-RU" i="0" dirty="0"/>
              <a:t>).</a:t>
            </a:r>
          </a:p>
          <a:p>
            <a:pPr lvl="1"/>
            <a:r>
              <a:rPr lang="ru-RU" i="0" dirty="0"/>
              <a:t>Показатель, обратный усилиям, предпринимаемым пользователями для решения своих задач с помощью ПО.</a:t>
            </a:r>
          </a:p>
          <a:p>
            <a:pPr marL="873252" lvl="1" indent="-342900">
              <a:buFont typeface="Wingdings" panose="05000000000000000000" pitchFamily="2" charset="2"/>
              <a:buChar char="v"/>
            </a:pPr>
            <a:r>
              <a:rPr lang="ru-RU" i="0" dirty="0"/>
              <a:t>Привлекательность (</a:t>
            </a:r>
            <a:r>
              <a:rPr lang="ru-RU" i="0" dirty="0" err="1"/>
              <a:t>attractiveness</a:t>
            </a:r>
            <a:r>
              <a:rPr lang="ru-RU" i="0" dirty="0"/>
              <a:t>).</a:t>
            </a:r>
          </a:p>
          <a:p>
            <a:pPr lvl="1"/>
            <a:r>
              <a:rPr lang="ru-RU" i="0" dirty="0"/>
              <a:t>Способность ПО быть привлекательным для пользователей. </a:t>
            </a:r>
          </a:p>
          <a:p>
            <a:pPr marL="873252" lvl="1" indent="-342900">
              <a:buFont typeface="Wingdings" panose="05000000000000000000" pitchFamily="2" charset="2"/>
              <a:buChar char="v"/>
            </a:pPr>
            <a:r>
              <a:rPr lang="ru-RU" i="0" dirty="0"/>
              <a:t>Соответствие стандартам удобства использования (</a:t>
            </a:r>
            <a:r>
              <a:rPr lang="ru-RU" i="0" dirty="0" err="1"/>
              <a:t>usability</a:t>
            </a:r>
            <a:r>
              <a:rPr lang="ru-RU" i="0" dirty="0"/>
              <a:t> </a:t>
            </a:r>
            <a:r>
              <a:rPr lang="ru-RU" i="0" dirty="0" err="1"/>
              <a:t>compliance</a:t>
            </a:r>
            <a:r>
              <a:rPr lang="ru-RU" i="0" dirty="0"/>
              <a:t>).</a:t>
            </a:r>
          </a:p>
        </p:txBody>
      </p:sp>
      <p:sp>
        <p:nvSpPr>
          <p:cNvPr id="4" name="Номер слайда 3">
            <a:extLst>
              <a:ext uri="{FF2B5EF4-FFF2-40B4-BE49-F238E27FC236}">
                <a16:creationId xmlns:a16="http://schemas.microsoft.com/office/drawing/2014/main" id="{A334506D-915D-09CA-1CB0-41A35EC7953E}"/>
              </a:ext>
            </a:extLst>
          </p:cNvPr>
          <p:cNvSpPr>
            <a:spLocks noGrp="1"/>
          </p:cNvSpPr>
          <p:nvPr>
            <p:ph type="sldNum" sz="quarter" idx="12"/>
          </p:nvPr>
        </p:nvSpPr>
        <p:spPr/>
        <p:txBody>
          <a:bodyPr/>
          <a:lstStyle/>
          <a:p>
            <a:fld id="{25A42088-C730-408A-A823-60BED1AFCEA0}" type="slidenum">
              <a:rPr lang="ru-RU" smtClean="0"/>
              <a:t>23</a:t>
            </a:fld>
            <a:endParaRPr lang="ru-RU"/>
          </a:p>
        </p:txBody>
      </p:sp>
    </p:spTree>
    <p:extLst>
      <p:ext uri="{BB962C8B-B14F-4D97-AF65-F5344CB8AC3E}">
        <p14:creationId xmlns:p14="http://schemas.microsoft.com/office/powerpoint/2010/main" val="3700126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CCD418-911E-633F-D980-55E8C6812B15}"/>
              </a:ext>
            </a:extLst>
          </p:cNvPr>
          <p:cNvSpPr>
            <a:spLocks noGrp="1"/>
          </p:cNvSpPr>
          <p:nvPr>
            <p:ph type="title"/>
          </p:nvPr>
        </p:nvSpPr>
        <p:spPr>
          <a:xfrm>
            <a:off x="1371600" y="359229"/>
            <a:ext cx="9601200" cy="733697"/>
          </a:xfrm>
        </p:spPr>
        <p:txBody>
          <a:bodyPr>
            <a:normAutofit fontScale="90000"/>
          </a:bodyPr>
          <a:lstStyle/>
          <a:p>
            <a:r>
              <a:rPr lang="ru-RU" dirty="0"/>
              <a:t>4. Производительность (</a:t>
            </a:r>
            <a:r>
              <a:rPr lang="en-US" dirty="0"/>
              <a:t>efficiency) </a:t>
            </a:r>
            <a:r>
              <a:rPr lang="ru-RU" dirty="0"/>
              <a:t>или эффективность</a:t>
            </a:r>
          </a:p>
        </p:txBody>
      </p:sp>
      <p:sp>
        <p:nvSpPr>
          <p:cNvPr id="3" name="Объект 2">
            <a:extLst>
              <a:ext uri="{FF2B5EF4-FFF2-40B4-BE49-F238E27FC236}">
                <a16:creationId xmlns:a16="http://schemas.microsoft.com/office/drawing/2014/main" id="{04BC0FFD-6A80-4014-85E1-984AD0DDA52D}"/>
              </a:ext>
            </a:extLst>
          </p:cNvPr>
          <p:cNvSpPr>
            <a:spLocks noGrp="1"/>
          </p:cNvSpPr>
          <p:nvPr>
            <p:ph idx="1"/>
          </p:nvPr>
        </p:nvSpPr>
        <p:spPr>
          <a:xfrm>
            <a:off x="1371600" y="1625600"/>
            <a:ext cx="9601200" cy="4749070"/>
          </a:xfrm>
        </p:spPr>
        <p:txBody>
          <a:bodyPr>
            <a:normAutofit/>
          </a:bodyPr>
          <a:lstStyle/>
          <a:p>
            <a:r>
              <a:rPr lang="ru-RU" dirty="0"/>
              <a:t>Способность ПО при заданных условиях обеспечивать необходимую работоспособность по отношению к выделяемым для этого ресурсам. Можно определить ее и как отношение получаемых с помощью ПО результатов к затрачиваемым на это ресурсам всех типов.</a:t>
            </a:r>
          </a:p>
          <a:p>
            <a:pPr marL="873252" lvl="1" indent="-342900">
              <a:buFont typeface="Wingdings" panose="05000000000000000000" pitchFamily="2" charset="2"/>
              <a:buChar char="v"/>
            </a:pPr>
            <a:r>
              <a:rPr lang="ru-RU" i="0" dirty="0"/>
              <a:t>Временная эффективность (</a:t>
            </a:r>
            <a:r>
              <a:rPr lang="ru-RU" i="0" dirty="0" err="1"/>
              <a:t>time</a:t>
            </a:r>
            <a:r>
              <a:rPr lang="ru-RU" i="0" dirty="0"/>
              <a:t> </a:t>
            </a:r>
            <a:r>
              <a:rPr lang="ru-RU" i="0" dirty="0" err="1"/>
              <a:t>behaviour</a:t>
            </a:r>
            <a:r>
              <a:rPr lang="ru-RU" i="0" dirty="0"/>
              <a:t>).</a:t>
            </a:r>
          </a:p>
          <a:p>
            <a:pPr lvl="1"/>
            <a:r>
              <a:rPr lang="ru-RU" i="0" dirty="0"/>
              <a:t>Способность ПО выдавать ожидаемые результаты, а также обеспечивать передачу необходимого объема данных за отведенное время.</a:t>
            </a:r>
          </a:p>
          <a:p>
            <a:pPr marL="873252" lvl="1" indent="-342900">
              <a:buFont typeface="Wingdings" panose="05000000000000000000" pitchFamily="2" charset="2"/>
              <a:buChar char="v"/>
            </a:pPr>
            <a:r>
              <a:rPr lang="ru-RU" i="0" dirty="0"/>
              <a:t>Эффективность использования ресурсов (</a:t>
            </a:r>
            <a:r>
              <a:rPr lang="ru-RU" i="0" dirty="0" err="1"/>
              <a:t>resource</a:t>
            </a:r>
            <a:r>
              <a:rPr lang="ru-RU" i="0" dirty="0"/>
              <a:t> </a:t>
            </a:r>
            <a:r>
              <a:rPr lang="ru-RU" i="0" dirty="0" err="1"/>
              <a:t>utilisation</a:t>
            </a:r>
            <a:r>
              <a:rPr lang="ru-RU" i="0" dirty="0"/>
              <a:t>).</a:t>
            </a:r>
          </a:p>
          <a:p>
            <a:pPr lvl="1"/>
            <a:r>
              <a:rPr lang="ru-RU" i="0" dirty="0"/>
              <a:t>Способность решать нужные задачи с использованием определенных объемов ресурсов определенных видов. Имеются в виду такие ресурсы, как оперативная и долговременная память, сетевые соединения, устройства ввода и вывода, и пр.</a:t>
            </a:r>
          </a:p>
          <a:p>
            <a:pPr marL="873252" lvl="1" indent="-342900">
              <a:buFont typeface="Wingdings" panose="05000000000000000000" pitchFamily="2" charset="2"/>
              <a:buChar char="v"/>
            </a:pPr>
            <a:r>
              <a:rPr lang="ru-RU" i="0" dirty="0"/>
              <a:t>Соответствие стандартам производительности (</a:t>
            </a:r>
            <a:r>
              <a:rPr lang="ru-RU" i="0" dirty="0" err="1"/>
              <a:t>efficiency</a:t>
            </a:r>
            <a:r>
              <a:rPr lang="ru-RU" i="0" dirty="0"/>
              <a:t> </a:t>
            </a:r>
            <a:r>
              <a:rPr lang="ru-RU" i="0" dirty="0" err="1"/>
              <a:t>compliance</a:t>
            </a:r>
            <a:r>
              <a:rPr lang="ru-RU" i="0" dirty="0"/>
              <a:t>).</a:t>
            </a:r>
          </a:p>
        </p:txBody>
      </p:sp>
      <p:sp>
        <p:nvSpPr>
          <p:cNvPr id="4" name="Номер слайда 3">
            <a:extLst>
              <a:ext uri="{FF2B5EF4-FFF2-40B4-BE49-F238E27FC236}">
                <a16:creationId xmlns:a16="http://schemas.microsoft.com/office/drawing/2014/main" id="{6FCCBD5F-CD01-DAEF-CD0B-F17BD56C07D6}"/>
              </a:ext>
            </a:extLst>
          </p:cNvPr>
          <p:cNvSpPr>
            <a:spLocks noGrp="1"/>
          </p:cNvSpPr>
          <p:nvPr>
            <p:ph type="sldNum" sz="quarter" idx="12"/>
          </p:nvPr>
        </p:nvSpPr>
        <p:spPr/>
        <p:txBody>
          <a:bodyPr/>
          <a:lstStyle/>
          <a:p>
            <a:fld id="{25A42088-C730-408A-A823-60BED1AFCEA0}" type="slidenum">
              <a:rPr lang="ru-RU" smtClean="0"/>
              <a:t>24</a:t>
            </a:fld>
            <a:endParaRPr lang="ru-RU"/>
          </a:p>
        </p:txBody>
      </p:sp>
    </p:spTree>
    <p:extLst>
      <p:ext uri="{BB962C8B-B14F-4D97-AF65-F5344CB8AC3E}">
        <p14:creationId xmlns:p14="http://schemas.microsoft.com/office/powerpoint/2010/main" val="2690973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A95932-EBF0-0A06-D30F-83C6EA9DCB55}"/>
              </a:ext>
            </a:extLst>
          </p:cNvPr>
          <p:cNvSpPr>
            <a:spLocks noGrp="1"/>
          </p:cNvSpPr>
          <p:nvPr>
            <p:ph type="title"/>
          </p:nvPr>
        </p:nvSpPr>
        <p:spPr>
          <a:xfrm>
            <a:off x="1436914" y="78716"/>
            <a:ext cx="9601200" cy="733697"/>
          </a:xfrm>
        </p:spPr>
        <p:txBody>
          <a:bodyPr>
            <a:normAutofit fontScale="90000"/>
          </a:bodyPr>
          <a:lstStyle/>
          <a:p>
            <a:r>
              <a:rPr lang="ru-RU" dirty="0"/>
              <a:t>5. Удобство сопровождения (</a:t>
            </a:r>
            <a:r>
              <a:rPr lang="en-US" dirty="0"/>
              <a:t>maintainability)</a:t>
            </a:r>
            <a:endParaRPr lang="ru-RU" dirty="0"/>
          </a:p>
        </p:txBody>
      </p:sp>
      <p:sp>
        <p:nvSpPr>
          <p:cNvPr id="3" name="Объект 2">
            <a:extLst>
              <a:ext uri="{FF2B5EF4-FFF2-40B4-BE49-F238E27FC236}">
                <a16:creationId xmlns:a16="http://schemas.microsoft.com/office/drawing/2014/main" id="{F49E6FDB-0646-3C28-4BF0-6678F2B212FC}"/>
              </a:ext>
            </a:extLst>
          </p:cNvPr>
          <p:cNvSpPr>
            <a:spLocks noGrp="1"/>
          </p:cNvSpPr>
          <p:nvPr>
            <p:ph idx="1"/>
          </p:nvPr>
        </p:nvSpPr>
        <p:spPr>
          <a:xfrm>
            <a:off x="1371600" y="1163783"/>
            <a:ext cx="9601200" cy="5366326"/>
          </a:xfrm>
        </p:spPr>
        <p:txBody>
          <a:bodyPr>
            <a:normAutofit fontScale="92500" lnSpcReduction="10000"/>
          </a:bodyPr>
          <a:lstStyle/>
          <a:p>
            <a:r>
              <a:rPr lang="ru-RU" dirty="0"/>
              <a:t>Удобство проведения всех видов деятельности, связанных с сопровождение программ.</a:t>
            </a:r>
          </a:p>
          <a:p>
            <a:pPr marL="873252" lvl="1" indent="-342900">
              <a:buFont typeface="Wingdings" panose="05000000000000000000" pitchFamily="2" charset="2"/>
              <a:buChar char="v"/>
            </a:pPr>
            <a:r>
              <a:rPr lang="ru-RU" i="0" dirty="0" err="1"/>
              <a:t>Анализируемость</a:t>
            </a:r>
            <a:r>
              <a:rPr lang="ru-RU" i="0" dirty="0"/>
              <a:t> (</a:t>
            </a:r>
            <a:r>
              <a:rPr lang="ru-RU" i="0" dirty="0" err="1"/>
              <a:t>analyzability</a:t>
            </a:r>
            <a:r>
              <a:rPr lang="ru-RU" i="0" dirty="0"/>
              <a:t>) или удобство проведения анализа.</a:t>
            </a:r>
          </a:p>
          <a:p>
            <a:pPr lvl="1"/>
            <a:r>
              <a:rPr lang="ru-RU" i="0" dirty="0"/>
              <a:t>Удобство проведения анализа ошибок, дефектов и недостатков, а также удобство анализа необходимости изменений и их возможных последствий.</a:t>
            </a:r>
          </a:p>
          <a:p>
            <a:pPr marL="873252" lvl="1" indent="-342900">
              <a:buFont typeface="Wingdings" panose="05000000000000000000" pitchFamily="2" charset="2"/>
              <a:buChar char="v"/>
            </a:pPr>
            <a:r>
              <a:rPr lang="ru-RU" i="0" dirty="0"/>
              <a:t>Удобство внесения изменений (</a:t>
            </a:r>
            <a:r>
              <a:rPr lang="ru-RU" i="0" dirty="0" err="1"/>
              <a:t>changeability</a:t>
            </a:r>
            <a:r>
              <a:rPr lang="ru-RU" i="0" dirty="0"/>
              <a:t>).</a:t>
            </a:r>
          </a:p>
          <a:p>
            <a:pPr lvl="1"/>
            <a:r>
              <a:rPr lang="ru-RU" i="0" dirty="0"/>
              <a:t>Показатель, обратный трудозатратам на выполнение необходимых изменений.</a:t>
            </a:r>
          </a:p>
          <a:p>
            <a:pPr marL="873252" lvl="1" indent="-342900">
              <a:buFont typeface="Wingdings" panose="05000000000000000000" pitchFamily="2" charset="2"/>
              <a:buChar char="v"/>
            </a:pPr>
            <a:r>
              <a:rPr lang="ru-RU" i="0" dirty="0"/>
              <a:t>Стабильность (</a:t>
            </a:r>
            <a:r>
              <a:rPr lang="ru-RU" i="0" dirty="0" err="1"/>
              <a:t>stability</a:t>
            </a:r>
            <a:r>
              <a:rPr lang="ru-RU" i="0" dirty="0"/>
              <a:t>).</a:t>
            </a:r>
          </a:p>
          <a:p>
            <a:pPr lvl="1"/>
            <a:r>
              <a:rPr lang="ru-RU" i="0" dirty="0"/>
              <a:t>Показатель, обратный риску возникновения неожиданных эффектов при внесении необходимых изменений.</a:t>
            </a:r>
          </a:p>
          <a:p>
            <a:pPr marL="873252" lvl="1" indent="-342900">
              <a:buFont typeface="Wingdings" panose="05000000000000000000" pitchFamily="2" charset="2"/>
              <a:buChar char="v"/>
            </a:pPr>
            <a:r>
              <a:rPr lang="ru-RU" i="0" dirty="0"/>
              <a:t>Удобство проверки (</a:t>
            </a:r>
            <a:r>
              <a:rPr lang="ru-RU" i="0" dirty="0" err="1"/>
              <a:t>testability</a:t>
            </a:r>
            <a:r>
              <a:rPr lang="ru-RU" i="0" dirty="0"/>
              <a:t>).</a:t>
            </a:r>
          </a:p>
          <a:p>
            <a:pPr lvl="1"/>
            <a:r>
              <a:rPr lang="ru-RU" i="0" dirty="0"/>
              <a:t>Показатель, обратный трудозатратам на проведение тестирования и других видов проверки того, что внесенные изменения привели к нужным результатам.</a:t>
            </a:r>
          </a:p>
          <a:p>
            <a:pPr marL="873252" lvl="1" indent="-342900">
              <a:buFont typeface="Wingdings" panose="05000000000000000000" pitchFamily="2" charset="2"/>
              <a:buChar char="v"/>
            </a:pPr>
            <a:r>
              <a:rPr lang="ru-RU" i="0" dirty="0"/>
              <a:t>Соответствие стандартам удобства сопровождения (</a:t>
            </a:r>
            <a:r>
              <a:rPr lang="ru-RU" i="0" dirty="0" err="1"/>
              <a:t>maintainability</a:t>
            </a:r>
            <a:r>
              <a:rPr lang="ru-RU" i="0" dirty="0"/>
              <a:t> </a:t>
            </a:r>
            <a:r>
              <a:rPr lang="ru-RU" i="0" dirty="0" err="1"/>
              <a:t>compliance</a:t>
            </a:r>
            <a:r>
              <a:rPr lang="ru-RU" i="0" dirty="0"/>
              <a:t>).</a:t>
            </a:r>
          </a:p>
        </p:txBody>
      </p:sp>
      <p:sp>
        <p:nvSpPr>
          <p:cNvPr id="4" name="Номер слайда 3">
            <a:extLst>
              <a:ext uri="{FF2B5EF4-FFF2-40B4-BE49-F238E27FC236}">
                <a16:creationId xmlns:a16="http://schemas.microsoft.com/office/drawing/2014/main" id="{2CABBD2E-6F14-573F-5A70-1D4A44D3405D}"/>
              </a:ext>
            </a:extLst>
          </p:cNvPr>
          <p:cNvSpPr>
            <a:spLocks noGrp="1"/>
          </p:cNvSpPr>
          <p:nvPr>
            <p:ph type="sldNum" sz="quarter" idx="12"/>
          </p:nvPr>
        </p:nvSpPr>
        <p:spPr/>
        <p:txBody>
          <a:bodyPr/>
          <a:lstStyle/>
          <a:p>
            <a:fld id="{25A42088-C730-408A-A823-60BED1AFCEA0}" type="slidenum">
              <a:rPr lang="ru-RU" smtClean="0"/>
              <a:t>25</a:t>
            </a:fld>
            <a:endParaRPr lang="ru-RU"/>
          </a:p>
        </p:txBody>
      </p:sp>
    </p:spTree>
    <p:extLst>
      <p:ext uri="{BB962C8B-B14F-4D97-AF65-F5344CB8AC3E}">
        <p14:creationId xmlns:p14="http://schemas.microsoft.com/office/powerpoint/2010/main" val="3298180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80C6A2-BD83-A7C3-6762-BD4FE955B252}"/>
              </a:ext>
            </a:extLst>
          </p:cNvPr>
          <p:cNvSpPr>
            <a:spLocks noGrp="1"/>
          </p:cNvSpPr>
          <p:nvPr>
            <p:ph type="title"/>
          </p:nvPr>
        </p:nvSpPr>
        <p:spPr/>
        <p:txBody>
          <a:bodyPr/>
          <a:lstStyle/>
          <a:p>
            <a:r>
              <a:rPr lang="ru-RU" dirty="0"/>
              <a:t>6. Переносимость (</a:t>
            </a:r>
            <a:r>
              <a:rPr lang="en-US" dirty="0"/>
              <a:t>portability)</a:t>
            </a:r>
            <a:endParaRPr lang="ru-RU" dirty="0"/>
          </a:p>
        </p:txBody>
      </p:sp>
      <p:sp>
        <p:nvSpPr>
          <p:cNvPr id="3" name="Объект 2">
            <a:extLst>
              <a:ext uri="{FF2B5EF4-FFF2-40B4-BE49-F238E27FC236}">
                <a16:creationId xmlns:a16="http://schemas.microsoft.com/office/drawing/2014/main" id="{23F6A847-C0F1-8D6E-08BF-D312AE0160AB}"/>
              </a:ext>
            </a:extLst>
          </p:cNvPr>
          <p:cNvSpPr>
            <a:spLocks noGrp="1"/>
          </p:cNvSpPr>
          <p:nvPr>
            <p:ph idx="1"/>
          </p:nvPr>
        </p:nvSpPr>
        <p:spPr>
          <a:xfrm>
            <a:off x="1371600" y="1304276"/>
            <a:ext cx="9601200" cy="5272701"/>
          </a:xfrm>
        </p:spPr>
        <p:txBody>
          <a:bodyPr>
            <a:normAutofit lnSpcReduction="10000"/>
          </a:bodyPr>
          <a:lstStyle/>
          <a:p>
            <a:r>
              <a:rPr lang="ru-RU" dirty="0"/>
              <a:t>Способность ПО сохранять работоспособность при переносе из одного окружения в другое, включая организационные, аппаратные и программные аспекты окружения.</a:t>
            </a:r>
          </a:p>
          <a:p>
            <a:pPr marL="873252" lvl="1" indent="-342900">
              <a:buFont typeface="Wingdings" panose="05000000000000000000" pitchFamily="2" charset="2"/>
              <a:buChar char="v"/>
            </a:pPr>
            <a:r>
              <a:rPr lang="ru-RU" i="0" dirty="0"/>
              <a:t>Адаптируемость (</a:t>
            </a:r>
            <a:r>
              <a:rPr lang="ru-RU" i="0" dirty="0" err="1"/>
              <a:t>adaptability</a:t>
            </a:r>
            <a:r>
              <a:rPr lang="ru-RU" i="0" dirty="0"/>
              <a:t>).</a:t>
            </a:r>
          </a:p>
          <a:p>
            <a:pPr lvl="1"/>
            <a:r>
              <a:rPr lang="ru-RU" i="0" dirty="0"/>
              <a:t>Способность ПО приспосабливаться к различным окружениям без проведения для этого действий, помимо заранее предусмотренных.</a:t>
            </a:r>
          </a:p>
          <a:p>
            <a:pPr marL="873252" lvl="1" indent="-342900">
              <a:buFont typeface="Wingdings" panose="05000000000000000000" pitchFamily="2" charset="2"/>
              <a:buChar char="v"/>
            </a:pPr>
            <a:r>
              <a:rPr lang="ru-RU" i="0" dirty="0"/>
              <a:t>Удобство установки (</a:t>
            </a:r>
            <a:r>
              <a:rPr lang="ru-RU" i="0" dirty="0" err="1"/>
              <a:t>installability</a:t>
            </a:r>
            <a:r>
              <a:rPr lang="ru-RU" i="0" dirty="0"/>
              <a:t>).</a:t>
            </a:r>
          </a:p>
          <a:p>
            <a:pPr lvl="1"/>
            <a:r>
              <a:rPr lang="ru-RU" i="0" dirty="0"/>
              <a:t>Способность ПО быть установленным или развернутым в определенном окружении.</a:t>
            </a:r>
          </a:p>
          <a:p>
            <a:pPr marL="873252" lvl="1" indent="-342900">
              <a:buFont typeface="Wingdings" panose="05000000000000000000" pitchFamily="2" charset="2"/>
              <a:buChar char="v"/>
            </a:pPr>
            <a:r>
              <a:rPr lang="ru-RU" i="0" dirty="0"/>
              <a:t>Способность к сосуществованию (</a:t>
            </a:r>
            <a:r>
              <a:rPr lang="ru-RU" i="0" dirty="0" err="1"/>
              <a:t>coexistence</a:t>
            </a:r>
            <a:r>
              <a:rPr lang="ru-RU" i="0" dirty="0"/>
              <a:t>).</a:t>
            </a:r>
          </a:p>
          <a:p>
            <a:pPr lvl="1"/>
            <a:r>
              <a:rPr lang="ru-RU" i="0" dirty="0"/>
              <a:t>Способность ПО сосуществовать с другими программами в общем окружении, деля с ними ресурсы.</a:t>
            </a:r>
          </a:p>
          <a:p>
            <a:pPr marL="873252" lvl="1" indent="-342900">
              <a:buFont typeface="Wingdings" panose="05000000000000000000" pitchFamily="2" charset="2"/>
              <a:buChar char="v"/>
            </a:pPr>
            <a:r>
              <a:rPr lang="ru-RU" i="0" dirty="0"/>
              <a:t>Удобство замены (</a:t>
            </a:r>
            <a:r>
              <a:rPr lang="ru-RU" i="0" dirty="0" err="1"/>
              <a:t>replaceability</a:t>
            </a:r>
            <a:r>
              <a:rPr lang="ru-RU" i="0" dirty="0"/>
              <a:t>) другого ПО данным.</a:t>
            </a:r>
          </a:p>
          <a:p>
            <a:pPr lvl="1"/>
            <a:r>
              <a:rPr lang="ru-RU" i="0" dirty="0"/>
              <a:t>Возможность применения данного ПО вместо других программных систем для решения тех же задач в определенном окружении.</a:t>
            </a:r>
          </a:p>
          <a:p>
            <a:pPr marL="873252" lvl="1" indent="-342900">
              <a:buFont typeface="Wingdings" panose="05000000000000000000" pitchFamily="2" charset="2"/>
              <a:buChar char="v"/>
            </a:pPr>
            <a:r>
              <a:rPr lang="ru-RU" i="0" dirty="0"/>
              <a:t>Соответствие стандартам переносимости (</a:t>
            </a:r>
            <a:r>
              <a:rPr lang="ru-RU" i="0" dirty="0" err="1"/>
              <a:t>portability</a:t>
            </a:r>
            <a:r>
              <a:rPr lang="ru-RU" i="0" dirty="0"/>
              <a:t> </a:t>
            </a:r>
            <a:r>
              <a:rPr lang="ru-RU" i="0" dirty="0" err="1"/>
              <a:t>compliance</a:t>
            </a:r>
            <a:r>
              <a:rPr lang="ru-RU" i="0" dirty="0"/>
              <a:t>).</a:t>
            </a:r>
          </a:p>
        </p:txBody>
      </p:sp>
      <p:sp>
        <p:nvSpPr>
          <p:cNvPr id="4" name="Номер слайда 3">
            <a:extLst>
              <a:ext uri="{FF2B5EF4-FFF2-40B4-BE49-F238E27FC236}">
                <a16:creationId xmlns:a16="http://schemas.microsoft.com/office/drawing/2014/main" id="{62092C9A-3DB0-0742-1E5E-128D740D07B5}"/>
              </a:ext>
            </a:extLst>
          </p:cNvPr>
          <p:cNvSpPr>
            <a:spLocks noGrp="1"/>
          </p:cNvSpPr>
          <p:nvPr>
            <p:ph type="sldNum" sz="quarter" idx="12"/>
          </p:nvPr>
        </p:nvSpPr>
        <p:spPr/>
        <p:txBody>
          <a:bodyPr/>
          <a:lstStyle/>
          <a:p>
            <a:fld id="{25A42088-C730-408A-A823-60BED1AFCEA0}" type="slidenum">
              <a:rPr lang="ru-RU" smtClean="0"/>
              <a:t>26</a:t>
            </a:fld>
            <a:endParaRPr lang="ru-RU"/>
          </a:p>
        </p:txBody>
      </p:sp>
    </p:spTree>
    <p:extLst>
      <p:ext uri="{BB962C8B-B14F-4D97-AF65-F5344CB8AC3E}">
        <p14:creationId xmlns:p14="http://schemas.microsoft.com/office/powerpoint/2010/main" val="18463080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096EE1-89CE-6D28-7FB0-D71BBDA86537}"/>
              </a:ext>
            </a:extLst>
          </p:cNvPr>
          <p:cNvSpPr>
            <a:spLocks noGrp="1"/>
          </p:cNvSpPr>
          <p:nvPr>
            <p:ph type="title"/>
          </p:nvPr>
        </p:nvSpPr>
        <p:spPr>
          <a:xfrm>
            <a:off x="1371600" y="297958"/>
            <a:ext cx="10118436" cy="733697"/>
          </a:xfrm>
        </p:spPr>
        <p:txBody>
          <a:bodyPr>
            <a:normAutofit fontScale="90000"/>
          </a:bodyPr>
          <a:lstStyle/>
          <a:p>
            <a:r>
              <a:rPr lang="ru-RU" dirty="0"/>
              <a:t>Характеристики качества при использовании</a:t>
            </a:r>
          </a:p>
        </p:txBody>
      </p:sp>
      <p:sp>
        <p:nvSpPr>
          <p:cNvPr id="3" name="Объект 2">
            <a:extLst>
              <a:ext uri="{FF2B5EF4-FFF2-40B4-BE49-F238E27FC236}">
                <a16:creationId xmlns:a16="http://schemas.microsoft.com/office/drawing/2014/main" id="{40965F89-EC9A-5F13-6920-1CEC6E711DDF}"/>
              </a:ext>
            </a:extLst>
          </p:cNvPr>
          <p:cNvSpPr>
            <a:spLocks noGrp="1"/>
          </p:cNvSpPr>
          <p:nvPr>
            <p:ph idx="1"/>
          </p:nvPr>
        </p:nvSpPr>
        <p:spPr/>
        <p:txBody>
          <a:bodyPr>
            <a:normAutofit lnSpcReduction="10000"/>
          </a:bodyPr>
          <a:lstStyle/>
          <a:p>
            <a:pPr marL="342900" indent="-342900">
              <a:buFont typeface="Wingdings" panose="05000000000000000000" pitchFamily="2" charset="2"/>
              <a:buChar char="v"/>
            </a:pPr>
            <a:r>
              <a:rPr lang="ru-RU" dirty="0"/>
              <a:t>Эффективность (</a:t>
            </a:r>
            <a:r>
              <a:rPr lang="ru-RU" dirty="0" err="1"/>
              <a:t>effectiveness</a:t>
            </a:r>
            <a:r>
              <a:rPr lang="ru-RU" dirty="0"/>
              <a:t>).</a:t>
            </a:r>
          </a:p>
          <a:p>
            <a:r>
              <a:rPr lang="ru-RU" dirty="0"/>
              <a:t>Это способность ПО предоставлять пользователям возможность решать их задачи с необходимой точностью при использовании в заданном контексте.</a:t>
            </a:r>
          </a:p>
          <a:p>
            <a:pPr marL="342900" indent="-342900">
              <a:buFont typeface="Wingdings" panose="05000000000000000000" pitchFamily="2" charset="2"/>
              <a:buChar char="v"/>
            </a:pPr>
            <a:r>
              <a:rPr lang="ru-RU" dirty="0"/>
              <a:t>Продуктивность (</a:t>
            </a:r>
            <a:r>
              <a:rPr lang="ru-RU" dirty="0" err="1"/>
              <a:t>productivity</a:t>
            </a:r>
            <a:r>
              <a:rPr lang="ru-RU" dirty="0"/>
              <a:t>).</a:t>
            </a:r>
          </a:p>
          <a:p>
            <a:r>
              <a:rPr lang="ru-RU" dirty="0"/>
              <a:t>Способность ПО предоставлять пользователям определенные результаты в рамках ожидаемых затрат ресурсов.</a:t>
            </a:r>
          </a:p>
          <a:p>
            <a:pPr marL="342900" indent="-342900">
              <a:buFont typeface="Wingdings" panose="05000000000000000000" pitchFamily="2" charset="2"/>
              <a:buChar char="v"/>
            </a:pPr>
            <a:r>
              <a:rPr lang="ru-RU" dirty="0"/>
              <a:t>Безопасность (</a:t>
            </a:r>
            <a:r>
              <a:rPr lang="ru-RU" dirty="0" err="1"/>
              <a:t>safety</a:t>
            </a:r>
            <a:r>
              <a:rPr lang="ru-RU" dirty="0"/>
              <a:t>).</a:t>
            </a:r>
          </a:p>
          <a:p>
            <a:r>
              <a:rPr lang="ru-RU" dirty="0"/>
              <a:t>Способность ПО обеспечивать необходимо низкий уровень риска нанесения ущерба жизни и здоровью людей, бизнесу, собственности или окружающей среде.</a:t>
            </a:r>
          </a:p>
          <a:p>
            <a:pPr marL="342900" indent="-342900">
              <a:buFont typeface="Wingdings" panose="05000000000000000000" pitchFamily="2" charset="2"/>
              <a:buChar char="v"/>
            </a:pPr>
            <a:r>
              <a:rPr lang="ru-RU" dirty="0"/>
              <a:t>Удовлетворение пользователей (</a:t>
            </a:r>
            <a:r>
              <a:rPr lang="ru-RU" dirty="0" err="1"/>
              <a:t>satisfaction</a:t>
            </a:r>
            <a:r>
              <a:rPr lang="ru-RU" dirty="0"/>
              <a:t>).</a:t>
            </a:r>
          </a:p>
          <a:p>
            <a:r>
              <a:rPr lang="ru-RU" dirty="0"/>
              <a:t>Способность ПО приносить удовлетворение пользователям при использовании в заданном контексте.</a:t>
            </a:r>
          </a:p>
          <a:p>
            <a:endParaRPr lang="ru-RU" dirty="0"/>
          </a:p>
        </p:txBody>
      </p:sp>
      <p:sp>
        <p:nvSpPr>
          <p:cNvPr id="4" name="Номер слайда 3">
            <a:extLst>
              <a:ext uri="{FF2B5EF4-FFF2-40B4-BE49-F238E27FC236}">
                <a16:creationId xmlns:a16="http://schemas.microsoft.com/office/drawing/2014/main" id="{FAC050E5-CE7F-30F5-7EE0-381B67E6A1DF}"/>
              </a:ext>
            </a:extLst>
          </p:cNvPr>
          <p:cNvSpPr>
            <a:spLocks noGrp="1"/>
          </p:cNvSpPr>
          <p:nvPr>
            <p:ph type="sldNum" sz="quarter" idx="12"/>
          </p:nvPr>
        </p:nvSpPr>
        <p:spPr/>
        <p:txBody>
          <a:bodyPr/>
          <a:lstStyle/>
          <a:p>
            <a:fld id="{25A42088-C730-408A-A823-60BED1AFCEA0}" type="slidenum">
              <a:rPr lang="ru-RU" smtClean="0"/>
              <a:t>27</a:t>
            </a:fld>
            <a:endParaRPr lang="ru-RU"/>
          </a:p>
        </p:txBody>
      </p:sp>
    </p:spTree>
    <p:extLst>
      <p:ext uri="{BB962C8B-B14F-4D97-AF65-F5344CB8AC3E}">
        <p14:creationId xmlns:p14="http://schemas.microsoft.com/office/powerpoint/2010/main" val="2692293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5BB5FD-FE24-115E-ED67-A4041DFA0762}"/>
              </a:ext>
            </a:extLst>
          </p:cNvPr>
          <p:cNvSpPr>
            <a:spLocks noGrp="1"/>
          </p:cNvSpPr>
          <p:nvPr>
            <p:ph type="title"/>
          </p:nvPr>
        </p:nvSpPr>
        <p:spPr/>
        <p:txBody>
          <a:bodyPr/>
          <a:lstStyle/>
          <a:p>
            <a:r>
              <a:rPr lang="ru-RU" dirty="0"/>
              <a:t>Методы контроля качества</a:t>
            </a:r>
          </a:p>
        </p:txBody>
      </p:sp>
      <p:sp>
        <p:nvSpPr>
          <p:cNvPr id="3" name="Объект 2">
            <a:extLst>
              <a:ext uri="{FF2B5EF4-FFF2-40B4-BE49-F238E27FC236}">
                <a16:creationId xmlns:a16="http://schemas.microsoft.com/office/drawing/2014/main" id="{93C788F5-AEAB-6C0C-76D5-272B6694040A}"/>
              </a:ext>
            </a:extLst>
          </p:cNvPr>
          <p:cNvSpPr>
            <a:spLocks noGrp="1"/>
          </p:cNvSpPr>
          <p:nvPr>
            <p:ph idx="1"/>
          </p:nvPr>
        </p:nvSpPr>
        <p:spPr/>
        <p:txBody>
          <a:bodyPr>
            <a:normAutofit/>
          </a:bodyPr>
          <a:lstStyle/>
          <a:p>
            <a:pPr marL="342900" indent="-342900">
              <a:buFont typeface="Wingdings" panose="05000000000000000000" pitchFamily="2" charset="2"/>
              <a:buChar char="v"/>
            </a:pPr>
            <a:r>
              <a:rPr lang="ru-RU" sz="2400" b="1" dirty="0"/>
              <a:t>Верификация</a:t>
            </a:r>
            <a:r>
              <a:rPr lang="ru-RU" sz="2400" dirty="0"/>
              <a:t> обозначает проверку того, что ПО разработано в соответствии со всеми требованиями к нему, или что результаты очередного этапа разработки соответствуют ограничениям, сформулированным на предшествующих этапах.</a:t>
            </a:r>
          </a:p>
          <a:p>
            <a:pPr marL="342900" indent="-342900">
              <a:buFont typeface="Wingdings" panose="05000000000000000000" pitchFamily="2" charset="2"/>
              <a:buChar char="v"/>
            </a:pPr>
            <a:r>
              <a:rPr lang="ru-RU" sz="2400" b="1" dirty="0"/>
              <a:t>Валидация</a:t>
            </a:r>
            <a:r>
              <a:rPr lang="ru-RU" sz="2400" dirty="0"/>
              <a:t> — это проверка того, что сам продукт правилен, т.е. подтверждение того, что он действительно удовлетворяет потребностям и ожиданиям пользователей, заказчиков и других заинтересованных сторон.</a:t>
            </a:r>
          </a:p>
          <a:p>
            <a:r>
              <a:rPr lang="ru-RU" sz="2400" dirty="0"/>
              <a:t>Эффективность верификации и валидации, как и эффективность разработки ПО в целом, зависит от полноты и корректности формулировки требований к программному продукту.</a:t>
            </a:r>
          </a:p>
          <a:p>
            <a:endParaRPr lang="ru-RU" sz="2400" dirty="0"/>
          </a:p>
        </p:txBody>
      </p:sp>
      <p:sp>
        <p:nvSpPr>
          <p:cNvPr id="4" name="Номер слайда 3">
            <a:extLst>
              <a:ext uri="{FF2B5EF4-FFF2-40B4-BE49-F238E27FC236}">
                <a16:creationId xmlns:a16="http://schemas.microsoft.com/office/drawing/2014/main" id="{84D66F0C-85AE-4E6C-2537-348805589CEB}"/>
              </a:ext>
            </a:extLst>
          </p:cNvPr>
          <p:cNvSpPr>
            <a:spLocks noGrp="1"/>
          </p:cNvSpPr>
          <p:nvPr>
            <p:ph type="sldNum" sz="quarter" idx="12"/>
          </p:nvPr>
        </p:nvSpPr>
        <p:spPr/>
        <p:txBody>
          <a:bodyPr/>
          <a:lstStyle/>
          <a:p>
            <a:fld id="{25A42088-C730-408A-A823-60BED1AFCEA0}" type="slidenum">
              <a:rPr lang="ru-RU" smtClean="0"/>
              <a:t>28</a:t>
            </a:fld>
            <a:endParaRPr lang="ru-RU"/>
          </a:p>
        </p:txBody>
      </p:sp>
    </p:spTree>
    <p:extLst>
      <p:ext uri="{BB962C8B-B14F-4D97-AF65-F5344CB8AC3E}">
        <p14:creationId xmlns:p14="http://schemas.microsoft.com/office/powerpoint/2010/main" val="39991020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0AD99A-F0B3-4790-3258-785974A690F4}"/>
              </a:ext>
            </a:extLst>
          </p:cNvPr>
          <p:cNvSpPr>
            <a:spLocks noGrp="1"/>
          </p:cNvSpPr>
          <p:nvPr>
            <p:ph type="title"/>
          </p:nvPr>
        </p:nvSpPr>
        <p:spPr/>
        <p:txBody>
          <a:bodyPr>
            <a:normAutofit fontScale="90000"/>
          </a:bodyPr>
          <a:lstStyle/>
          <a:p>
            <a:r>
              <a:rPr lang="ru-RU" dirty="0"/>
              <a:t>Метрики программного обеспечения</a:t>
            </a:r>
          </a:p>
        </p:txBody>
      </p:sp>
      <p:sp>
        <p:nvSpPr>
          <p:cNvPr id="3" name="Объект 2">
            <a:extLst>
              <a:ext uri="{FF2B5EF4-FFF2-40B4-BE49-F238E27FC236}">
                <a16:creationId xmlns:a16="http://schemas.microsoft.com/office/drawing/2014/main" id="{5EB01C9A-366D-3B44-6DD8-0DB861C77105}"/>
              </a:ext>
            </a:extLst>
          </p:cNvPr>
          <p:cNvSpPr>
            <a:spLocks noGrp="1"/>
          </p:cNvSpPr>
          <p:nvPr>
            <p:ph idx="1"/>
          </p:nvPr>
        </p:nvSpPr>
        <p:spPr/>
        <p:txBody>
          <a:bodyPr>
            <a:normAutofit/>
          </a:bodyPr>
          <a:lstStyle/>
          <a:p>
            <a:pPr marL="342900" indent="-342900">
              <a:buFont typeface="Wingdings" panose="05000000000000000000" pitchFamily="2" charset="2"/>
              <a:buChar char="v"/>
            </a:pPr>
            <a:r>
              <a:rPr lang="ru-RU" sz="2400" b="1" dirty="0"/>
              <a:t>Показатели продукта </a:t>
            </a:r>
            <a:r>
              <a:rPr lang="ru-RU" sz="2400" dirty="0"/>
              <a:t>− описывают характеристики продукта, такие как размер, сложность, конструктивные особенности, производительность и уровень качества.</a:t>
            </a:r>
            <a:endParaRPr lang="ru-RU" sz="2400" b="1" dirty="0"/>
          </a:p>
          <a:p>
            <a:pPr marL="342900" indent="-342900">
              <a:buFont typeface="Wingdings" panose="05000000000000000000" pitchFamily="2" charset="2"/>
              <a:buChar char="v"/>
            </a:pPr>
            <a:r>
              <a:rPr lang="ru-RU" sz="2400" b="1" dirty="0"/>
              <a:t>Показатели процесса </a:t>
            </a:r>
            <a:r>
              <a:rPr lang="ru-RU" sz="2400" dirty="0"/>
              <a:t>− эти характеристики могут быть использованы для улучшения деятельности по разработке и сопровождению программного обеспечения.</a:t>
            </a:r>
            <a:endParaRPr lang="ru-RU" sz="2400" b="1" dirty="0"/>
          </a:p>
          <a:p>
            <a:pPr marL="342900" indent="-342900">
              <a:buFont typeface="Wingdings" panose="05000000000000000000" pitchFamily="2" charset="2"/>
              <a:buChar char="v"/>
            </a:pPr>
            <a:r>
              <a:rPr lang="ru-RU" sz="2400" b="1" dirty="0"/>
              <a:t>Показатели проекта </a:t>
            </a:r>
            <a:r>
              <a:rPr lang="ru-RU" sz="2400" dirty="0"/>
              <a:t>− эти показатели описывают характеристики проекта и его выполнение. Примерами могут служить количество разработчиков программного обеспечения, структура укомплектования персоналом на протяжении жизненного цикла программного обеспечения, стоимость, график и производительность.</a:t>
            </a:r>
          </a:p>
        </p:txBody>
      </p:sp>
      <p:sp>
        <p:nvSpPr>
          <p:cNvPr id="4" name="Номер слайда 3">
            <a:extLst>
              <a:ext uri="{FF2B5EF4-FFF2-40B4-BE49-F238E27FC236}">
                <a16:creationId xmlns:a16="http://schemas.microsoft.com/office/drawing/2014/main" id="{2811C940-796E-2349-744D-E3313AE5AFFB}"/>
              </a:ext>
            </a:extLst>
          </p:cNvPr>
          <p:cNvSpPr>
            <a:spLocks noGrp="1"/>
          </p:cNvSpPr>
          <p:nvPr>
            <p:ph type="sldNum" sz="quarter" idx="12"/>
          </p:nvPr>
        </p:nvSpPr>
        <p:spPr/>
        <p:txBody>
          <a:bodyPr/>
          <a:lstStyle/>
          <a:p>
            <a:fld id="{25A42088-C730-408A-A823-60BED1AFCEA0}" type="slidenum">
              <a:rPr lang="ru-RU" smtClean="0"/>
              <a:t>29</a:t>
            </a:fld>
            <a:endParaRPr lang="ru-RU"/>
          </a:p>
        </p:txBody>
      </p:sp>
    </p:spTree>
    <p:extLst>
      <p:ext uri="{BB962C8B-B14F-4D97-AF65-F5344CB8AC3E}">
        <p14:creationId xmlns:p14="http://schemas.microsoft.com/office/powerpoint/2010/main" val="35331773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2BE315-D873-AD51-07C5-9A6DA77AE968}"/>
              </a:ext>
            </a:extLst>
          </p:cNvPr>
          <p:cNvSpPr>
            <a:spLocks noGrp="1"/>
          </p:cNvSpPr>
          <p:nvPr>
            <p:ph type="title"/>
          </p:nvPr>
        </p:nvSpPr>
        <p:spPr/>
        <p:txBody>
          <a:bodyPr/>
          <a:lstStyle/>
          <a:p>
            <a:r>
              <a:rPr lang="ru-RU" dirty="0"/>
              <a:t>Метрики качества ПО</a:t>
            </a:r>
          </a:p>
        </p:txBody>
      </p:sp>
      <p:sp>
        <p:nvSpPr>
          <p:cNvPr id="3" name="Объект 2">
            <a:extLst>
              <a:ext uri="{FF2B5EF4-FFF2-40B4-BE49-F238E27FC236}">
                <a16:creationId xmlns:a16="http://schemas.microsoft.com/office/drawing/2014/main" id="{613B6A37-54A7-0120-E187-D61EE201D3D5}"/>
              </a:ext>
            </a:extLst>
          </p:cNvPr>
          <p:cNvSpPr>
            <a:spLocks noGrp="1"/>
          </p:cNvSpPr>
          <p:nvPr>
            <p:ph idx="1"/>
          </p:nvPr>
        </p:nvSpPr>
        <p:spPr/>
        <p:txBody>
          <a:bodyPr>
            <a:normAutofit/>
          </a:bodyPr>
          <a:lstStyle/>
          <a:p>
            <a:r>
              <a:rPr lang="ru-RU" sz="2400" b="1" dirty="0"/>
              <a:t>Показатели качества программного обеспечения </a:t>
            </a:r>
            <a:r>
              <a:rPr lang="ru-RU" sz="2400" dirty="0"/>
              <a:t>− это подмножество показателей программного обеспечения, которые фокусируются на аспектах качества продукта, процесса и проекта. Они более тесно связаны с показателями процесса и продукта, чем с показателями проекта.</a:t>
            </a:r>
          </a:p>
          <a:p>
            <a:r>
              <a:rPr lang="ru-RU" sz="2400" dirty="0"/>
              <a:t>Показатели качества программного обеспечения можно дополнительно разделить на три категории:</a:t>
            </a:r>
          </a:p>
          <a:p>
            <a:pPr marL="457200" indent="-457200">
              <a:buFont typeface="+mj-lt"/>
              <a:buAutoNum type="arabicPeriod"/>
            </a:pPr>
            <a:r>
              <a:rPr lang="ru-RU" sz="2400" dirty="0"/>
              <a:t>Показатели качества продукта</a:t>
            </a:r>
          </a:p>
          <a:p>
            <a:pPr marL="457200" indent="-457200">
              <a:buFont typeface="+mj-lt"/>
              <a:buAutoNum type="arabicPeriod"/>
            </a:pPr>
            <a:r>
              <a:rPr lang="ru-RU" sz="2400" dirty="0"/>
              <a:t>Показатели качества в процессе производства</a:t>
            </a:r>
          </a:p>
          <a:p>
            <a:pPr marL="457200" indent="-457200">
              <a:buFont typeface="+mj-lt"/>
              <a:buAutoNum type="arabicPeriod"/>
            </a:pPr>
            <a:r>
              <a:rPr lang="ru-RU" sz="2400" dirty="0"/>
              <a:t>Показатели качества обслуживания</a:t>
            </a:r>
            <a:endParaRPr lang="ru-RU" sz="2400" i="0" dirty="0"/>
          </a:p>
        </p:txBody>
      </p:sp>
      <p:sp>
        <p:nvSpPr>
          <p:cNvPr id="4" name="Номер слайда 3">
            <a:extLst>
              <a:ext uri="{FF2B5EF4-FFF2-40B4-BE49-F238E27FC236}">
                <a16:creationId xmlns:a16="http://schemas.microsoft.com/office/drawing/2014/main" id="{6819C95A-541B-BBAA-6B92-AE0C9D75B957}"/>
              </a:ext>
            </a:extLst>
          </p:cNvPr>
          <p:cNvSpPr>
            <a:spLocks noGrp="1"/>
          </p:cNvSpPr>
          <p:nvPr>
            <p:ph type="sldNum" sz="quarter" idx="12"/>
          </p:nvPr>
        </p:nvSpPr>
        <p:spPr/>
        <p:txBody>
          <a:bodyPr/>
          <a:lstStyle/>
          <a:p>
            <a:fld id="{25A42088-C730-408A-A823-60BED1AFCEA0}" type="slidenum">
              <a:rPr lang="ru-RU" smtClean="0"/>
              <a:t>30</a:t>
            </a:fld>
            <a:endParaRPr lang="ru-RU"/>
          </a:p>
        </p:txBody>
      </p:sp>
    </p:spTree>
    <p:extLst>
      <p:ext uri="{BB962C8B-B14F-4D97-AF65-F5344CB8AC3E}">
        <p14:creationId xmlns:p14="http://schemas.microsoft.com/office/powerpoint/2010/main" val="6771937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8BD276-9B5A-1880-9E0A-F9FD9A0D27E9}"/>
              </a:ext>
            </a:extLst>
          </p:cNvPr>
          <p:cNvSpPr>
            <a:spLocks noGrp="1"/>
          </p:cNvSpPr>
          <p:nvPr>
            <p:ph type="title"/>
          </p:nvPr>
        </p:nvSpPr>
        <p:spPr>
          <a:xfrm>
            <a:off x="1371600" y="596538"/>
            <a:ext cx="9601200" cy="733697"/>
          </a:xfrm>
        </p:spPr>
        <p:txBody>
          <a:bodyPr/>
          <a:lstStyle/>
          <a:p>
            <a:r>
              <a:rPr lang="ru-RU" dirty="0"/>
              <a:t>1. Метрики качества продукции</a:t>
            </a:r>
          </a:p>
        </p:txBody>
      </p:sp>
      <p:sp>
        <p:nvSpPr>
          <p:cNvPr id="3" name="Объект 2">
            <a:extLst>
              <a:ext uri="{FF2B5EF4-FFF2-40B4-BE49-F238E27FC236}">
                <a16:creationId xmlns:a16="http://schemas.microsoft.com/office/drawing/2014/main" id="{C5DACDC1-4948-F3B5-4BD7-6AF9FAF8CC9F}"/>
              </a:ext>
            </a:extLst>
          </p:cNvPr>
          <p:cNvSpPr>
            <a:spLocks noGrp="1"/>
          </p:cNvSpPr>
          <p:nvPr>
            <p:ph idx="1"/>
          </p:nvPr>
        </p:nvSpPr>
        <p:spPr>
          <a:xfrm>
            <a:off x="1371600" y="1330235"/>
            <a:ext cx="9601200" cy="5078944"/>
          </a:xfrm>
        </p:spPr>
        <p:txBody>
          <a:bodyPr>
            <a:normAutofit fontScale="92500" lnSpcReduction="10000"/>
          </a:bodyPr>
          <a:lstStyle/>
          <a:p>
            <a:pPr marL="342900" indent="-342900">
              <a:buFont typeface="Wingdings" panose="05000000000000000000" pitchFamily="2" charset="2"/>
              <a:buChar char="v"/>
            </a:pPr>
            <a:r>
              <a:rPr lang="ru-RU" b="1" dirty="0"/>
              <a:t>Среднее время до отказа. </a:t>
            </a:r>
            <a:r>
              <a:rPr lang="ru-RU" dirty="0"/>
              <a:t>Это время между отказами. Этот показатель в основном используется с критически важными для безопасности системами, такими как системы управления воздушным движением, авионика и вооружение.</a:t>
            </a:r>
          </a:p>
          <a:p>
            <a:pPr marL="342900" indent="-342900">
              <a:buFont typeface="Wingdings" panose="05000000000000000000" pitchFamily="2" charset="2"/>
              <a:buChar char="v"/>
            </a:pPr>
            <a:r>
              <a:rPr lang="ru-RU" b="1" dirty="0"/>
              <a:t>Плотность дефектов. </a:t>
            </a:r>
            <a:r>
              <a:rPr lang="ru-RU" dirty="0"/>
              <a:t>Оно измеряет дефекты относительно размера программного обеспечения, выраженного в виде строк кода или функциональных точек и т.д. Т. е. он измеряет качество кода на единицу. Этот показатель используется во многих коммерческих программных системах.</a:t>
            </a:r>
          </a:p>
          <a:p>
            <a:pPr marL="342900" indent="-342900">
              <a:buFont typeface="Wingdings" panose="05000000000000000000" pitchFamily="2" charset="2"/>
              <a:buChar char="v"/>
            </a:pPr>
            <a:r>
              <a:rPr lang="ru-RU" b="1" dirty="0"/>
              <a:t>Проблемы клиентов. </a:t>
            </a:r>
            <a:r>
              <a:rPr lang="ru-RU" dirty="0"/>
              <a:t>В нем измеряются проблемы, с которыми клиенты сталкиваются при использовании продукта. В нем содержится взгляд клиента на проблемное пространство программного обеспечения, которое включает в себя проблемы, не связанные с дефектами, а также проблемы с дефектами. Показатель проблем обычно выражается в количестве проблем на пользователя в месяц (PUM).</a:t>
            </a:r>
          </a:p>
          <a:p>
            <a:pPr marL="342900" indent="-342900">
              <a:buFont typeface="Wingdings" panose="05000000000000000000" pitchFamily="2" charset="2"/>
              <a:buChar char="v"/>
            </a:pPr>
            <a:r>
              <a:rPr lang="ru-RU" b="1" dirty="0"/>
              <a:t>Удовлетворенность клиентов.</a:t>
            </a:r>
            <a:r>
              <a:rPr lang="ru-RU" dirty="0"/>
              <a:t> Удовлетворенность клиентов часто измеряется с помощью данных опроса клиентов по пятибалльной шкале – от «Очень недоволен» до «Очень доволен»</a:t>
            </a:r>
          </a:p>
        </p:txBody>
      </p:sp>
      <p:sp>
        <p:nvSpPr>
          <p:cNvPr id="4" name="Номер слайда 3">
            <a:extLst>
              <a:ext uri="{FF2B5EF4-FFF2-40B4-BE49-F238E27FC236}">
                <a16:creationId xmlns:a16="http://schemas.microsoft.com/office/drawing/2014/main" id="{A2899E99-1931-C354-B4C1-9EDA99D69436}"/>
              </a:ext>
            </a:extLst>
          </p:cNvPr>
          <p:cNvSpPr>
            <a:spLocks noGrp="1"/>
          </p:cNvSpPr>
          <p:nvPr>
            <p:ph type="sldNum" sz="quarter" idx="12"/>
          </p:nvPr>
        </p:nvSpPr>
        <p:spPr/>
        <p:txBody>
          <a:bodyPr/>
          <a:lstStyle/>
          <a:p>
            <a:fld id="{25A42088-C730-408A-A823-60BED1AFCEA0}" type="slidenum">
              <a:rPr lang="ru-RU" smtClean="0"/>
              <a:t>31</a:t>
            </a:fld>
            <a:endParaRPr lang="ru-RU"/>
          </a:p>
        </p:txBody>
      </p:sp>
    </p:spTree>
    <p:extLst>
      <p:ext uri="{BB962C8B-B14F-4D97-AF65-F5344CB8AC3E}">
        <p14:creationId xmlns:p14="http://schemas.microsoft.com/office/powerpoint/2010/main" val="11844357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C9887B-CFDF-CBDF-23B0-F09778951D8D}"/>
              </a:ext>
            </a:extLst>
          </p:cNvPr>
          <p:cNvSpPr>
            <a:spLocks noGrp="1"/>
          </p:cNvSpPr>
          <p:nvPr>
            <p:ph type="title"/>
          </p:nvPr>
        </p:nvSpPr>
        <p:spPr>
          <a:xfrm>
            <a:off x="1371600" y="401684"/>
            <a:ext cx="9601200" cy="733697"/>
          </a:xfrm>
        </p:spPr>
        <p:txBody>
          <a:bodyPr>
            <a:normAutofit fontScale="90000"/>
          </a:bodyPr>
          <a:lstStyle/>
          <a:p>
            <a:r>
              <a:rPr lang="ru-RU" dirty="0"/>
              <a:t>2. Показатели качества в процессе производства</a:t>
            </a:r>
          </a:p>
        </p:txBody>
      </p:sp>
      <p:sp>
        <p:nvSpPr>
          <p:cNvPr id="3" name="Объект 2">
            <a:extLst>
              <a:ext uri="{FF2B5EF4-FFF2-40B4-BE49-F238E27FC236}">
                <a16:creationId xmlns:a16="http://schemas.microsoft.com/office/drawing/2014/main" id="{740B283C-9930-98FB-E6A2-7849B18FB3DC}"/>
              </a:ext>
            </a:extLst>
          </p:cNvPr>
          <p:cNvSpPr>
            <a:spLocks noGrp="1"/>
          </p:cNvSpPr>
          <p:nvPr>
            <p:ph idx="1"/>
          </p:nvPr>
        </p:nvSpPr>
        <p:spPr/>
        <p:txBody>
          <a:bodyPr>
            <a:normAutofit/>
          </a:bodyPr>
          <a:lstStyle/>
          <a:p>
            <a:r>
              <a:rPr lang="ru-RU" sz="2400" b="1" dirty="0"/>
              <a:t>Показатели качества в процессе производства </a:t>
            </a:r>
            <a:r>
              <a:rPr lang="ru-RU" sz="2400" dirty="0"/>
              <a:t>позволяют отслеживать появление дефектов во время официального тестирования оборудования в некоторых организациях. Этот показатель включает в себя:</a:t>
            </a:r>
          </a:p>
          <a:p>
            <a:pPr marL="457200" indent="-457200">
              <a:buFont typeface="+mj-lt"/>
              <a:buAutoNum type="arabicPeriod"/>
            </a:pPr>
            <a:r>
              <a:rPr lang="ru-RU" sz="2400" dirty="0"/>
              <a:t>Плотность дефектов при машинном тестировании</a:t>
            </a:r>
          </a:p>
          <a:p>
            <a:pPr marL="457200" indent="-457200">
              <a:buFont typeface="+mj-lt"/>
              <a:buAutoNum type="arabicPeriod"/>
            </a:pPr>
            <a:r>
              <a:rPr lang="ru-RU" sz="2400" dirty="0"/>
              <a:t>Схема появления дефектов во время машинного тестирования</a:t>
            </a:r>
          </a:p>
          <a:p>
            <a:pPr marL="457200" indent="-457200">
              <a:buFont typeface="+mj-lt"/>
              <a:buAutoNum type="arabicPeriod"/>
            </a:pPr>
            <a:r>
              <a:rPr lang="ru-RU" sz="2400" dirty="0"/>
              <a:t>Схема устранения дефектов на каждом из этапов ЖЦ</a:t>
            </a:r>
          </a:p>
          <a:p>
            <a:pPr marL="457200" indent="-457200">
              <a:buFont typeface="+mj-lt"/>
              <a:buAutoNum type="arabicPeriod"/>
            </a:pPr>
            <a:r>
              <a:rPr lang="ru-RU" sz="2400" dirty="0"/>
              <a:t>Эффективность устранения дефектов</a:t>
            </a:r>
            <a:endParaRPr lang="ru-RU" sz="2400" i="0" dirty="0"/>
          </a:p>
        </p:txBody>
      </p:sp>
      <p:sp>
        <p:nvSpPr>
          <p:cNvPr id="4" name="Номер слайда 3">
            <a:extLst>
              <a:ext uri="{FF2B5EF4-FFF2-40B4-BE49-F238E27FC236}">
                <a16:creationId xmlns:a16="http://schemas.microsoft.com/office/drawing/2014/main" id="{F9B580CE-F5E2-531C-C4C2-72E1F2631A39}"/>
              </a:ext>
            </a:extLst>
          </p:cNvPr>
          <p:cNvSpPr>
            <a:spLocks noGrp="1"/>
          </p:cNvSpPr>
          <p:nvPr>
            <p:ph type="sldNum" sz="quarter" idx="12"/>
          </p:nvPr>
        </p:nvSpPr>
        <p:spPr/>
        <p:txBody>
          <a:bodyPr/>
          <a:lstStyle/>
          <a:p>
            <a:fld id="{25A42088-C730-408A-A823-60BED1AFCEA0}" type="slidenum">
              <a:rPr lang="ru-RU" smtClean="0"/>
              <a:t>32</a:t>
            </a:fld>
            <a:endParaRPr lang="ru-RU"/>
          </a:p>
        </p:txBody>
      </p:sp>
    </p:spTree>
    <p:extLst>
      <p:ext uri="{BB962C8B-B14F-4D97-AF65-F5344CB8AC3E}">
        <p14:creationId xmlns:p14="http://schemas.microsoft.com/office/powerpoint/2010/main" val="1117560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2E8F64-650D-8F78-4493-616C087F40F1}"/>
              </a:ext>
            </a:extLst>
          </p:cNvPr>
          <p:cNvSpPr>
            <a:spLocks noGrp="1"/>
          </p:cNvSpPr>
          <p:nvPr>
            <p:ph type="title"/>
          </p:nvPr>
        </p:nvSpPr>
        <p:spPr/>
        <p:txBody>
          <a:bodyPr/>
          <a:lstStyle/>
          <a:p>
            <a:r>
              <a:rPr lang="ru-RU" dirty="0"/>
              <a:t>3. Метрики качества обслуживания</a:t>
            </a:r>
          </a:p>
        </p:txBody>
      </p:sp>
      <p:sp>
        <p:nvSpPr>
          <p:cNvPr id="3" name="Объект 2">
            <a:extLst>
              <a:ext uri="{FF2B5EF4-FFF2-40B4-BE49-F238E27FC236}">
                <a16:creationId xmlns:a16="http://schemas.microsoft.com/office/drawing/2014/main" id="{1EA82F9C-042C-27E9-EF54-3A178B2AF3B3}"/>
              </a:ext>
            </a:extLst>
          </p:cNvPr>
          <p:cNvSpPr>
            <a:spLocks noGrp="1"/>
          </p:cNvSpPr>
          <p:nvPr>
            <p:ph idx="1"/>
          </p:nvPr>
        </p:nvSpPr>
        <p:spPr/>
        <p:txBody>
          <a:bodyPr>
            <a:normAutofit/>
          </a:bodyPr>
          <a:lstStyle/>
          <a:p>
            <a:r>
              <a:rPr lang="ru-RU" sz="2400" dirty="0"/>
              <a:t>Несмотря на то, что не очень многое можно исправить на этапе обслуживания, существуют следующие возможности повышения качества:</a:t>
            </a:r>
          </a:p>
          <a:p>
            <a:pPr marL="873252" lvl="1" indent="-342900">
              <a:buFont typeface="Wingdings" panose="05000000000000000000" pitchFamily="2" charset="2"/>
              <a:buChar char="v"/>
            </a:pPr>
            <a:r>
              <a:rPr lang="ru-RU" sz="2400" i="0" dirty="0"/>
              <a:t>Индекс управления отставанием </a:t>
            </a:r>
            <a:r>
              <a:rPr lang="en-US" sz="2400" i="0" dirty="0"/>
              <a:t>(BMI)</a:t>
            </a:r>
            <a:r>
              <a:rPr lang="ru-RU" sz="2400" i="0" dirty="0"/>
              <a:t> – отношение числа исправленных проблем к числу найденных за период</a:t>
            </a:r>
          </a:p>
          <a:p>
            <a:pPr marL="873252" lvl="1" indent="-342900">
              <a:buFont typeface="Wingdings" panose="05000000000000000000" pitchFamily="2" charset="2"/>
              <a:buChar char="v"/>
            </a:pPr>
            <a:r>
              <a:rPr lang="ru-RU" sz="2400" i="0" dirty="0"/>
              <a:t>Время отклика и оперативность реагирования</a:t>
            </a:r>
          </a:p>
          <a:p>
            <a:pPr marL="873252" lvl="1" indent="-342900">
              <a:buFont typeface="Wingdings" panose="05000000000000000000" pitchFamily="2" charset="2"/>
              <a:buChar char="v"/>
            </a:pPr>
            <a:r>
              <a:rPr lang="ru-RU" sz="2400" i="0" dirty="0"/>
              <a:t>«Процент просроченных исправлений» - отношение количества дефектов, которые исправлялись слишком долго ко всем найденным дефектам за период</a:t>
            </a:r>
          </a:p>
          <a:p>
            <a:pPr marL="873252" lvl="1" indent="-342900">
              <a:buFont typeface="Wingdings" panose="05000000000000000000" pitchFamily="2" charset="2"/>
              <a:buChar char="v"/>
            </a:pPr>
            <a:r>
              <a:rPr lang="ru-RU" sz="2400" i="0" dirty="0"/>
              <a:t>Качество исправлений</a:t>
            </a:r>
          </a:p>
        </p:txBody>
      </p:sp>
      <p:sp>
        <p:nvSpPr>
          <p:cNvPr id="4" name="Номер слайда 3">
            <a:extLst>
              <a:ext uri="{FF2B5EF4-FFF2-40B4-BE49-F238E27FC236}">
                <a16:creationId xmlns:a16="http://schemas.microsoft.com/office/drawing/2014/main" id="{14B38BC7-E78C-C1FE-B382-F44C56B5BD10}"/>
              </a:ext>
            </a:extLst>
          </p:cNvPr>
          <p:cNvSpPr>
            <a:spLocks noGrp="1"/>
          </p:cNvSpPr>
          <p:nvPr>
            <p:ph type="sldNum" sz="quarter" idx="12"/>
          </p:nvPr>
        </p:nvSpPr>
        <p:spPr/>
        <p:txBody>
          <a:bodyPr/>
          <a:lstStyle/>
          <a:p>
            <a:fld id="{25A42088-C730-408A-A823-60BED1AFCEA0}" type="slidenum">
              <a:rPr lang="ru-RU" smtClean="0"/>
              <a:t>33</a:t>
            </a:fld>
            <a:endParaRPr lang="ru-RU"/>
          </a:p>
        </p:txBody>
      </p:sp>
    </p:spTree>
    <p:extLst>
      <p:ext uri="{BB962C8B-B14F-4D97-AF65-F5344CB8AC3E}">
        <p14:creationId xmlns:p14="http://schemas.microsoft.com/office/powerpoint/2010/main" val="5677756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CC0AA7-6265-6A30-6AB6-2946C00F5802}"/>
              </a:ext>
            </a:extLst>
          </p:cNvPr>
          <p:cNvSpPr>
            <a:spLocks noGrp="1"/>
          </p:cNvSpPr>
          <p:nvPr>
            <p:ph type="title"/>
          </p:nvPr>
        </p:nvSpPr>
        <p:spPr/>
        <p:txBody>
          <a:bodyPr/>
          <a:lstStyle/>
          <a:p>
            <a:r>
              <a:rPr lang="ru-RU" dirty="0"/>
              <a:t>Модель </a:t>
            </a:r>
            <a:r>
              <a:rPr lang="en-US" dirty="0"/>
              <a:t>COCOMO  II</a:t>
            </a:r>
            <a:endParaRPr lang="ru-RU" dirty="0"/>
          </a:p>
        </p:txBody>
      </p:sp>
      <p:sp>
        <p:nvSpPr>
          <p:cNvPr id="3" name="Объект 2">
            <a:extLst>
              <a:ext uri="{FF2B5EF4-FFF2-40B4-BE49-F238E27FC236}">
                <a16:creationId xmlns:a16="http://schemas.microsoft.com/office/drawing/2014/main" id="{8758C07A-A182-44EC-128D-A14396132CDB}"/>
              </a:ext>
            </a:extLst>
          </p:cNvPr>
          <p:cNvSpPr>
            <a:spLocks noGrp="1"/>
          </p:cNvSpPr>
          <p:nvPr>
            <p:ph idx="1"/>
          </p:nvPr>
        </p:nvSpPr>
        <p:spPr/>
        <p:txBody>
          <a:bodyPr>
            <a:normAutofit/>
          </a:bodyPr>
          <a:lstStyle/>
          <a:p>
            <a:r>
              <a:rPr lang="ru-RU" sz="2400" dirty="0"/>
              <a:t>Методика COCOMO позволяет оценить трудоемкость и время разработки программного продукта. Впервые была опубликована Бари Боэмом в 1981 году в виде результат анализа 63 проектов компании «TRW Aerospace». В 1997 методика была усовершенствована и получила название COCOMO II.</a:t>
            </a:r>
          </a:p>
          <a:p>
            <a:endParaRPr lang="ru-RU" sz="2400" dirty="0"/>
          </a:p>
          <a:p>
            <a:r>
              <a:rPr lang="ru-RU" sz="2400" dirty="0"/>
              <a:t>Различаются две стадии оценки проекта: </a:t>
            </a:r>
            <a:r>
              <a:rPr lang="ru-RU" sz="2400" b="1" dirty="0"/>
              <a:t>предварительная оценка </a:t>
            </a:r>
            <a:r>
              <a:rPr lang="ru-RU" sz="2400" dirty="0"/>
              <a:t>на начальной фазе и </a:t>
            </a:r>
            <a:r>
              <a:rPr lang="ru-RU" sz="2400" b="1" dirty="0"/>
              <a:t>детальная оценка </a:t>
            </a:r>
            <a:r>
              <a:rPr lang="ru-RU" sz="2400" dirty="0"/>
              <a:t>после проработки архитектуры.</a:t>
            </a:r>
          </a:p>
        </p:txBody>
      </p:sp>
      <p:sp>
        <p:nvSpPr>
          <p:cNvPr id="4" name="Номер слайда 3">
            <a:extLst>
              <a:ext uri="{FF2B5EF4-FFF2-40B4-BE49-F238E27FC236}">
                <a16:creationId xmlns:a16="http://schemas.microsoft.com/office/drawing/2014/main" id="{2E6F7C6F-7820-C12F-9B6C-7E06E87D55CA}"/>
              </a:ext>
            </a:extLst>
          </p:cNvPr>
          <p:cNvSpPr>
            <a:spLocks noGrp="1"/>
          </p:cNvSpPr>
          <p:nvPr>
            <p:ph type="sldNum" sz="quarter" idx="12"/>
          </p:nvPr>
        </p:nvSpPr>
        <p:spPr/>
        <p:txBody>
          <a:bodyPr/>
          <a:lstStyle/>
          <a:p>
            <a:fld id="{25A42088-C730-408A-A823-60BED1AFCEA0}" type="slidenum">
              <a:rPr lang="ru-RU" smtClean="0"/>
              <a:t>34</a:t>
            </a:fld>
            <a:endParaRPr lang="ru-RU"/>
          </a:p>
        </p:txBody>
      </p:sp>
    </p:spTree>
    <p:extLst>
      <p:ext uri="{BB962C8B-B14F-4D97-AF65-F5344CB8AC3E}">
        <p14:creationId xmlns:p14="http://schemas.microsoft.com/office/powerpoint/2010/main" val="686976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9565F136-980D-BC16-CDEA-94F5BC73735C}"/>
              </a:ext>
            </a:extLst>
          </p:cNvPr>
          <p:cNvSpPr>
            <a:spLocks noGrp="1"/>
          </p:cNvSpPr>
          <p:nvPr>
            <p:ph type="title"/>
          </p:nvPr>
        </p:nvSpPr>
        <p:spPr/>
        <p:txBody>
          <a:bodyPr/>
          <a:lstStyle/>
          <a:p>
            <a:r>
              <a:rPr lang="ru-RU" dirty="0"/>
              <a:t>Формула оценки трудоемкости</a:t>
            </a:r>
          </a:p>
        </p:txBody>
      </p:sp>
      <p:sp>
        <p:nvSpPr>
          <p:cNvPr id="6" name="Объект 5">
            <a:extLst>
              <a:ext uri="{FF2B5EF4-FFF2-40B4-BE49-F238E27FC236}">
                <a16:creationId xmlns:a16="http://schemas.microsoft.com/office/drawing/2014/main" id="{DDD07D04-57BD-027F-083F-FB34123654DD}"/>
              </a:ext>
            </a:extLst>
          </p:cNvPr>
          <p:cNvSpPr>
            <a:spLocks noGrp="1"/>
          </p:cNvSpPr>
          <p:nvPr>
            <p:ph sz="half" idx="1"/>
          </p:nvPr>
        </p:nvSpPr>
        <p:spPr>
          <a:xfrm>
            <a:off x="1371600" y="1765038"/>
            <a:ext cx="6195527" cy="4264091"/>
          </a:xfrm>
        </p:spPr>
        <p:txBody>
          <a:bodyPr>
            <a:normAutofit/>
          </a:bodyPr>
          <a:lstStyle/>
          <a:p>
            <a:r>
              <a:rPr lang="ru-RU" dirty="0"/>
              <a:t>SIZE — размер продукта в KSLOC</a:t>
            </a:r>
          </a:p>
          <a:p>
            <a:r>
              <a:rPr lang="ru-RU" dirty="0" err="1"/>
              <a:t>EM</a:t>
            </a:r>
            <a:r>
              <a:rPr lang="ru-RU" baseline="-25000" dirty="0" err="1"/>
              <a:t>i</a:t>
            </a:r>
            <a:r>
              <a:rPr lang="ru-RU" dirty="0"/>
              <a:t> — множители трудоемкости</a:t>
            </a:r>
          </a:p>
          <a:p>
            <a:r>
              <a:rPr lang="ru-RU" dirty="0" err="1"/>
              <a:t>SF</a:t>
            </a:r>
            <a:r>
              <a:rPr lang="ru-RU" baseline="-25000" dirty="0" err="1"/>
              <a:t>j</a:t>
            </a:r>
            <a:r>
              <a:rPr lang="ru-RU" dirty="0"/>
              <a:t> — факторы масштаба</a:t>
            </a:r>
          </a:p>
          <a:p>
            <a:r>
              <a:rPr lang="ru-RU" dirty="0"/>
              <a:t>n=7 — для предварительной оценки</a:t>
            </a:r>
          </a:p>
          <a:p>
            <a:r>
              <a:rPr lang="ru-RU" dirty="0"/>
              <a:t>n=17 — для детальной оценки</a:t>
            </a:r>
          </a:p>
          <a:p>
            <a:endParaRPr lang="ru-RU" dirty="0"/>
          </a:p>
          <a:p>
            <a:r>
              <a:rPr lang="en-US" dirty="0"/>
              <a:t>KSLOC, Kilo Source Lines Of Code</a:t>
            </a:r>
            <a:r>
              <a:rPr lang="ru-RU" dirty="0"/>
              <a:t> - размер программного продукта в тысячах строках исходного кода.</a:t>
            </a:r>
          </a:p>
        </p:txBody>
      </p:sp>
      <p:sp>
        <p:nvSpPr>
          <p:cNvPr id="4" name="Номер слайда 3">
            <a:extLst>
              <a:ext uri="{FF2B5EF4-FFF2-40B4-BE49-F238E27FC236}">
                <a16:creationId xmlns:a16="http://schemas.microsoft.com/office/drawing/2014/main" id="{F3C9DA16-D787-C2FE-3665-CD0F03C856FF}"/>
              </a:ext>
            </a:extLst>
          </p:cNvPr>
          <p:cNvSpPr>
            <a:spLocks noGrp="1"/>
          </p:cNvSpPr>
          <p:nvPr>
            <p:ph type="sldNum" sz="quarter" idx="12"/>
          </p:nvPr>
        </p:nvSpPr>
        <p:spPr/>
        <p:txBody>
          <a:bodyPr/>
          <a:lstStyle/>
          <a:p>
            <a:fld id="{25A42088-C730-408A-A823-60BED1AFCEA0}" type="slidenum">
              <a:rPr lang="ru-RU" smtClean="0"/>
              <a:t>35</a:t>
            </a:fld>
            <a:endParaRPr lang="ru-RU"/>
          </a:p>
        </p:txBody>
      </p:sp>
      <p:pic>
        <p:nvPicPr>
          <p:cNvPr id="1026" name="Picture 2">
            <a:extLst>
              <a:ext uri="{FF2B5EF4-FFF2-40B4-BE49-F238E27FC236}">
                <a16:creationId xmlns:a16="http://schemas.microsoft.com/office/drawing/2014/main" id="{1EEDD5B7-3420-AC6A-3A81-7A525CDCB135}"/>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t="-1" b="-105"/>
          <a:stretch>
            <a:fillRect/>
          </a:stretch>
        </p:blipFill>
        <p:spPr bwMode="auto">
          <a:xfrm>
            <a:off x="7003950" y="1939210"/>
            <a:ext cx="3816450" cy="2979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97889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D943F8B7-9938-31BB-302E-7D3B038DA447}"/>
              </a:ext>
            </a:extLst>
          </p:cNvPr>
          <p:cNvSpPr>
            <a:spLocks noGrp="1"/>
          </p:cNvSpPr>
          <p:nvPr>
            <p:ph type="title"/>
          </p:nvPr>
        </p:nvSpPr>
        <p:spPr/>
        <p:txBody>
          <a:bodyPr/>
          <a:lstStyle/>
          <a:p>
            <a:r>
              <a:rPr lang="ru-RU" dirty="0"/>
              <a:t>Факторы масштаба</a:t>
            </a:r>
          </a:p>
        </p:txBody>
      </p:sp>
      <p:sp>
        <p:nvSpPr>
          <p:cNvPr id="7" name="Объект 6">
            <a:extLst>
              <a:ext uri="{FF2B5EF4-FFF2-40B4-BE49-F238E27FC236}">
                <a16:creationId xmlns:a16="http://schemas.microsoft.com/office/drawing/2014/main" id="{43A20EA3-3006-1FBC-582D-8388A215274B}"/>
              </a:ext>
            </a:extLst>
          </p:cNvPr>
          <p:cNvSpPr>
            <a:spLocks noGrp="1"/>
          </p:cNvSpPr>
          <p:nvPr>
            <p:ph idx="1"/>
          </p:nvPr>
        </p:nvSpPr>
        <p:spPr/>
        <p:txBody>
          <a:bodyPr/>
          <a:lstStyle/>
          <a:p>
            <a:pPr marL="342900" indent="-342900">
              <a:buFont typeface="Wingdings" panose="05000000000000000000" pitchFamily="2" charset="2"/>
              <a:buChar char="v"/>
            </a:pPr>
            <a:r>
              <a:rPr lang="ru-RU" dirty="0"/>
              <a:t>PREC — прецедентность, наличие опыт аналогичных разработок (</a:t>
            </a:r>
            <a:r>
              <a:rPr lang="ru-RU" dirty="0" err="1"/>
              <a:t>Very</a:t>
            </a:r>
            <a:r>
              <a:rPr lang="ru-RU" dirty="0"/>
              <a:t> </a:t>
            </a:r>
            <a:r>
              <a:rPr lang="ru-RU" dirty="0" err="1"/>
              <a:t>Low</a:t>
            </a:r>
            <a:r>
              <a:rPr lang="ru-RU" dirty="0"/>
              <a:t> — опыт в продукте и платформе отсутствует; Extra High — продукт и платформа полностью знакомы)</a:t>
            </a:r>
          </a:p>
          <a:p>
            <a:pPr marL="342900" indent="-342900">
              <a:buFont typeface="Wingdings" panose="05000000000000000000" pitchFamily="2" charset="2"/>
              <a:buChar char="v"/>
            </a:pPr>
            <a:r>
              <a:rPr lang="ru-RU" dirty="0"/>
              <a:t>FLEX — гибкость процесса разработки (</a:t>
            </a:r>
            <a:r>
              <a:rPr lang="ru-RU" dirty="0" err="1"/>
              <a:t>Very</a:t>
            </a:r>
            <a:r>
              <a:rPr lang="ru-RU" dirty="0"/>
              <a:t> </a:t>
            </a:r>
            <a:r>
              <a:rPr lang="ru-RU" dirty="0" err="1"/>
              <a:t>Low</a:t>
            </a:r>
            <a:r>
              <a:rPr lang="ru-RU" dirty="0"/>
              <a:t> — процесс строго детерминирован; Extra High — определены только общие цели).</a:t>
            </a:r>
          </a:p>
          <a:p>
            <a:pPr marL="342900" indent="-342900">
              <a:buFont typeface="Wingdings" panose="05000000000000000000" pitchFamily="2" charset="2"/>
              <a:buChar char="v"/>
            </a:pPr>
            <a:r>
              <a:rPr lang="ru-RU" dirty="0"/>
              <a:t>RESL — архитектура и разрешение рисков (</a:t>
            </a:r>
            <a:r>
              <a:rPr lang="ru-RU" dirty="0" err="1"/>
              <a:t>Very</a:t>
            </a:r>
            <a:r>
              <a:rPr lang="ru-RU" dirty="0"/>
              <a:t> </a:t>
            </a:r>
            <a:r>
              <a:rPr lang="ru-RU" dirty="0" err="1"/>
              <a:t>Low</a:t>
            </a:r>
            <a:r>
              <a:rPr lang="ru-RU" dirty="0"/>
              <a:t> — риски неизвестны/не проанализированы; Extra High — риски разрешены на 100%)</a:t>
            </a:r>
          </a:p>
          <a:p>
            <a:pPr marL="342900" indent="-342900">
              <a:buFont typeface="Wingdings" panose="05000000000000000000" pitchFamily="2" charset="2"/>
              <a:buChar char="v"/>
            </a:pPr>
            <a:r>
              <a:rPr lang="ru-RU" dirty="0"/>
              <a:t>TEAM — сработанность команды (</a:t>
            </a:r>
            <a:r>
              <a:rPr lang="ru-RU" dirty="0" err="1"/>
              <a:t>Very</a:t>
            </a:r>
            <a:r>
              <a:rPr lang="ru-RU" dirty="0"/>
              <a:t> </a:t>
            </a:r>
            <a:r>
              <a:rPr lang="ru-RU" dirty="0" err="1"/>
              <a:t>Low</a:t>
            </a:r>
            <a:r>
              <a:rPr lang="ru-RU" dirty="0"/>
              <a:t> — формальные взаимодействия; Extra High — полное доверие, взаимозаменяемость и взаимопомощь).</a:t>
            </a:r>
          </a:p>
          <a:p>
            <a:pPr marL="342900" indent="-342900">
              <a:buFont typeface="Wingdings" panose="05000000000000000000" pitchFamily="2" charset="2"/>
              <a:buChar char="v"/>
            </a:pPr>
            <a:r>
              <a:rPr lang="ru-RU" dirty="0"/>
              <a:t>PMAT — зрелость процессов (</a:t>
            </a:r>
            <a:r>
              <a:rPr lang="ru-RU" dirty="0" err="1"/>
              <a:t>Very</a:t>
            </a:r>
            <a:r>
              <a:rPr lang="ru-RU" dirty="0"/>
              <a:t> </a:t>
            </a:r>
            <a:r>
              <a:rPr lang="ru-RU" dirty="0" err="1"/>
              <a:t>Low</a:t>
            </a:r>
            <a:r>
              <a:rPr lang="ru-RU" dirty="0"/>
              <a:t> — CMM Level 1; Extra High — CMM Level 5)</a:t>
            </a:r>
          </a:p>
        </p:txBody>
      </p:sp>
      <p:sp>
        <p:nvSpPr>
          <p:cNvPr id="5" name="Номер слайда 4">
            <a:extLst>
              <a:ext uri="{FF2B5EF4-FFF2-40B4-BE49-F238E27FC236}">
                <a16:creationId xmlns:a16="http://schemas.microsoft.com/office/drawing/2014/main" id="{1F7DD350-A48B-F511-8727-31B5B4DA8CE8}"/>
              </a:ext>
            </a:extLst>
          </p:cNvPr>
          <p:cNvSpPr>
            <a:spLocks noGrp="1"/>
          </p:cNvSpPr>
          <p:nvPr>
            <p:ph type="sldNum" sz="quarter" idx="12"/>
          </p:nvPr>
        </p:nvSpPr>
        <p:spPr/>
        <p:txBody>
          <a:bodyPr/>
          <a:lstStyle/>
          <a:p>
            <a:fld id="{25A42088-C730-408A-A823-60BED1AFCEA0}" type="slidenum">
              <a:rPr lang="ru-RU" smtClean="0"/>
              <a:t>36</a:t>
            </a:fld>
            <a:endParaRPr lang="ru-RU"/>
          </a:p>
        </p:txBody>
      </p:sp>
    </p:spTree>
    <p:extLst>
      <p:ext uri="{BB962C8B-B14F-4D97-AF65-F5344CB8AC3E}">
        <p14:creationId xmlns:p14="http://schemas.microsoft.com/office/powerpoint/2010/main" val="32423787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5EA84C-2F2D-D811-CEC7-6BBCE8895529}"/>
              </a:ext>
            </a:extLst>
          </p:cNvPr>
          <p:cNvSpPr>
            <a:spLocks noGrp="1"/>
          </p:cNvSpPr>
          <p:nvPr>
            <p:ph type="title"/>
          </p:nvPr>
        </p:nvSpPr>
        <p:spPr/>
        <p:txBody>
          <a:bodyPr/>
          <a:lstStyle/>
          <a:p>
            <a:r>
              <a:rPr lang="ru-RU" dirty="0"/>
              <a:t>Множители трудоемкости</a:t>
            </a:r>
          </a:p>
        </p:txBody>
      </p:sp>
      <p:sp>
        <p:nvSpPr>
          <p:cNvPr id="3" name="Объект 2">
            <a:extLst>
              <a:ext uri="{FF2B5EF4-FFF2-40B4-BE49-F238E27FC236}">
                <a16:creationId xmlns:a16="http://schemas.microsoft.com/office/drawing/2014/main" id="{3210F0BC-9AF4-2DBB-05A5-4842CAAFBC39}"/>
              </a:ext>
            </a:extLst>
          </p:cNvPr>
          <p:cNvSpPr>
            <a:spLocks noGrp="1"/>
          </p:cNvSpPr>
          <p:nvPr>
            <p:ph idx="1"/>
          </p:nvPr>
        </p:nvSpPr>
        <p:spPr>
          <a:xfrm>
            <a:off x="1371600" y="1419497"/>
            <a:ext cx="9601200" cy="5223899"/>
          </a:xfrm>
        </p:spPr>
        <p:txBody>
          <a:bodyPr>
            <a:normAutofit lnSpcReduction="10000"/>
          </a:bodyPr>
          <a:lstStyle/>
          <a:p>
            <a:pPr marL="342900" indent="-342900">
              <a:buFont typeface="Wingdings" panose="05000000000000000000" pitchFamily="2" charset="2"/>
              <a:buChar char="v"/>
            </a:pPr>
            <a:r>
              <a:rPr lang="ru-RU" dirty="0"/>
              <a:t>PERS — квалификация персонала (Extra </a:t>
            </a:r>
            <a:r>
              <a:rPr lang="ru-RU" dirty="0" err="1"/>
              <a:t>Low</a:t>
            </a:r>
            <a:r>
              <a:rPr lang="ru-RU" dirty="0"/>
              <a:t> — аналитики и программисты имеют низшую квалификацию, текучесть больше 45%; Extra High — аналитики и программисты имеют высшую квалификацию, текучесть меньше 4%)</a:t>
            </a:r>
          </a:p>
          <a:p>
            <a:pPr marL="342900" indent="-342900">
              <a:buFont typeface="Wingdings" panose="05000000000000000000" pitchFamily="2" charset="2"/>
              <a:buChar char="v"/>
            </a:pPr>
            <a:r>
              <a:rPr lang="ru-RU" dirty="0"/>
              <a:t>RCPX — сложность и надежность продукта (Extra </a:t>
            </a:r>
            <a:r>
              <a:rPr lang="ru-RU" dirty="0" err="1"/>
              <a:t>Low</a:t>
            </a:r>
            <a:r>
              <a:rPr lang="ru-RU" dirty="0"/>
              <a:t> — продукт простой, специальных требований по надежности нет, БД маленькая, документация не требуется; Extra High — продукт очень сложный, требования по надежности жесткие, БД сверхбольшая, документация требуется в полном объеме)</a:t>
            </a:r>
          </a:p>
          <a:p>
            <a:pPr marL="342900" indent="-342900">
              <a:buFont typeface="Wingdings" panose="05000000000000000000" pitchFamily="2" charset="2"/>
              <a:buChar char="v"/>
            </a:pPr>
            <a:r>
              <a:rPr lang="ru-RU" dirty="0"/>
              <a:t>RUSE — разработка для повторного использования (</a:t>
            </a:r>
            <a:r>
              <a:rPr lang="ru-RU" dirty="0" err="1"/>
              <a:t>Low</a:t>
            </a:r>
            <a:r>
              <a:rPr lang="ru-RU" dirty="0"/>
              <a:t> — не требуется; Extra High — требуется переиспользование в других продуктах)</a:t>
            </a:r>
          </a:p>
          <a:p>
            <a:pPr marL="342900" indent="-342900">
              <a:buFont typeface="Wingdings" panose="05000000000000000000" pitchFamily="2" charset="2"/>
              <a:buChar char="v"/>
            </a:pPr>
            <a:r>
              <a:rPr lang="ru-RU" dirty="0"/>
              <a:t>PDIF — сложность платформы разработки (Extra </a:t>
            </a:r>
            <a:r>
              <a:rPr lang="ru-RU" dirty="0" err="1"/>
              <a:t>Low</a:t>
            </a:r>
            <a:r>
              <a:rPr lang="ru-RU" dirty="0"/>
              <a:t> — специальные ограничения по памяти и быстродействию отсутствуют, платформа стабильна; Extra High — жесткие ограничения по памяти и быстродействию, платформа нестабильна)</a:t>
            </a:r>
          </a:p>
          <a:p>
            <a:pPr marL="342900" indent="-342900">
              <a:buFont typeface="Wingdings" panose="05000000000000000000" pitchFamily="2" charset="2"/>
              <a:buChar char="v"/>
            </a:pPr>
            <a:r>
              <a:rPr lang="ru-RU" dirty="0"/>
              <a:t>…</a:t>
            </a:r>
          </a:p>
        </p:txBody>
      </p:sp>
      <p:sp>
        <p:nvSpPr>
          <p:cNvPr id="4" name="Номер слайда 3">
            <a:extLst>
              <a:ext uri="{FF2B5EF4-FFF2-40B4-BE49-F238E27FC236}">
                <a16:creationId xmlns:a16="http://schemas.microsoft.com/office/drawing/2014/main" id="{1D8FA209-86CC-1B27-CDDF-B6B9684EC0E1}"/>
              </a:ext>
            </a:extLst>
          </p:cNvPr>
          <p:cNvSpPr>
            <a:spLocks noGrp="1"/>
          </p:cNvSpPr>
          <p:nvPr>
            <p:ph type="sldNum" sz="quarter" idx="12"/>
          </p:nvPr>
        </p:nvSpPr>
        <p:spPr/>
        <p:txBody>
          <a:bodyPr/>
          <a:lstStyle/>
          <a:p>
            <a:fld id="{25A42088-C730-408A-A823-60BED1AFCEA0}" type="slidenum">
              <a:rPr lang="ru-RU" smtClean="0"/>
              <a:t>37</a:t>
            </a:fld>
            <a:endParaRPr lang="ru-RU"/>
          </a:p>
        </p:txBody>
      </p:sp>
    </p:spTree>
    <p:extLst>
      <p:ext uri="{BB962C8B-B14F-4D97-AF65-F5344CB8AC3E}">
        <p14:creationId xmlns:p14="http://schemas.microsoft.com/office/powerpoint/2010/main" val="32405415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A3F623-3EFA-FD37-DB9B-E8C56DA5DEB9}"/>
              </a:ext>
            </a:extLst>
          </p:cNvPr>
          <p:cNvSpPr>
            <a:spLocks noGrp="1"/>
          </p:cNvSpPr>
          <p:nvPr>
            <p:ph type="title"/>
          </p:nvPr>
        </p:nvSpPr>
        <p:spPr>
          <a:xfrm>
            <a:off x="1371600" y="401684"/>
            <a:ext cx="9601200" cy="733697"/>
          </a:xfrm>
        </p:spPr>
        <p:txBody>
          <a:bodyPr>
            <a:normAutofit fontScale="90000"/>
          </a:bodyPr>
          <a:lstStyle/>
          <a:p>
            <a:r>
              <a:rPr lang="ru-RU" dirty="0"/>
              <a:t>Рекомендации по повышению качества кода</a:t>
            </a:r>
          </a:p>
        </p:txBody>
      </p:sp>
      <p:sp>
        <p:nvSpPr>
          <p:cNvPr id="3" name="Объект 2">
            <a:extLst>
              <a:ext uri="{FF2B5EF4-FFF2-40B4-BE49-F238E27FC236}">
                <a16:creationId xmlns:a16="http://schemas.microsoft.com/office/drawing/2014/main" id="{229BE310-6A26-AEBF-4DAC-453E3933E9A6}"/>
              </a:ext>
            </a:extLst>
          </p:cNvPr>
          <p:cNvSpPr>
            <a:spLocks noGrp="1"/>
          </p:cNvSpPr>
          <p:nvPr>
            <p:ph idx="1"/>
          </p:nvPr>
        </p:nvSpPr>
        <p:spPr/>
        <p:txBody>
          <a:bodyPr>
            <a:normAutofit lnSpcReduction="10000"/>
          </a:bodyPr>
          <a:lstStyle/>
          <a:p>
            <a:r>
              <a:rPr lang="ru-RU" sz="2400" b="1" dirty="0"/>
              <a:t>Стандарт кодирования </a:t>
            </a:r>
            <a:r>
              <a:rPr lang="ru-RU" sz="2400" dirty="0"/>
              <a:t>— набор правил и соглашений, которые описывают базовые принципы оформления программного кода, используемого совместно группой разработчиков. </a:t>
            </a:r>
            <a:r>
              <a:rPr lang="ru-RU" sz="2400" b="1" dirty="0"/>
              <a:t>Цель использования стандарта </a:t>
            </a:r>
            <a:r>
              <a:rPr lang="ru-RU" sz="2400" dirty="0"/>
              <a:t>— упрощение восприятия программного кода человеком, сокращение нагрузки на память и зрение при чтении программы.</a:t>
            </a:r>
          </a:p>
          <a:p>
            <a:r>
              <a:rPr lang="ru-RU" sz="2400" dirty="0"/>
              <a:t>Стандарты существуют в во многих распространенных языках программирования.</a:t>
            </a:r>
          </a:p>
          <a:p>
            <a:r>
              <a:rPr lang="ru-RU" sz="2400" dirty="0"/>
              <a:t>Для </a:t>
            </a:r>
            <a:r>
              <a:rPr lang="en-US" sz="2400" dirty="0"/>
              <a:t>Python </a:t>
            </a:r>
            <a:r>
              <a:rPr lang="ru-RU" sz="2400" dirty="0"/>
              <a:t>используется документ </a:t>
            </a:r>
            <a:r>
              <a:rPr lang="en-US" sz="2400" dirty="0"/>
              <a:t>PEP-8, </a:t>
            </a:r>
            <a:r>
              <a:rPr lang="ru-RU" sz="2400" dirty="0"/>
              <a:t>для </a:t>
            </a:r>
            <a:r>
              <a:rPr lang="en-US" sz="2400" dirty="0"/>
              <a:t>PHP – </a:t>
            </a:r>
            <a:r>
              <a:rPr lang="ru-RU" sz="2400" dirty="0"/>
              <a:t>стандартные рекомендации </a:t>
            </a:r>
            <a:r>
              <a:rPr lang="en-US" sz="2400" dirty="0"/>
              <a:t>PSR-1 </a:t>
            </a:r>
            <a:r>
              <a:rPr lang="ru-RU" sz="2400" dirty="0"/>
              <a:t>и </a:t>
            </a:r>
            <a:r>
              <a:rPr lang="en-US" sz="2400" dirty="0"/>
              <a:t>PSR-2, </a:t>
            </a:r>
            <a:r>
              <a:rPr lang="ru-RU" sz="2400" dirty="0"/>
              <a:t>для </a:t>
            </a:r>
            <a:r>
              <a:rPr lang="en-US" sz="2400" dirty="0"/>
              <a:t>Java – Java Coding Conventions, </a:t>
            </a:r>
            <a:r>
              <a:rPr lang="ru-RU" sz="2400" dirty="0"/>
              <a:t>для </a:t>
            </a:r>
            <a:r>
              <a:rPr lang="en-US" sz="2400" dirty="0"/>
              <a:t>JavaScript – Airbnb JavaScript Style Guide </a:t>
            </a:r>
            <a:r>
              <a:rPr lang="ru-RU" sz="2400" dirty="0"/>
              <a:t>или </a:t>
            </a:r>
            <a:r>
              <a:rPr lang="en-US" sz="2400" dirty="0"/>
              <a:t>Google JavaScript Style Guide. </a:t>
            </a:r>
            <a:r>
              <a:rPr lang="ru-RU" sz="2400" dirty="0"/>
              <a:t>Документ для вашего языка вы найдете по поисковому запросу &lt;Название языка&gt; </a:t>
            </a:r>
            <a:r>
              <a:rPr lang="en-US" sz="2400" dirty="0"/>
              <a:t>Code Style.</a:t>
            </a:r>
            <a:endParaRPr lang="ru-RU" sz="2400" dirty="0"/>
          </a:p>
        </p:txBody>
      </p:sp>
      <p:sp>
        <p:nvSpPr>
          <p:cNvPr id="4" name="Номер слайда 3">
            <a:extLst>
              <a:ext uri="{FF2B5EF4-FFF2-40B4-BE49-F238E27FC236}">
                <a16:creationId xmlns:a16="http://schemas.microsoft.com/office/drawing/2014/main" id="{386E84F9-79D2-E6A4-C351-25E26A66E0D2}"/>
              </a:ext>
            </a:extLst>
          </p:cNvPr>
          <p:cNvSpPr>
            <a:spLocks noGrp="1"/>
          </p:cNvSpPr>
          <p:nvPr>
            <p:ph type="sldNum" sz="quarter" idx="12"/>
          </p:nvPr>
        </p:nvSpPr>
        <p:spPr/>
        <p:txBody>
          <a:bodyPr/>
          <a:lstStyle/>
          <a:p>
            <a:fld id="{25A42088-C730-408A-A823-60BED1AFCEA0}" type="slidenum">
              <a:rPr lang="ru-RU" smtClean="0"/>
              <a:t>38</a:t>
            </a:fld>
            <a:endParaRPr lang="ru-RU"/>
          </a:p>
        </p:txBody>
      </p:sp>
    </p:spTree>
    <p:extLst>
      <p:ext uri="{BB962C8B-B14F-4D97-AF65-F5344CB8AC3E}">
        <p14:creationId xmlns:p14="http://schemas.microsoft.com/office/powerpoint/2010/main" val="9519773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DE084F-DA23-5EC2-F135-957C09F20CCF}"/>
              </a:ext>
            </a:extLst>
          </p:cNvPr>
          <p:cNvSpPr>
            <a:spLocks noGrp="1"/>
          </p:cNvSpPr>
          <p:nvPr>
            <p:ph type="title"/>
          </p:nvPr>
        </p:nvSpPr>
        <p:spPr/>
        <p:txBody>
          <a:bodyPr/>
          <a:lstStyle/>
          <a:p>
            <a:r>
              <a:rPr lang="ru-RU" dirty="0"/>
              <a:t>Общие соглашения о коде C#</a:t>
            </a:r>
          </a:p>
        </p:txBody>
      </p:sp>
      <p:sp>
        <p:nvSpPr>
          <p:cNvPr id="3" name="Объект 2">
            <a:extLst>
              <a:ext uri="{FF2B5EF4-FFF2-40B4-BE49-F238E27FC236}">
                <a16:creationId xmlns:a16="http://schemas.microsoft.com/office/drawing/2014/main" id="{7F993DFD-FA77-F16E-5D12-509C68547228}"/>
              </a:ext>
            </a:extLst>
          </p:cNvPr>
          <p:cNvSpPr>
            <a:spLocks noGrp="1"/>
          </p:cNvSpPr>
          <p:nvPr>
            <p:ph idx="1"/>
          </p:nvPr>
        </p:nvSpPr>
        <p:spPr/>
        <p:txBody>
          <a:bodyPr>
            <a:normAutofit/>
          </a:bodyPr>
          <a:lstStyle/>
          <a:p>
            <a:r>
              <a:rPr lang="ru-RU" sz="3200" dirty="0"/>
              <a:t>Для самостоятельного изучения: полное соглашение:</a:t>
            </a:r>
          </a:p>
          <a:p>
            <a:r>
              <a:rPr lang="en-US" sz="3200" dirty="0">
                <a:solidFill>
                  <a:schemeClr val="tx1"/>
                </a:solidFill>
                <a:hlinkClick r:id="rId2">
                  <a:extLst>
                    <a:ext uri="{A12FA001-AC4F-418D-AE19-62706E023703}">
                      <ahyp:hlinkClr xmlns:ahyp="http://schemas.microsoft.com/office/drawing/2018/hyperlinkcolor" val="tx"/>
                    </a:ext>
                  </a:extLst>
                </a:hlinkClick>
              </a:rPr>
              <a:t>https://learn.microsoft.com/ru-ru/dotnet/csharp/fundamentals/coding-style/coding-conventions</a:t>
            </a:r>
            <a:endParaRPr lang="ru-RU" sz="3200" dirty="0">
              <a:solidFill>
                <a:schemeClr val="tx1"/>
              </a:solidFill>
            </a:endParaRPr>
          </a:p>
        </p:txBody>
      </p:sp>
      <p:sp>
        <p:nvSpPr>
          <p:cNvPr id="4" name="Номер слайда 3">
            <a:extLst>
              <a:ext uri="{FF2B5EF4-FFF2-40B4-BE49-F238E27FC236}">
                <a16:creationId xmlns:a16="http://schemas.microsoft.com/office/drawing/2014/main" id="{B15FE085-96E6-E7D2-C3C0-6C58AD42BBDD}"/>
              </a:ext>
            </a:extLst>
          </p:cNvPr>
          <p:cNvSpPr>
            <a:spLocks noGrp="1"/>
          </p:cNvSpPr>
          <p:nvPr>
            <p:ph type="sldNum" sz="quarter" idx="12"/>
          </p:nvPr>
        </p:nvSpPr>
        <p:spPr/>
        <p:txBody>
          <a:bodyPr/>
          <a:lstStyle/>
          <a:p>
            <a:fld id="{25A42088-C730-408A-A823-60BED1AFCEA0}" type="slidenum">
              <a:rPr lang="ru-RU" smtClean="0"/>
              <a:t>39</a:t>
            </a:fld>
            <a:endParaRPr lang="ru-RU"/>
          </a:p>
        </p:txBody>
      </p:sp>
    </p:spTree>
    <p:extLst>
      <p:ext uri="{BB962C8B-B14F-4D97-AF65-F5344CB8AC3E}">
        <p14:creationId xmlns:p14="http://schemas.microsoft.com/office/powerpoint/2010/main" val="1293985281"/>
      </p:ext>
    </p:extLst>
  </p:cSld>
  <p:clrMapOvr>
    <a:masterClrMapping/>
  </p:clrMapOvr>
</p:sld>
</file>

<file path=ppt/theme/theme1.xml><?xml version="1.0" encoding="utf-8"?>
<a:theme xmlns:a="http://schemas.openxmlformats.org/drawingml/2006/main" name="Уголки">
  <a:themeElements>
    <a:clrScheme name="Уголки">
      <a:dk1>
        <a:sysClr val="windowText" lastClr="000000"/>
      </a:dk1>
      <a:lt1>
        <a:sysClr val="window" lastClr="FFFFFF"/>
      </a:lt1>
      <a:dk2>
        <a:srgbClr val="1A2E40"/>
      </a:dk2>
      <a:lt2>
        <a:srgbClr val="EBE7DD"/>
      </a:lt2>
      <a:accent1>
        <a:srgbClr val="69A1AB"/>
      </a:accent1>
      <a:accent2>
        <a:srgbClr val="F2C418"/>
      </a:accent2>
      <a:accent3>
        <a:srgbClr val="87492C"/>
      </a:accent3>
      <a:accent4>
        <a:srgbClr val="4A845E"/>
      </a:accent4>
      <a:accent5>
        <a:srgbClr val="DC9528"/>
      </a:accent5>
      <a:accent6>
        <a:srgbClr val="9A5D78"/>
      </a:accent6>
      <a:hlink>
        <a:srgbClr val="66C8E3"/>
      </a:hlink>
      <a:folHlink>
        <a:srgbClr val="B162A1"/>
      </a:folHlink>
    </a:clrScheme>
    <a:fontScheme name="Уголки">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Уголки">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17F9D331-421E-442F-B033-AF5B21A44854}"/>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TM10001105[[fn=Уголки]]</Template>
  <TotalTime>434</TotalTime>
  <Words>2980</Words>
  <Application>Microsoft Office PowerPoint</Application>
  <PresentationFormat>Широкоэкранный</PresentationFormat>
  <Paragraphs>249</Paragraphs>
  <Slides>39</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39</vt:i4>
      </vt:variant>
    </vt:vector>
  </HeadingPairs>
  <TitlesOfParts>
    <vt:vector size="44" baseType="lpstr">
      <vt:lpstr>Calibri</vt:lpstr>
      <vt:lpstr>Franklin Gothic Book</vt:lpstr>
      <vt:lpstr>Georgia</vt:lpstr>
      <vt:lpstr>Wingdings</vt:lpstr>
      <vt:lpstr>Уголки</vt:lpstr>
      <vt:lpstr>Лекция 2    Жизненный цикл и модели разработки ПО - часть 2. Качество ПО. Метрики качества</vt:lpstr>
      <vt:lpstr>V-образная модель (разработка через тестирование)</vt:lpstr>
      <vt:lpstr>Преимущества и недостатки V-образной модели</vt:lpstr>
      <vt:lpstr>Когда использовать V-модель?</vt:lpstr>
      <vt:lpstr>Итерационная модель</vt:lpstr>
      <vt:lpstr>Преимущества и недостатки</vt:lpstr>
      <vt:lpstr>Когда использовать итеративную модель?</vt:lpstr>
      <vt:lpstr>Инкрементная модель</vt:lpstr>
      <vt:lpstr>Преимущества инкрементной модели</vt:lpstr>
      <vt:lpstr>Недостатки инкрементной модели</vt:lpstr>
      <vt:lpstr>Когда использовать инкрементную модель?</vt:lpstr>
      <vt:lpstr>Разница между итерационной и инкрементной моделями  </vt:lpstr>
      <vt:lpstr>Спиральная модель</vt:lpstr>
      <vt:lpstr>Преимущества и недостатки спиральной модели</vt:lpstr>
      <vt:lpstr>Когда использовать спиральную модель?</vt:lpstr>
      <vt:lpstr>Качество ПО</vt:lpstr>
      <vt:lpstr>Качество ПО</vt:lpstr>
      <vt:lpstr>Презентация PowerPoint</vt:lpstr>
      <vt:lpstr>Стандарты ISO 9000</vt:lpstr>
      <vt:lpstr>Модель качества программного обеспечения</vt:lpstr>
      <vt:lpstr>1. Функциональность (functionality)</vt:lpstr>
      <vt:lpstr>2. Надежность (reliability)</vt:lpstr>
      <vt:lpstr>3. Удобство использования (usability) или практичность</vt:lpstr>
      <vt:lpstr>4. Производительность (efficiency) или эффективность</vt:lpstr>
      <vt:lpstr>5. Удобство сопровождения (maintainability)</vt:lpstr>
      <vt:lpstr>6. Переносимость (portability)</vt:lpstr>
      <vt:lpstr>Характеристики качества при использовании</vt:lpstr>
      <vt:lpstr>Методы контроля качества</vt:lpstr>
      <vt:lpstr>Метрики программного обеспечения</vt:lpstr>
      <vt:lpstr>Метрики качества ПО</vt:lpstr>
      <vt:lpstr>1. Метрики качества продукции</vt:lpstr>
      <vt:lpstr>2. Показатели качества в процессе производства</vt:lpstr>
      <vt:lpstr>3. Метрики качества обслуживания</vt:lpstr>
      <vt:lpstr>Модель COCOMO  II</vt:lpstr>
      <vt:lpstr>Формула оценки трудоемкости</vt:lpstr>
      <vt:lpstr>Факторы масштаба</vt:lpstr>
      <vt:lpstr>Множители трудоемкости</vt:lpstr>
      <vt:lpstr>Рекомендации по повышению качества кода</vt:lpstr>
      <vt:lpstr>Общие соглашения о коде 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Лекция …    Заголовок</dc:title>
  <dc:creator>Лилия Челищева</dc:creator>
  <cp:lastModifiedBy>Лилия Челищева</cp:lastModifiedBy>
  <cp:revision>13</cp:revision>
  <dcterms:created xsi:type="dcterms:W3CDTF">2023-09-01T22:02:12Z</dcterms:created>
  <dcterms:modified xsi:type="dcterms:W3CDTF">2025-09-05T13:15:18Z</dcterms:modified>
</cp:coreProperties>
</file>