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34"/>
  </p:notesMasterIdLst>
  <p:sldIdLst>
    <p:sldId id="256" r:id="rId2"/>
    <p:sldId id="280" r:id="rId3"/>
    <p:sldId id="262" r:id="rId4"/>
    <p:sldId id="263" r:id="rId5"/>
    <p:sldId id="264" r:id="rId6"/>
    <p:sldId id="265" r:id="rId7"/>
    <p:sldId id="266" r:id="rId8"/>
    <p:sldId id="267" r:id="rId9"/>
    <p:sldId id="284" r:id="rId10"/>
    <p:sldId id="268" r:id="rId11"/>
    <p:sldId id="269" r:id="rId12"/>
    <p:sldId id="271" r:id="rId13"/>
    <p:sldId id="270" r:id="rId14"/>
    <p:sldId id="285" r:id="rId15"/>
    <p:sldId id="286" r:id="rId16"/>
    <p:sldId id="282" r:id="rId17"/>
    <p:sldId id="283" r:id="rId18"/>
    <p:sldId id="289" r:id="rId19"/>
    <p:sldId id="290" r:id="rId20"/>
    <p:sldId id="272" r:id="rId21"/>
    <p:sldId id="274" r:id="rId22"/>
    <p:sldId id="275" r:id="rId23"/>
    <p:sldId id="273" r:id="rId24"/>
    <p:sldId id="287" r:id="rId25"/>
    <p:sldId id="288" r:id="rId26"/>
    <p:sldId id="276" r:id="rId27"/>
    <p:sldId id="277" r:id="rId28"/>
    <p:sldId id="278" r:id="rId29"/>
    <p:sldId id="291" r:id="rId30"/>
    <p:sldId id="279" r:id="rId31"/>
    <p:sldId id="281" r:id="rId32"/>
    <p:sldId id="29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49" d="100"/>
          <a:sy n="49" d="100"/>
        </p:scale>
        <p:origin x="100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21.10.2025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CAD17C74-90B5-4073-B421-ACC208756EE7}" type="datetime1">
              <a:rPr lang="ru-RU" smtClean="0"/>
              <a:t>21.10.2025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70BC-4437-4728-B70A-1672E256AEE6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2C9B42-0F0A-4928-936C-2E25F5D86385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23B8-2795-4B3D-ABB8-028F6A8F48BB}" type="datetime1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4A29-3E3C-4D3E-B252-D5C814BE1865}" type="datetime1">
              <a:rPr lang="ru-RU" smtClean="0"/>
              <a:t>21.10.2025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A5221-5295-4C2C-9899-C6A58812879A}" type="datetime1">
              <a:rPr lang="ru-RU" smtClean="0"/>
              <a:t>21.10.2025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2FC6-AC1A-439D-A24E-0192C715A337}" type="datetime1">
              <a:rPr lang="ru-RU" smtClean="0"/>
              <a:t>21.10.2025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BCE254-7FB8-49F3-9E3E-56CC1B957072}" type="datetime1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859DDC1-395B-4E54-82C1-7EB0C165218E}" type="datetime1">
              <a:rPr lang="ru-RU" smtClean="0"/>
              <a:t>21.10.2025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8A25-3DB1-4DFC-AB22-23D41F4F765E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916B-0307-4C89-918F-3DC8DBC1D47A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DD3407BC-8C6D-44FC-A3DC-CFB51201D064}" type="datetime1">
              <a:rPr lang="ru-RU" smtClean="0"/>
              <a:t>21.10.2025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gilesurvey.ru/report2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/>
              <a:t>Лекция 11  </a:t>
            </a:r>
            <a:br>
              <a:rPr lang="ru-RU" sz="6000" dirty="0"/>
            </a:br>
            <a:r>
              <a:rPr lang="ru-RU" sz="6000" dirty="0"/>
              <a:t> </a:t>
            </a:r>
            <a:r>
              <a:rPr lang="ru-RU" sz="4800" dirty="0"/>
              <a:t>Гибкие методологии разработки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Гибкая методология разработки (</a:t>
            </a:r>
            <a:r>
              <a:rPr lang="en-US" dirty="0"/>
              <a:t>Agile)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Гибкая методология разработки ПО (AGILE) </a:t>
            </a:r>
            <a:r>
              <a:rPr lang="ru-RU" sz="2400" dirty="0"/>
              <a:t>– методология, основывающаяся на цикличном методе, в котором условия и решения развиваются с помощью взаимной работы самоорганизующихся кросс-функциональных команд между собой.</a:t>
            </a:r>
          </a:p>
          <a:p>
            <a:r>
              <a:rPr lang="ru-RU" sz="2400" dirty="0"/>
              <a:t>Благодаря </a:t>
            </a:r>
            <a:r>
              <a:rPr lang="ru-RU" sz="2400" dirty="0" err="1"/>
              <a:t>Agile</a:t>
            </a:r>
            <a:r>
              <a:rPr lang="ru-RU" sz="2400" dirty="0"/>
              <a:t>-методам, удается сделать процесс руководства проектами более упорядоченным.</a:t>
            </a:r>
            <a:r>
              <a:rPr lang="en-US" sz="2400" dirty="0"/>
              <a:t> </a:t>
            </a:r>
            <a:r>
              <a:rPr lang="ru-RU" sz="2400" dirty="0"/>
              <a:t>Такие проекты подразумевают под собой изучение адаптационных процессов, командной работы, самоорганизации, отчетов, а также проведения проверок.</a:t>
            </a:r>
          </a:p>
          <a:p>
            <a:r>
              <a:rPr lang="ru-RU" sz="2400" dirty="0" err="1"/>
              <a:t>Agile</a:t>
            </a:r>
            <a:r>
              <a:rPr lang="ru-RU" sz="2400" dirty="0"/>
              <a:t>-методы считаются передовыми в проектировании. Их предназначение – быстрый выпуск ПО высокого качества.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165AF5-56D6-5766-5E84-33595640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5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Манифест гибкой разработки ПО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Наблюдая за тем, как многочисленные команды увязали в болотных топях непрестанно усложняющихся процессов разработки, семнадцать крупных специалистов по вопросам программной инженерии собрались в 2001 году, чтобы обсудить методологию эффективной работы программистов в современных условиях. Они назвали себя «Альянсом Гибких» (</a:t>
            </a:r>
            <a:r>
              <a:rPr lang="en-US" sz="2400" dirty="0"/>
              <a:t>Agile Alliance</a:t>
            </a:r>
            <a:r>
              <a:rPr lang="ru-RU" sz="2400" dirty="0"/>
              <a:t>), а в результате их раздумий появился «Манифест гибкой разработки».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4C55A0-44FE-59E3-C129-F3ECCB4D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0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93020"/>
          </a:xfrm>
          <a:prstGeom prst="bracePair">
            <a:avLst>
              <a:gd name="adj" fmla="val 559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r>
              <a:rPr lang="ru-RU" sz="2400" i="1" dirty="0"/>
              <a:t>Мы открываем лучшие способы разработки программного обеспечения, применяя</a:t>
            </a:r>
            <a:r>
              <a:rPr lang="en-US" sz="2400" i="1" dirty="0"/>
              <a:t> </a:t>
            </a:r>
            <a:r>
              <a:rPr lang="ru-RU" sz="2400" i="1"/>
              <a:t>их на </a:t>
            </a:r>
            <a:r>
              <a:rPr lang="ru-RU" sz="2400" i="1" dirty="0"/>
              <a:t>практике и помогая в этом другим.</a:t>
            </a:r>
          </a:p>
          <a:p>
            <a:r>
              <a:rPr lang="ru-RU" sz="2400" i="1" dirty="0"/>
              <a:t>В ходе своей работы мы научились ценить:</a:t>
            </a:r>
          </a:p>
          <a:p>
            <a:pPr lvl="1"/>
            <a:r>
              <a:rPr lang="ru-RU" sz="2000" i="1" dirty="0"/>
              <a:t>Людей и их взаимоотношения больше, чем процессы и инструменты.</a:t>
            </a:r>
          </a:p>
          <a:p>
            <a:pPr lvl="1"/>
            <a:r>
              <a:rPr lang="ru-RU" sz="2000" i="1" dirty="0"/>
              <a:t>Работающую программу больше, чем исчерпывающую документацию.</a:t>
            </a:r>
          </a:p>
          <a:p>
            <a:pPr lvl="1"/>
            <a:r>
              <a:rPr lang="ru-RU" sz="2000" i="1" dirty="0"/>
              <a:t>Плодотворное сотрудничество с заказчиком больше, чем формальные договоренности по контракту.</a:t>
            </a:r>
          </a:p>
          <a:p>
            <a:pPr lvl="1"/>
            <a:r>
              <a:rPr lang="ru-RU" sz="2000" i="1" dirty="0"/>
              <a:t>Оперативное реагирование на изменения больше, чем следование плану.</a:t>
            </a:r>
          </a:p>
          <a:p>
            <a:r>
              <a:rPr lang="ru-RU" sz="2400" i="1" dirty="0"/>
              <a:t>Иначе говоря, не отрицая значимость факторов, перечисленных в правой части предложений, мы больше ценим те, что слева.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5A1D3D-38C4-DEBE-2623-DAE643D8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99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ОСНОВОПОЛАГАЮЩИЕ ПРИНЦИПЫ ГИБКОЙ РАЗРАБОТКИ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845734"/>
            <a:ext cx="9784080" cy="4427744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100" b="1" dirty="0"/>
              <a:t>Высшим приоритетом считается удовлетворение пожеланий заказчика </a:t>
            </a:r>
            <a:r>
              <a:rPr lang="ru-RU" sz="2100" dirty="0"/>
              <a:t>посредством быстрой поставки полезного программного продукта с последующим непрерывным обновлением.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100" b="1" dirty="0"/>
              <a:t>Изменение требований приветствуется, даже на поздних стадиях разработки</a:t>
            </a:r>
            <a:r>
              <a:rPr lang="ru-RU" sz="2100" dirty="0"/>
              <a:t>. Гибкие процессы позволяют использовать изменения для повышения конкурентоспособности продукта.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100" b="1" dirty="0"/>
              <a:t>Работающий продукт поставляется как можно чаще</a:t>
            </a:r>
            <a:r>
              <a:rPr lang="ru-RU" sz="2100" dirty="0"/>
              <a:t>, с периодичностью от пары недель до пары месяцев.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100" b="1" dirty="0"/>
              <a:t>Заказчики и разработчики должны работать совместно </a:t>
            </a:r>
            <a:r>
              <a:rPr lang="ru-RU" sz="2100" dirty="0"/>
              <a:t>на протяжении всего программного проекта.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100" b="1" dirty="0"/>
              <a:t>Проекты воплощаются в жизнь мотивированными, целеустремленными людьми</a:t>
            </a:r>
            <a:r>
              <a:rPr lang="ru-RU" sz="2100" dirty="0"/>
              <a:t>. Этим людям оказывается доверие и для них создаются все необходимые условия работы.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54ACF3-77EE-72F7-137B-77185700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6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30235"/>
            <a:ext cx="10168358" cy="531071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Наиболее эффективным и действенным способом передачи информации команде разработчиков является </a:t>
            </a:r>
            <a:r>
              <a:rPr lang="ru-RU" b="1" dirty="0"/>
              <a:t>разговор лицом к лицу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Работающее программное приложение </a:t>
            </a:r>
            <a:r>
              <a:rPr lang="ru-RU" dirty="0"/>
              <a:t>— основой показатель прогресса.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Гибкие процессы способствуют </a:t>
            </a:r>
            <a:r>
              <a:rPr lang="ru-RU" b="1" dirty="0"/>
              <a:t>долгосрочному и комфортному режиму работы</a:t>
            </a:r>
            <a:r>
              <a:rPr lang="ru-RU" dirty="0"/>
              <a:t>. Заказчики, разработчики и пользователи должны быть способны поддерживать такой режим сколь угодно долго.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Непрерывное внимание к техническому совершенству </a:t>
            </a:r>
            <a:r>
              <a:rPr lang="ru-RU" dirty="0"/>
              <a:t>и качественному проектированию повышает отдачу от гибких методологий.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Простота</a:t>
            </a:r>
            <a:r>
              <a:rPr lang="ru-RU" dirty="0"/>
              <a:t> — искусство минимизации ненужной работы — крайне необходима.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Самые лучшие требования, архитектурные и проектные решения рождаются у </a:t>
            </a:r>
            <a:r>
              <a:rPr lang="ru-RU" b="1" dirty="0"/>
              <a:t>самоорганизующихся команд</a:t>
            </a:r>
            <a:r>
              <a:rPr lang="ru-RU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Команда должна регулярно задумываться над </a:t>
            </a:r>
            <a:r>
              <a:rPr lang="ru-RU" b="1" dirty="0"/>
              <a:t>повышением эффективности </a:t>
            </a:r>
            <a:r>
              <a:rPr lang="ru-RU" dirty="0"/>
              <a:t>своей</a:t>
            </a:r>
            <a:r>
              <a:rPr lang="en-US" dirty="0"/>
              <a:t> </a:t>
            </a:r>
            <a:r>
              <a:rPr lang="ru-RU" dirty="0"/>
              <a:t>работы.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BA69E8-5338-EAB3-9214-4592AD46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796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2022 год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56C16FB-5747-69C7-EE51-67B3BFB9D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71600" y="1517399"/>
            <a:ext cx="9887292" cy="274022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317952-10D0-90B8-F29D-BF335BF5598D}"/>
              </a:ext>
            </a:extLst>
          </p:cNvPr>
          <p:cNvSpPr txBox="1"/>
          <p:nvPr/>
        </p:nvSpPr>
        <p:spPr>
          <a:xfrm>
            <a:off x="4331619" y="4645548"/>
            <a:ext cx="6927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Georgia" panose="02040502050405020303" pitchFamily="18" charset="0"/>
              </a:rPr>
              <a:t>Полную статистику можно увидеть на сайте: 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https://agilesurvey.ru/report22</a:t>
            </a:r>
            <a:endParaRPr lang="ru-RU" dirty="0">
              <a:solidFill>
                <a:schemeClr val="tx2"/>
              </a:solidFill>
              <a:latin typeface="Georgia" panose="02040502050405020303" pitchFamily="18" charset="0"/>
            </a:endParaRPr>
          </a:p>
          <a:p>
            <a:endParaRPr lang="ru-RU" dirty="0">
              <a:solidFill>
                <a:schemeClr val="tx2"/>
              </a:solidFill>
              <a:latin typeface="Georgia" panose="02040502050405020303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8C4D4A1-6EBA-303F-09C3-F524563C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37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практики в</a:t>
            </a:r>
            <a:r>
              <a:rPr lang="en-US" dirty="0"/>
              <a:t> Agile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XP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Lean</a:t>
            </a:r>
            <a:endParaRPr lang="ru-RU" sz="32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Scrum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Kanban</a:t>
            </a:r>
            <a:endParaRPr lang="ru-RU" sz="3200" dirty="0"/>
          </a:p>
        </p:txBody>
      </p:sp>
      <p:pic>
        <p:nvPicPr>
          <p:cNvPr id="1026" name="Picture 2" descr="Гибкие методологии Вольфсон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975" y="1417637"/>
            <a:ext cx="5148425" cy="516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9D1F81-AD38-6ED9-1F88-417A10CC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362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4ED5832-9365-1C3B-B85A-C8651E924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</p:spPr>
        <p:txBody>
          <a:bodyPr/>
          <a:lstStyle/>
          <a:p>
            <a:r>
              <a:rPr lang="ru-RU" dirty="0"/>
              <a:t>Также </a:t>
            </a:r>
            <a:r>
              <a:rPr lang="en-US" dirty="0"/>
              <a:t>Agile </a:t>
            </a:r>
            <a:r>
              <a:rPr lang="ru-RU" dirty="0"/>
              <a:t>включает: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122B511-EE53-D024-2826-A3DDE17C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47548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разработку, управляемую функциональностью (</a:t>
            </a:r>
            <a:r>
              <a:rPr lang="en-US" sz="2400" dirty="0"/>
              <a:t>Feature-driven development, FDD);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разработку через тестирование (</a:t>
            </a:r>
            <a:r>
              <a:rPr lang="en-US" sz="2400" dirty="0"/>
              <a:t>Test-driven development, TDD);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методологию «</a:t>
            </a:r>
            <a:r>
              <a:rPr lang="ru-RU" sz="2400" dirty="0" err="1"/>
              <a:t>чистои</a:t>
            </a:r>
            <a:r>
              <a:rPr lang="ru-RU" sz="2400" dirty="0"/>
              <a:t> комнаты» (</a:t>
            </a:r>
            <a:r>
              <a:rPr lang="en-US" sz="2400" dirty="0"/>
              <a:t>Cleanroom Software Engineering);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итеративно-инкрементальный метод разработки (</a:t>
            </a:r>
            <a:r>
              <a:rPr lang="en-US" sz="2400" dirty="0" err="1"/>
              <a:t>OpenUP</a:t>
            </a:r>
            <a:r>
              <a:rPr lang="en-US" sz="2400" dirty="0"/>
              <a:t>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методологию разработки </a:t>
            </a:r>
            <a:r>
              <a:rPr lang="en-US" sz="2400" dirty="0"/>
              <a:t>Microsoft Solutions Framework (MSF);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метод разработки динамических систем (</a:t>
            </a:r>
            <a:r>
              <a:rPr lang="en-US" sz="2400" dirty="0"/>
              <a:t>Dynamic Systems Development Method, DSDM);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и многие другие подходы…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E885F8-54AD-6B75-BFDD-1488F431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2170" y="6374670"/>
            <a:ext cx="1280630" cy="404614"/>
          </a:xfrm>
        </p:spPr>
        <p:txBody>
          <a:bodyPr/>
          <a:lstStyle/>
          <a:p>
            <a:fld id="{25A42088-C730-408A-A823-60BED1AFCEA0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535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</a:t>
            </a:r>
            <a:r>
              <a:rPr lang="ru-RU" dirty="0"/>
              <a:t>-процесс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845734"/>
            <a:ext cx="10177272" cy="4472770"/>
          </a:xfrm>
        </p:spPr>
        <p:txBody>
          <a:bodyPr>
            <a:normAutofit/>
          </a:bodyPr>
          <a:lstStyle/>
          <a:p>
            <a:r>
              <a:rPr lang="ru-RU" sz="2400" dirty="0"/>
              <a:t>Экстремальное программирование (</a:t>
            </a:r>
            <a:r>
              <a:rPr lang="en-US" sz="2400" dirty="0" err="1"/>
              <a:t>eXtreme</a:t>
            </a:r>
            <a:r>
              <a:rPr lang="en-US" sz="2400" dirty="0"/>
              <a:t> Programming</a:t>
            </a:r>
            <a:r>
              <a:rPr lang="ru-RU" sz="2400" dirty="0"/>
              <a:t>, ХР) — облегчённый</a:t>
            </a:r>
            <a:r>
              <a:rPr lang="en-US" sz="2400" dirty="0"/>
              <a:t> </a:t>
            </a:r>
            <a:r>
              <a:rPr lang="ru-RU" sz="2400" dirty="0"/>
              <a:t>(гибкий) процесс (или методология), главный автор которого — Кент Бек (1999)</a:t>
            </a:r>
            <a:r>
              <a:rPr lang="en-US" sz="2400" dirty="0"/>
              <a:t>. </a:t>
            </a:r>
            <a:r>
              <a:rPr lang="ru-RU" sz="2400" dirty="0"/>
              <a:t>ХР-процесс ориентирован на группы малого и среднего размера, строящие</a:t>
            </a:r>
            <a:r>
              <a:rPr lang="en-US" sz="2400" dirty="0"/>
              <a:t> </a:t>
            </a:r>
            <a:r>
              <a:rPr lang="ru-RU" sz="2400" dirty="0"/>
              <a:t>программное обеспечение в условиях неопределенных или быстро изменяющихся</a:t>
            </a:r>
            <a:r>
              <a:rPr lang="en-US" sz="2400" dirty="0"/>
              <a:t> </a:t>
            </a:r>
            <a:r>
              <a:rPr lang="ru-RU" sz="2400" dirty="0"/>
              <a:t>требований. </a:t>
            </a:r>
          </a:p>
          <a:p>
            <a:r>
              <a:rPr lang="ru-RU" sz="2400" b="1" dirty="0"/>
              <a:t>Основная идея ХР </a:t>
            </a:r>
            <a:r>
              <a:rPr lang="ru-RU" sz="2400" dirty="0"/>
              <a:t>— устранить высокую стоимость изменения, характерную</a:t>
            </a:r>
            <a:r>
              <a:rPr lang="en-US" sz="2400" dirty="0"/>
              <a:t> </a:t>
            </a:r>
            <a:r>
              <a:rPr lang="ru-RU" sz="2400" dirty="0"/>
              <a:t>для приложений с использованием объектов, паттернов и реляционных баз данных. Поэтому ХР-процесс должен быть </a:t>
            </a:r>
            <a:r>
              <a:rPr lang="ru-RU" sz="2400" dirty="0" err="1"/>
              <a:t>высокодинамичным</a:t>
            </a:r>
            <a:r>
              <a:rPr lang="ru-RU" sz="2400" dirty="0"/>
              <a:t> процессом. ХР-группа</a:t>
            </a:r>
            <a:r>
              <a:rPr lang="en-US" sz="2400" dirty="0"/>
              <a:t> </a:t>
            </a:r>
            <a:r>
              <a:rPr lang="ru-RU" sz="2400" dirty="0"/>
              <a:t>имеет дело с изменениями требований на всем протяжении итерационного цикла</a:t>
            </a:r>
            <a:r>
              <a:rPr lang="en-US" sz="2400" dirty="0"/>
              <a:t> </a:t>
            </a:r>
            <a:r>
              <a:rPr lang="ru-RU" sz="2400" dirty="0"/>
              <a:t>разработки.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6C8424-5B64-A5BD-7A99-5AA2F760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61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86603"/>
            <a:ext cx="10030968" cy="1450757"/>
          </a:xfrm>
        </p:spPr>
        <p:txBody>
          <a:bodyPr/>
          <a:lstStyle/>
          <a:p>
            <a:r>
              <a:rPr lang="ru-RU" dirty="0"/>
              <a:t>Принципы </a:t>
            </a:r>
            <a:r>
              <a:rPr lang="en-US" dirty="0"/>
              <a:t>XP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118656"/>
            <a:ext cx="9601200" cy="5328326"/>
          </a:xfrm>
        </p:spPr>
        <p:txBody>
          <a:bodyPr>
            <a:normAutofit lnSpcReduction="10000"/>
          </a:bodyPr>
          <a:lstStyle/>
          <a:p>
            <a:r>
              <a:rPr lang="ru-RU" b="1" i="1" dirty="0"/>
              <a:t>1. Процесс планирования работы над проектом</a:t>
            </a:r>
            <a:endParaRPr lang="ru-RU" dirty="0"/>
          </a:p>
          <a:p>
            <a:r>
              <a:rPr lang="ru-RU" dirty="0"/>
              <a:t>Необходимые функции программного обеспечения, которые передаются заказчиком, сочетаются с оценками расходов, которые предоставляются программистами для определения наиболее важных факторов программного обеспечения. Этот этап иногда называют Планировочной игрой.</a:t>
            </a:r>
          </a:p>
          <a:p>
            <a:r>
              <a:rPr lang="ru-RU" b="1" dirty="0"/>
              <a:t>2. </a:t>
            </a:r>
            <a:r>
              <a:rPr lang="ru-RU" b="1" i="1" dirty="0"/>
              <a:t>Малые релизы</a:t>
            </a:r>
            <a:endParaRPr lang="ru-RU" dirty="0"/>
          </a:p>
          <a:p>
            <a:r>
              <a:rPr lang="ru-RU" dirty="0"/>
              <a:t>Программное обеспечение разрабатывается на небольших этапах, которые обновляются часто, как правило, каждые две недели.</a:t>
            </a:r>
          </a:p>
          <a:p>
            <a:r>
              <a:rPr lang="ru-RU" b="1" i="1" dirty="0"/>
              <a:t>3. Общая методология</a:t>
            </a:r>
          </a:p>
          <a:p>
            <a:r>
              <a:rPr lang="ru-RU" dirty="0"/>
              <a:t>Все члены команды XP используют общие имена и описания для руководства разработкой и общения на общих условиях.</a:t>
            </a:r>
          </a:p>
          <a:p>
            <a:r>
              <a:rPr lang="ru-RU" b="1" i="1" dirty="0"/>
              <a:t>4. Простой дизайн</a:t>
            </a:r>
          </a:p>
          <a:p>
            <a:r>
              <a:rPr lang="ru-RU" dirty="0"/>
              <a:t>Программное обеспечение должно включать только код, необходимый для достижения желаемых результатов, передаваемых клиентам на каждом этапе процесса. Акцент делается не на создании будущих версий продукта.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D9445-C5F6-97FE-E4B7-A6B642FE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008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274619"/>
            <a:ext cx="9601200" cy="4986844"/>
          </a:xfrm>
        </p:spPr>
        <p:txBody>
          <a:bodyPr>
            <a:normAutofit fontScale="92500" lnSpcReduction="10000"/>
          </a:bodyPr>
          <a:lstStyle/>
          <a:p>
            <a:r>
              <a:rPr lang="ru-RU" b="1" i="1" dirty="0"/>
              <a:t>5. Тестирование</a:t>
            </a:r>
          </a:p>
          <a:p>
            <a:r>
              <a:rPr lang="ru-RU" dirty="0"/>
              <a:t>Тестирование проводится последовательно в течение всего процесса. Программисты сначала создают тесты, а затем пишут программное обеспечение, чтобы выполнить требования теста. Заказчик также предоставляет приемочные испытания на каждом этапе для обеспечения желаемых результатов.</a:t>
            </a:r>
          </a:p>
          <a:p>
            <a:r>
              <a:rPr lang="ru-RU" b="1" i="1" dirty="0"/>
              <a:t>6. </a:t>
            </a:r>
            <a:r>
              <a:rPr lang="ru-RU" b="1" i="1" dirty="0" err="1"/>
              <a:t>Рефакторинг</a:t>
            </a:r>
            <a:endParaRPr lang="ru-RU" b="1" i="1" dirty="0"/>
          </a:p>
          <a:p>
            <a:r>
              <a:rPr lang="ru-RU" dirty="0"/>
              <a:t>Программисты XP улучшают дизайн программного обеспечения на каждом этапе разработки, а не дожидаются конца разработки и возвращаются к исправлению недостатков.</a:t>
            </a:r>
          </a:p>
          <a:p>
            <a:r>
              <a:rPr lang="ru-RU" b="1" i="1" dirty="0"/>
              <a:t>7. Парное программирование</a:t>
            </a:r>
          </a:p>
          <a:p>
            <a:r>
              <a:rPr lang="ru-RU" dirty="0"/>
              <a:t>Весь код написан двумя программистами, работающими на одном ПК.</a:t>
            </a:r>
          </a:p>
          <a:p>
            <a:r>
              <a:rPr lang="ru-RU" b="1" i="1" dirty="0"/>
              <a:t>8. Коллективная собственность</a:t>
            </a:r>
          </a:p>
          <a:p>
            <a:r>
              <a:rPr lang="ru-RU" dirty="0"/>
              <a:t>Каждая строка кода принадлежит каждому программисту, работающему над проектом, поэтому нет вопросов по поводу авторства. Код изменяется, если его необходимо изменить без задержки.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40AE957-0B75-D571-A4BC-6BF4E217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21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0836" y="1080656"/>
            <a:ext cx="9601200" cy="5300880"/>
          </a:xfrm>
        </p:spPr>
        <p:txBody>
          <a:bodyPr>
            <a:normAutofit/>
          </a:bodyPr>
          <a:lstStyle/>
          <a:p>
            <a:r>
              <a:rPr lang="ru-RU" b="1" i="1" dirty="0"/>
              <a:t>9. Непрерывная интеграция</a:t>
            </a:r>
          </a:p>
          <a:p>
            <a:r>
              <a:rPr lang="ru-RU" dirty="0"/>
              <a:t>Команда XP интегрирует и создает систему программного обеспечения несколько раз в день, чтобы одновременно держать всех программистов на одной и той же стадии процесса разработки.</a:t>
            </a:r>
          </a:p>
          <a:p>
            <a:r>
              <a:rPr lang="ru-RU" b="1" i="1" dirty="0"/>
              <a:t>10. 40-часовая неделя</a:t>
            </a:r>
          </a:p>
          <a:p>
            <a:r>
              <a:rPr lang="ru-RU" dirty="0"/>
              <a:t>Команда XP не работает сверхурочно, чтобы команда оставалась хорошо отдохнувшей, внимательной и эффективной.</a:t>
            </a:r>
          </a:p>
          <a:p>
            <a:r>
              <a:rPr lang="ru-RU" b="1" i="1" dirty="0"/>
              <a:t>11. Клиент в доступности</a:t>
            </a:r>
          </a:p>
          <a:p>
            <a:r>
              <a:rPr lang="ru-RU" dirty="0"/>
              <a:t>Проект XP управляется клиентом, который доступен все время, чтобы отвечать на вопросы, устанавливать приоритеты и определять требования проекта.</a:t>
            </a:r>
          </a:p>
          <a:p>
            <a:r>
              <a:rPr lang="ru-RU" b="1" i="1" dirty="0"/>
              <a:t>12. Стандарт кодирования</a:t>
            </a:r>
          </a:p>
          <a:p>
            <a:r>
              <a:rPr lang="ru-RU" dirty="0"/>
              <a:t>Все программисты пишут код одинаково. Это позволяет им работать в парах и совместно использовать код.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0A38B3A-E100-D831-1F12-BF126331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978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E9078-9DC5-7DE0-5372-CF3DF396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XP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663CE-4668-4855-D358-D97A35DA2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00727"/>
            <a:ext cx="9601200" cy="529243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заказчик получает именно тот продукт, который ему нужен, даже если в начале разработки сам точно не представляет его конечный вид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команда быстро вносит изменения в код и добавляет новую функциональность за счет простого дизайна кода, частого планирования и релизов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код всегда работает за счет постоянного тестирования и непрерывной интеграции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команда легко поддерживает код, т.к. он написан по единому стандарту и постоянно </a:t>
            </a:r>
            <a:r>
              <a:rPr lang="ru-RU" dirty="0" err="1"/>
              <a:t>рефакторится</a:t>
            </a:r>
            <a:endParaRPr lang="ru-RU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быстрый темп разработки за счет парного программирования, отсутствия переработок, присутствия заказчика в команде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высокое качество кода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снижаются риски, связанные с разработкой, т.к. ответственность за проект распределяется равномерно и уход/приход члена команды не разрушит процесс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затраты на разработку ниже, т.к. команда ориентирована на код, а не на документацию и собрания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7ADD81-26C4-FD93-9981-5A479D2D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294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D7B2F-01D1-34C8-D6F7-4BECA0CF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XP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FA51E-F5A3-3B87-033B-590D9BA3B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192546"/>
            <a:ext cx="9601200" cy="5485345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успех проекта зависит от вовлеченности заказчика, которой не так просто добиться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трудно предугадать затраты времени на проект, т.к. в начале никто не знает полного списка требований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успех XP сильно зависит от уровня программистов, методология работает только с </a:t>
            </a:r>
            <a:r>
              <a:rPr lang="ru-RU" dirty="0" err="1"/>
              <a:t>senior</a:t>
            </a:r>
            <a:r>
              <a:rPr lang="ru-RU" dirty="0"/>
              <a:t> специалистами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менеджмент негативно относится к парному программированию, не понимая, почему он должен оплачивать двух программистов вместо одного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регулярные встречи с программистами дорого обходятся заказчикам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требует слишком сильных культурных изменений, чтобы не контролировать каждую задачу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из-за недостатка структуры и документации не подходит для крупных проектов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т.к. гибкие методологии функционально-ориентированные, нефункциональные требования к качеству продукта сложно описать в виде пользовательских историй.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D635AF-E47C-7F2C-9FB7-AAAF8FC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12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Бережливая разработка ПО (</a:t>
            </a:r>
            <a:r>
              <a:rPr lang="en-US" dirty="0"/>
              <a:t>Lean)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14765"/>
            <a:ext cx="9784079" cy="4700840"/>
          </a:xfrm>
        </p:spPr>
        <p:txBody>
          <a:bodyPr>
            <a:noAutofit/>
          </a:bodyPr>
          <a:lstStyle/>
          <a:p>
            <a:r>
              <a:rPr lang="ru-RU" dirty="0"/>
              <a:t>Бережливый подход к созданию ПО рассматривает все гибкие методы в качестве</a:t>
            </a:r>
            <a:r>
              <a:rPr lang="en-US" dirty="0"/>
              <a:t> </a:t>
            </a:r>
            <a:r>
              <a:rPr lang="ru-RU" dirty="0"/>
              <a:t>эффективных, доказавших свою верность идеям бережливого мышления. Однако</a:t>
            </a:r>
            <a:r>
              <a:rPr lang="en-US" dirty="0"/>
              <a:t> </a:t>
            </a:r>
            <a:r>
              <a:rPr lang="ru-RU" dirty="0"/>
              <a:t>данный подход раскрывает еще более широкие возможности развития гибких</a:t>
            </a:r>
            <a:r>
              <a:rPr lang="en-US" dirty="0"/>
              <a:t> </a:t>
            </a:r>
            <a:r>
              <a:rPr lang="ru-RU" dirty="0"/>
              <a:t>методов: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бережливый подход позволяет держать под контролем всю цепочку создания</a:t>
            </a:r>
            <a:r>
              <a:rPr lang="en-US" dirty="0"/>
              <a:t> </a:t>
            </a:r>
            <a:r>
              <a:rPr lang="ru-RU" dirty="0"/>
              <a:t>ценности (от идеи до прибыли), а также выявлять все случаи потерь и задержек,</a:t>
            </a:r>
            <a:r>
              <a:rPr lang="en-US" dirty="0"/>
              <a:t> </a:t>
            </a:r>
            <a:r>
              <a:rPr lang="ru-RU" dirty="0"/>
              <a:t>имеющих место до и после разработки программного кода;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бережливый подход формирует среду, расширяющую арсенал гибкого менеджмента;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бережливый подход предлагает набор высокоэффективных принципов, опирающихся на уникальность условий каждой организации.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A29C95-A51E-9C89-07CE-DC3BEDFD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287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бережливого подхода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30235"/>
            <a:ext cx="10303164" cy="511686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Ликвидация потерь</a:t>
            </a:r>
            <a:r>
              <a:rPr lang="ru-RU" dirty="0"/>
              <a:t>. Суть принципа состоит в сокращении сроков выполнения заказа путем ликвидации всех потерь. К потерям относят все, что мешает предоставлению заказчику того, что ему нужно, где ему нужно и когда ему нужно.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Встраивание качества</a:t>
            </a:r>
            <a:r>
              <a:rPr lang="ru-RU" dirty="0"/>
              <a:t>. Здесь целью считается изначальное встраивание качества в программный код, а не тестирование этого кода после его создания. Следует сделать так, чтобы дефекты просто не попадали в код.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Формирование новых знаний</a:t>
            </a:r>
            <a:r>
              <a:rPr lang="ru-RU" dirty="0"/>
              <a:t>. В ходе регулярного экспериментирования команды должны генерировать новые знания, нацеленные на создание новых систем.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Откладывание необратимых решений</a:t>
            </a:r>
            <a:r>
              <a:rPr lang="ru-RU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Быстрая доставка заказчику</a:t>
            </a:r>
            <a:r>
              <a:rPr lang="ru-RU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Уважение к людям</a:t>
            </a:r>
            <a:r>
              <a:rPr lang="ru-RU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Оптимизация целого</a:t>
            </a:r>
            <a:r>
              <a:rPr lang="ru-RU" dirty="0"/>
              <a:t>. Для разработки ПО характерна тенденция к оптимизации отдельных частей программного продукта или отдельных шагов процесса. Бережливое производство ориентируется на оптимизацию всего потока создания ПО.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1E70E2-3EB4-A4A2-16B7-CF49CC86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832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B5376-EE44-977F-87B9-B73574D8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Lean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4E6372-EC7A-1300-36A7-4BCDDBDF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Оптимизированный подход позволяет реализовать больше функций за меньшее время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Устраняет ненужную деятельность и, как следствие, снижает расходную часть проекта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Дает возможность команде проекта принимать решения, что мотивирует их добиваться поставленных результатов.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C61448-3C9F-BBE9-D439-9E43444D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97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5326B-02BC-9D00-DD5C-781EDB798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Lean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11E25-BE78-08FE-D4D9-F61E7626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Сильно зависит от задействованной команды и ее профессионализма, что делает его не таким масштабируемым, как другие фреймворки.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Результат зависит от качества проектной документации, ошибки в которой могут привести к ошибкам в разработки.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При всплеске спроса может не хватить ресурсов для обслуживания и удовлетворения всех незапланированных запросов, и тогда срок их выполнения увеличивается.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17EF73-CB39-24EC-7B63-809E0250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987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Scrum</a:t>
            </a:r>
            <a:r>
              <a:rPr lang="ru-RU" sz="2400" dirty="0"/>
              <a:t> — это самая популярная методика менеджмента для гибкой разработки программного обеспечения, которая был задумана </a:t>
            </a:r>
            <a:r>
              <a:rPr lang="ru-RU" sz="2400" dirty="0" err="1"/>
              <a:t>Джеффом</a:t>
            </a:r>
            <a:r>
              <a:rPr lang="ru-RU" sz="2400" dirty="0"/>
              <a:t> </a:t>
            </a:r>
            <a:r>
              <a:rPr lang="ru-RU" sz="2400" dirty="0" err="1"/>
              <a:t>Сазэрлэндом</a:t>
            </a:r>
            <a:r>
              <a:rPr lang="ru-RU" sz="2400" dirty="0"/>
              <a:t> и его командой в начале 90-х годов прошлого века. В последние годы дальнейшее развитие </a:t>
            </a:r>
            <a:r>
              <a:rPr lang="en-US" sz="2400" dirty="0"/>
              <a:t>Scrum</a:t>
            </a:r>
            <a:r>
              <a:rPr lang="ru-RU" sz="2400" dirty="0"/>
              <a:t>-методов связывают с </a:t>
            </a:r>
            <a:r>
              <a:rPr lang="ru-RU" sz="2400" dirty="0" err="1"/>
              <a:t>Швабером</a:t>
            </a:r>
            <a:r>
              <a:rPr lang="ru-RU" sz="2400" dirty="0"/>
              <a:t> и </a:t>
            </a:r>
            <a:r>
              <a:rPr lang="ru-RU" sz="2400" dirty="0" err="1"/>
              <a:t>Бидлом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E300DC-3562-152F-7BEC-EBE6A58C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761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понятия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Журнал продукта (</a:t>
            </a:r>
            <a:r>
              <a:rPr lang="ru-RU" b="1" dirty="0" err="1"/>
              <a:t>Бэклог</a:t>
            </a:r>
            <a:r>
              <a:rPr lang="ru-RU" b="1" dirty="0"/>
              <a:t>, </a:t>
            </a:r>
            <a:r>
              <a:rPr lang="en-US" b="1" dirty="0"/>
              <a:t>Backlog</a:t>
            </a:r>
            <a:r>
              <a:rPr lang="ru-RU" b="1" dirty="0"/>
              <a:t>) </a:t>
            </a:r>
            <a:r>
              <a:rPr lang="ru-RU" dirty="0"/>
              <a:t>— список требований или характеристик проекта, упорядоченных по приоритету и имеющих важное значение для заказчика. Журнал в любое время может быть расширен (так вводятся изменения требований). Владелец продукта оценивает журнал продукта и по необходимости меняет приоритеты.</a:t>
            </a:r>
          </a:p>
          <a:p>
            <a:r>
              <a:rPr lang="ru-RU" b="1" dirty="0"/>
              <a:t>Спринты</a:t>
            </a:r>
            <a:r>
              <a:rPr lang="ru-RU" dirty="0"/>
              <a:t> — состоят из единиц работы, которые нужно выполнить для реализации порции требований, взятой из журнала продукта, причем за предопределенный квант времени (обычно за 15-30 дней). Эта порция требований носит название журнала спринта. Изменения в пунктах журнала спринта во время спринта запрещены. Следовательно, спринт позволяет членам команды работать в стабильной среде. Правда, это кратковременная стабильность.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BD8280-8421-0D3F-5537-26BDD629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05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Scrum</a:t>
            </a:r>
            <a:r>
              <a:rPr lang="ru-RU" b="1" dirty="0"/>
              <a:t>-обсуждения (</a:t>
            </a:r>
            <a:r>
              <a:rPr lang="en-US" b="1" dirty="0"/>
              <a:t>Scrum meeting</a:t>
            </a:r>
            <a:r>
              <a:rPr lang="ru-RU" b="1" dirty="0"/>
              <a:t>) </a:t>
            </a:r>
            <a:r>
              <a:rPr lang="ru-RU" dirty="0"/>
              <a:t>— короткие встречи (обычно 15 минут) членов </a:t>
            </a:r>
            <a:r>
              <a:rPr lang="en-US" dirty="0"/>
              <a:t>Scrum</a:t>
            </a:r>
            <a:r>
              <a:rPr lang="ru-RU" dirty="0"/>
              <a:t>-команды, проводятся ежедневно. На встрече тренер-инструктор задает всем членам команды три ключевых вопроса: Что вы сделали с момента последней встречи команды? С какими препятствиями вы столкнулись? Чего вы планируете достичь к следующей встрече команды?</a:t>
            </a:r>
          </a:p>
          <a:p>
            <a:r>
              <a:rPr lang="ru-RU" dirty="0"/>
              <a:t>Тренер команды, называемый </a:t>
            </a:r>
            <a:r>
              <a:rPr lang="en-US" dirty="0"/>
              <a:t>Scrum</a:t>
            </a:r>
            <a:r>
              <a:rPr lang="ru-RU" dirty="0"/>
              <a:t>-мастером (</a:t>
            </a:r>
            <a:r>
              <a:rPr lang="en-US" dirty="0"/>
              <a:t>Scrum Master</a:t>
            </a:r>
            <a:r>
              <a:rPr lang="ru-RU" dirty="0"/>
              <a:t>), ведет встречу и оценивает ответы каждого члена группы. </a:t>
            </a:r>
            <a:r>
              <a:rPr lang="en-US" dirty="0"/>
              <a:t>Scrum</a:t>
            </a:r>
            <a:r>
              <a:rPr lang="ru-RU" dirty="0"/>
              <a:t>-обсуждение способствует раннему обнаружению потенциальных проблем. Кроме того, эти ежедневые встречи приводят к распространению индивидуальных знаний на всю команду.</a:t>
            </a:r>
          </a:p>
          <a:p>
            <a:r>
              <a:rPr lang="ru-RU" b="1" dirty="0"/>
              <a:t>Демонстрационные версии </a:t>
            </a:r>
            <a:r>
              <a:rPr lang="ru-RU" dirty="0"/>
              <a:t>— предоставляют заказчику расширенные варианты функциональной организации системы, тем самым демонстрируя реализацию новых функций. Эту реализацию заказчик может оценить. Важно отметить, что демонстрационная версия обычно не содержит всю запланированную функциональность, а включает только те функции, которые действительно были созданы рамках прошедшего кванта времени.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8F3FED-635E-9060-80FF-FBB0BEE7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0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Процесс </a:t>
            </a:r>
            <a:r>
              <a:rPr lang="en-US" b="1" dirty="0"/>
              <a:t>Scrum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Создается список приоритетов, называемый резервом продукта.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 этапе планирования команда выбирает небольшой кусок в верхней части этого списка пожеланий и создает то, что называется отставанием в спринте, и решает, как реализовать эти части.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Команде предоставляется определенное количество времени, называемое спринтом, для завершения своей работы.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Команда ежедневно проводит встречи для оценки прогресса.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 конце спринта, обычно в течение двух-четырех недель, работа должна быть готова для клиента.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Спринт заканчивается обзором спринта и ретроспективой.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Затем начинается следующий спринт.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F2C5B4-2966-54C0-67F1-A4D02ACE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90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6B92B-DB86-F5D1-FC58-E2D711E2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Scrum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FE7424-DCAB-FB46-2268-FF7C1D524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Возможность быстрого запуска проекта с наиболее приоритетными функциями и минимально возможным бюджетом;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Ежедневный контроль над ходом работ, и более гибкий контроль над бюджетом проекта;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Малую вероятность провала разработки из-за частых совещанием с заказчиком продукта;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Возможность вносить коррективы в техническое задание по ходу реализации проекта;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Контроль над процессом разработки;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546EEB-1410-B016-50CC-A6407F8E5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93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048AF-51BD-A781-23EF-25C61F96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Scrum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959218-3B50-3788-50AF-330CDD08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Большое количество совещаний;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Необходимость кросс-функциональности команды с высокой квалификацией;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Сложности при заключении договоров. </a:t>
            </a:r>
            <a:r>
              <a:rPr lang="ru-RU" sz="2400" dirty="0" err="1"/>
              <a:t>Scrum</a:t>
            </a:r>
            <a:r>
              <a:rPr lang="ru-RU" sz="2400" dirty="0"/>
              <a:t> в принципе не подразумевает наличие фиксированного бюджета и фиксированного технического задания, что затрудняет юридическое оформление такого рода договоренностей;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Узкая специализация методов.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2A60C5-ABAC-E192-3DE9-439523F4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750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Канбан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err="1"/>
              <a:t>Канбан</a:t>
            </a:r>
            <a:r>
              <a:rPr lang="ru-RU" sz="2400" dirty="0"/>
              <a:t> — это основанная на использовании карточек сигнальная система, разработанная компанией «Тойота» для координации заказа запасных частей. Она применяется на линиях поточной сборки.</a:t>
            </a:r>
          </a:p>
          <a:p>
            <a:r>
              <a:rPr lang="ru-RU" sz="2400" dirty="0"/>
              <a:t>Работа в </a:t>
            </a:r>
            <a:r>
              <a:rPr lang="ru-RU" sz="2400" dirty="0" err="1"/>
              <a:t>Канбане</a:t>
            </a:r>
            <a:r>
              <a:rPr lang="ru-RU" sz="2400" dirty="0"/>
              <a:t> ограничивается концепцией, называемой «количество незавершенной работы, выполняемой в данный момент» (НЗР). В каждый момент времени команде разрешено заниматься решением ограниченного количества задач.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D2D893-0818-DB37-6DBD-7A55AA2C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152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</a:t>
            </a:r>
            <a:r>
              <a:rPr lang="ru-RU" dirty="0" err="1"/>
              <a:t>Канбана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330235"/>
            <a:ext cx="9601200" cy="5199874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Визуализируйте поток работ. </a:t>
            </a:r>
            <a:r>
              <a:rPr lang="ru-RU" sz="2400" dirty="0"/>
              <a:t>Разбейте список задач па части, выпишите каждую часть на карточку и прикрепите к доске. Подпишите столбцы доски, чтобы видеть, на каком этапе находится каждое задание.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Ограничьте количество незавершенной работы H3P (WIP — </a:t>
            </a:r>
            <a:r>
              <a:rPr lang="ru-RU" sz="2400" b="1" dirty="0" err="1"/>
              <a:t>Work</a:t>
            </a:r>
            <a:r>
              <a:rPr lang="ru-RU" sz="2400" b="1" dirty="0"/>
              <a:t> </a:t>
            </a:r>
            <a:r>
              <a:rPr lang="ru-RU" sz="2400" b="1" dirty="0" err="1"/>
              <a:t>In</a:t>
            </a:r>
            <a:r>
              <a:rPr lang="ru-RU" sz="2400" b="1" dirty="0"/>
              <a:t> </a:t>
            </a:r>
            <a:r>
              <a:rPr lang="ru-RU" sz="2400" b="1" dirty="0" err="1"/>
              <a:t>Progress</a:t>
            </a:r>
            <a:r>
              <a:rPr lang="ru-RU" sz="2400" b="1" dirty="0"/>
              <a:t>). </a:t>
            </a:r>
            <a:r>
              <a:rPr lang="ru-RU" sz="2400" dirty="0"/>
              <a:t>Для каждого столбца-этапа доски укажите максимальное количество задач, которые могут в нем находиться. Таким способом на каждом этапе рабочего процесса ограничивается возможное количество незавершенных задач.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dirty="0"/>
              <a:t>Измеряйте время выполнения каждой задачи (</a:t>
            </a:r>
            <a:r>
              <a:rPr lang="en-US" sz="2400" b="1" dirty="0"/>
              <a:t>lead time</a:t>
            </a:r>
            <a:r>
              <a:rPr lang="ru-RU" sz="2400" b="1" dirty="0"/>
              <a:t>) и оптимизируйте процесс</a:t>
            </a:r>
            <a:r>
              <a:rPr lang="ru-RU" sz="2400" dirty="0"/>
              <a:t>, чтобы свести время выполнения задачи к минимуму и сделать его настолько прогнозируемым, насколько это возможно.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DD6F02-2303-7482-5A72-DA0A4636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045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доски для визуализации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987" y="1456495"/>
            <a:ext cx="5340722" cy="520378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FF4EA9-B4F2-3BF0-25F8-72918D8B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817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6B4F301-90ED-42E4-AB98-F5077E64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/>
          <a:p>
            <a:r>
              <a:rPr lang="ru-RU" dirty="0"/>
              <a:t>Преимущества и недостатки </a:t>
            </a:r>
            <a:r>
              <a:rPr lang="en-US" dirty="0"/>
              <a:t>Kanban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F2E8D3F-ED44-70E1-9B45-02602CCA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/>
          <a:lstStyle/>
          <a:p>
            <a:pPr algn="ctr"/>
            <a:r>
              <a:rPr lang="en-US" sz="4400" dirty="0"/>
              <a:t>+</a:t>
            </a:r>
            <a:endParaRPr lang="ru-RU" sz="4400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992160D-8E36-8561-3FAA-85287A749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Визуализация работы.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Гибкость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Ориентация на непрерывную постановку задач.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Улучшенное сотрудничество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C8DADCA-AB01-CFC5-4F51-FBF072F5A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/>
          <a:lstStyle/>
          <a:p>
            <a:pPr algn="ctr"/>
            <a:r>
              <a:rPr lang="en-US" sz="4400" dirty="0"/>
              <a:t>-</a:t>
            </a:r>
            <a:endParaRPr lang="ru-RU" sz="4400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76998EE2-74FA-034B-DA46-2A44A2A8D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Отсутствие структуры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Отсутствие временных рамок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Ограниченное количество ретроспектив спринта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Отсутствие расстановки приоритетов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CA74DC-919F-E3D7-FE9F-91CD2346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92170" y="6374670"/>
            <a:ext cx="1280630" cy="404614"/>
          </a:xfrm>
        </p:spPr>
        <p:txBody>
          <a:bodyPr/>
          <a:lstStyle/>
          <a:p>
            <a:fld id="{25A42088-C730-408A-A823-60BED1AFCEA0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363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0873" y="286603"/>
            <a:ext cx="9879167" cy="988015"/>
          </a:xfrm>
        </p:spPr>
        <p:txBody>
          <a:bodyPr>
            <a:normAutofit/>
          </a:bodyPr>
          <a:lstStyle/>
          <a:p>
            <a:r>
              <a:rPr lang="ru-RU" sz="4400" dirty="0"/>
              <a:t>Сходства процессов </a:t>
            </a:r>
            <a:r>
              <a:rPr lang="en-US" sz="4400" dirty="0"/>
              <a:t>Scrum</a:t>
            </a:r>
            <a:r>
              <a:rPr lang="ru-RU" sz="4400" dirty="0"/>
              <a:t> и </a:t>
            </a:r>
            <a:r>
              <a:rPr lang="ru-RU" sz="4400" dirty="0" err="1"/>
              <a:t>Канбан</a:t>
            </a:r>
            <a:endParaRPr lang="ru-RU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02327" y="988291"/>
            <a:ext cx="10156609" cy="5680363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являются как бережливыми (</a:t>
            </a:r>
            <a:r>
              <a:rPr lang="en-US" sz="2400" dirty="0"/>
              <a:t>Lean</a:t>
            </a:r>
            <a:r>
              <a:rPr lang="ru-RU" sz="2400" dirty="0"/>
              <a:t>), так и гибкими (</a:t>
            </a:r>
            <a:r>
              <a:rPr lang="en-US" sz="2400" dirty="0"/>
              <a:t>Agile</a:t>
            </a:r>
            <a:r>
              <a:rPr lang="ru-RU" sz="24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используют вытягивающие системы планирования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ограничивают НЗР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используют прозрачность для обеспечения улучшения содержания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ориентированы на ранние и частые поставки продукта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полагаются на самоорганизующиеся команды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Оба процесса требуют деления задач на более мелкие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 обоих случаях план реализации постоянно оптимизируется на основе эмпирических данных</a:t>
            </a:r>
            <a:r>
              <a:rPr lang="en-US" sz="2400" dirty="0"/>
              <a:t> </a:t>
            </a:r>
            <a:r>
              <a:rPr lang="ru-RU" sz="2400" dirty="0"/>
              <a:t>(производительности/ времени выполнения задачи)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F5DFFF-0DF2-0D08-79E6-02713FC2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189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различия</a:t>
            </a:r>
            <a:r>
              <a:rPr lang="en-US" dirty="0"/>
              <a:t> Scrum</a:t>
            </a:r>
            <a:r>
              <a:rPr lang="ru-RU" dirty="0"/>
              <a:t> и </a:t>
            </a:r>
            <a:r>
              <a:rPr lang="ru-RU" dirty="0" err="1"/>
              <a:t>Канбан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931948"/>
              </p:ext>
            </p:extLst>
          </p:nvPr>
        </p:nvGraphicFramePr>
        <p:xfrm>
          <a:off x="1431130" y="1414784"/>
          <a:ext cx="9601200" cy="484668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404568270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442322464"/>
                    </a:ext>
                  </a:extLst>
                </a:gridCol>
              </a:tblGrid>
              <a:tr h="44998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Scrum</a:t>
                      </a:r>
                      <a:endParaRPr lang="en-US" sz="1700" b="1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</a:rPr>
                        <a:t>Kanban</a:t>
                      </a:r>
                      <a:endParaRPr lang="en-US" sz="1700" b="1" dirty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3104254850"/>
                  </a:ext>
                </a:extLst>
              </a:tr>
              <a:tr h="761687"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Команда принимает участие в определенной итерации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Участие необязательно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846308278"/>
                  </a:ext>
                </a:extLst>
              </a:tr>
              <a:tr h="449983"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Обязательна предварительная оценка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Оценка необязательна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289204927"/>
                  </a:ext>
                </a:extLst>
              </a:tr>
              <a:tr h="761687"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Скорость используется для улучшения процесса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Для улучшения процесса используются временные ограничения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3379311902"/>
                  </a:ext>
                </a:extLst>
              </a:tr>
              <a:tr h="761687"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Задержка спринта только одной команды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Доска может быть поделена между несколькими командами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3346138806"/>
                  </a:ext>
                </a:extLst>
              </a:tr>
              <a:tr h="761687"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Используется минимум 3 роли (владелец, мастер, команда)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Ролей нет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1160409900"/>
                  </a:ext>
                </a:extLst>
              </a:tr>
              <a:tr h="449983">
                <a:tc>
                  <a:txBody>
                    <a:bodyPr/>
                    <a:lstStyle/>
                    <a:p>
                      <a:pPr fontAlgn="base"/>
                      <a:r>
                        <a:rPr lang="en-US" sz="1700">
                          <a:effectLst/>
                          <a:latin typeface="Georgia" panose="02040502050405020303" pitchFamily="18" charset="0"/>
                        </a:rPr>
                        <a:t>Scrum-</a:t>
                      </a:r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доска между спринтами меняется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700">
                          <a:effectLst/>
                          <a:latin typeface="Georgia" panose="02040502050405020303" pitchFamily="18" charset="0"/>
                        </a:rPr>
                        <a:t>Kanban-</a:t>
                      </a:r>
                      <a:r>
                        <a:rPr lang="ru-RU" sz="1700">
                          <a:effectLst/>
                          <a:latin typeface="Georgia" panose="02040502050405020303" pitchFamily="18" charset="0"/>
                        </a:rPr>
                        <a:t>доска всегда неизменна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3381776673"/>
                  </a:ext>
                </a:extLst>
              </a:tr>
              <a:tr h="449983">
                <a:tc>
                  <a:txBody>
                    <a:bodyPr/>
                    <a:lstStyle/>
                    <a:p>
                      <a:pPr fontAlgn="base"/>
                      <a:r>
                        <a:rPr lang="ru-RU" sz="1700" dirty="0">
                          <a:effectLst/>
                          <a:latin typeface="Georgia" panose="02040502050405020303" pitchFamily="18" charset="0"/>
                        </a:rPr>
                        <a:t>Для каждого спринта ставится приоритет</a:t>
                      </a:r>
                    </a:p>
                  </a:txBody>
                  <a:tcPr marL="100568" marR="100568" marT="57467" marB="57467"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ru-RU" sz="1700" dirty="0">
                          <a:effectLst/>
                          <a:latin typeface="Georgia" panose="02040502050405020303" pitchFamily="18" charset="0"/>
                        </a:rPr>
                        <a:t>Приоритеты не являются обязательными</a:t>
                      </a:r>
                    </a:p>
                  </a:txBody>
                  <a:tcPr marL="100568" marR="100568" marT="57467" marB="57467" anchor="ctr"/>
                </a:tc>
                <a:extLst>
                  <a:ext uri="{0D108BD9-81ED-4DB2-BD59-A6C34878D82A}">
                    <a16:rowId xmlns:a16="http://schemas.microsoft.com/office/drawing/2014/main" val="167295193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AAB76B6-C3B0-E165-F935-18C86DEE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857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53CB3-4AC4-460E-B157-010C9339C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 (к лекции 10)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D709A-ECA7-4712-91C6-35EF979A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171575"/>
            <a:ext cx="11468100" cy="568642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«Директором зоопарка было заказано мобильное приложение, которое позволяло бы сотрудникам в реальном времени указывать и отслеживать состояние животных и их вольеров. Ваша задача создать БД для этой системы. В ходе опроса директора и зоотехников удалось выяснить следующее.</a:t>
            </a:r>
          </a:p>
          <a:p>
            <a:r>
              <a:rPr lang="ru-RU" dirty="0"/>
              <a:t>В зоопарке содержится множество млекопитающих, птиц и насекомых. Все они поделены между разными отделами («Тропики», «</a:t>
            </a:r>
            <a:r>
              <a:rPr lang="ru-RU" dirty="0" err="1"/>
              <a:t>Экзотариум</a:t>
            </a:r>
            <a:r>
              <a:rPr lang="ru-RU" dirty="0"/>
              <a:t>», «Дрессированные животные» и др.). За каждым отделом закреплены несколько вольеров, в основном находящихся рядом друг с другом. Некоторые из вольеров уличные, некоторые находятся в помещениях, некоторые имеют как закрытые, так и открытые части. В одном вольере может быть несколько видов животных, за исключением любых хищников.</a:t>
            </a:r>
          </a:p>
          <a:p>
            <a:r>
              <a:rPr lang="ru-RU" dirty="0"/>
              <a:t>К каждому отделу прикреплены сотрудники на разных должностях – глава отдела, старшие зоотехники, младшие зоотехники, ветеринары и др. О сотрудниках известны ФИО, паспортные данные, должность, дата рождения и дата устройства на работу.  У каждого вольера есть старший зоотехник, который закреплен за ним и отвечает за его состояние. </a:t>
            </a:r>
          </a:p>
          <a:p>
            <a:r>
              <a:rPr lang="ru-RU" dirty="0"/>
              <a:t>Животные могут жить в вольере группой, парой или в одиночестве, все зависит от особенностей вида. Кроме того, у каждого вида свой тип питания (хищник, травоядное и др.) а также перечень допустимых продуктов питания. Некоторые животные куплены, некоторые родились в зоопарке, а значит известны их родители. В целом о животных известны кличка, пол, происхождение (место покупки или указание, что родилось в зоопарке), вид, дата рождения. Также указывается состояние здоровья животного по шкале от 1 до 10, где 0 это очень слаб и болен, а 10 – полностью здоров. Медицинские карты животных ветеринары хранят отдельно и в системе они не понадобятся.</a:t>
            </a:r>
          </a:p>
          <a:p>
            <a:r>
              <a:rPr lang="ru-RU" dirty="0"/>
              <a:t>Каждый день сотрудники должны будут отмечаться в приложении  о проведенной уборке в конкретном вольере и о кормежке конкретного вида в конкретном вольере (с указанием какую еду дали и в каком количестве), чтобы ничего не упустить.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58859F-F3F7-485F-A18D-44DF4A2C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26532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48</TotalTime>
  <Words>2752</Words>
  <Application>Microsoft Office PowerPoint</Application>
  <PresentationFormat>Широкоэкранный</PresentationFormat>
  <Paragraphs>220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Franklin Gothic Book</vt:lpstr>
      <vt:lpstr>Georgia</vt:lpstr>
      <vt:lpstr>Wingdings</vt:lpstr>
      <vt:lpstr>Уголки</vt:lpstr>
      <vt:lpstr>Лекция 11    Гибкие методологии разработки</vt:lpstr>
      <vt:lpstr>Гибкая методология разработки (Agile)</vt:lpstr>
      <vt:lpstr>Манифест гибкой разработки ПО</vt:lpstr>
      <vt:lpstr>Презентация PowerPoint</vt:lpstr>
      <vt:lpstr>ОСНОВОПОЛАГАЮЩИЕ ПРИНЦИПЫ ГИБКОЙ РАЗРАБОТКИ</vt:lpstr>
      <vt:lpstr>Презентация PowerPoint</vt:lpstr>
      <vt:lpstr>На 2022 год</vt:lpstr>
      <vt:lpstr>Основные практики в Agile</vt:lpstr>
      <vt:lpstr>Также Agile включает:</vt:lpstr>
      <vt:lpstr>XP-процесс</vt:lpstr>
      <vt:lpstr>Принципы XP</vt:lpstr>
      <vt:lpstr>Презентация PowerPoint</vt:lpstr>
      <vt:lpstr>Презентация PowerPoint</vt:lpstr>
      <vt:lpstr>Преимущества XP</vt:lpstr>
      <vt:lpstr>Недостатки XP</vt:lpstr>
      <vt:lpstr>Бережливая разработка ПО (Lean)</vt:lpstr>
      <vt:lpstr>Принципы бережливого подхода</vt:lpstr>
      <vt:lpstr>Преимущества Lean</vt:lpstr>
      <vt:lpstr>Недостатки Lean</vt:lpstr>
      <vt:lpstr>Scrum</vt:lpstr>
      <vt:lpstr>Основные понятия</vt:lpstr>
      <vt:lpstr>Презентация PowerPoint</vt:lpstr>
      <vt:lpstr>Процесс Scrum</vt:lpstr>
      <vt:lpstr>Преимущества Scrum</vt:lpstr>
      <vt:lpstr>Недостатки Scrum</vt:lpstr>
      <vt:lpstr>Канбан</vt:lpstr>
      <vt:lpstr>Правила Канбана</vt:lpstr>
      <vt:lpstr>Пример доски для визуализации</vt:lpstr>
      <vt:lpstr>Преимущества и недостатки Kanban</vt:lpstr>
      <vt:lpstr>Сходства процессов Scrum и Канбан</vt:lpstr>
      <vt:lpstr>Основные различия Scrum и Канбан</vt:lpstr>
      <vt:lpstr>Практическое задание (к лекции 10)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10</cp:revision>
  <dcterms:created xsi:type="dcterms:W3CDTF">2023-09-01T22:02:12Z</dcterms:created>
  <dcterms:modified xsi:type="dcterms:W3CDTF">2025-10-21T06:32:23Z</dcterms:modified>
</cp:coreProperties>
</file>